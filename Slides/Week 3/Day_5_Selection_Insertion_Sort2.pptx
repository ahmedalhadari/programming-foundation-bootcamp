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4.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43.xml" ContentType="application/vnd.openxmlformats-officedocument.presentationml.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4"/>
  </p:notesMasterIdLst>
  <p:sldIdLst>
    <p:sldId id="256" r:id="rId2"/>
    <p:sldId id="541" r:id="rId5"/>
    <p:sldId id="542" r:id="rId6"/>
    <p:sldId id="258" r:id="rId7"/>
    <p:sldId id="519" r:id="rId20"/>
    <p:sldId id="257" r:id="rId21"/>
    <p:sldId id="509" r:id="rId19"/>
    <p:sldId id="502" r:id="rId13"/>
    <p:sldId id="521" r:id="rId24"/>
    <p:sldId id="543" r:id="rId61"/>
    <p:sldId id="508" r:id="rId16"/>
    <p:sldId id="520" r:id="rId22"/>
    <p:sldId id="531" r:id="rId35"/>
    <p:sldId id="522" r:id="rId25"/>
    <p:sldId id="528" r:id="rId32"/>
    <p:sldId id="529" r:id="rId33"/>
    <p:sldId id="281" r:id="rId43"/>
  </p:sldIdLst>
  <p:sldSz cx="9144000" cy="5143500" type="screen16x9"/>
  <p:notesSz cx="6858000" cy="9144000"/>
  <p:embeddedFontLst>
    <p:embeddedFont>
      <p:font typeface="Consolas" panose="020B0609020204030204" pitchFamily="49" charset="0"/>
      <p:regular r:id="rId45"/>
      <p:bold r:id="rId46"/>
      <p:italic r:id="rId47"/>
      <p:boldItalic r:id="rId48"/>
    </p:embeddedFont>
    <p:embeddedFont>
      <p:font typeface="IBM Plex Sans Arabic" panose="020B0604020202020204" charset="-78"/>
      <p:regular r:id="rId49"/>
      <p:bold r:id="rId50"/>
    </p:embeddedFont>
    <p:embeddedFont>
      <p:font typeface="IBM Plex Sans Arabic Medium" panose="020B0604020202020204" charset="-78"/>
      <p:regular r:id="rId51"/>
      <p:bold r:id="rId52"/>
    </p:embeddedFont>
    <p:embeddedFont>
      <p:font typeface="IBM Plex Sans Arabic SemiBold" panose="020B0604020202020204" charset="-78"/>
      <p:regular r:id="rId53"/>
      <p:bold r:id="rId54"/>
    </p:embeddedFont>
    <p:embeddedFont>
      <p:font typeface="Tajawal" panose="020B0604020202020204" charset="-78"/>
      <p:regular r:id="rId55"/>
      <p:bold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22E0367-EB9C-4807-88CA-1A682D9BA7E9}">
  <a:tblStyle styleId="{922E0367-EB9C-4807-88CA-1A682D9BA7E9}"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393" y="45"/>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12.xml"/><Relationship Id="rId21" Type="http://schemas.openxmlformats.org/officeDocument/2006/relationships/slide" Target="slides/slide20.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font" Target="fonts/font1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4" Type="http://schemas.openxmlformats.org/officeDocument/2006/relationships/slide" Target="slides/slide23.xml"/><Relationship Id="rId32" Type="http://schemas.openxmlformats.org/officeDocument/2006/relationships/slide" Target="slides/slide31.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22" Type="http://schemas.openxmlformats.org/officeDocument/2006/relationships/slide" Target="slides/slide21.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font" Target="fonts/font12.fntdata"/><Relationship Id="rId51" Type="http://schemas.openxmlformats.org/officeDocument/2006/relationships/font" Target="fonts/font7.fntdata"/><Relationship Id="rId25" Type="http://schemas.openxmlformats.org/officeDocument/2006/relationships/slide" Target="slides/slide24.xml"/><Relationship Id="rId33" Type="http://schemas.openxmlformats.org/officeDocument/2006/relationships/slide" Target="slides/slide32.xml"/><Relationship Id="rId46" Type="http://schemas.openxmlformats.org/officeDocument/2006/relationships/font" Target="fonts/font2.fntdata"/><Relationship Id="rId59" Type="http://schemas.openxmlformats.org/officeDocument/2006/relationships/theme" Target="theme/theme1.xml"/><Relationship Id="rId20" Type="http://schemas.openxmlformats.org/officeDocument/2006/relationships/slide" Target="slides/slide19.xml"/><Relationship Id="rId54"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49" Type="http://schemas.openxmlformats.org/officeDocument/2006/relationships/font" Target="fonts/font5.fntdata"/><Relationship Id="rId57" Type="http://schemas.openxmlformats.org/officeDocument/2006/relationships/presProps" Target="presProps.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tableStyles" Target="tableStyles.xml"/><Relationship Id="rId61" Type="http://schemas.openxmlformats.org/officeDocument/2006/relationships/slide" Target="slides/slide43.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8.xml.rels><?xml version="1.0" encoding="UTF-8"?><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9.xml.rels><?xml version="1.0" encoding="UTF-8"?><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1a09276e83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5C67915C-273D-DB22-68F9-4062B5581949}"/>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706FDF88-2753-8D55-AD1A-6D580D9CEA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B56EB0F5-1310-85DC-E000-8F4BA8E56A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026398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65ACD813-A344-EA14-2585-22D87E60A06E}"/>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9AE6DE2A-13CA-F834-C6C6-D9FFB6543A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56AAAFB3-7192-6462-847D-721D6FC67F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579881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01729062-C001-1BC3-21F3-013B25C79AB2}"/>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A4925C8B-74A4-6D0E-A1F6-3ED5AFE791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40070772-E495-65C8-BB68-C028467C22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976726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1a09276e835_1_9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1a09276e835_1_9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300"/>
              <a:buFont typeface="Tajawal"/>
              <a:buNone/>
              <a:defRPr sz="4300" b="1">
                <a:latin typeface="Tajawal"/>
                <a:ea typeface="Tajawal"/>
                <a:cs typeface="Tajawal"/>
                <a:sym typeface="Tajawal"/>
              </a:defRPr>
            </a:lvl1pPr>
            <a:lvl2pPr lvl="1" algn="ctr">
              <a:spcBef>
                <a:spcPts val="0"/>
              </a:spcBef>
              <a:spcAft>
                <a:spcPts val="0"/>
              </a:spcAft>
              <a:buSzPts val="4900"/>
              <a:buFont typeface="Tajawal"/>
              <a:buNone/>
              <a:defRPr sz="4900">
                <a:latin typeface="Tajawal"/>
                <a:ea typeface="Tajawal"/>
                <a:cs typeface="Tajawal"/>
                <a:sym typeface="Tajawal"/>
              </a:defRPr>
            </a:lvl2pPr>
            <a:lvl3pPr lvl="2" algn="ctr">
              <a:spcBef>
                <a:spcPts val="0"/>
              </a:spcBef>
              <a:spcAft>
                <a:spcPts val="0"/>
              </a:spcAft>
              <a:buSzPts val="4900"/>
              <a:buFont typeface="Tajawal"/>
              <a:buNone/>
              <a:defRPr sz="4900">
                <a:latin typeface="Tajawal"/>
                <a:ea typeface="Tajawal"/>
                <a:cs typeface="Tajawal"/>
                <a:sym typeface="Tajawal"/>
              </a:defRPr>
            </a:lvl3pPr>
            <a:lvl4pPr lvl="3" algn="ctr">
              <a:spcBef>
                <a:spcPts val="0"/>
              </a:spcBef>
              <a:spcAft>
                <a:spcPts val="0"/>
              </a:spcAft>
              <a:buSzPts val="4900"/>
              <a:buFont typeface="Tajawal"/>
              <a:buNone/>
              <a:defRPr sz="4900">
                <a:latin typeface="Tajawal"/>
                <a:ea typeface="Tajawal"/>
                <a:cs typeface="Tajawal"/>
                <a:sym typeface="Tajawal"/>
              </a:defRPr>
            </a:lvl4pPr>
            <a:lvl5pPr lvl="4" algn="ctr">
              <a:spcBef>
                <a:spcPts val="0"/>
              </a:spcBef>
              <a:spcAft>
                <a:spcPts val="0"/>
              </a:spcAft>
              <a:buSzPts val="4900"/>
              <a:buFont typeface="Tajawal"/>
              <a:buNone/>
              <a:defRPr sz="4900">
                <a:latin typeface="Tajawal"/>
                <a:ea typeface="Tajawal"/>
                <a:cs typeface="Tajawal"/>
                <a:sym typeface="Tajawal"/>
              </a:defRPr>
            </a:lvl5pPr>
            <a:lvl6pPr lvl="5" algn="ctr">
              <a:spcBef>
                <a:spcPts val="0"/>
              </a:spcBef>
              <a:spcAft>
                <a:spcPts val="0"/>
              </a:spcAft>
              <a:buSzPts val="4900"/>
              <a:buFont typeface="Tajawal"/>
              <a:buNone/>
              <a:defRPr sz="4900">
                <a:latin typeface="Tajawal"/>
                <a:ea typeface="Tajawal"/>
                <a:cs typeface="Tajawal"/>
                <a:sym typeface="Tajawal"/>
              </a:defRPr>
            </a:lvl6pPr>
            <a:lvl7pPr lvl="6" algn="ctr">
              <a:spcBef>
                <a:spcPts val="0"/>
              </a:spcBef>
              <a:spcAft>
                <a:spcPts val="0"/>
              </a:spcAft>
              <a:buSzPts val="4900"/>
              <a:buFont typeface="Tajawal"/>
              <a:buNone/>
              <a:defRPr sz="4900">
                <a:latin typeface="Tajawal"/>
                <a:ea typeface="Tajawal"/>
                <a:cs typeface="Tajawal"/>
                <a:sym typeface="Tajawal"/>
              </a:defRPr>
            </a:lvl7pPr>
            <a:lvl8pPr lvl="7" algn="ctr">
              <a:spcBef>
                <a:spcPts val="0"/>
              </a:spcBef>
              <a:spcAft>
                <a:spcPts val="0"/>
              </a:spcAft>
              <a:buSzPts val="4900"/>
              <a:buFont typeface="Tajawal"/>
              <a:buNone/>
              <a:defRPr sz="4900">
                <a:latin typeface="Tajawal"/>
                <a:ea typeface="Tajawal"/>
                <a:cs typeface="Tajawal"/>
                <a:sym typeface="Tajawal"/>
              </a:defRPr>
            </a:lvl8pPr>
            <a:lvl9pPr lvl="8" algn="ctr">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500"/>
              <a:buFont typeface="Tajawal"/>
              <a:buNone/>
              <a:defRPr sz="2500">
                <a:latin typeface="Tajawal"/>
                <a:ea typeface="Tajawal"/>
                <a:cs typeface="Tajawal"/>
                <a:sym typeface="Tajawal"/>
              </a:defRPr>
            </a:lvl1pPr>
            <a:lvl2pPr lvl="1" algn="ctr">
              <a:lnSpc>
                <a:spcPct val="100000"/>
              </a:lnSpc>
              <a:spcBef>
                <a:spcPts val="0"/>
              </a:spcBef>
              <a:spcAft>
                <a:spcPts val="0"/>
              </a:spcAft>
              <a:buSzPts val="2500"/>
              <a:buFont typeface="Tajawal"/>
              <a:buNone/>
              <a:defRPr sz="2500">
                <a:latin typeface="Tajawal"/>
                <a:ea typeface="Tajawal"/>
                <a:cs typeface="Tajawal"/>
                <a:sym typeface="Tajawal"/>
              </a:defRPr>
            </a:lvl2pPr>
            <a:lvl3pPr lvl="2" algn="ctr">
              <a:lnSpc>
                <a:spcPct val="100000"/>
              </a:lnSpc>
              <a:spcBef>
                <a:spcPts val="0"/>
              </a:spcBef>
              <a:spcAft>
                <a:spcPts val="0"/>
              </a:spcAft>
              <a:buSzPts val="2500"/>
              <a:buFont typeface="Tajawal"/>
              <a:buNone/>
              <a:defRPr sz="2500">
                <a:latin typeface="Tajawal"/>
                <a:ea typeface="Tajawal"/>
                <a:cs typeface="Tajawal"/>
                <a:sym typeface="Tajawal"/>
              </a:defRPr>
            </a:lvl3pPr>
            <a:lvl4pPr lvl="3" algn="ctr">
              <a:lnSpc>
                <a:spcPct val="100000"/>
              </a:lnSpc>
              <a:spcBef>
                <a:spcPts val="0"/>
              </a:spcBef>
              <a:spcAft>
                <a:spcPts val="0"/>
              </a:spcAft>
              <a:buSzPts val="2500"/>
              <a:buFont typeface="Tajawal"/>
              <a:buNone/>
              <a:defRPr sz="2500">
                <a:latin typeface="Tajawal"/>
                <a:ea typeface="Tajawal"/>
                <a:cs typeface="Tajawal"/>
                <a:sym typeface="Tajawal"/>
              </a:defRPr>
            </a:lvl4pPr>
            <a:lvl5pPr lvl="4" algn="ctr">
              <a:lnSpc>
                <a:spcPct val="100000"/>
              </a:lnSpc>
              <a:spcBef>
                <a:spcPts val="0"/>
              </a:spcBef>
              <a:spcAft>
                <a:spcPts val="0"/>
              </a:spcAft>
              <a:buSzPts val="2500"/>
              <a:buFont typeface="Tajawal"/>
              <a:buNone/>
              <a:defRPr sz="2500">
                <a:latin typeface="Tajawal"/>
                <a:ea typeface="Tajawal"/>
                <a:cs typeface="Tajawal"/>
                <a:sym typeface="Tajawal"/>
              </a:defRPr>
            </a:lvl5pPr>
            <a:lvl6pPr lvl="5" algn="ctr">
              <a:lnSpc>
                <a:spcPct val="100000"/>
              </a:lnSpc>
              <a:spcBef>
                <a:spcPts val="0"/>
              </a:spcBef>
              <a:spcAft>
                <a:spcPts val="0"/>
              </a:spcAft>
              <a:buSzPts val="2500"/>
              <a:buFont typeface="Tajawal"/>
              <a:buNone/>
              <a:defRPr sz="2500">
                <a:latin typeface="Tajawal"/>
                <a:ea typeface="Tajawal"/>
                <a:cs typeface="Tajawal"/>
                <a:sym typeface="Tajawal"/>
              </a:defRPr>
            </a:lvl6pPr>
            <a:lvl7pPr lvl="6" algn="ctr">
              <a:lnSpc>
                <a:spcPct val="100000"/>
              </a:lnSpc>
              <a:spcBef>
                <a:spcPts val="0"/>
              </a:spcBef>
              <a:spcAft>
                <a:spcPts val="0"/>
              </a:spcAft>
              <a:buSzPts val="2500"/>
              <a:buFont typeface="Tajawal"/>
              <a:buNone/>
              <a:defRPr sz="2500">
                <a:latin typeface="Tajawal"/>
                <a:ea typeface="Tajawal"/>
                <a:cs typeface="Tajawal"/>
                <a:sym typeface="Tajawal"/>
              </a:defRPr>
            </a:lvl7pPr>
            <a:lvl8pPr lvl="7" algn="ctr">
              <a:lnSpc>
                <a:spcPct val="100000"/>
              </a:lnSpc>
              <a:spcBef>
                <a:spcPts val="0"/>
              </a:spcBef>
              <a:spcAft>
                <a:spcPts val="0"/>
              </a:spcAft>
              <a:buSzPts val="2500"/>
              <a:buFont typeface="Tajawal"/>
              <a:buNone/>
              <a:defRPr sz="2500">
                <a:latin typeface="Tajawal"/>
                <a:ea typeface="Tajawal"/>
                <a:cs typeface="Tajawal"/>
                <a:sym typeface="Tajawal"/>
              </a:defRPr>
            </a:lvl8pPr>
            <a:lvl9pPr lvl="8" algn="ctr">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1">
              <a:spcBef>
                <a:spcPts val="0"/>
              </a:spcBef>
              <a:spcAft>
                <a:spcPts val="0"/>
              </a:spcAft>
              <a:buSzPts val="3600"/>
              <a:buFont typeface="Tajawal"/>
              <a:buNone/>
              <a:defRPr sz="3600">
                <a:latin typeface="Tajawal"/>
                <a:ea typeface="Tajawal"/>
                <a:cs typeface="Tajawal"/>
                <a:sym typeface="Tajawal"/>
              </a:defRPr>
            </a:lvl1pPr>
            <a:lvl2pPr lvl="1" algn="ctr">
              <a:spcBef>
                <a:spcPts val="0"/>
              </a:spcBef>
              <a:spcAft>
                <a:spcPts val="0"/>
              </a:spcAft>
              <a:buSzPts val="3600"/>
              <a:buFont typeface="Tajawal"/>
              <a:buNone/>
              <a:defRPr sz="3600">
                <a:latin typeface="Tajawal"/>
                <a:ea typeface="Tajawal"/>
                <a:cs typeface="Tajawal"/>
                <a:sym typeface="Tajawal"/>
              </a:defRPr>
            </a:lvl2pPr>
            <a:lvl3pPr lvl="2" algn="ctr">
              <a:spcBef>
                <a:spcPts val="0"/>
              </a:spcBef>
              <a:spcAft>
                <a:spcPts val="0"/>
              </a:spcAft>
              <a:buSzPts val="3600"/>
              <a:buFont typeface="Tajawal"/>
              <a:buNone/>
              <a:defRPr sz="3600">
                <a:latin typeface="Tajawal"/>
                <a:ea typeface="Tajawal"/>
                <a:cs typeface="Tajawal"/>
                <a:sym typeface="Tajawal"/>
              </a:defRPr>
            </a:lvl3pPr>
            <a:lvl4pPr lvl="3" algn="ctr">
              <a:spcBef>
                <a:spcPts val="0"/>
              </a:spcBef>
              <a:spcAft>
                <a:spcPts val="0"/>
              </a:spcAft>
              <a:buSzPts val="3600"/>
              <a:buFont typeface="Tajawal"/>
              <a:buNone/>
              <a:defRPr sz="3600">
                <a:latin typeface="Tajawal"/>
                <a:ea typeface="Tajawal"/>
                <a:cs typeface="Tajawal"/>
                <a:sym typeface="Tajawal"/>
              </a:defRPr>
            </a:lvl4pPr>
            <a:lvl5pPr lvl="4" algn="ctr">
              <a:spcBef>
                <a:spcPts val="0"/>
              </a:spcBef>
              <a:spcAft>
                <a:spcPts val="0"/>
              </a:spcAft>
              <a:buSzPts val="3600"/>
              <a:buFont typeface="Tajawal"/>
              <a:buNone/>
              <a:defRPr sz="3600">
                <a:latin typeface="Tajawal"/>
                <a:ea typeface="Tajawal"/>
                <a:cs typeface="Tajawal"/>
                <a:sym typeface="Tajawal"/>
              </a:defRPr>
            </a:lvl5pPr>
            <a:lvl6pPr lvl="5" algn="ctr">
              <a:spcBef>
                <a:spcPts val="0"/>
              </a:spcBef>
              <a:spcAft>
                <a:spcPts val="0"/>
              </a:spcAft>
              <a:buSzPts val="3600"/>
              <a:buFont typeface="Tajawal"/>
              <a:buNone/>
              <a:defRPr sz="3600">
                <a:latin typeface="Tajawal"/>
                <a:ea typeface="Tajawal"/>
                <a:cs typeface="Tajawal"/>
                <a:sym typeface="Tajawal"/>
              </a:defRPr>
            </a:lvl6pPr>
            <a:lvl7pPr lvl="6" algn="ctr">
              <a:spcBef>
                <a:spcPts val="0"/>
              </a:spcBef>
              <a:spcAft>
                <a:spcPts val="0"/>
              </a:spcAft>
              <a:buSzPts val="3600"/>
              <a:buFont typeface="Tajawal"/>
              <a:buNone/>
              <a:defRPr sz="3600">
                <a:latin typeface="Tajawal"/>
                <a:ea typeface="Tajawal"/>
                <a:cs typeface="Tajawal"/>
                <a:sym typeface="Tajawal"/>
              </a:defRPr>
            </a:lvl7pPr>
            <a:lvl8pPr lvl="7" algn="ctr">
              <a:spcBef>
                <a:spcPts val="0"/>
              </a:spcBef>
              <a:spcAft>
                <a:spcPts val="0"/>
              </a:spcAft>
              <a:buSzPts val="3600"/>
              <a:buFont typeface="Tajawal"/>
              <a:buNone/>
              <a:defRPr sz="3600">
                <a:latin typeface="Tajawal"/>
                <a:ea typeface="Tajawal"/>
                <a:cs typeface="Tajawal"/>
                <a:sym typeface="Tajawal"/>
              </a:defRPr>
            </a:lvl8pPr>
            <a:lvl9pPr lvl="8" algn="ctr">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2" name="Google Shape;22;p5"/>
          <p:cNvSpPr txBox="1">
            <a:spLocks noGrp="1"/>
          </p:cNvSpPr>
          <p:nvPr>
            <p:ph type="title"/>
          </p:nvPr>
        </p:nvSpPr>
        <p:spPr>
          <a:xfrm>
            <a:off x="2079450" y="714175"/>
            <a:ext cx="6707400" cy="777300"/>
          </a:xfrm>
          <a:prstGeom prst="rect">
            <a:avLst/>
          </a:prstGeom>
        </p:spPr>
        <p:txBody>
          <a:bodyPr spcFirstLastPara="1" wrap="square" lIns="91425" tIns="91425" rIns="91425" bIns="91425" anchor="t" anchorCtr="0">
            <a:normAutofit/>
          </a:bodyPr>
          <a:lstStyle>
            <a:lvl1pPr lvl="0" rtl="1">
              <a:spcBef>
                <a:spcPts val="0"/>
              </a:spcBef>
              <a:spcAft>
                <a:spcPts val="0"/>
              </a:spcAft>
              <a:buClr>
                <a:srgbClr val="543198"/>
              </a:buClr>
              <a:buSzPts val="2500"/>
              <a:buNone/>
              <a:defRPr b="1">
                <a:solidFill>
                  <a:srgbClr val="543198"/>
                </a:solidFill>
              </a:defRPr>
            </a:lvl1pPr>
            <a:lvl2pPr lvl="1" rtl="0">
              <a:spcBef>
                <a:spcPts val="0"/>
              </a:spcBef>
              <a:spcAft>
                <a:spcPts val="0"/>
              </a:spcAft>
              <a:buClr>
                <a:srgbClr val="543198"/>
              </a:buClr>
              <a:buSzPts val="2800"/>
              <a:buNone/>
              <a:defRPr b="1">
                <a:solidFill>
                  <a:srgbClr val="543198"/>
                </a:solidFill>
              </a:defRPr>
            </a:lvl2pPr>
            <a:lvl3pPr lvl="2" rtl="0">
              <a:spcBef>
                <a:spcPts val="0"/>
              </a:spcBef>
              <a:spcAft>
                <a:spcPts val="0"/>
              </a:spcAft>
              <a:buClr>
                <a:srgbClr val="543198"/>
              </a:buClr>
              <a:buSzPts val="2800"/>
              <a:buNone/>
              <a:defRPr b="1">
                <a:solidFill>
                  <a:srgbClr val="543198"/>
                </a:solidFill>
              </a:defRPr>
            </a:lvl3pPr>
            <a:lvl4pPr lvl="3" rtl="0">
              <a:spcBef>
                <a:spcPts val="0"/>
              </a:spcBef>
              <a:spcAft>
                <a:spcPts val="0"/>
              </a:spcAft>
              <a:buClr>
                <a:srgbClr val="543198"/>
              </a:buClr>
              <a:buSzPts val="2800"/>
              <a:buNone/>
              <a:defRPr b="1">
                <a:solidFill>
                  <a:srgbClr val="543198"/>
                </a:solidFill>
              </a:defRPr>
            </a:lvl4pPr>
            <a:lvl5pPr lvl="4" rtl="0">
              <a:spcBef>
                <a:spcPts val="0"/>
              </a:spcBef>
              <a:spcAft>
                <a:spcPts val="0"/>
              </a:spcAft>
              <a:buClr>
                <a:srgbClr val="543198"/>
              </a:buClr>
              <a:buSzPts val="2800"/>
              <a:buNone/>
              <a:defRPr b="1">
                <a:solidFill>
                  <a:srgbClr val="543198"/>
                </a:solidFill>
              </a:defRPr>
            </a:lvl5pPr>
            <a:lvl6pPr lvl="5" rtl="0">
              <a:spcBef>
                <a:spcPts val="0"/>
              </a:spcBef>
              <a:spcAft>
                <a:spcPts val="0"/>
              </a:spcAft>
              <a:buClr>
                <a:srgbClr val="543198"/>
              </a:buClr>
              <a:buSzPts val="2800"/>
              <a:buNone/>
              <a:defRPr b="1">
                <a:solidFill>
                  <a:srgbClr val="543198"/>
                </a:solidFill>
              </a:defRPr>
            </a:lvl6pPr>
            <a:lvl7pPr lvl="6" rtl="0">
              <a:spcBef>
                <a:spcPts val="0"/>
              </a:spcBef>
              <a:spcAft>
                <a:spcPts val="0"/>
              </a:spcAft>
              <a:buClr>
                <a:srgbClr val="543198"/>
              </a:buClr>
              <a:buSzPts val="2800"/>
              <a:buNone/>
              <a:defRPr b="1">
                <a:solidFill>
                  <a:srgbClr val="543198"/>
                </a:solidFill>
              </a:defRPr>
            </a:lvl7pPr>
            <a:lvl8pPr lvl="7" rtl="0">
              <a:spcBef>
                <a:spcPts val="0"/>
              </a:spcBef>
              <a:spcAft>
                <a:spcPts val="0"/>
              </a:spcAft>
              <a:buClr>
                <a:srgbClr val="543198"/>
              </a:buClr>
              <a:buSzPts val="2800"/>
              <a:buNone/>
              <a:defRPr b="1">
                <a:solidFill>
                  <a:srgbClr val="543198"/>
                </a:solidFill>
              </a:defRPr>
            </a:lvl8pPr>
            <a:lvl9pPr lvl="8" rtl="0">
              <a:spcBef>
                <a:spcPts val="0"/>
              </a:spcBef>
              <a:spcAft>
                <a:spcPts val="0"/>
              </a:spcAft>
              <a:buClr>
                <a:srgbClr val="543198"/>
              </a:buClr>
              <a:buSzPts val="2800"/>
              <a:buNone/>
              <a:defRPr b="1">
                <a:solidFill>
                  <a:srgbClr val="543198"/>
                </a:solidFill>
              </a:defRPr>
            </a:lvl9pPr>
          </a:lstStyle>
          <a:p>
            <a:endParaRPr/>
          </a:p>
        </p:txBody>
      </p:sp>
      <p:sp>
        <p:nvSpPr>
          <p:cNvPr id="23" name="Google Shape;23;p5"/>
          <p:cNvSpPr txBox="1">
            <a:spLocks noGrp="1"/>
          </p:cNvSpPr>
          <p:nvPr>
            <p:ph type="body" idx="1"/>
          </p:nvPr>
        </p:nvSpPr>
        <p:spPr>
          <a:xfrm>
            <a:off x="2758650" y="1526325"/>
            <a:ext cx="6028200" cy="1757400"/>
          </a:xfrm>
          <a:prstGeom prst="rect">
            <a:avLst/>
          </a:prstGeom>
        </p:spPr>
        <p:txBody>
          <a:bodyPr spcFirstLastPara="1" wrap="square" lIns="91425" tIns="91425" rIns="91425" bIns="91425" anchor="t" anchorCtr="0">
            <a:normAutofit/>
          </a:bodyPr>
          <a:lstStyle>
            <a:lvl1pPr marL="457200" lvl="0" indent="-342900" rtl="1">
              <a:spcBef>
                <a:spcPts val="0"/>
              </a:spcBef>
              <a:spcAft>
                <a:spcPts val="0"/>
              </a:spcAft>
              <a:buClr>
                <a:srgbClr val="424242"/>
              </a:buClr>
              <a:buSzPts val="1800"/>
              <a:buChar char="●"/>
              <a:defRPr>
                <a:solidFill>
                  <a:srgbClr val="424242"/>
                </a:solidFill>
              </a:defRPr>
            </a:lvl1pPr>
            <a:lvl2pPr marL="914400" lvl="1" indent="-317500" rtl="1">
              <a:spcBef>
                <a:spcPts val="0"/>
              </a:spcBef>
              <a:spcAft>
                <a:spcPts val="0"/>
              </a:spcAft>
              <a:buClr>
                <a:srgbClr val="424242"/>
              </a:buClr>
              <a:buSzPts val="1400"/>
              <a:buChar char="○"/>
              <a:defRPr>
                <a:solidFill>
                  <a:srgbClr val="424242"/>
                </a:solidFill>
              </a:defRPr>
            </a:lvl2pPr>
            <a:lvl3pPr marL="1371600" lvl="2" indent="-317500" rtl="1">
              <a:spcBef>
                <a:spcPts val="0"/>
              </a:spcBef>
              <a:spcAft>
                <a:spcPts val="0"/>
              </a:spcAft>
              <a:buClr>
                <a:srgbClr val="424242"/>
              </a:buClr>
              <a:buSzPts val="1400"/>
              <a:buChar char="■"/>
              <a:defRPr>
                <a:solidFill>
                  <a:srgbClr val="424242"/>
                </a:solidFill>
              </a:defRPr>
            </a:lvl3pPr>
            <a:lvl4pPr marL="1828800" lvl="3" indent="-317500" rtl="1">
              <a:spcBef>
                <a:spcPts val="0"/>
              </a:spcBef>
              <a:spcAft>
                <a:spcPts val="0"/>
              </a:spcAft>
              <a:buClr>
                <a:srgbClr val="424242"/>
              </a:buClr>
              <a:buSzPts val="1400"/>
              <a:buChar char="●"/>
              <a:defRPr>
                <a:solidFill>
                  <a:srgbClr val="424242"/>
                </a:solidFill>
              </a:defRPr>
            </a:lvl4pPr>
            <a:lvl5pPr marL="2286000" lvl="4" indent="-317500" rtl="1">
              <a:spcBef>
                <a:spcPts val="0"/>
              </a:spcBef>
              <a:spcAft>
                <a:spcPts val="0"/>
              </a:spcAft>
              <a:buClr>
                <a:srgbClr val="424242"/>
              </a:buClr>
              <a:buSzPts val="1400"/>
              <a:buChar char="○"/>
              <a:defRPr>
                <a:solidFill>
                  <a:srgbClr val="424242"/>
                </a:solidFill>
              </a:defRPr>
            </a:lvl5pPr>
            <a:lvl6pPr marL="2743200" lvl="5" indent="-317500" rtl="1">
              <a:spcBef>
                <a:spcPts val="0"/>
              </a:spcBef>
              <a:spcAft>
                <a:spcPts val="0"/>
              </a:spcAft>
              <a:buClr>
                <a:srgbClr val="424242"/>
              </a:buClr>
              <a:buSzPts val="1400"/>
              <a:buChar char="■"/>
              <a:defRPr>
                <a:solidFill>
                  <a:srgbClr val="424242"/>
                </a:solidFill>
              </a:defRPr>
            </a:lvl6pPr>
            <a:lvl7pPr marL="3200400" lvl="6" indent="-317500" rtl="1">
              <a:spcBef>
                <a:spcPts val="0"/>
              </a:spcBef>
              <a:spcAft>
                <a:spcPts val="0"/>
              </a:spcAft>
              <a:buClr>
                <a:srgbClr val="424242"/>
              </a:buClr>
              <a:buSzPts val="1400"/>
              <a:buChar char="●"/>
              <a:defRPr>
                <a:solidFill>
                  <a:srgbClr val="424242"/>
                </a:solidFill>
              </a:defRPr>
            </a:lvl7pPr>
            <a:lvl8pPr marL="3657600" lvl="7" indent="-317500" rtl="1">
              <a:spcBef>
                <a:spcPts val="0"/>
              </a:spcBef>
              <a:spcAft>
                <a:spcPts val="0"/>
              </a:spcAft>
              <a:buClr>
                <a:srgbClr val="424242"/>
              </a:buClr>
              <a:buSzPts val="1400"/>
              <a:buChar char="○"/>
              <a:defRPr>
                <a:solidFill>
                  <a:srgbClr val="424242"/>
                </a:solidFill>
              </a:defRPr>
            </a:lvl8pPr>
            <a:lvl9pPr marL="4114800" lvl="8" indent="-317500" rtl="1">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311700" y="282450"/>
            <a:ext cx="8520600" cy="572700"/>
          </a:xfrm>
          <a:prstGeom prst="rect">
            <a:avLst/>
          </a:prstGeom>
        </p:spPr>
        <p:txBody>
          <a:bodyPr spcFirstLastPara="1" wrap="square" lIns="91425" tIns="91425" rIns="91425" bIns="91425" anchor="t" anchorCtr="0">
            <a:normAutofit/>
          </a:bodyPr>
          <a:lstStyle>
            <a:lvl1pPr lvl="0" rtl="1">
              <a:spcBef>
                <a:spcPts val="0"/>
              </a:spcBef>
              <a:spcAft>
                <a:spcPts val="0"/>
              </a:spcAft>
              <a:buSzPts val="2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6" name="Google Shape;2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27" name="Google Shape;27;p6"/>
          <p:cNvPicPr preferRelativeResize="0"/>
          <p:nvPr/>
        </p:nvPicPr>
        <p:blipFill>
          <a:blip r:embed="rId2">
            <a:alphaModFix/>
          </a:blip>
          <a:stretch>
            <a:fillRect/>
          </a:stretch>
        </p:blipFill>
        <p:spPr>
          <a:xfrm>
            <a:off x="7959271" y="4703039"/>
            <a:ext cx="946580" cy="21398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1">
              <a:spcBef>
                <a:spcPts val="0"/>
              </a:spcBef>
              <a:spcAft>
                <a:spcPts val="0"/>
              </a:spcAft>
              <a:buSzPts val="4200"/>
              <a:buNone/>
              <a:defRPr sz="4200"/>
            </a:lvl1pPr>
            <a:lvl2pPr lvl="1" algn="ctr" rtl="1">
              <a:spcBef>
                <a:spcPts val="0"/>
              </a:spcBef>
              <a:spcAft>
                <a:spcPts val="0"/>
              </a:spcAft>
              <a:buSzPts val="4200"/>
              <a:buNone/>
              <a:defRPr sz="4200"/>
            </a:lvl2pPr>
            <a:lvl3pPr lvl="2" algn="ctr" rtl="1">
              <a:spcBef>
                <a:spcPts val="0"/>
              </a:spcBef>
              <a:spcAft>
                <a:spcPts val="0"/>
              </a:spcAft>
              <a:buSzPts val="4200"/>
              <a:buNone/>
              <a:defRPr sz="4200"/>
            </a:lvl3pPr>
            <a:lvl4pPr lvl="3" algn="ctr" rtl="1">
              <a:spcBef>
                <a:spcPts val="0"/>
              </a:spcBef>
              <a:spcAft>
                <a:spcPts val="0"/>
              </a:spcAft>
              <a:buSzPts val="4200"/>
              <a:buNone/>
              <a:defRPr sz="4200"/>
            </a:lvl4pPr>
            <a:lvl5pPr lvl="4" algn="ctr" rtl="1">
              <a:spcBef>
                <a:spcPts val="0"/>
              </a:spcBef>
              <a:spcAft>
                <a:spcPts val="0"/>
              </a:spcAft>
              <a:buSzPts val="4200"/>
              <a:buNone/>
              <a:defRPr sz="4200"/>
            </a:lvl5pPr>
            <a:lvl6pPr lvl="5" algn="ctr" rtl="1">
              <a:spcBef>
                <a:spcPts val="0"/>
              </a:spcBef>
              <a:spcAft>
                <a:spcPts val="0"/>
              </a:spcAft>
              <a:buSzPts val="4200"/>
              <a:buNone/>
              <a:defRPr sz="4200"/>
            </a:lvl6pPr>
            <a:lvl7pPr lvl="6" algn="ctr" rtl="1">
              <a:spcBef>
                <a:spcPts val="0"/>
              </a:spcBef>
              <a:spcAft>
                <a:spcPts val="0"/>
              </a:spcAft>
              <a:buSzPts val="4200"/>
              <a:buNone/>
              <a:defRPr sz="4200"/>
            </a:lvl7pPr>
            <a:lvl8pPr lvl="7" algn="ctr" rtl="1">
              <a:spcBef>
                <a:spcPts val="0"/>
              </a:spcBef>
              <a:spcAft>
                <a:spcPts val="0"/>
              </a:spcAft>
              <a:buSzPts val="4200"/>
              <a:buNone/>
              <a:defRPr sz="4200"/>
            </a:lvl8pPr>
            <a:lvl9pPr lvl="8" algn="ctr" rtl="1">
              <a:spcBef>
                <a:spcPts val="0"/>
              </a:spcBef>
              <a:spcAft>
                <a:spcPts val="0"/>
              </a:spcAft>
              <a:buSzPts val="4200"/>
              <a:buNone/>
              <a:defRPr sz="4200"/>
            </a:lvl9pPr>
          </a:lstStyle>
          <a:p>
            <a:endParaRPr/>
          </a:p>
        </p:txBody>
      </p:sp>
      <p:sp>
        <p:nvSpPr>
          <p:cNvPr id="37" name="Google Shape;37;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8" name="Google Shape;38;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9" name="Google Shape;3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1">
              <a:spcBef>
                <a:spcPts val="0"/>
              </a:spcBef>
              <a:spcAft>
                <a:spcPts val="0"/>
              </a:spcAft>
              <a:buSzPts val="12000"/>
              <a:buNone/>
              <a:defRPr sz="12000"/>
            </a:lvl1pPr>
            <a:lvl2pPr lvl="1" algn="ctr" rtl="1">
              <a:spcBef>
                <a:spcPts val="0"/>
              </a:spcBef>
              <a:spcAft>
                <a:spcPts val="0"/>
              </a:spcAft>
              <a:buSzPts val="12000"/>
              <a:buNone/>
              <a:defRPr sz="12000"/>
            </a:lvl2pPr>
            <a:lvl3pPr lvl="2" algn="ctr" rtl="1">
              <a:spcBef>
                <a:spcPts val="0"/>
              </a:spcBef>
              <a:spcAft>
                <a:spcPts val="0"/>
              </a:spcAft>
              <a:buSzPts val="12000"/>
              <a:buNone/>
              <a:defRPr sz="12000"/>
            </a:lvl3pPr>
            <a:lvl4pPr lvl="3" algn="ctr" rtl="1">
              <a:spcBef>
                <a:spcPts val="0"/>
              </a:spcBef>
              <a:spcAft>
                <a:spcPts val="0"/>
              </a:spcAft>
              <a:buSzPts val="12000"/>
              <a:buNone/>
              <a:defRPr sz="12000"/>
            </a:lvl4pPr>
            <a:lvl5pPr lvl="4" algn="ctr" rtl="1">
              <a:spcBef>
                <a:spcPts val="0"/>
              </a:spcBef>
              <a:spcAft>
                <a:spcPts val="0"/>
              </a:spcAft>
              <a:buSzPts val="12000"/>
              <a:buNone/>
              <a:defRPr sz="12000"/>
            </a:lvl5pPr>
            <a:lvl6pPr lvl="5" algn="ctr" rtl="1">
              <a:spcBef>
                <a:spcPts val="0"/>
              </a:spcBef>
              <a:spcAft>
                <a:spcPts val="0"/>
              </a:spcAft>
              <a:buSzPts val="12000"/>
              <a:buNone/>
              <a:defRPr sz="12000"/>
            </a:lvl6pPr>
            <a:lvl7pPr lvl="6" algn="ctr" rtl="1">
              <a:spcBef>
                <a:spcPts val="0"/>
              </a:spcBef>
              <a:spcAft>
                <a:spcPts val="0"/>
              </a:spcAft>
              <a:buSzPts val="12000"/>
              <a:buNone/>
              <a:defRPr sz="12000"/>
            </a:lvl7pPr>
            <a:lvl8pPr lvl="7" algn="ctr" rtl="1">
              <a:spcBef>
                <a:spcPts val="0"/>
              </a:spcBef>
              <a:spcAft>
                <a:spcPts val="0"/>
              </a:spcAft>
              <a:buSzPts val="12000"/>
              <a:buNone/>
              <a:defRPr sz="12000"/>
            </a:lvl8pPr>
            <a:lvl9pPr lvl="8" algn="ctr" rtl="1">
              <a:spcBef>
                <a:spcPts val="0"/>
              </a:spcBef>
              <a:spcAft>
                <a:spcPts val="0"/>
              </a:spcAft>
              <a:buSzPts val="12000"/>
              <a:buNone/>
              <a:defRPr sz="12000"/>
            </a:lvl9pPr>
          </a:lstStyle>
          <a:p>
            <a:r>
              <a:t>xx%</a:t>
            </a:r>
          </a:p>
        </p:txBody>
      </p:sp>
      <p:pic>
        <p:nvPicPr>
          <p:cNvPr id="43" name="Google Shape;43;p11" title="twq white-20.png"/>
          <p:cNvPicPr preferRelativeResize="0"/>
          <p:nvPr/>
        </p:nvPicPr>
        <p:blipFill>
          <a:blip r:embed="rId3">
            <a:alphaModFix/>
          </a:blip>
          <a:stretch>
            <a:fillRect/>
          </a:stretch>
        </p:blipFill>
        <p:spPr>
          <a:xfrm>
            <a:off x="7443975" y="84975"/>
            <a:ext cx="1388326" cy="599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5784194"/>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0">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lvl="0" rtl="1">
              <a:spcBef>
                <a:spcPts val="0"/>
              </a:spcBef>
              <a:spcAft>
                <a:spcPts val="0"/>
              </a:spcAft>
              <a:buClr>
                <a:srgbClr val="4F29B7"/>
              </a:buClr>
              <a:buSzPts val="2500"/>
              <a:buFont typeface="IBM Plex Sans Arabic Medium"/>
              <a:buNone/>
              <a:defRPr sz="2500">
                <a:solidFill>
                  <a:srgbClr val="4F29B7"/>
                </a:solidFill>
                <a:latin typeface="IBM Plex Sans Arabic Medium"/>
                <a:ea typeface="IBM Plex Sans Arabic Medium"/>
                <a:cs typeface="IBM Plex Sans Arabic Medium"/>
                <a:sym typeface="IBM Plex Sans Arabic Medium"/>
              </a:defRPr>
            </a:lvl1pPr>
            <a:lvl2pPr lvl="1"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2pPr>
            <a:lvl3pPr lvl="2"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3pPr>
            <a:lvl4pPr lvl="3"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4pPr>
            <a:lvl5pPr lvl="4"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5pPr>
            <a:lvl6pPr lvl="5"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6pPr>
            <a:lvl7pPr lvl="6"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7pPr>
            <a:lvl8pPr lvl="7"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8pPr>
            <a:lvl9pPr lvl="8"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1">
              <a:lnSpc>
                <a:spcPct val="115000"/>
              </a:lnSpc>
              <a:spcBef>
                <a:spcPts val="0"/>
              </a:spcBef>
              <a:spcAft>
                <a:spcPts val="0"/>
              </a:spcAft>
              <a:buClr>
                <a:srgbClr val="252526"/>
              </a:buClr>
              <a:buSzPts val="1800"/>
              <a:buFont typeface="IBM Plex Sans Arabic"/>
              <a:buChar char="●"/>
              <a:defRPr sz="1800">
                <a:solidFill>
                  <a:srgbClr val="252526"/>
                </a:solidFill>
                <a:latin typeface="IBM Plex Sans Arabic"/>
                <a:ea typeface="IBM Plex Sans Arabic"/>
                <a:cs typeface="IBM Plex Sans Arabic"/>
                <a:sym typeface="IBM Plex Sans Arabic"/>
              </a:defRPr>
            </a:lvl1pPr>
            <a:lvl2pPr marL="914400" lvl="1"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2pPr>
            <a:lvl3pPr marL="1371600" lvl="2"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3pPr>
            <a:lvl4pPr marL="1828800" lvl="3"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4pPr>
            <a:lvl5pPr marL="2286000" lvl="4"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5pPr>
            <a:lvl6pPr marL="2743200" lvl="5"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6pPr>
            <a:lvl7pPr marL="3200400" lvl="6"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7pPr>
            <a:lvl8pPr marL="3657600" lvl="7"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8pPr>
            <a:lvl9pPr marL="4114800" lvl="8"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5" r:id="rId5"/>
    <p:sldLayoutId id="2147483657" r:id="rId6"/>
    <p:sldLayoutId id="2147483658" r:id="rId7"/>
    <p:sldLayoutId id="2147483660"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0.xml.rels><?xml version="1.0" encoding="UTF-8"?><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1.xml.rels><?xml version="1.0" encoding="UTF-8"?><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3.xml.rels><?xml version="1.0" encoding="UTF-8"?><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4.xml.rels><?xml version="1.0" encoding="UTF-8"?><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31.xml.rels><?xml version="1.0" encoding="UTF-8"?><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2.xml.rels><?xml version="1.0" encoding="UTF-8"?><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4.xml.rels><?xml version="1.0" encoding="UTF-8"?><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42.xml.rels><?xml version="1.0" encoding="UTF-8"?><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3.xml.rels><?xml version="1.0" encoding="UTF-8"?><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13"/>
          <p:cNvSpPr txBox="1">
            <a:spLocks noGrp="1"/>
          </p:cNvSpPr>
          <p:nvPr>
            <p:ph type="title"/>
          </p:nvPr>
        </p:nvSpPr>
        <p:spPr>
          <a:xfrm>
            <a:off x="5435226" y="867625"/>
            <a:ext cx="2974200" cy="2262000"/>
          </a:xfrm>
          <a:prstGeom prst="rect">
            <a:avLst/>
          </a:prstGeom>
        </p:spPr>
        <p:txBody>
          <a:bodyPr spcFirstLastPara="1" wrap="square" lIns="91425" tIns="91425" rIns="91425" bIns="91425" anchor="b" anchorCtr="0">
            <a:normAutofit/>
          </a:bodyPr>
          <a:lstStyle/>
          <a:p>
            <a:pPr marL="0" lvl="0" indent="0" algn="r" rtl="0">
              <a:spcBef>
                <a:spcPts val="0"/>
              </a:spcBef>
              <a:spcAft>
                <a:spcPts val="0"/>
              </a:spcAft>
              <a:buNone/>
            </a:pPr>
            <a:r>
              <a:rPr lang="en" sz="4800" dirty="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dirty="0">
              <a:solidFill>
                <a:srgbClr val="58E3D8"/>
              </a:solidFill>
              <a:latin typeface="IBM Plex Sans Arabic SemiBold"/>
              <a:ea typeface="IBM Plex Sans Arabic SemiBold"/>
              <a:cs typeface="IBM Plex Sans Arabic SemiBold"/>
              <a:sym typeface="IBM Plex Sans Arabic SemiBold"/>
            </a:endParaRPr>
          </a:p>
        </p:txBody>
      </p:sp>
      <p:sp>
        <p:nvSpPr>
          <p:cNvPr id="51" name="Google Shape;51;p13"/>
          <p:cNvSpPr txBox="1">
            <a:spLocks noGrp="1"/>
          </p:cNvSpPr>
          <p:nvPr>
            <p:ph type="body" idx="4294967295"/>
          </p:nvPr>
        </p:nvSpPr>
        <p:spPr>
          <a:xfrm>
            <a:off x="3902100" y="3253272"/>
            <a:ext cx="4447500" cy="403200"/>
          </a:xfrm>
          <a:prstGeom prst="rect">
            <a:avLst/>
          </a:prstGeom>
        </p:spPr>
        <p:txBody>
          <a:bodyPr spcFirstLastPara="1" wrap="square" lIns="91425" tIns="91425" rIns="91425" bIns="91425" anchor="t" anchorCtr="0">
            <a:noAutofit/>
          </a:bodyPr>
          <a:lstStyle/>
          <a:p>
            <a:pPr marL="114300" indent="0" algn="r">
              <a:buNone/>
            </a:pPr>
            <a:r>
              <a:rPr lang="ar-SA" sz="2000" b="1" dirty="0">
                <a:solidFill>
                  <a:schemeClr val="bg1"/>
                </a:solidFill>
              </a:rPr>
              <a:t>المعسكر التأسيسي - مسار البرمجة</a:t>
            </a:r>
          </a:p>
          <a:p>
            <a:pPr marL="114300" indent="0">
              <a:buNone/>
            </a:pPr>
            <a:br>
              <a:rPr lang="ar-SA" sz="2000" dirty="0"/>
            </a:br>
            <a:endParaRPr lang="ar-SA" sz="20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67E406D-77C5-64FC-1384-3ED885662E43}"/>
              </a:ext>
            </a:extLst>
          </p:cNvPr>
          <p:cNvSpPr/>
          <p:nvPr/>
        </p:nvSpPr>
        <p:spPr>
          <a:xfrm>
            <a:off x="0" y="0"/>
            <a:ext cx="9144000" cy="64008"/>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A58AB1B6-4F13-B6F1-65C4-FDEAF2A7575E}"/>
              </a:ext>
            </a:extLst>
          </p:cNvPr>
          <p:cNvSpPr/>
          <p:nvPr/>
        </p:nvSpPr>
        <p:spPr>
          <a:xfrm>
            <a:off x="0" y="5079492"/>
            <a:ext cx="9144000" cy="64008"/>
          </a:xfrm>
          <a:prstGeom prst="rect">
            <a:avLst/>
          </a:prstGeom>
          <a:solidFill>
            <a:srgbClr val="4F29B7"/>
          </a:solidFill>
          <a:ln w="12700">
            <a:solidFill>
              <a:srgbClr val="4F29B7"/>
            </a:solidFill>
            <a:prstDash val="solid"/>
          </a:ln>
        </p:spPr>
        <p:txBody>
          <a:bodyPr/>
          <a:lstStyle/>
          <a:p>
            <a:endParaRPr lang="en-US"/>
          </a:p>
        </p:txBody>
      </p:sp>
      <p:sp>
        <p:nvSpPr>
          <p:cNvPr id="4" name="Shape 2">
            <a:extLst>
              <a:ext uri="{FF2B5EF4-FFF2-40B4-BE49-F238E27FC236}">
                <a16:creationId xmlns:a16="http://schemas.microsoft.com/office/drawing/2014/main" id="{FF820E8F-A391-AC62-D54D-317374F62C88}"/>
              </a:ext>
            </a:extLst>
          </p:cNvPr>
          <p:cNvSpPr/>
          <p:nvPr/>
        </p:nvSpPr>
        <p:spPr>
          <a:xfrm>
            <a:off x="0" y="64008"/>
            <a:ext cx="2560320" cy="5015484"/>
          </a:xfrm>
          <a:prstGeom prst="rect">
            <a:avLst/>
          </a:prstGeom>
          <a:solidFill>
            <a:srgbClr val="0A2020"/>
          </a:solidFill>
          <a:ln w="12700">
            <a:solidFill>
              <a:srgbClr val="0A2020"/>
            </a:solidFill>
            <a:prstDash val="solid"/>
          </a:ln>
        </p:spPr>
        <p:txBody>
          <a:bodyPr/>
          <a:lstStyle/>
          <a:p>
            <a:endParaRPr lang="en-US"/>
          </a:p>
        </p:txBody>
      </p:sp>
      <p:sp>
        <p:nvSpPr>
          <p:cNvPr id="5" name="Shape 3">
            <a:extLst>
              <a:ext uri="{FF2B5EF4-FFF2-40B4-BE49-F238E27FC236}">
                <a16:creationId xmlns:a16="http://schemas.microsoft.com/office/drawing/2014/main" id="{244B5C98-FBD3-E2CD-5772-833C4D8DBE51}"/>
              </a:ext>
            </a:extLst>
          </p:cNvPr>
          <p:cNvSpPr/>
          <p:nvPr/>
        </p:nvSpPr>
        <p:spPr>
          <a:xfrm>
            <a:off x="2560320" y="64008"/>
            <a:ext cx="0" cy="5015484"/>
          </a:xfrm>
          <a:prstGeom prst="line">
            <a:avLst/>
          </a:prstGeom>
          <a:noFill/>
          <a:ln w="25400">
            <a:solidFill>
              <a:srgbClr val="57E3D8"/>
            </a:solidFill>
            <a:prstDash val="solid"/>
          </a:ln>
        </p:spPr>
        <p:txBody>
          <a:bodyPr/>
          <a:lstStyle/>
          <a:p>
            <a:endParaRPr lang="en-US"/>
          </a:p>
        </p:txBody>
      </p:sp>
      <p:sp>
        <p:nvSpPr>
          <p:cNvPr id="6" name="Text 4">
            <a:extLst>
              <a:ext uri="{FF2B5EF4-FFF2-40B4-BE49-F238E27FC236}">
                <a16:creationId xmlns:a16="http://schemas.microsoft.com/office/drawing/2014/main" id="{70A0054A-5F93-C0F8-68C3-1CAD4846EE0E}"/>
              </a:ext>
            </a:extLst>
          </p:cNvPr>
          <p:cNvSpPr/>
          <p:nvPr/>
        </p:nvSpPr>
        <p:spPr>
          <a:xfrm>
            <a:off x="0" y="320040"/>
            <a:ext cx="2560320" cy="1463040"/>
          </a:xfrm>
          <a:prstGeom prst="rect">
            <a:avLst/>
          </a:prstGeom>
          <a:noFill/>
          <a:ln/>
        </p:spPr>
        <p:txBody>
          <a:bodyPr wrap="square" lIns="0" tIns="0" rIns="0" bIns="0" rtlCol="0" anchor="ctr"/>
          <a:lstStyle/>
          <a:p>
            <a:pPr marL="0" indent="0" algn="ctr">
              <a:buNone/>
            </a:pPr>
            <a:r>
              <a:rPr lang="en-US" sz="8000" b="1" dirty="0">
                <a:solidFill>
                  <a:schemeClr val="bg1"/>
                </a:solidFill>
                <a:latin typeface="Calibri" pitchFamily="34" charset="0"/>
                <a:ea typeface="Calibri" pitchFamily="34" charset="-122"/>
                <a:cs typeface="Calibri" pitchFamily="34" charset="-120"/>
              </a:rPr>
              <a:t>03</a:t>
            </a:r>
            <a:endParaRPr lang="en-US" sz="8000" dirty="0">
              <a:solidFill>
                <a:schemeClr val="bg1"/>
              </a:solidFill>
            </a:endParaRPr>
          </a:p>
        </p:txBody>
      </p:sp>
      <p:sp>
        <p:nvSpPr>
          <p:cNvPr id="7" name="Shape 5">
            <a:extLst>
              <a:ext uri="{FF2B5EF4-FFF2-40B4-BE49-F238E27FC236}">
                <a16:creationId xmlns:a16="http://schemas.microsoft.com/office/drawing/2014/main" id="{2D400CA1-A6FF-D2ED-B42E-71359923989F}"/>
              </a:ext>
            </a:extLst>
          </p:cNvPr>
          <p:cNvSpPr/>
          <p:nvPr/>
        </p:nvSpPr>
        <p:spPr>
          <a:xfrm>
            <a:off x="228600" y="384048"/>
            <a:ext cx="822960" cy="256032"/>
          </a:xfrm>
          <a:prstGeom prst="roundRect">
            <a:avLst>
              <a:gd name="adj" fmla="val 42857"/>
            </a:avLst>
          </a:prstGeom>
          <a:solidFill>
            <a:srgbClr val="57E3D8"/>
          </a:solidFill>
          <a:ln w="12700">
            <a:solidFill>
              <a:srgbClr val="57E3D8"/>
            </a:solidFill>
            <a:prstDash val="solid"/>
          </a:ln>
        </p:spPr>
        <p:txBody>
          <a:bodyPr/>
          <a:lstStyle/>
          <a:p>
            <a:endParaRPr lang="en-US"/>
          </a:p>
        </p:txBody>
      </p:sp>
      <p:sp>
        <p:nvSpPr>
          <p:cNvPr id="8" name="Text 6">
            <a:extLst>
              <a:ext uri="{FF2B5EF4-FFF2-40B4-BE49-F238E27FC236}">
                <a16:creationId xmlns:a16="http://schemas.microsoft.com/office/drawing/2014/main" id="{F273ADA2-B102-4B1E-6AF9-898A94FBDFA6}"/>
              </a:ext>
            </a:extLst>
          </p:cNvPr>
          <p:cNvSpPr/>
          <p:nvPr/>
        </p:nvSpPr>
        <p:spPr>
          <a:xfrm>
            <a:off x="228600" y="384048"/>
            <a:ext cx="822960" cy="256032"/>
          </a:xfrm>
          <a:prstGeom prst="rect">
            <a:avLst/>
          </a:prstGeom>
          <a:noFill/>
          <a:ln/>
        </p:spPr>
        <p:txBody>
          <a:bodyPr wrap="square" lIns="0" tIns="0" rIns="0" bIns="0" rtlCol="0" anchor="ctr"/>
          <a:lstStyle/>
          <a:p>
            <a:pPr marL="0" indent="0" algn="ctr">
              <a:buNone/>
            </a:pPr>
            <a:r>
              <a:rPr lang="en-US" sz="1100" b="1" dirty="0">
                <a:solidFill>
                  <a:srgbClr val="0A2020"/>
                </a:solidFill>
                <a:latin typeface="Calibri" pitchFamily="34" charset="0"/>
                <a:ea typeface="Calibri" pitchFamily="34" charset="-122"/>
                <a:cs typeface="Calibri" pitchFamily="34" charset="-120"/>
              </a:rPr>
              <a:t>Week 3</a:t>
            </a:r>
            <a:endParaRPr lang="en-US" sz="1100" dirty="0"/>
          </a:p>
        </p:txBody>
      </p:sp>
      <p:sp>
        <p:nvSpPr>
          <p:cNvPr id="9" name="Text 7">
            <a:extLst>
              <a:ext uri="{FF2B5EF4-FFF2-40B4-BE49-F238E27FC236}">
                <a16:creationId xmlns:a16="http://schemas.microsoft.com/office/drawing/2014/main" id="{C09B99FC-C479-8C2D-E6D2-881A32388889}"/>
              </a:ext>
            </a:extLst>
          </p:cNvPr>
          <p:cNvSpPr/>
          <p:nvPr/>
        </p:nvSpPr>
        <p:spPr>
          <a:xfrm>
            <a:off x="137160" y="1417320"/>
            <a:ext cx="2286000" cy="8686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Algorithms</a:t>
            </a:r>
            <a:endParaRPr lang="en-US" sz="2200" dirty="0"/>
          </a:p>
          <a:p>
            <a:pPr marL="0" indent="0" algn="ctr">
              <a:buNone/>
            </a:pPr>
            <a:r>
              <a:rPr lang="en-US" sz="2200" b="1" dirty="0">
                <a:solidFill>
                  <a:srgbClr val="FFFFFF"/>
                </a:solidFill>
                <a:latin typeface="Calibri" pitchFamily="34" charset="0"/>
                <a:ea typeface="Calibri" pitchFamily="34" charset="-122"/>
                <a:cs typeface="Calibri" pitchFamily="34" charset="-120"/>
              </a:rPr>
              <a:t xml:space="preserve"> </a:t>
            </a:r>
            <a:endParaRPr lang="en-US" sz="2200" dirty="0"/>
          </a:p>
        </p:txBody>
      </p:sp>
      <p:sp>
        <p:nvSpPr>
          <p:cNvPr id="10" name="Shape 8">
            <a:extLst>
              <a:ext uri="{FF2B5EF4-FFF2-40B4-BE49-F238E27FC236}">
                <a16:creationId xmlns:a16="http://schemas.microsoft.com/office/drawing/2014/main" id="{38A5CAEB-8102-DF38-E1B7-6B194D394D41}"/>
              </a:ext>
            </a:extLst>
          </p:cNvPr>
          <p:cNvSpPr/>
          <p:nvPr/>
        </p:nvSpPr>
        <p:spPr>
          <a:xfrm>
            <a:off x="320040" y="4069080"/>
            <a:ext cx="1920240" cy="0"/>
          </a:xfrm>
          <a:prstGeom prst="line">
            <a:avLst/>
          </a:prstGeom>
          <a:noFill/>
          <a:ln w="9525">
            <a:solidFill>
              <a:srgbClr val="333355"/>
            </a:solidFill>
            <a:prstDash val="solid"/>
          </a:ln>
        </p:spPr>
        <p:txBody>
          <a:bodyPr/>
          <a:lstStyle/>
          <a:p>
            <a:endParaRPr lang="en-US"/>
          </a:p>
        </p:txBody>
      </p:sp>
      <p:sp>
        <p:nvSpPr>
          <p:cNvPr id="11" name="Text 9">
            <a:extLst>
              <a:ext uri="{FF2B5EF4-FFF2-40B4-BE49-F238E27FC236}">
                <a16:creationId xmlns:a16="http://schemas.microsoft.com/office/drawing/2014/main" id="{92B591E3-3AA6-686E-4CAC-AF218B233E00}"/>
              </a:ext>
            </a:extLst>
          </p:cNvPr>
          <p:cNvSpPr/>
          <p:nvPr/>
        </p:nvSpPr>
        <p:spPr>
          <a:xfrm>
            <a:off x="137160" y="4160520"/>
            <a:ext cx="2286000" cy="228600"/>
          </a:xfrm>
          <a:prstGeom prst="rect">
            <a:avLst/>
          </a:prstGeom>
          <a:noFill/>
          <a:ln/>
        </p:spPr>
        <p:txBody>
          <a:bodyPr wrap="square" lIns="0" tIns="0" rIns="0" bIns="0" rtlCol="0" anchor="ctr"/>
          <a:lstStyle/>
          <a:p>
            <a:pPr marL="0" indent="0" algn="ctr">
              <a:buNone/>
            </a:pPr>
            <a:r>
              <a:rPr lang="en-US" sz="1000" dirty="0">
                <a:solidFill>
                  <a:srgbClr val="9AA4B2"/>
                </a:solidFill>
                <a:latin typeface="Calibri" pitchFamily="34" charset="0"/>
                <a:ea typeface="Calibri" pitchFamily="34" charset="-122"/>
                <a:cs typeface="Calibri" pitchFamily="34" charset="-120"/>
              </a:rPr>
              <a:t>Foundation Bootcamp</a:t>
            </a:r>
            <a:endParaRPr lang="en-US" sz="1000" dirty="0"/>
          </a:p>
        </p:txBody>
      </p:sp>
      <p:sp>
        <p:nvSpPr>
          <p:cNvPr id="12" name="Text 10">
            <a:extLst>
              <a:ext uri="{FF2B5EF4-FFF2-40B4-BE49-F238E27FC236}">
                <a16:creationId xmlns:a16="http://schemas.microsoft.com/office/drawing/2014/main" id="{5599767D-CE61-3911-E941-102809D30A60}"/>
              </a:ext>
            </a:extLst>
          </p:cNvPr>
          <p:cNvSpPr/>
          <p:nvPr/>
        </p:nvSpPr>
        <p:spPr>
          <a:xfrm>
            <a:off x="137160" y="4407408"/>
            <a:ext cx="2286000" cy="228600"/>
          </a:xfrm>
          <a:prstGeom prst="rect">
            <a:avLst/>
          </a:prstGeom>
          <a:noFill/>
          <a:ln/>
        </p:spPr>
        <p:txBody>
          <a:bodyPr wrap="square" lIns="0" tIns="0" rIns="0" bIns="0" rtlCol="0" anchor="ctr"/>
          <a:lstStyle/>
          <a:p>
            <a:pPr marL="0" indent="0" algn="ctr">
              <a:buNone/>
            </a:pPr>
            <a:r>
              <a:rPr lang="en-US" sz="1000" dirty="0">
                <a:solidFill>
                  <a:srgbClr val="9AA4B2"/>
                </a:solidFill>
                <a:latin typeface="Calibri" pitchFamily="34" charset="0"/>
                <a:ea typeface="Calibri" pitchFamily="34" charset="-122"/>
                <a:cs typeface="Calibri" pitchFamily="34" charset="-120"/>
              </a:rPr>
              <a:t>مسار البرمجة</a:t>
            </a:r>
            <a:endParaRPr lang="en-US" sz="1000" dirty="0"/>
          </a:p>
        </p:txBody>
      </p:sp>
      <p:sp>
        <p:nvSpPr>
          <p:cNvPr id="13" name="Shape 11">
            <a:extLst>
              <a:ext uri="{FF2B5EF4-FFF2-40B4-BE49-F238E27FC236}">
                <a16:creationId xmlns:a16="http://schemas.microsoft.com/office/drawing/2014/main" id="{55F4100E-9CB8-5B37-C0F2-CBEC90D9766C}"/>
              </a:ext>
            </a:extLst>
          </p:cNvPr>
          <p:cNvSpPr/>
          <p:nvPr/>
        </p:nvSpPr>
        <p:spPr>
          <a:xfrm>
            <a:off x="2834640" y="637794"/>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14" name="Shape 12">
            <a:extLst>
              <a:ext uri="{FF2B5EF4-FFF2-40B4-BE49-F238E27FC236}">
                <a16:creationId xmlns:a16="http://schemas.microsoft.com/office/drawing/2014/main" id="{5C0B6CAB-0687-131B-B1A3-5DC2E6225321}"/>
              </a:ext>
            </a:extLst>
          </p:cNvPr>
          <p:cNvSpPr/>
          <p:nvPr/>
        </p:nvSpPr>
        <p:spPr>
          <a:xfrm>
            <a:off x="3035808" y="788670"/>
            <a:ext cx="384048" cy="384048"/>
          </a:xfrm>
          <a:prstGeom prst="ellipse">
            <a:avLst/>
          </a:prstGeom>
          <a:solidFill>
            <a:srgbClr val="57E3D8"/>
          </a:solidFill>
          <a:ln w="12700">
            <a:solidFill>
              <a:srgbClr val="57E3D8"/>
            </a:solidFill>
            <a:prstDash val="solid"/>
          </a:ln>
        </p:spPr>
        <p:txBody>
          <a:bodyPr/>
          <a:lstStyle/>
          <a:p>
            <a:endParaRPr lang="en-US"/>
          </a:p>
        </p:txBody>
      </p:sp>
      <p:sp>
        <p:nvSpPr>
          <p:cNvPr id="15" name="Text 13">
            <a:extLst>
              <a:ext uri="{FF2B5EF4-FFF2-40B4-BE49-F238E27FC236}">
                <a16:creationId xmlns:a16="http://schemas.microsoft.com/office/drawing/2014/main" id="{AC7BC44D-1FC9-9F64-5CC7-E434D27250A8}"/>
              </a:ext>
            </a:extLst>
          </p:cNvPr>
          <p:cNvSpPr/>
          <p:nvPr/>
        </p:nvSpPr>
        <p:spPr>
          <a:xfrm>
            <a:off x="3035808" y="788670"/>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1</a:t>
            </a:r>
            <a:endParaRPr lang="en-US" sz="1200" dirty="0"/>
          </a:p>
        </p:txBody>
      </p:sp>
      <p:sp>
        <p:nvSpPr>
          <p:cNvPr id="16" name="Text 14">
            <a:extLst>
              <a:ext uri="{FF2B5EF4-FFF2-40B4-BE49-F238E27FC236}">
                <a16:creationId xmlns:a16="http://schemas.microsoft.com/office/drawing/2014/main" id="{C3F1AAB6-AEF6-43A8-6A84-7CBE0EB54EF6}"/>
              </a:ext>
            </a:extLst>
          </p:cNvPr>
          <p:cNvSpPr/>
          <p:nvPr/>
        </p:nvSpPr>
        <p:spPr>
          <a:xfrm>
            <a:off x="3584448" y="729234"/>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1</a:t>
            </a:r>
            <a:endParaRPr lang="en-US" sz="950" dirty="0"/>
          </a:p>
        </p:txBody>
      </p:sp>
      <p:sp>
        <p:nvSpPr>
          <p:cNvPr id="17" name="Shape 15">
            <a:extLst>
              <a:ext uri="{FF2B5EF4-FFF2-40B4-BE49-F238E27FC236}">
                <a16:creationId xmlns:a16="http://schemas.microsoft.com/office/drawing/2014/main" id="{648B9736-5271-3F10-9283-6A47244C9274}"/>
              </a:ext>
            </a:extLst>
          </p:cNvPr>
          <p:cNvSpPr/>
          <p:nvPr/>
        </p:nvSpPr>
        <p:spPr>
          <a:xfrm>
            <a:off x="4361688" y="784098"/>
            <a:ext cx="0" cy="393192"/>
          </a:xfrm>
          <a:prstGeom prst="line">
            <a:avLst/>
          </a:prstGeom>
          <a:noFill/>
          <a:ln w="9525">
            <a:solidFill>
              <a:srgbClr val="333355"/>
            </a:solidFill>
            <a:prstDash val="solid"/>
          </a:ln>
        </p:spPr>
        <p:txBody>
          <a:bodyPr/>
          <a:lstStyle/>
          <a:p>
            <a:endParaRPr lang="en-US"/>
          </a:p>
        </p:txBody>
      </p:sp>
      <p:sp>
        <p:nvSpPr>
          <p:cNvPr id="18" name="Text 16">
            <a:extLst>
              <a:ext uri="{FF2B5EF4-FFF2-40B4-BE49-F238E27FC236}">
                <a16:creationId xmlns:a16="http://schemas.microsoft.com/office/drawing/2014/main" id="{07A12A8A-1C6B-110F-8997-E7E5477EA5F8}"/>
              </a:ext>
            </a:extLst>
          </p:cNvPr>
          <p:cNvSpPr/>
          <p:nvPr/>
        </p:nvSpPr>
        <p:spPr>
          <a:xfrm>
            <a:off x="4453128" y="637794"/>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Introduction to algorithms</a:t>
            </a:r>
            <a:endParaRPr lang="en-US" sz="1200" dirty="0"/>
          </a:p>
        </p:txBody>
      </p:sp>
      <p:sp>
        <p:nvSpPr>
          <p:cNvPr id="19" name="Shape 17">
            <a:extLst>
              <a:ext uri="{FF2B5EF4-FFF2-40B4-BE49-F238E27FC236}">
                <a16:creationId xmlns:a16="http://schemas.microsoft.com/office/drawing/2014/main" id="{63889319-52E7-F6EA-214C-6FB5D81E6B30}"/>
              </a:ext>
            </a:extLst>
          </p:cNvPr>
          <p:cNvSpPr/>
          <p:nvPr/>
        </p:nvSpPr>
        <p:spPr>
          <a:xfrm>
            <a:off x="2834640" y="1433322"/>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20" name="Shape 18">
            <a:extLst>
              <a:ext uri="{FF2B5EF4-FFF2-40B4-BE49-F238E27FC236}">
                <a16:creationId xmlns:a16="http://schemas.microsoft.com/office/drawing/2014/main" id="{06C2D083-16B0-081D-EC91-9BC5FB3A7C31}"/>
              </a:ext>
            </a:extLst>
          </p:cNvPr>
          <p:cNvSpPr/>
          <p:nvPr/>
        </p:nvSpPr>
        <p:spPr>
          <a:xfrm>
            <a:off x="3035808" y="1584198"/>
            <a:ext cx="384048" cy="384048"/>
          </a:xfrm>
          <a:prstGeom prst="ellipse">
            <a:avLst/>
          </a:prstGeom>
          <a:solidFill>
            <a:srgbClr val="57E3D8"/>
          </a:solidFill>
          <a:ln w="12700">
            <a:solidFill>
              <a:srgbClr val="57E3D8"/>
            </a:solidFill>
            <a:prstDash val="solid"/>
          </a:ln>
        </p:spPr>
        <p:txBody>
          <a:bodyPr/>
          <a:lstStyle/>
          <a:p>
            <a:endParaRPr lang="en-US"/>
          </a:p>
        </p:txBody>
      </p:sp>
      <p:sp>
        <p:nvSpPr>
          <p:cNvPr id="21" name="Text 19">
            <a:extLst>
              <a:ext uri="{FF2B5EF4-FFF2-40B4-BE49-F238E27FC236}">
                <a16:creationId xmlns:a16="http://schemas.microsoft.com/office/drawing/2014/main" id="{BAFCCA92-7DB9-D2AC-FF94-D4A25331D56E}"/>
              </a:ext>
            </a:extLst>
          </p:cNvPr>
          <p:cNvSpPr/>
          <p:nvPr/>
        </p:nvSpPr>
        <p:spPr>
          <a:xfrm>
            <a:off x="3035808" y="1584198"/>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2</a:t>
            </a:r>
            <a:endParaRPr lang="en-US" sz="1200" dirty="0"/>
          </a:p>
        </p:txBody>
      </p:sp>
      <p:sp>
        <p:nvSpPr>
          <p:cNvPr id="22" name="Text 20">
            <a:extLst>
              <a:ext uri="{FF2B5EF4-FFF2-40B4-BE49-F238E27FC236}">
                <a16:creationId xmlns:a16="http://schemas.microsoft.com/office/drawing/2014/main" id="{0C22C430-4049-84D0-C905-1AECAADE9A85}"/>
              </a:ext>
            </a:extLst>
          </p:cNvPr>
          <p:cNvSpPr/>
          <p:nvPr/>
        </p:nvSpPr>
        <p:spPr>
          <a:xfrm>
            <a:off x="3584448" y="1524762"/>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2</a:t>
            </a:r>
            <a:endParaRPr lang="en-US" sz="950" dirty="0"/>
          </a:p>
        </p:txBody>
      </p:sp>
      <p:sp>
        <p:nvSpPr>
          <p:cNvPr id="23" name="Shape 21">
            <a:extLst>
              <a:ext uri="{FF2B5EF4-FFF2-40B4-BE49-F238E27FC236}">
                <a16:creationId xmlns:a16="http://schemas.microsoft.com/office/drawing/2014/main" id="{82A72DA3-1CC8-C226-C2AB-67A0BD33B796}"/>
              </a:ext>
            </a:extLst>
          </p:cNvPr>
          <p:cNvSpPr/>
          <p:nvPr/>
        </p:nvSpPr>
        <p:spPr>
          <a:xfrm>
            <a:off x="4361688" y="1579626"/>
            <a:ext cx="0" cy="393192"/>
          </a:xfrm>
          <a:prstGeom prst="line">
            <a:avLst/>
          </a:prstGeom>
          <a:noFill/>
          <a:ln w="9525">
            <a:solidFill>
              <a:srgbClr val="333355"/>
            </a:solidFill>
            <a:prstDash val="solid"/>
          </a:ln>
        </p:spPr>
        <p:txBody>
          <a:bodyPr/>
          <a:lstStyle/>
          <a:p>
            <a:endParaRPr lang="en-US"/>
          </a:p>
        </p:txBody>
      </p:sp>
      <p:sp>
        <p:nvSpPr>
          <p:cNvPr id="24" name="Text 22">
            <a:extLst>
              <a:ext uri="{FF2B5EF4-FFF2-40B4-BE49-F238E27FC236}">
                <a16:creationId xmlns:a16="http://schemas.microsoft.com/office/drawing/2014/main" id="{F2904907-D386-E744-B0D6-2A064A9BA7D6}"/>
              </a:ext>
            </a:extLst>
          </p:cNvPr>
          <p:cNvSpPr/>
          <p:nvPr/>
        </p:nvSpPr>
        <p:spPr>
          <a:xfrm>
            <a:off x="4453128" y="1433322"/>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Linear Search</a:t>
            </a:r>
            <a:endParaRPr lang="en-US" sz="1200" dirty="0"/>
          </a:p>
        </p:txBody>
      </p:sp>
      <p:sp>
        <p:nvSpPr>
          <p:cNvPr id="25" name="Shape 23">
            <a:extLst>
              <a:ext uri="{FF2B5EF4-FFF2-40B4-BE49-F238E27FC236}">
                <a16:creationId xmlns:a16="http://schemas.microsoft.com/office/drawing/2014/main" id="{8D5DB58C-C19C-BF82-38F2-3520D1D40072}"/>
              </a:ext>
            </a:extLst>
          </p:cNvPr>
          <p:cNvSpPr/>
          <p:nvPr/>
        </p:nvSpPr>
        <p:spPr>
          <a:xfrm>
            <a:off x="2834640" y="2228850"/>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26" name="Shape 24">
            <a:extLst>
              <a:ext uri="{FF2B5EF4-FFF2-40B4-BE49-F238E27FC236}">
                <a16:creationId xmlns:a16="http://schemas.microsoft.com/office/drawing/2014/main" id="{70736680-2F47-383C-0F62-87CCA75E254E}"/>
              </a:ext>
            </a:extLst>
          </p:cNvPr>
          <p:cNvSpPr/>
          <p:nvPr/>
        </p:nvSpPr>
        <p:spPr>
          <a:xfrm>
            <a:off x="3035808" y="2379726"/>
            <a:ext cx="384048" cy="384048"/>
          </a:xfrm>
          <a:prstGeom prst="ellipse">
            <a:avLst/>
          </a:prstGeom>
          <a:solidFill>
            <a:srgbClr val="57E3D8"/>
          </a:solidFill>
          <a:ln w="12700">
            <a:solidFill>
              <a:srgbClr val="57E3D8"/>
            </a:solidFill>
            <a:prstDash val="solid"/>
          </a:ln>
        </p:spPr>
        <p:txBody>
          <a:bodyPr/>
          <a:lstStyle/>
          <a:p>
            <a:endParaRPr lang="en-US"/>
          </a:p>
        </p:txBody>
      </p:sp>
      <p:sp>
        <p:nvSpPr>
          <p:cNvPr id="27" name="Text 25">
            <a:extLst>
              <a:ext uri="{FF2B5EF4-FFF2-40B4-BE49-F238E27FC236}">
                <a16:creationId xmlns:a16="http://schemas.microsoft.com/office/drawing/2014/main" id="{314C9277-EC05-FC71-5EA2-F4407D0C92BB}"/>
              </a:ext>
            </a:extLst>
          </p:cNvPr>
          <p:cNvSpPr/>
          <p:nvPr/>
        </p:nvSpPr>
        <p:spPr>
          <a:xfrm>
            <a:off x="3035808" y="2379726"/>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3</a:t>
            </a:r>
            <a:endParaRPr lang="en-US" sz="1200" dirty="0"/>
          </a:p>
        </p:txBody>
      </p:sp>
      <p:sp>
        <p:nvSpPr>
          <p:cNvPr id="28" name="Text 26">
            <a:extLst>
              <a:ext uri="{FF2B5EF4-FFF2-40B4-BE49-F238E27FC236}">
                <a16:creationId xmlns:a16="http://schemas.microsoft.com/office/drawing/2014/main" id="{30DC768E-4FAE-A61B-FCEC-97E680516D22}"/>
              </a:ext>
            </a:extLst>
          </p:cNvPr>
          <p:cNvSpPr/>
          <p:nvPr/>
        </p:nvSpPr>
        <p:spPr>
          <a:xfrm>
            <a:off x="3584448" y="2320290"/>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3</a:t>
            </a:r>
            <a:endParaRPr lang="en-US" sz="950" dirty="0"/>
          </a:p>
        </p:txBody>
      </p:sp>
      <p:sp>
        <p:nvSpPr>
          <p:cNvPr id="29" name="Shape 27">
            <a:extLst>
              <a:ext uri="{FF2B5EF4-FFF2-40B4-BE49-F238E27FC236}">
                <a16:creationId xmlns:a16="http://schemas.microsoft.com/office/drawing/2014/main" id="{889D4878-03AA-AC42-C788-065DCECAD681}"/>
              </a:ext>
            </a:extLst>
          </p:cNvPr>
          <p:cNvSpPr/>
          <p:nvPr/>
        </p:nvSpPr>
        <p:spPr>
          <a:xfrm>
            <a:off x="4361688" y="2375154"/>
            <a:ext cx="0" cy="393192"/>
          </a:xfrm>
          <a:prstGeom prst="line">
            <a:avLst/>
          </a:prstGeom>
          <a:noFill/>
          <a:ln w="9525">
            <a:solidFill>
              <a:srgbClr val="333355"/>
            </a:solidFill>
            <a:prstDash val="solid"/>
          </a:ln>
        </p:spPr>
        <p:txBody>
          <a:bodyPr/>
          <a:lstStyle/>
          <a:p>
            <a:endParaRPr lang="en-US"/>
          </a:p>
        </p:txBody>
      </p:sp>
      <p:sp>
        <p:nvSpPr>
          <p:cNvPr id="30" name="Text 28">
            <a:extLst>
              <a:ext uri="{FF2B5EF4-FFF2-40B4-BE49-F238E27FC236}">
                <a16:creationId xmlns:a16="http://schemas.microsoft.com/office/drawing/2014/main" id="{431CF177-A807-CE31-1BB2-ECA9F30B5B25}"/>
              </a:ext>
            </a:extLst>
          </p:cNvPr>
          <p:cNvSpPr/>
          <p:nvPr/>
        </p:nvSpPr>
        <p:spPr>
          <a:xfrm>
            <a:off x="4453128" y="2228850"/>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Binary Search</a:t>
            </a:r>
            <a:endParaRPr lang="en-US" sz="1200" dirty="0"/>
          </a:p>
        </p:txBody>
      </p:sp>
      <p:sp>
        <p:nvSpPr>
          <p:cNvPr id="31" name="Shape 29">
            <a:extLst>
              <a:ext uri="{FF2B5EF4-FFF2-40B4-BE49-F238E27FC236}">
                <a16:creationId xmlns:a16="http://schemas.microsoft.com/office/drawing/2014/main" id="{71BB9B55-CFA0-B2B9-D0D5-F9F84E14A700}"/>
              </a:ext>
            </a:extLst>
          </p:cNvPr>
          <p:cNvSpPr/>
          <p:nvPr/>
        </p:nvSpPr>
        <p:spPr>
          <a:xfrm>
            <a:off x="2834640" y="3024378"/>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32" name="Shape 30">
            <a:extLst>
              <a:ext uri="{FF2B5EF4-FFF2-40B4-BE49-F238E27FC236}">
                <a16:creationId xmlns:a16="http://schemas.microsoft.com/office/drawing/2014/main" id="{591074AD-EEAF-CC1A-C64F-70E9EAAE6F93}"/>
              </a:ext>
            </a:extLst>
          </p:cNvPr>
          <p:cNvSpPr/>
          <p:nvPr/>
        </p:nvSpPr>
        <p:spPr>
          <a:xfrm>
            <a:off x="3035808" y="3175254"/>
            <a:ext cx="384048" cy="384048"/>
          </a:xfrm>
          <a:prstGeom prst="ellipse">
            <a:avLst/>
          </a:prstGeom>
          <a:solidFill>
            <a:srgbClr val="57E3D8"/>
          </a:solidFill>
          <a:ln w="12700">
            <a:solidFill>
              <a:srgbClr val="57E3D8"/>
            </a:solidFill>
            <a:prstDash val="solid"/>
          </a:ln>
        </p:spPr>
        <p:txBody>
          <a:bodyPr/>
          <a:lstStyle/>
          <a:p>
            <a:endParaRPr lang="en-US"/>
          </a:p>
        </p:txBody>
      </p:sp>
      <p:sp>
        <p:nvSpPr>
          <p:cNvPr id="33" name="Text 31">
            <a:extLst>
              <a:ext uri="{FF2B5EF4-FFF2-40B4-BE49-F238E27FC236}">
                <a16:creationId xmlns:a16="http://schemas.microsoft.com/office/drawing/2014/main" id="{72C1DB4C-7A30-FDE6-FBB2-5ED7FA0966C0}"/>
              </a:ext>
            </a:extLst>
          </p:cNvPr>
          <p:cNvSpPr/>
          <p:nvPr/>
        </p:nvSpPr>
        <p:spPr>
          <a:xfrm>
            <a:off x="3035808" y="3175254"/>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4</a:t>
            </a:r>
            <a:endParaRPr lang="en-US" sz="1200" dirty="0"/>
          </a:p>
        </p:txBody>
      </p:sp>
      <p:sp>
        <p:nvSpPr>
          <p:cNvPr id="34" name="Text 32">
            <a:extLst>
              <a:ext uri="{FF2B5EF4-FFF2-40B4-BE49-F238E27FC236}">
                <a16:creationId xmlns:a16="http://schemas.microsoft.com/office/drawing/2014/main" id="{20D7429D-968C-6CC1-CB67-49328C66BFFF}"/>
              </a:ext>
            </a:extLst>
          </p:cNvPr>
          <p:cNvSpPr/>
          <p:nvPr/>
        </p:nvSpPr>
        <p:spPr>
          <a:xfrm>
            <a:off x="3584448" y="3115818"/>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4</a:t>
            </a:r>
            <a:endParaRPr lang="en-US" sz="950" dirty="0"/>
          </a:p>
        </p:txBody>
      </p:sp>
      <p:sp>
        <p:nvSpPr>
          <p:cNvPr id="35" name="Shape 33">
            <a:extLst>
              <a:ext uri="{FF2B5EF4-FFF2-40B4-BE49-F238E27FC236}">
                <a16:creationId xmlns:a16="http://schemas.microsoft.com/office/drawing/2014/main" id="{C00E2499-AF17-8119-3E32-ED104BE2C408}"/>
              </a:ext>
            </a:extLst>
          </p:cNvPr>
          <p:cNvSpPr/>
          <p:nvPr/>
        </p:nvSpPr>
        <p:spPr>
          <a:xfrm>
            <a:off x="4361688" y="3170682"/>
            <a:ext cx="0" cy="393192"/>
          </a:xfrm>
          <a:prstGeom prst="line">
            <a:avLst/>
          </a:prstGeom>
          <a:noFill/>
          <a:ln w="9525">
            <a:solidFill>
              <a:srgbClr val="333355"/>
            </a:solidFill>
            <a:prstDash val="solid"/>
          </a:ln>
        </p:spPr>
        <p:txBody>
          <a:bodyPr/>
          <a:lstStyle/>
          <a:p>
            <a:endParaRPr lang="en-US"/>
          </a:p>
        </p:txBody>
      </p:sp>
      <p:sp>
        <p:nvSpPr>
          <p:cNvPr id="36" name="Text 34">
            <a:extLst>
              <a:ext uri="{FF2B5EF4-FFF2-40B4-BE49-F238E27FC236}">
                <a16:creationId xmlns:a16="http://schemas.microsoft.com/office/drawing/2014/main" id="{5CBCAC83-FE09-B41B-A792-27B20AAC85CA}"/>
              </a:ext>
            </a:extLst>
          </p:cNvPr>
          <p:cNvSpPr/>
          <p:nvPr/>
        </p:nvSpPr>
        <p:spPr>
          <a:xfrm>
            <a:off x="4453128" y="3024378"/>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Bubble Sort</a:t>
            </a:r>
            <a:endParaRPr lang="en-US" sz="1200" dirty="0"/>
          </a:p>
        </p:txBody>
      </p:sp>
      <p:sp>
        <p:nvSpPr>
          <p:cNvPr id="37" name="Shape 35">
            <a:extLst>
              <a:ext uri="{FF2B5EF4-FFF2-40B4-BE49-F238E27FC236}">
                <a16:creationId xmlns:a16="http://schemas.microsoft.com/office/drawing/2014/main" id="{56457514-840D-17B8-1CA3-22F36C9B7732}"/>
              </a:ext>
            </a:extLst>
          </p:cNvPr>
          <p:cNvSpPr/>
          <p:nvPr/>
        </p:nvSpPr>
        <p:spPr>
          <a:xfrm>
            <a:off x="2834640" y="3819906"/>
            <a:ext cx="6035040" cy="685800"/>
          </a:xfrm>
          <a:prstGeom prst="roundRect">
            <a:avLst>
              <a:gd name="adj" fmla="val 10667"/>
            </a:avLst>
          </a:prstGeom>
          <a:solidFill>
            <a:srgbClr val="16243A"/>
          </a:solidFill>
          <a:ln w="22225">
            <a:solidFill>
              <a:srgbClr val="57E3D8"/>
            </a:solidFill>
            <a:prstDash val="solid"/>
          </a:ln>
        </p:spPr>
        <p:txBody>
          <a:bodyPr/>
          <a:lstStyle/>
          <a:p>
            <a:endParaRPr lang="en-US"/>
          </a:p>
        </p:txBody>
      </p:sp>
      <p:sp>
        <p:nvSpPr>
          <p:cNvPr id="38" name="Shape 36">
            <a:extLst>
              <a:ext uri="{FF2B5EF4-FFF2-40B4-BE49-F238E27FC236}">
                <a16:creationId xmlns:a16="http://schemas.microsoft.com/office/drawing/2014/main" id="{9DF37A64-ED3D-4331-0DFF-1C08C1392C97}"/>
              </a:ext>
            </a:extLst>
          </p:cNvPr>
          <p:cNvSpPr/>
          <p:nvPr/>
        </p:nvSpPr>
        <p:spPr>
          <a:xfrm>
            <a:off x="3035808" y="3970782"/>
            <a:ext cx="384048" cy="384048"/>
          </a:xfrm>
          <a:prstGeom prst="ellipse">
            <a:avLst/>
          </a:prstGeom>
          <a:solidFill>
            <a:srgbClr val="57E3D8"/>
          </a:solidFill>
          <a:ln w="12700">
            <a:solidFill>
              <a:srgbClr val="57E3D8"/>
            </a:solidFill>
            <a:prstDash val="solid"/>
          </a:ln>
        </p:spPr>
        <p:txBody>
          <a:bodyPr/>
          <a:lstStyle/>
          <a:p>
            <a:endParaRPr lang="en-US"/>
          </a:p>
        </p:txBody>
      </p:sp>
      <p:sp>
        <p:nvSpPr>
          <p:cNvPr id="39" name="Text 37">
            <a:extLst>
              <a:ext uri="{FF2B5EF4-FFF2-40B4-BE49-F238E27FC236}">
                <a16:creationId xmlns:a16="http://schemas.microsoft.com/office/drawing/2014/main" id="{4E4D50F2-2BDB-5D2A-D738-38A75BE73FEC}"/>
              </a:ext>
            </a:extLst>
          </p:cNvPr>
          <p:cNvSpPr/>
          <p:nvPr/>
        </p:nvSpPr>
        <p:spPr>
          <a:xfrm>
            <a:off x="3035808" y="3970782"/>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5</a:t>
            </a:r>
            <a:endParaRPr lang="en-US" sz="1200" dirty="0"/>
          </a:p>
        </p:txBody>
      </p:sp>
      <p:sp>
        <p:nvSpPr>
          <p:cNvPr id="40" name="Text 38">
            <a:extLst>
              <a:ext uri="{FF2B5EF4-FFF2-40B4-BE49-F238E27FC236}">
                <a16:creationId xmlns:a16="http://schemas.microsoft.com/office/drawing/2014/main" id="{AD1F2660-4698-BAA4-6ECB-D1AD7F28A049}"/>
              </a:ext>
            </a:extLst>
          </p:cNvPr>
          <p:cNvSpPr/>
          <p:nvPr/>
        </p:nvSpPr>
        <p:spPr>
          <a:xfrm>
            <a:off x="3584448" y="3911346"/>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5</a:t>
            </a:r>
            <a:endParaRPr lang="en-US" sz="950" dirty="0"/>
          </a:p>
        </p:txBody>
      </p:sp>
      <p:sp>
        <p:nvSpPr>
          <p:cNvPr id="41" name="Shape 39">
            <a:extLst>
              <a:ext uri="{FF2B5EF4-FFF2-40B4-BE49-F238E27FC236}">
                <a16:creationId xmlns:a16="http://schemas.microsoft.com/office/drawing/2014/main" id="{D73F017A-5189-2942-0DBD-BF028C8152BF}"/>
              </a:ext>
            </a:extLst>
          </p:cNvPr>
          <p:cNvSpPr/>
          <p:nvPr/>
        </p:nvSpPr>
        <p:spPr>
          <a:xfrm>
            <a:off x="4361688" y="3966210"/>
            <a:ext cx="0" cy="393192"/>
          </a:xfrm>
          <a:prstGeom prst="line">
            <a:avLst/>
          </a:prstGeom>
          <a:noFill/>
          <a:ln w="9525">
            <a:solidFill>
              <a:srgbClr val="333355"/>
            </a:solidFill>
            <a:prstDash val="solid"/>
          </a:ln>
        </p:spPr>
        <p:txBody>
          <a:bodyPr/>
          <a:lstStyle/>
          <a:p>
            <a:endParaRPr lang="en-US"/>
          </a:p>
        </p:txBody>
      </p:sp>
      <p:sp>
        <p:nvSpPr>
          <p:cNvPr id="42" name="Text 40">
            <a:extLst>
              <a:ext uri="{FF2B5EF4-FFF2-40B4-BE49-F238E27FC236}">
                <a16:creationId xmlns:a16="http://schemas.microsoft.com/office/drawing/2014/main" id="{6D890D9C-81A6-2603-64EC-51DA4BF1757F}"/>
              </a:ext>
            </a:extLst>
          </p:cNvPr>
          <p:cNvSpPr/>
          <p:nvPr/>
        </p:nvSpPr>
        <p:spPr>
          <a:xfrm>
            <a:off x="4453128" y="3819906"/>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Selection &amp; Insertion Sort + comparison</a:t>
            </a:r>
            <a:endParaRPr lang="en-US" sz="1200" dirty="0"/>
          </a:p>
        </p:txBody>
      </p:sp>
    </p:spTree>
    <p:extLst>
      <p:ext uri="{BB962C8B-B14F-4D97-AF65-F5344CB8AC3E}">
        <p14:creationId xmlns:p14="http://schemas.microsoft.com/office/powerpoint/2010/main" val="4089634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313FDBC-5DDD-9D99-0C14-ACF6DD9AF588}"/>
              </a:ext>
            </a:extLst>
          </p:cNvPr>
          <p:cNvSpPr/>
          <p:nvPr/>
        </p:nvSpPr>
        <p:spPr>
          <a:xfrm>
            <a:off x="0" y="0"/>
            <a:ext cx="9144000" cy="64008"/>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42E06120-A5BA-0588-9AFC-314C5FEDBA69}"/>
              </a:ext>
            </a:extLst>
          </p:cNvPr>
          <p:cNvSpPr/>
          <p:nvPr/>
        </p:nvSpPr>
        <p:spPr>
          <a:xfrm>
            <a:off x="0" y="5079492"/>
            <a:ext cx="9144000" cy="64008"/>
          </a:xfrm>
          <a:prstGeom prst="rect">
            <a:avLst/>
          </a:prstGeom>
          <a:solidFill>
            <a:srgbClr val="4F29B7"/>
          </a:solidFill>
          <a:ln w="12700">
            <a:solidFill>
              <a:srgbClr val="4F29B7"/>
            </a:solidFill>
            <a:prstDash val="solid"/>
          </a:ln>
        </p:spPr>
        <p:txBody>
          <a:bodyPr/>
          <a:lstStyle/>
          <a:p>
            <a:endParaRPr lang="en-US"/>
          </a:p>
        </p:txBody>
      </p:sp>
      <p:sp>
        <p:nvSpPr>
          <p:cNvPr id="4" name="Shape 2">
            <a:extLst>
              <a:ext uri="{FF2B5EF4-FFF2-40B4-BE49-F238E27FC236}">
                <a16:creationId xmlns:a16="http://schemas.microsoft.com/office/drawing/2014/main" id="{31E6587E-9A93-DCDC-751E-D59249E30628}"/>
              </a:ext>
            </a:extLst>
          </p:cNvPr>
          <p:cNvSpPr/>
          <p:nvPr/>
        </p:nvSpPr>
        <p:spPr>
          <a:xfrm>
            <a:off x="365760" y="274320"/>
            <a:ext cx="1371600" cy="868680"/>
          </a:xfrm>
          <a:prstGeom prst="rect">
            <a:avLst/>
          </a:prstGeom>
          <a:solidFill>
            <a:srgbClr val="57E3D8"/>
          </a:solidFill>
          <a:ln w="12700">
            <a:solidFill>
              <a:srgbClr val="57E3D8"/>
            </a:solidFill>
            <a:prstDash val="solid"/>
          </a:ln>
        </p:spPr>
        <p:txBody>
          <a:bodyPr/>
          <a:lstStyle/>
          <a:p>
            <a:endParaRPr lang="en-US"/>
          </a:p>
        </p:txBody>
      </p:sp>
      <p:sp>
        <p:nvSpPr>
          <p:cNvPr id="5" name="Text 3">
            <a:extLst>
              <a:ext uri="{FF2B5EF4-FFF2-40B4-BE49-F238E27FC236}">
                <a16:creationId xmlns:a16="http://schemas.microsoft.com/office/drawing/2014/main" id="{C67D5CF5-DB10-704C-D443-9DD16F3972AE}"/>
              </a:ext>
            </a:extLst>
          </p:cNvPr>
          <p:cNvSpPr/>
          <p:nvPr/>
        </p:nvSpPr>
        <p:spPr>
          <a:xfrm>
            <a:off x="365760" y="274320"/>
            <a:ext cx="1371600" cy="868680"/>
          </a:xfrm>
          <a:prstGeom prst="rect">
            <a:avLst/>
          </a:prstGeom>
          <a:noFill/>
          <a:ln/>
        </p:spPr>
        <p:txBody>
          <a:bodyPr wrap="square" lIns="0" tIns="0" rIns="0" bIns="0" rtlCol="0" anchor="ctr"/>
          <a:lstStyle/>
          <a:p>
            <a:pPr marL="0" indent="0" algn="ctr">
              <a:buNone/>
            </a:pPr>
            <a:r>
              <a:rPr lang="en-US" sz="1200" b="1" dirty="0">
                <a:solidFill>
                  <a:srgbClr val="0A2020"/>
                </a:solidFill>
                <a:latin typeface="Calibri" pitchFamily="34" charset="0"/>
                <a:ea typeface="Calibri" pitchFamily="34" charset="-122"/>
                <a:cs typeface="Calibri" pitchFamily="34" charset="-120"/>
              </a:rPr>
              <a:t>DAY</a:t>
            </a:r>
            <a:endParaRPr lang="en-US" sz="1200" dirty="0"/>
          </a:p>
          <a:p>
            <a:pPr marL="0" indent="0" algn="ctr">
              <a:buNone/>
            </a:pPr>
            <a:r>
              <a:rPr lang="en-US" sz="3200" b="1" dirty="0">
                <a:solidFill>
                  <a:srgbClr val="0A2020"/>
                </a:solidFill>
                <a:latin typeface="Calibri" pitchFamily="34" charset="0"/>
                <a:ea typeface="Calibri" pitchFamily="34" charset="-122"/>
                <a:cs typeface="Calibri" pitchFamily="34" charset="-120"/>
              </a:rPr>
              <a:t>5</a:t>
            </a:r>
            <a:endParaRPr lang="en-US" sz="1200" dirty="0"/>
          </a:p>
        </p:txBody>
      </p:sp>
      <p:sp>
        <p:nvSpPr>
          <p:cNvPr id="6" name="Text 4">
            <a:extLst>
              <a:ext uri="{FF2B5EF4-FFF2-40B4-BE49-F238E27FC236}">
                <a16:creationId xmlns:a16="http://schemas.microsoft.com/office/drawing/2014/main" id="{2618CB18-7DD1-DE12-784E-1AD843D14FD8}"/>
              </a:ext>
            </a:extLst>
          </p:cNvPr>
          <p:cNvSpPr/>
          <p:nvPr/>
        </p:nvSpPr>
        <p:spPr>
          <a:xfrm>
            <a:off x="4846320" y="292608"/>
            <a:ext cx="4023360" cy="256032"/>
          </a:xfrm>
          <a:prstGeom prst="rect">
            <a:avLst/>
          </a:prstGeom>
          <a:noFill/>
          <a:ln/>
        </p:spPr>
        <p:txBody>
          <a:bodyPr wrap="square" lIns="0" tIns="0" rIns="0" bIns="0" rtlCol="0" anchor="ctr"/>
          <a:lstStyle/>
          <a:p>
            <a:pPr marL="0" indent="0" algn="r">
              <a:buNone/>
            </a:pPr>
            <a:r>
              <a:rPr lang="en-US" sz="1000" dirty="0">
                <a:solidFill>
                  <a:srgbClr val="9AA4B2"/>
                </a:solidFill>
                <a:latin typeface="Calibri" pitchFamily="34" charset="0"/>
                <a:ea typeface="Calibri" pitchFamily="34" charset="-122"/>
                <a:cs typeface="Calibri" pitchFamily="34" charset="-120"/>
              </a:rPr>
              <a:t>Foundation Bootcamp  ·  Programming Fundamentals</a:t>
            </a:r>
            <a:endParaRPr lang="en-US" sz="1000" dirty="0"/>
          </a:p>
        </p:txBody>
      </p:sp>
      <p:sp>
        <p:nvSpPr>
          <p:cNvPr id="7" name="Text 5">
            <a:extLst>
              <a:ext uri="{FF2B5EF4-FFF2-40B4-BE49-F238E27FC236}">
                <a16:creationId xmlns:a16="http://schemas.microsoft.com/office/drawing/2014/main" id="{AB2A5451-C4E1-38AA-05F1-72B37457912F}"/>
              </a:ext>
            </a:extLst>
          </p:cNvPr>
          <p:cNvSpPr/>
          <p:nvPr/>
        </p:nvSpPr>
        <p:spPr>
          <a:xfrm>
            <a:off x="4846320" y="566928"/>
            <a:ext cx="4023360" cy="256032"/>
          </a:xfrm>
          <a:prstGeom prst="rect">
            <a:avLst/>
          </a:prstGeom>
          <a:noFill/>
          <a:ln/>
        </p:spPr>
        <p:txBody>
          <a:bodyPr wrap="square" lIns="0" tIns="0" rIns="0" bIns="0" rtlCol="0" anchor="ctr"/>
          <a:lstStyle/>
          <a:p>
            <a:pPr marL="0" indent="0" algn="r">
              <a:buNone/>
            </a:pPr>
            <a:r>
              <a:rPr lang="en-US" sz="1000" b="1" dirty="0">
                <a:solidFill>
                  <a:srgbClr val="57E3D8"/>
                </a:solidFill>
                <a:latin typeface="Calibri" pitchFamily="34" charset="0"/>
                <a:ea typeface="Calibri" pitchFamily="34" charset="-122"/>
                <a:cs typeface="Calibri" pitchFamily="34" charset="-120"/>
              </a:rPr>
              <a:t>Week 3  ·  Session 5</a:t>
            </a:r>
            <a:endParaRPr lang="en-US" sz="1000" dirty="0"/>
          </a:p>
        </p:txBody>
      </p:sp>
      <p:sp>
        <p:nvSpPr>
          <p:cNvPr id="8" name="Shape 6">
            <a:extLst>
              <a:ext uri="{FF2B5EF4-FFF2-40B4-BE49-F238E27FC236}">
                <a16:creationId xmlns:a16="http://schemas.microsoft.com/office/drawing/2014/main" id="{FAD083D8-2D1F-92BE-05A6-90E9ABE83F24}"/>
              </a:ext>
            </a:extLst>
          </p:cNvPr>
          <p:cNvSpPr/>
          <p:nvPr/>
        </p:nvSpPr>
        <p:spPr>
          <a:xfrm>
            <a:off x="365760" y="1298448"/>
            <a:ext cx="8412480" cy="1463040"/>
          </a:xfrm>
          <a:prstGeom prst="rect">
            <a:avLst/>
          </a:prstGeom>
          <a:solidFill>
            <a:srgbClr val="1A1A2E"/>
          </a:solidFill>
          <a:ln w="19050">
            <a:solidFill>
              <a:srgbClr val="57E3D8"/>
            </a:solidFill>
            <a:prstDash val="solid"/>
          </a:ln>
        </p:spPr>
        <p:txBody>
          <a:bodyPr/>
          <a:lstStyle/>
          <a:p>
            <a:endParaRPr lang="en-US"/>
          </a:p>
        </p:txBody>
      </p:sp>
      <p:sp>
        <p:nvSpPr>
          <p:cNvPr id="9" name="Shape 7">
            <a:extLst>
              <a:ext uri="{FF2B5EF4-FFF2-40B4-BE49-F238E27FC236}">
                <a16:creationId xmlns:a16="http://schemas.microsoft.com/office/drawing/2014/main" id="{0D5704D3-3BF1-E3E5-328C-6FEE31360790}"/>
              </a:ext>
            </a:extLst>
          </p:cNvPr>
          <p:cNvSpPr/>
          <p:nvPr/>
        </p:nvSpPr>
        <p:spPr>
          <a:xfrm>
            <a:off x="365760" y="1298448"/>
            <a:ext cx="109728" cy="1463040"/>
          </a:xfrm>
          <a:prstGeom prst="rect">
            <a:avLst/>
          </a:prstGeom>
          <a:solidFill>
            <a:srgbClr val="57E3D8"/>
          </a:solidFill>
          <a:ln w="12700">
            <a:solidFill>
              <a:srgbClr val="57E3D8"/>
            </a:solidFill>
            <a:prstDash val="solid"/>
          </a:ln>
        </p:spPr>
        <p:txBody>
          <a:bodyPr/>
          <a:lstStyle/>
          <a:p>
            <a:endParaRPr lang="en-US"/>
          </a:p>
        </p:txBody>
      </p:sp>
      <p:sp>
        <p:nvSpPr>
          <p:cNvPr id="10" name="Text 8">
            <a:extLst>
              <a:ext uri="{FF2B5EF4-FFF2-40B4-BE49-F238E27FC236}">
                <a16:creationId xmlns:a16="http://schemas.microsoft.com/office/drawing/2014/main" id="{D3858319-3A4E-91B1-C2EA-3847BFD5134B}"/>
              </a:ext>
            </a:extLst>
          </p:cNvPr>
          <p:cNvSpPr/>
          <p:nvPr/>
        </p:nvSpPr>
        <p:spPr>
          <a:xfrm>
            <a:off x="685800" y="1417320"/>
            <a:ext cx="3657600" cy="274320"/>
          </a:xfrm>
          <a:prstGeom prst="rect">
            <a:avLst/>
          </a:prstGeom>
          <a:noFill/>
          <a:ln/>
        </p:spPr>
        <p:txBody>
          <a:bodyPr wrap="square" lIns="0" tIns="0" rIns="0" bIns="0" rtlCol="0" anchor="ctr"/>
          <a:lstStyle/>
          <a:p>
            <a:pPr marL="0" indent="0" algn="l">
              <a:buNone/>
            </a:pPr>
            <a:r>
              <a:rPr lang="en-US" sz="1300" i="1" dirty="0">
                <a:solidFill>
                  <a:srgbClr val="9AA4B2"/>
                </a:solidFill>
                <a:latin typeface="Calibri" pitchFamily="34" charset="0"/>
                <a:ea typeface="Calibri" pitchFamily="34" charset="-122"/>
                <a:cs typeface="Calibri" pitchFamily="34" charset="-120"/>
              </a:rPr>
              <a:t>Today's Topics</a:t>
            </a:r>
            <a:endParaRPr lang="en-US" sz="1300" dirty="0"/>
          </a:p>
        </p:txBody>
      </p:sp>
      <p:sp>
        <p:nvSpPr>
          <p:cNvPr id="11" name="Text 9">
            <a:extLst>
              <a:ext uri="{FF2B5EF4-FFF2-40B4-BE49-F238E27FC236}">
                <a16:creationId xmlns:a16="http://schemas.microsoft.com/office/drawing/2014/main" id="{F7576970-1165-68A7-9A7D-AF857B550642}"/>
              </a:ext>
            </a:extLst>
          </p:cNvPr>
          <p:cNvSpPr/>
          <p:nvPr/>
        </p:nvSpPr>
        <p:spPr>
          <a:xfrm>
            <a:off x="685800" y="1737360"/>
            <a:ext cx="795528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libri" pitchFamily="34" charset="0"/>
                <a:ea typeface="Calibri" pitchFamily="34" charset="-122"/>
                <a:cs typeface="Calibri" pitchFamily="34" charset="-120"/>
              </a:rPr>
              <a:t>Selection &amp; Insertion Sort</a:t>
            </a:r>
            <a:endParaRPr lang="en-US" sz="4000" dirty="0"/>
          </a:p>
        </p:txBody>
      </p:sp>
      <p:sp>
        <p:nvSpPr>
          <p:cNvPr id="12" name="Shape 10">
            <a:extLst>
              <a:ext uri="{FF2B5EF4-FFF2-40B4-BE49-F238E27FC236}">
                <a16:creationId xmlns:a16="http://schemas.microsoft.com/office/drawing/2014/main" id="{8F5FA2A2-3F2F-83FD-13B0-8F916BDF8B68}"/>
              </a:ext>
            </a:extLst>
          </p:cNvPr>
          <p:cNvSpPr/>
          <p:nvPr/>
        </p:nvSpPr>
        <p:spPr>
          <a:xfrm>
            <a:off x="448056" y="2971800"/>
            <a:ext cx="1965960" cy="256032"/>
          </a:xfrm>
          <a:prstGeom prst="rect">
            <a:avLst/>
          </a:prstGeom>
          <a:solidFill>
            <a:srgbClr val="57E3D8"/>
          </a:solidFill>
          <a:ln w="12700">
            <a:solidFill>
              <a:srgbClr val="57E3D8"/>
            </a:solidFill>
            <a:prstDash val="solid"/>
          </a:ln>
        </p:spPr>
        <p:txBody>
          <a:bodyPr/>
          <a:lstStyle/>
          <a:p>
            <a:endParaRPr lang="en-US"/>
          </a:p>
        </p:txBody>
      </p:sp>
      <p:sp>
        <p:nvSpPr>
          <p:cNvPr id="13" name="Text 11">
            <a:extLst>
              <a:ext uri="{FF2B5EF4-FFF2-40B4-BE49-F238E27FC236}">
                <a16:creationId xmlns:a16="http://schemas.microsoft.com/office/drawing/2014/main" id="{44B0681B-DD72-BBAA-CF9F-BAB2A3B94A02}"/>
              </a:ext>
            </a:extLst>
          </p:cNvPr>
          <p:cNvSpPr/>
          <p:nvPr/>
        </p:nvSpPr>
        <p:spPr>
          <a:xfrm>
            <a:off x="557784"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01</a:t>
            </a:r>
            <a:endParaRPr lang="en-US" sz="1000" dirty="0"/>
          </a:p>
        </p:txBody>
      </p:sp>
      <p:sp>
        <p:nvSpPr>
          <p:cNvPr id="14" name="Shape 12">
            <a:extLst>
              <a:ext uri="{FF2B5EF4-FFF2-40B4-BE49-F238E27FC236}">
                <a16:creationId xmlns:a16="http://schemas.microsoft.com/office/drawing/2014/main" id="{863F2B03-F032-249B-78BC-7A866DB649EF}"/>
              </a:ext>
            </a:extLst>
          </p:cNvPr>
          <p:cNvSpPr/>
          <p:nvPr/>
        </p:nvSpPr>
        <p:spPr>
          <a:xfrm>
            <a:off x="448056"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15" name="Shape 13">
            <a:extLst>
              <a:ext uri="{FF2B5EF4-FFF2-40B4-BE49-F238E27FC236}">
                <a16:creationId xmlns:a16="http://schemas.microsoft.com/office/drawing/2014/main" id="{BEB099FC-10EB-F5A1-0946-B88DCE86BBD5}"/>
              </a:ext>
            </a:extLst>
          </p:cNvPr>
          <p:cNvSpPr/>
          <p:nvPr/>
        </p:nvSpPr>
        <p:spPr>
          <a:xfrm>
            <a:off x="1147572" y="3383280"/>
            <a:ext cx="566928" cy="566928"/>
          </a:xfrm>
          <a:prstGeom prst="ellipse">
            <a:avLst/>
          </a:prstGeom>
          <a:solidFill>
            <a:srgbClr val="1A1A2E"/>
          </a:solidFill>
          <a:ln w="19050">
            <a:solidFill>
              <a:srgbClr val="57E3D8"/>
            </a:solidFill>
            <a:prstDash val="solid"/>
          </a:ln>
        </p:spPr>
        <p:txBody>
          <a:bodyPr/>
          <a:lstStyle/>
          <a:p>
            <a:endParaRPr lang="en-US"/>
          </a:p>
        </p:txBody>
      </p:sp>
      <p:pic>
        <p:nvPicPr>
          <p:cNvPr id="16" name="Image 0" descr="preencoded.png">
            <a:extLst>
              <a:ext uri="{FF2B5EF4-FFF2-40B4-BE49-F238E27FC236}">
                <a16:creationId xmlns:a16="http://schemas.microsoft.com/office/drawing/2014/main" id="{2BB8682D-961A-DD53-45ED-B5032D0B87E6}"/>
              </a:ext>
            </a:extLst>
          </p:cNvPr>
          <p:cNvPicPr>
            <a:picLocks noChangeAspect="1"/>
          </p:cNvPicPr>
          <p:nvPr/>
        </p:nvPicPr>
        <p:blipFill>
          <a:blip r:embed="rId2"/>
          <a:stretch>
            <a:fillRect/>
          </a:stretch>
        </p:blipFill>
        <p:spPr>
          <a:xfrm>
            <a:off x="1284732" y="3520440"/>
            <a:ext cx="292608" cy="292608"/>
          </a:xfrm>
          <a:prstGeom prst="rect">
            <a:avLst/>
          </a:prstGeom>
        </p:spPr>
      </p:pic>
      <p:sp>
        <p:nvSpPr>
          <p:cNvPr id="17" name="Text 14">
            <a:extLst>
              <a:ext uri="{FF2B5EF4-FFF2-40B4-BE49-F238E27FC236}">
                <a16:creationId xmlns:a16="http://schemas.microsoft.com/office/drawing/2014/main" id="{A012E61B-F8AB-45CD-A4DE-3F1327EF0708}"/>
              </a:ext>
            </a:extLst>
          </p:cNvPr>
          <p:cNvSpPr/>
          <p:nvPr/>
        </p:nvSpPr>
        <p:spPr>
          <a:xfrm>
            <a:off x="539496" y="3995928"/>
            <a:ext cx="1783080" cy="256032"/>
          </a:xfrm>
          <a:prstGeom prst="rect">
            <a:avLst/>
          </a:prstGeom>
          <a:noFill/>
          <a:ln/>
        </p:spPr>
        <p:txBody>
          <a:bodyPr wrap="square" lIns="0" tIns="0" rIns="0" bIns="0" rtlCol="0" anchor="ctr"/>
          <a:lstStyle/>
          <a:p>
            <a:pPr marL="0" indent="0" algn="l">
              <a:buNone/>
            </a:pPr>
            <a:r>
              <a:rPr lang="en-US" sz="1250" b="1" dirty="0">
                <a:solidFill>
                  <a:srgbClr val="57E3D8"/>
                </a:solidFill>
                <a:latin typeface="Calibri" pitchFamily="34" charset="0"/>
                <a:ea typeface="Calibri" pitchFamily="34" charset="-122"/>
                <a:cs typeface="Calibri" pitchFamily="34" charset="-120"/>
              </a:rPr>
              <a:t>Selection Sort</a:t>
            </a:r>
            <a:endParaRPr lang="en-US" sz="1250" dirty="0"/>
          </a:p>
        </p:txBody>
      </p:sp>
      <p:sp>
        <p:nvSpPr>
          <p:cNvPr id="18" name="Text 15">
            <a:extLst>
              <a:ext uri="{FF2B5EF4-FFF2-40B4-BE49-F238E27FC236}">
                <a16:creationId xmlns:a16="http://schemas.microsoft.com/office/drawing/2014/main" id="{0E81D8A6-1D5A-C81F-0678-FB64F8ADF628}"/>
              </a:ext>
            </a:extLst>
          </p:cNvPr>
          <p:cNvSpPr/>
          <p:nvPr/>
        </p:nvSpPr>
        <p:spPr>
          <a:xfrm>
            <a:off x="539496"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Find the smallest item, put it in front, repeat — a tidy, predictable strategy</a:t>
            </a:r>
            <a:endParaRPr lang="en-US" sz="900" dirty="0"/>
          </a:p>
        </p:txBody>
      </p:sp>
      <p:sp>
        <p:nvSpPr>
          <p:cNvPr id="19" name="Shape 16">
            <a:extLst>
              <a:ext uri="{FF2B5EF4-FFF2-40B4-BE49-F238E27FC236}">
                <a16:creationId xmlns:a16="http://schemas.microsoft.com/office/drawing/2014/main" id="{509FF1E3-7F95-BF77-7884-C3713707FFEB}"/>
              </a:ext>
            </a:extLst>
          </p:cNvPr>
          <p:cNvSpPr/>
          <p:nvPr/>
        </p:nvSpPr>
        <p:spPr>
          <a:xfrm>
            <a:off x="2542032" y="2971800"/>
            <a:ext cx="1965960" cy="256032"/>
          </a:xfrm>
          <a:prstGeom prst="rect">
            <a:avLst/>
          </a:prstGeom>
          <a:solidFill>
            <a:srgbClr val="4A8AF4"/>
          </a:solidFill>
          <a:ln w="12700">
            <a:solidFill>
              <a:srgbClr val="4A8AF4"/>
            </a:solidFill>
            <a:prstDash val="solid"/>
          </a:ln>
        </p:spPr>
        <p:txBody>
          <a:bodyPr/>
          <a:lstStyle/>
          <a:p>
            <a:endParaRPr lang="en-US"/>
          </a:p>
        </p:txBody>
      </p:sp>
      <p:sp>
        <p:nvSpPr>
          <p:cNvPr id="20" name="Text 17">
            <a:extLst>
              <a:ext uri="{FF2B5EF4-FFF2-40B4-BE49-F238E27FC236}">
                <a16:creationId xmlns:a16="http://schemas.microsoft.com/office/drawing/2014/main" id="{D783B96E-964E-98F7-1DBA-93833A52BCDA}"/>
              </a:ext>
            </a:extLst>
          </p:cNvPr>
          <p:cNvSpPr/>
          <p:nvPr/>
        </p:nvSpPr>
        <p:spPr>
          <a:xfrm>
            <a:off x="2651760"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02</a:t>
            </a:r>
            <a:endParaRPr lang="en-US" sz="1000" dirty="0"/>
          </a:p>
        </p:txBody>
      </p:sp>
      <p:sp>
        <p:nvSpPr>
          <p:cNvPr id="21" name="Shape 18">
            <a:extLst>
              <a:ext uri="{FF2B5EF4-FFF2-40B4-BE49-F238E27FC236}">
                <a16:creationId xmlns:a16="http://schemas.microsoft.com/office/drawing/2014/main" id="{6FFD5674-F734-94AD-0AC9-E1FA43B9DB81}"/>
              </a:ext>
            </a:extLst>
          </p:cNvPr>
          <p:cNvSpPr/>
          <p:nvPr/>
        </p:nvSpPr>
        <p:spPr>
          <a:xfrm>
            <a:off x="2542032"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22" name="Shape 19">
            <a:extLst>
              <a:ext uri="{FF2B5EF4-FFF2-40B4-BE49-F238E27FC236}">
                <a16:creationId xmlns:a16="http://schemas.microsoft.com/office/drawing/2014/main" id="{9D2A8F47-C25F-DCA5-15B0-45A6A6E685C0}"/>
              </a:ext>
            </a:extLst>
          </p:cNvPr>
          <p:cNvSpPr/>
          <p:nvPr/>
        </p:nvSpPr>
        <p:spPr>
          <a:xfrm>
            <a:off x="3241548" y="3383280"/>
            <a:ext cx="566928" cy="566928"/>
          </a:xfrm>
          <a:prstGeom prst="ellipse">
            <a:avLst/>
          </a:prstGeom>
          <a:solidFill>
            <a:srgbClr val="1A1A2E"/>
          </a:solidFill>
          <a:ln w="19050">
            <a:solidFill>
              <a:srgbClr val="4A8AF4"/>
            </a:solidFill>
            <a:prstDash val="solid"/>
          </a:ln>
        </p:spPr>
        <p:txBody>
          <a:bodyPr/>
          <a:lstStyle/>
          <a:p>
            <a:endParaRPr lang="en-US"/>
          </a:p>
        </p:txBody>
      </p:sp>
      <p:pic>
        <p:nvPicPr>
          <p:cNvPr id="23" name="Image 1" descr="preencoded.png">
            <a:extLst>
              <a:ext uri="{FF2B5EF4-FFF2-40B4-BE49-F238E27FC236}">
                <a16:creationId xmlns:a16="http://schemas.microsoft.com/office/drawing/2014/main" id="{412C1324-714A-69F6-27F7-4F9223D687B9}"/>
              </a:ext>
            </a:extLst>
          </p:cNvPr>
          <p:cNvPicPr>
            <a:picLocks noChangeAspect="1"/>
          </p:cNvPicPr>
          <p:nvPr/>
        </p:nvPicPr>
        <p:blipFill>
          <a:blip r:embed="rId3"/>
          <a:stretch>
            <a:fillRect/>
          </a:stretch>
        </p:blipFill>
        <p:spPr>
          <a:xfrm>
            <a:off x="3378708" y="3520440"/>
            <a:ext cx="292608" cy="292608"/>
          </a:xfrm>
          <a:prstGeom prst="rect">
            <a:avLst/>
          </a:prstGeom>
        </p:spPr>
      </p:pic>
      <p:sp>
        <p:nvSpPr>
          <p:cNvPr id="24" name="Text 20">
            <a:extLst>
              <a:ext uri="{FF2B5EF4-FFF2-40B4-BE49-F238E27FC236}">
                <a16:creationId xmlns:a16="http://schemas.microsoft.com/office/drawing/2014/main" id="{1AE054CC-788A-0238-EC96-FA57C021FC40}"/>
              </a:ext>
            </a:extLst>
          </p:cNvPr>
          <p:cNvSpPr/>
          <p:nvPr/>
        </p:nvSpPr>
        <p:spPr>
          <a:xfrm>
            <a:off x="2633472" y="3995928"/>
            <a:ext cx="1783080" cy="256032"/>
          </a:xfrm>
          <a:prstGeom prst="rect">
            <a:avLst/>
          </a:prstGeom>
          <a:noFill/>
          <a:ln/>
        </p:spPr>
        <p:txBody>
          <a:bodyPr wrap="square" lIns="0" tIns="0" rIns="0" bIns="0" rtlCol="0" anchor="ctr"/>
          <a:lstStyle/>
          <a:p>
            <a:pPr marL="0" indent="0" algn="l">
              <a:buNone/>
            </a:pPr>
            <a:r>
              <a:rPr lang="en-US" sz="1250" b="1" dirty="0">
                <a:solidFill>
                  <a:srgbClr val="4A8AF4"/>
                </a:solidFill>
                <a:latin typeface="Calibri" pitchFamily="34" charset="0"/>
                <a:ea typeface="Calibri" pitchFamily="34" charset="-122"/>
                <a:cs typeface="Calibri" pitchFamily="34" charset="-120"/>
              </a:rPr>
              <a:t>Insertion Sort</a:t>
            </a:r>
            <a:endParaRPr lang="en-US" sz="1250" dirty="0"/>
          </a:p>
        </p:txBody>
      </p:sp>
      <p:sp>
        <p:nvSpPr>
          <p:cNvPr id="25" name="Text 21">
            <a:extLst>
              <a:ext uri="{FF2B5EF4-FFF2-40B4-BE49-F238E27FC236}">
                <a16:creationId xmlns:a16="http://schemas.microsoft.com/office/drawing/2014/main" id="{C7AFB4C8-A5F1-8E8E-6768-231160D342BA}"/>
              </a:ext>
            </a:extLst>
          </p:cNvPr>
          <p:cNvSpPr/>
          <p:nvPr/>
        </p:nvSpPr>
        <p:spPr>
          <a:xfrm>
            <a:off x="2633472"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Build the sorted list one item at a time — the way you sort a hand of cards</a:t>
            </a:r>
            <a:endParaRPr lang="en-US" sz="900" dirty="0"/>
          </a:p>
        </p:txBody>
      </p:sp>
      <p:sp>
        <p:nvSpPr>
          <p:cNvPr id="26" name="Shape 22">
            <a:extLst>
              <a:ext uri="{FF2B5EF4-FFF2-40B4-BE49-F238E27FC236}">
                <a16:creationId xmlns:a16="http://schemas.microsoft.com/office/drawing/2014/main" id="{9D78CCF1-008A-5CE5-AC2B-DCEF547897A9}"/>
              </a:ext>
            </a:extLst>
          </p:cNvPr>
          <p:cNvSpPr/>
          <p:nvPr/>
        </p:nvSpPr>
        <p:spPr>
          <a:xfrm>
            <a:off x="4636008" y="2971800"/>
            <a:ext cx="1965960" cy="256032"/>
          </a:xfrm>
          <a:prstGeom prst="rect">
            <a:avLst/>
          </a:prstGeom>
          <a:solidFill>
            <a:srgbClr val="E08845"/>
          </a:solidFill>
          <a:ln w="12700">
            <a:solidFill>
              <a:srgbClr val="E08845"/>
            </a:solidFill>
            <a:prstDash val="solid"/>
          </a:ln>
        </p:spPr>
        <p:txBody>
          <a:bodyPr/>
          <a:lstStyle/>
          <a:p>
            <a:endParaRPr lang="en-US"/>
          </a:p>
        </p:txBody>
      </p:sp>
      <p:sp>
        <p:nvSpPr>
          <p:cNvPr id="27" name="Text 23">
            <a:extLst>
              <a:ext uri="{FF2B5EF4-FFF2-40B4-BE49-F238E27FC236}">
                <a16:creationId xmlns:a16="http://schemas.microsoft.com/office/drawing/2014/main" id="{EB9130E3-8857-DC7C-907D-FE7C1B53B464}"/>
              </a:ext>
            </a:extLst>
          </p:cNvPr>
          <p:cNvSpPr/>
          <p:nvPr/>
        </p:nvSpPr>
        <p:spPr>
          <a:xfrm>
            <a:off x="4745736"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03</a:t>
            </a:r>
            <a:endParaRPr lang="en-US" sz="1000" dirty="0"/>
          </a:p>
        </p:txBody>
      </p:sp>
      <p:sp>
        <p:nvSpPr>
          <p:cNvPr id="28" name="Shape 24">
            <a:extLst>
              <a:ext uri="{FF2B5EF4-FFF2-40B4-BE49-F238E27FC236}">
                <a16:creationId xmlns:a16="http://schemas.microsoft.com/office/drawing/2014/main" id="{015392AA-FAA7-FAF0-16B9-DB2D2E80ABE9}"/>
              </a:ext>
            </a:extLst>
          </p:cNvPr>
          <p:cNvSpPr/>
          <p:nvPr/>
        </p:nvSpPr>
        <p:spPr>
          <a:xfrm>
            <a:off x="4636008"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29" name="Shape 25">
            <a:extLst>
              <a:ext uri="{FF2B5EF4-FFF2-40B4-BE49-F238E27FC236}">
                <a16:creationId xmlns:a16="http://schemas.microsoft.com/office/drawing/2014/main" id="{35E4AB96-40B3-FFCD-7B2C-BEC27DB50F93}"/>
              </a:ext>
            </a:extLst>
          </p:cNvPr>
          <p:cNvSpPr/>
          <p:nvPr/>
        </p:nvSpPr>
        <p:spPr>
          <a:xfrm>
            <a:off x="5335524" y="3383280"/>
            <a:ext cx="566928" cy="566928"/>
          </a:xfrm>
          <a:prstGeom prst="ellipse">
            <a:avLst/>
          </a:prstGeom>
          <a:solidFill>
            <a:srgbClr val="1A1A2E"/>
          </a:solidFill>
          <a:ln w="19050">
            <a:solidFill>
              <a:srgbClr val="E08845"/>
            </a:solidFill>
            <a:prstDash val="solid"/>
          </a:ln>
        </p:spPr>
        <p:txBody>
          <a:bodyPr/>
          <a:lstStyle/>
          <a:p>
            <a:endParaRPr lang="en-US"/>
          </a:p>
        </p:txBody>
      </p:sp>
      <p:pic>
        <p:nvPicPr>
          <p:cNvPr id="30" name="Image 2" descr="preencoded.png">
            <a:extLst>
              <a:ext uri="{FF2B5EF4-FFF2-40B4-BE49-F238E27FC236}">
                <a16:creationId xmlns:a16="http://schemas.microsoft.com/office/drawing/2014/main" id="{B4F08430-4DE3-A123-6DE3-E6E4102C890A}"/>
              </a:ext>
            </a:extLst>
          </p:cNvPr>
          <p:cNvPicPr>
            <a:picLocks noChangeAspect="1"/>
          </p:cNvPicPr>
          <p:nvPr/>
        </p:nvPicPr>
        <p:blipFill>
          <a:blip r:embed="rId4"/>
          <a:stretch>
            <a:fillRect/>
          </a:stretch>
        </p:blipFill>
        <p:spPr>
          <a:xfrm>
            <a:off x="5472684" y="3520440"/>
            <a:ext cx="292608" cy="292608"/>
          </a:xfrm>
          <a:prstGeom prst="rect">
            <a:avLst/>
          </a:prstGeom>
        </p:spPr>
      </p:pic>
      <p:sp>
        <p:nvSpPr>
          <p:cNvPr id="31" name="Text 26">
            <a:extLst>
              <a:ext uri="{FF2B5EF4-FFF2-40B4-BE49-F238E27FC236}">
                <a16:creationId xmlns:a16="http://schemas.microsoft.com/office/drawing/2014/main" id="{C70E47AA-2F2E-EEB7-BD8B-85FCC7D175B6}"/>
              </a:ext>
            </a:extLst>
          </p:cNvPr>
          <p:cNvSpPr/>
          <p:nvPr/>
        </p:nvSpPr>
        <p:spPr>
          <a:xfrm>
            <a:off x="4727448" y="3995928"/>
            <a:ext cx="1783080" cy="256032"/>
          </a:xfrm>
          <a:prstGeom prst="rect">
            <a:avLst/>
          </a:prstGeom>
          <a:noFill/>
          <a:ln/>
        </p:spPr>
        <p:txBody>
          <a:bodyPr wrap="square" lIns="0" tIns="0" rIns="0" bIns="0" rtlCol="0" anchor="ctr"/>
          <a:lstStyle/>
          <a:p>
            <a:pPr marL="0" indent="0" algn="l">
              <a:buNone/>
            </a:pPr>
            <a:r>
              <a:rPr lang="en-US" sz="1250" b="1" dirty="0">
                <a:solidFill>
                  <a:srgbClr val="E08845"/>
                </a:solidFill>
                <a:latin typeface="Calibri" pitchFamily="34" charset="0"/>
                <a:ea typeface="Calibri" pitchFamily="34" charset="-122"/>
                <a:cs typeface="Calibri" pitchFamily="34" charset="-120"/>
              </a:rPr>
              <a:t>Tracing Both</a:t>
            </a:r>
            <a:endParaRPr lang="en-US" sz="1250" dirty="0"/>
          </a:p>
        </p:txBody>
      </p:sp>
      <p:sp>
        <p:nvSpPr>
          <p:cNvPr id="32" name="Text 27">
            <a:extLst>
              <a:ext uri="{FF2B5EF4-FFF2-40B4-BE49-F238E27FC236}">
                <a16:creationId xmlns:a16="http://schemas.microsoft.com/office/drawing/2014/main" id="{8ECCBAFC-4FF7-E939-9F85-F5EFDC3F0AFF}"/>
              </a:ext>
            </a:extLst>
          </p:cNvPr>
          <p:cNvSpPr/>
          <p:nvPr/>
        </p:nvSpPr>
        <p:spPr>
          <a:xfrm>
            <a:off x="4727448"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Walking through both algorithms on the same input to see how their behaviour differs</a:t>
            </a:r>
            <a:endParaRPr lang="en-US" sz="900" dirty="0"/>
          </a:p>
        </p:txBody>
      </p:sp>
      <p:sp>
        <p:nvSpPr>
          <p:cNvPr id="33" name="Shape 28">
            <a:extLst>
              <a:ext uri="{FF2B5EF4-FFF2-40B4-BE49-F238E27FC236}">
                <a16:creationId xmlns:a16="http://schemas.microsoft.com/office/drawing/2014/main" id="{7610D32B-5A46-C321-DF99-3AA4DD031AF2}"/>
              </a:ext>
            </a:extLst>
          </p:cNvPr>
          <p:cNvSpPr/>
          <p:nvPr/>
        </p:nvSpPr>
        <p:spPr>
          <a:xfrm>
            <a:off x="6729984" y="2971800"/>
            <a:ext cx="1965960" cy="256032"/>
          </a:xfrm>
          <a:prstGeom prst="rect">
            <a:avLst/>
          </a:prstGeom>
          <a:solidFill>
            <a:srgbClr val="9B7EDA"/>
          </a:solidFill>
          <a:ln w="12700">
            <a:solidFill>
              <a:srgbClr val="9B7EDA"/>
            </a:solidFill>
            <a:prstDash val="solid"/>
          </a:ln>
        </p:spPr>
        <p:txBody>
          <a:bodyPr/>
          <a:lstStyle/>
          <a:p>
            <a:endParaRPr lang="en-US"/>
          </a:p>
        </p:txBody>
      </p:sp>
      <p:sp>
        <p:nvSpPr>
          <p:cNvPr id="34" name="Text 29">
            <a:extLst>
              <a:ext uri="{FF2B5EF4-FFF2-40B4-BE49-F238E27FC236}">
                <a16:creationId xmlns:a16="http://schemas.microsoft.com/office/drawing/2014/main" id="{B950023F-CCE1-382C-FDCF-D5C19DE609C4}"/>
              </a:ext>
            </a:extLst>
          </p:cNvPr>
          <p:cNvSpPr/>
          <p:nvPr/>
        </p:nvSpPr>
        <p:spPr>
          <a:xfrm>
            <a:off x="6839712"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04</a:t>
            </a:r>
            <a:endParaRPr lang="en-US" sz="1000" dirty="0"/>
          </a:p>
        </p:txBody>
      </p:sp>
      <p:sp>
        <p:nvSpPr>
          <p:cNvPr id="35" name="Shape 30">
            <a:extLst>
              <a:ext uri="{FF2B5EF4-FFF2-40B4-BE49-F238E27FC236}">
                <a16:creationId xmlns:a16="http://schemas.microsoft.com/office/drawing/2014/main" id="{3BDC98BD-C247-517E-A975-095E85D2D3D7}"/>
              </a:ext>
            </a:extLst>
          </p:cNvPr>
          <p:cNvSpPr/>
          <p:nvPr/>
        </p:nvSpPr>
        <p:spPr>
          <a:xfrm>
            <a:off x="6729984"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36" name="Shape 31">
            <a:extLst>
              <a:ext uri="{FF2B5EF4-FFF2-40B4-BE49-F238E27FC236}">
                <a16:creationId xmlns:a16="http://schemas.microsoft.com/office/drawing/2014/main" id="{C4514252-80E3-795E-49A1-898709149828}"/>
              </a:ext>
            </a:extLst>
          </p:cNvPr>
          <p:cNvSpPr/>
          <p:nvPr/>
        </p:nvSpPr>
        <p:spPr>
          <a:xfrm>
            <a:off x="7429500" y="3383280"/>
            <a:ext cx="566928" cy="566928"/>
          </a:xfrm>
          <a:prstGeom prst="ellipse">
            <a:avLst/>
          </a:prstGeom>
          <a:solidFill>
            <a:srgbClr val="1A1A2E"/>
          </a:solidFill>
          <a:ln w="19050">
            <a:solidFill>
              <a:srgbClr val="9B7EDA"/>
            </a:solidFill>
            <a:prstDash val="solid"/>
          </a:ln>
        </p:spPr>
        <p:txBody>
          <a:bodyPr/>
          <a:lstStyle/>
          <a:p>
            <a:endParaRPr lang="en-US"/>
          </a:p>
        </p:txBody>
      </p:sp>
      <p:pic>
        <p:nvPicPr>
          <p:cNvPr id="37" name="Image 3" descr="preencoded.png">
            <a:extLst>
              <a:ext uri="{FF2B5EF4-FFF2-40B4-BE49-F238E27FC236}">
                <a16:creationId xmlns:a16="http://schemas.microsoft.com/office/drawing/2014/main" id="{347FB59D-AC00-AA50-8B4C-5C338DD2508F}"/>
              </a:ext>
            </a:extLst>
          </p:cNvPr>
          <p:cNvPicPr>
            <a:picLocks noChangeAspect="1"/>
          </p:cNvPicPr>
          <p:nvPr/>
        </p:nvPicPr>
        <p:blipFill>
          <a:blip r:embed="rId5"/>
          <a:stretch>
            <a:fillRect/>
          </a:stretch>
        </p:blipFill>
        <p:spPr>
          <a:xfrm>
            <a:off x="7566660" y="3520440"/>
            <a:ext cx="292608" cy="292608"/>
          </a:xfrm>
          <a:prstGeom prst="rect">
            <a:avLst/>
          </a:prstGeom>
        </p:spPr>
      </p:pic>
      <p:sp>
        <p:nvSpPr>
          <p:cNvPr id="38" name="Text 32">
            <a:extLst>
              <a:ext uri="{FF2B5EF4-FFF2-40B4-BE49-F238E27FC236}">
                <a16:creationId xmlns:a16="http://schemas.microsoft.com/office/drawing/2014/main" id="{871EB010-BBA8-F194-F2DE-05B41DDB8680}"/>
              </a:ext>
            </a:extLst>
          </p:cNvPr>
          <p:cNvSpPr/>
          <p:nvPr/>
        </p:nvSpPr>
        <p:spPr>
          <a:xfrm>
            <a:off x="6821424" y="3995928"/>
            <a:ext cx="1783080" cy="256032"/>
          </a:xfrm>
          <a:prstGeom prst="rect">
            <a:avLst/>
          </a:prstGeom>
          <a:noFill/>
          <a:ln/>
        </p:spPr>
        <p:txBody>
          <a:bodyPr wrap="square" lIns="0" tIns="0" rIns="0" bIns="0" rtlCol="0" anchor="ctr"/>
          <a:lstStyle/>
          <a:p>
            <a:pPr marL="0" indent="0" algn="l">
              <a:buNone/>
            </a:pPr>
            <a:r>
              <a:rPr lang="en-US" sz="1250" b="1" dirty="0">
                <a:solidFill>
                  <a:srgbClr val="9B7EDA"/>
                </a:solidFill>
                <a:latin typeface="Calibri" pitchFamily="34" charset="0"/>
                <a:ea typeface="Calibri" pitchFamily="34" charset="-122"/>
                <a:cs typeface="Calibri" pitchFamily="34" charset="-120"/>
              </a:rPr>
              <a:t>Comparing All Three</a:t>
            </a:r>
            <a:endParaRPr lang="en-US" sz="1250" dirty="0"/>
          </a:p>
        </p:txBody>
      </p:sp>
      <p:sp>
        <p:nvSpPr>
          <p:cNvPr id="39" name="Text 33">
            <a:extLst>
              <a:ext uri="{FF2B5EF4-FFF2-40B4-BE49-F238E27FC236}">
                <a16:creationId xmlns:a16="http://schemas.microsoft.com/office/drawing/2014/main" id="{B1957D08-2E17-FA5D-3577-06DB3E45697E}"/>
              </a:ext>
            </a:extLst>
          </p:cNvPr>
          <p:cNvSpPr/>
          <p:nvPr/>
        </p:nvSpPr>
        <p:spPr>
          <a:xfrm>
            <a:off x="6821424"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Bubble vs Selection vs Insertion — which is the right tool for which job?</a:t>
            </a:r>
            <a:endParaRPr lang="en-US" sz="900" dirty="0"/>
          </a:p>
        </p:txBody>
      </p:sp>
      <p:sp>
        <p:nvSpPr>
          <p:cNvPr id="40" name="Text 34">
            <a:extLst>
              <a:ext uri="{FF2B5EF4-FFF2-40B4-BE49-F238E27FC236}">
                <a16:creationId xmlns:a16="http://schemas.microsoft.com/office/drawing/2014/main" id="{A0849E45-C363-F4CE-04BD-BDB92DA86730}"/>
              </a:ext>
            </a:extLst>
          </p:cNvPr>
          <p:cNvSpPr/>
          <p:nvPr/>
        </p:nvSpPr>
        <p:spPr>
          <a:xfrm>
            <a:off x="0" y="4777740"/>
            <a:ext cx="9144000" cy="274320"/>
          </a:xfrm>
          <a:prstGeom prst="rect">
            <a:avLst/>
          </a:prstGeom>
          <a:noFill/>
          <a:ln/>
        </p:spPr>
        <p:txBody>
          <a:bodyPr wrap="square" lIns="0" tIns="0" rIns="0" bIns="0" rtlCol="0" anchor="ctr"/>
          <a:lstStyle/>
          <a:p>
            <a:pPr marL="0" indent="0" algn="ctr">
              <a:buNone/>
            </a:pPr>
            <a:r>
              <a:rPr lang="en-US" sz="1100" i="1" dirty="0">
                <a:solidFill>
                  <a:srgbClr val="9AA4B2"/>
                </a:solidFill>
                <a:latin typeface="Calibri" pitchFamily="34" charset="0"/>
                <a:ea typeface="Calibri" pitchFamily="34" charset="-122"/>
                <a:cs typeface="Calibri" pitchFamily="34" charset="-120"/>
              </a:rPr>
              <a:t>Let's get started 🚀</a:t>
            </a:r>
            <a:endParaRPr lang="en-US" sz="1100" dirty="0"/>
          </a:p>
        </p:txBody>
      </p:sp>
    </p:spTree>
    <p:extLst>
      <p:ext uri="{BB962C8B-B14F-4D97-AF65-F5344CB8AC3E}">
        <p14:creationId xmlns:p14="http://schemas.microsoft.com/office/powerpoint/2010/main" val="1441658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p:cNvGrpSpPr/>
        <p:nvPr/>
      </p:nvGrpSpPr>
      <p:grpSpPr>
        <a:xfrm>
          <a:off x="0" y="0"/>
          <a:ext cx="0" cy="0"/>
          <a:chOff x="0" y="0"/>
          <a:chExt cx="0" cy="0"/>
        </a:xfrm>
      </p:grpSpPr>
      <p:sp>
        <p:nvSpPr>
          <p:cNvPr id="48" name="Shape 0">
            <a:extLst>
              <a:ext uri="{FF2B5EF4-FFF2-40B4-BE49-F238E27FC236}">
                <a16:creationId xmlns:a16="http://schemas.microsoft.com/office/drawing/2014/main" id="{1B6EA25D-920F-01B3-FB70-D7432FF6B1A1}"/>
              </a:ext>
            </a:extLst>
          </p:cNvPr>
          <p:cNvSpPr/>
          <p:nvPr/>
        </p:nvSpPr>
        <p:spPr>
          <a:xfrm>
            <a:off x="0" y="0"/>
            <a:ext cx="9144000" cy="73152"/>
          </a:xfrm>
          <a:prstGeom prst="rect">
            <a:avLst/>
          </a:prstGeom>
          <a:solidFill>
            <a:srgbClr val="57E3D8"/>
          </a:solidFill>
          <a:ln w="12700">
            <a:solidFill>
              <a:srgbClr val="57E3D8"/>
            </a:solidFill>
            <a:prstDash val="solid"/>
          </a:ln>
        </p:spPr>
        <p:txBody>
          <a:bodyPr/>
          <a:lstStyle/>
          <a:p>
            <a:endParaRPr lang="en-US"/>
          </a:p>
        </p:txBody>
      </p:sp>
      <p:sp>
        <p:nvSpPr>
          <p:cNvPr id="49" name="Shape 1">
            <a:extLst>
              <a:ext uri="{FF2B5EF4-FFF2-40B4-BE49-F238E27FC236}">
                <a16:creationId xmlns:a16="http://schemas.microsoft.com/office/drawing/2014/main" id="{AEA1A76F-C3F1-CC2E-D0A4-B9D7109230A5}"/>
              </a:ext>
            </a:extLst>
          </p:cNvPr>
          <p:cNvSpPr/>
          <p:nvPr/>
        </p:nvSpPr>
        <p:spPr>
          <a:xfrm>
            <a:off x="0" y="5070348"/>
            <a:ext cx="9144000" cy="73152"/>
          </a:xfrm>
          <a:prstGeom prst="rect">
            <a:avLst/>
          </a:prstGeom>
          <a:solidFill>
            <a:srgbClr val="4F29B7"/>
          </a:solidFill>
          <a:ln w="12700">
            <a:solidFill>
              <a:srgbClr val="4F29B7"/>
            </a:solidFill>
            <a:prstDash val="solid"/>
          </a:ln>
        </p:spPr>
        <p:txBody>
          <a:bodyPr/>
          <a:lstStyle/>
          <a:p>
            <a:endParaRPr lang="en-US"/>
          </a:p>
        </p:txBody>
      </p:sp>
      <p:sp>
        <p:nvSpPr>
          <p:cNvPr id="50" name="Shape 2">
            <a:extLst>
              <a:ext uri="{FF2B5EF4-FFF2-40B4-BE49-F238E27FC236}">
                <a16:creationId xmlns:a16="http://schemas.microsoft.com/office/drawing/2014/main" id="{FC4C1BC1-0746-CC9A-B8CF-995FD26AE8B3}"/>
              </a:ext>
            </a:extLst>
          </p:cNvPr>
          <p:cNvSpPr/>
          <p:nvPr/>
        </p:nvSpPr>
        <p:spPr>
          <a:xfrm>
            <a:off x="0" y="73152"/>
            <a:ext cx="9144000" cy="658368"/>
          </a:xfrm>
          <a:prstGeom prst="rect">
            <a:avLst/>
          </a:prstGeom>
          <a:solidFill>
            <a:srgbClr val="262626"/>
          </a:solidFill>
          <a:ln w="12700">
            <a:solidFill>
              <a:srgbClr val="262626"/>
            </a:solidFill>
            <a:prstDash val="solid"/>
          </a:ln>
        </p:spPr>
        <p:txBody>
          <a:bodyPr/>
          <a:lstStyle/>
          <a:p>
            <a:endParaRPr lang="en-US"/>
          </a:p>
        </p:txBody>
      </p:sp>
      <p:sp>
        <p:nvSpPr>
          <p:cNvPr id="51" name="Text 3">
            <a:extLst>
              <a:ext uri="{FF2B5EF4-FFF2-40B4-BE49-F238E27FC236}">
                <a16:creationId xmlns:a16="http://schemas.microsoft.com/office/drawing/2014/main" id="{821F3991-3C81-09DF-1A56-9976147ADD80}"/>
              </a:ext>
            </a:extLst>
          </p:cNvPr>
          <p:cNvSpPr/>
          <p:nvPr/>
        </p:nvSpPr>
        <p:spPr>
          <a:xfrm>
            <a:off x="365760" y="73152"/>
            <a:ext cx="8412480" cy="658368"/>
          </a:xfrm>
          <a:prstGeom prst="rect">
            <a:avLst/>
          </a:prstGeom>
          <a:noFill/>
          <a:ln/>
        </p:spPr>
        <p:txBody>
          <a:bodyPr wrap="square" lIns="0" tIns="0" rIns="0" bIns="0" rtlCol="0" anchor="ctr"/>
          <a:lstStyle/>
          <a:p>
            <a:pPr marL="0" indent="0">
              <a:buNone/>
            </a:pPr>
            <a:r>
              <a:rPr lang="en-US" sz="2000" b="1" dirty="0">
                <a:solidFill>
                  <a:srgbClr val="57E3D8"/>
                </a:solidFill>
                <a:latin typeface="Calibri" pitchFamily="34" charset="0"/>
                <a:ea typeface="Calibri" pitchFamily="34" charset="-122"/>
                <a:cs typeface="Calibri" pitchFamily="34" charset="-120"/>
              </a:rPr>
              <a:t>Quick recap from Day 4</a:t>
            </a:r>
            <a:endParaRPr lang="en-US" sz="2000" dirty="0"/>
          </a:p>
        </p:txBody>
      </p:sp>
      <p:sp>
        <p:nvSpPr>
          <p:cNvPr id="52" name="Shape 4">
            <a:extLst>
              <a:ext uri="{FF2B5EF4-FFF2-40B4-BE49-F238E27FC236}">
                <a16:creationId xmlns:a16="http://schemas.microsoft.com/office/drawing/2014/main" id="{FC21FB84-F6AB-7665-1308-5BF721CA043C}"/>
              </a:ext>
            </a:extLst>
          </p:cNvPr>
          <p:cNvSpPr/>
          <p:nvPr/>
        </p:nvSpPr>
        <p:spPr>
          <a:xfrm>
            <a:off x="274320" y="841248"/>
            <a:ext cx="8595360" cy="4133088"/>
          </a:xfrm>
          <a:prstGeom prst="roundRect">
            <a:avLst>
              <a:gd name="adj" fmla="val 2655"/>
            </a:avLst>
          </a:prstGeom>
          <a:solidFill>
            <a:srgbClr val="1A1040"/>
          </a:solidFill>
          <a:ln w="6350">
            <a:solidFill>
              <a:srgbClr val="333366"/>
            </a:solidFill>
            <a:prstDash val="solid"/>
          </a:ln>
        </p:spPr>
        <p:txBody>
          <a:bodyPr/>
          <a:lstStyle/>
          <a:p>
            <a:endParaRPr lang="en-US"/>
          </a:p>
        </p:txBody>
      </p:sp>
      <p:sp>
        <p:nvSpPr>
          <p:cNvPr id="53" name="Text 5">
            <a:extLst>
              <a:ext uri="{FF2B5EF4-FFF2-40B4-BE49-F238E27FC236}">
                <a16:creationId xmlns:a16="http://schemas.microsoft.com/office/drawing/2014/main" id="{5505480E-9E51-0769-FE17-12FDA406D690}"/>
              </a:ext>
            </a:extLst>
          </p:cNvPr>
          <p:cNvSpPr/>
          <p:nvPr/>
        </p:nvSpPr>
        <p:spPr>
          <a:xfrm>
            <a:off x="502920" y="914400"/>
            <a:ext cx="8138160" cy="3977640"/>
          </a:xfrm>
          <a:prstGeom prst="rect">
            <a:avLst/>
          </a:prstGeom>
          <a:noFill/>
          <a:ln/>
        </p:spPr>
        <p:txBody>
          <a:bodyPr wrap="square" rtlCol="0" anchor="t"/>
          <a:lstStyle/>
          <a:p>
            <a:pPr marL="0" indent="0">
              <a:lnSpc>
                <a:spcPct val="140000"/>
              </a:lnSpc>
              <a:buNone/>
            </a:pPr>
            <a:r>
              <a:rPr lang="en-US" sz="1200" dirty="0">
                <a:solidFill>
                  <a:srgbClr val="EDEDED"/>
                </a:solidFill>
                <a:latin typeface="Calibri" pitchFamily="34" charset="0"/>
                <a:ea typeface="Calibri" pitchFamily="34" charset="-122"/>
                <a:cs typeface="Calibri" pitchFamily="34" charset="-120"/>
              </a:rPr>
              <a:t>Yesterday we met our first sorting algorithm — Bubble Sort. It compares each pair of neighbours, swaps them if they are out of order, and repeats until no more swaps are needed.</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xml:space="preserve"> </a:t>
            </a:r>
            <a:endParaRPr lang="en-US" sz="1200" dirty="0"/>
          </a:p>
          <a:p>
            <a:pPr marL="0" indent="0">
              <a:lnSpc>
                <a:spcPct val="140000"/>
              </a:lnSpc>
              <a:buNone/>
            </a:pPr>
            <a:r>
              <a:rPr lang="en-US" sz="1200" dirty="0">
                <a:solidFill>
                  <a:srgbClr val="EDEDED"/>
                </a:solidFill>
                <a:latin typeface="Calibri" pitchFamily="34" charset="0"/>
                <a:ea typeface="Calibri" pitchFamily="34" charset="-122"/>
                <a:cs typeface="Calibri" pitchFamily="34" charset="-120"/>
              </a:rPr>
              <a:t>Bubble Sort works, but it is not the only way. Today we meet two more sorting algorithms — both also O(N²), both also simple to write — but each with a different intuition behind it.</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xml:space="preserve"> </a:t>
            </a:r>
            <a:endParaRPr lang="en-US" sz="1200" dirty="0"/>
          </a:p>
          <a:p>
            <a:pPr marL="0" indent="0">
              <a:lnSpc>
                <a:spcPct val="140000"/>
              </a:lnSpc>
              <a:buNone/>
            </a:pPr>
            <a:r>
              <a:rPr lang="en-US" sz="1200" b="1" dirty="0">
                <a:solidFill>
                  <a:srgbClr val="57E3D8"/>
                </a:solidFill>
                <a:latin typeface="Calibri" pitchFamily="34" charset="0"/>
                <a:ea typeface="Calibri" pitchFamily="34" charset="-122"/>
                <a:cs typeface="Calibri" pitchFamily="34" charset="-120"/>
              </a:rPr>
              <a:t xml:space="preserve">Selection Sort  </a:t>
            </a:r>
            <a:r>
              <a:rPr lang="en-US" sz="1200" dirty="0">
                <a:solidFill>
                  <a:srgbClr val="EDEDED"/>
                </a:solidFill>
                <a:latin typeface="Calibri" pitchFamily="34" charset="0"/>
                <a:ea typeface="Calibri" pitchFamily="34" charset="-122"/>
                <a:cs typeface="Calibri" pitchFamily="34" charset="-120"/>
              </a:rPr>
              <a:t>scans the unsorted part of the list to find the smallest value, then places it at the front. After each pass, one more position at the start is locked in.</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xml:space="preserve"> </a:t>
            </a:r>
            <a:endParaRPr lang="en-US" sz="1200" dirty="0"/>
          </a:p>
          <a:p>
            <a:pPr marL="0" indent="0">
              <a:lnSpc>
                <a:spcPct val="140000"/>
              </a:lnSpc>
              <a:buNone/>
            </a:pPr>
            <a:r>
              <a:rPr lang="en-US" sz="1200" b="1" dirty="0">
                <a:solidFill>
                  <a:srgbClr val="57E3D8"/>
                </a:solidFill>
                <a:latin typeface="Calibri" pitchFamily="34" charset="0"/>
                <a:ea typeface="Calibri" pitchFamily="34" charset="-122"/>
                <a:cs typeface="Calibri" pitchFamily="34" charset="-120"/>
              </a:rPr>
              <a:t xml:space="preserve">Insertion Sort  </a:t>
            </a:r>
            <a:r>
              <a:rPr lang="en-US" sz="1200" dirty="0">
                <a:solidFill>
                  <a:srgbClr val="EDEDED"/>
                </a:solidFill>
                <a:latin typeface="Calibri" pitchFamily="34" charset="0"/>
                <a:ea typeface="Calibri" pitchFamily="34" charset="-122"/>
                <a:cs typeface="Calibri" pitchFamily="34" charset="-120"/>
              </a:rPr>
              <a:t>takes one item at a time and slides it back into the already-sorted portion until it lands in its correct spot. It is exactly how most people sort a hand of playing cards.</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xml:space="preserve"> </a:t>
            </a:r>
            <a:endParaRPr lang="en-US" sz="1200" dirty="0"/>
          </a:p>
          <a:p>
            <a:pPr marL="0" indent="0">
              <a:lnSpc>
                <a:spcPct val="140000"/>
              </a:lnSpc>
              <a:buNone/>
            </a:pPr>
            <a:r>
              <a:rPr lang="en-US" sz="1200" dirty="0">
                <a:solidFill>
                  <a:srgbClr val="EDEDED"/>
                </a:solidFill>
                <a:latin typeface="Calibri" pitchFamily="34" charset="0"/>
                <a:ea typeface="Calibri" pitchFamily="34" charset="-122"/>
                <a:cs typeface="Calibri" pitchFamily="34" charset="-120"/>
              </a:rPr>
              <a:t>By the end of today, you will be able to describe all three sorts (Bubble, Selection, Insertion) by hand, write the pseudocode for each, and decide which one to reach for given a particular kind of input.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F938DC5C-7D51-33EF-EC2F-903B4691A76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D737442-8D81-2853-880E-B42C3E57B121}"/>
              </a:ext>
            </a:extLst>
          </p:cNvPr>
          <p:cNvSpPr/>
          <p:nvPr/>
        </p:nvSpPr>
        <p:spPr>
          <a:xfrm>
            <a:off x="0" y="0"/>
            <a:ext cx="9144000" cy="73152"/>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0C7F8120-DDCD-B00F-157A-EA938D251AAE}"/>
              </a:ext>
            </a:extLst>
          </p:cNvPr>
          <p:cNvSpPr/>
          <p:nvPr/>
        </p:nvSpPr>
        <p:spPr>
          <a:xfrm>
            <a:off x="0" y="73152"/>
            <a:ext cx="9144000" cy="658368"/>
          </a:xfrm>
          <a:prstGeom prst="rect">
            <a:avLst/>
          </a:prstGeom>
          <a:solidFill>
            <a:srgbClr val="262626"/>
          </a:solidFill>
          <a:ln w="12700">
            <a:solidFill>
              <a:srgbClr val="262626"/>
            </a:solidFill>
            <a:prstDash val="solid"/>
          </a:ln>
        </p:spPr>
        <p:txBody>
          <a:bodyPr/>
          <a:lstStyle/>
          <a:p>
            <a:endParaRPr lang="en-US"/>
          </a:p>
        </p:txBody>
      </p:sp>
      <p:sp>
        <p:nvSpPr>
          <p:cNvPr id="4" name="Text 2">
            <a:extLst>
              <a:ext uri="{FF2B5EF4-FFF2-40B4-BE49-F238E27FC236}">
                <a16:creationId xmlns:a16="http://schemas.microsoft.com/office/drawing/2014/main" id="{16098926-9EDA-9F30-BFD8-DFDDAF496B5B}"/>
              </a:ext>
            </a:extLst>
          </p:cNvPr>
          <p:cNvSpPr/>
          <p:nvPr/>
        </p:nvSpPr>
        <p:spPr>
          <a:xfrm>
            <a:off x="365760" y="73152"/>
            <a:ext cx="8412480" cy="411480"/>
          </a:xfrm>
          <a:prstGeom prst="rect">
            <a:avLst/>
          </a:prstGeom>
          <a:noFill/>
          <a:ln/>
        </p:spPr>
        <p:txBody>
          <a:bodyPr wrap="square" lIns="0" tIns="0" rIns="0" bIns="0" rtlCol="0" anchor="ctr"/>
          <a:lstStyle/>
          <a:p>
            <a:pPr marL="0" indent="0">
              <a:buNone/>
            </a:pPr>
            <a:r>
              <a:rPr lang="en-US" sz="2200" b="1" dirty="0">
                <a:solidFill>
                  <a:srgbClr val="57E3D8"/>
                </a:solidFill>
                <a:latin typeface="Calibri" pitchFamily="34" charset="0"/>
                <a:ea typeface="Calibri" pitchFamily="34" charset="-122"/>
                <a:cs typeface="Calibri" pitchFamily="34" charset="-120"/>
              </a:rPr>
              <a:t>Insertion Sort</a:t>
            </a:r>
            <a:endParaRPr lang="en-US" sz="2200" dirty="0"/>
          </a:p>
        </p:txBody>
      </p:sp>
      <p:sp>
        <p:nvSpPr>
          <p:cNvPr id="5" name="Text 3">
            <a:extLst>
              <a:ext uri="{FF2B5EF4-FFF2-40B4-BE49-F238E27FC236}">
                <a16:creationId xmlns:a16="http://schemas.microsoft.com/office/drawing/2014/main" id="{E716D937-3C6D-88A6-7F45-F226E11D57EC}"/>
              </a:ext>
            </a:extLst>
          </p:cNvPr>
          <p:cNvSpPr/>
          <p:nvPr/>
        </p:nvSpPr>
        <p:spPr>
          <a:xfrm>
            <a:off x="365760" y="484632"/>
            <a:ext cx="8412480" cy="246888"/>
          </a:xfrm>
          <a:prstGeom prst="rect">
            <a:avLst/>
          </a:prstGeom>
          <a:noFill/>
          <a:ln/>
        </p:spPr>
        <p:txBody>
          <a:bodyPr wrap="square" lIns="0" tIns="0" rIns="0" bIns="0" rtlCol="0" anchor="t"/>
          <a:lstStyle/>
          <a:p>
            <a:pPr marL="0" indent="0">
              <a:buNone/>
            </a:pPr>
            <a:r>
              <a:rPr lang="en-US" sz="1100" i="1" dirty="0">
                <a:solidFill>
                  <a:srgbClr val="EDEDED"/>
                </a:solidFill>
                <a:latin typeface="Calibri" pitchFamily="34" charset="0"/>
                <a:ea typeface="Calibri" pitchFamily="34" charset="-122"/>
                <a:cs typeface="Calibri" pitchFamily="34" charset="-120"/>
              </a:rPr>
              <a:t>Build the sorted list one item at a time — exactly how you sort a hand of cards</a:t>
            </a:r>
            <a:endParaRPr lang="en-US" sz="1100" dirty="0"/>
          </a:p>
        </p:txBody>
      </p:sp>
      <p:sp>
        <p:nvSpPr>
          <p:cNvPr id="6" name="Shape 4">
            <a:extLst>
              <a:ext uri="{FF2B5EF4-FFF2-40B4-BE49-F238E27FC236}">
                <a16:creationId xmlns:a16="http://schemas.microsoft.com/office/drawing/2014/main" id="{575D64EF-ED1C-72CD-B931-D7593460A20B}"/>
              </a:ext>
            </a:extLst>
          </p:cNvPr>
          <p:cNvSpPr/>
          <p:nvPr/>
        </p:nvSpPr>
        <p:spPr>
          <a:xfrm>
            <a:off x="0" y="5070348"/>
            <a:ext cx="9144000" cy="73152"/>
          </a:xfrm>
          <a:prstGeom prst="rect">
            <a:avLst/>
          </a:prstGeom>
          <a:solidFill>
            <a:srgbClr val="4F29B7"/>
          </a:solidFill>
          <a:ln w="12700">
            <a:solidFill>
              <a:srgbClr val="4F29B7"/>
            </a:solidFill>
            <a:prstDash val="solid"/>
          </a:ln>
        </p:spPr>
        <p:txBody>
          <a:bodyPr/>
          <a:lstStyle/>
          <a:p>
            <a:endParaRPr lang="en-US"/>
          </a:p>
        </p:txBody>
      </p:sp>
      <p:sp>
        <p:nvSpPr>
          <p:cNvPr id="7" name="Shape 5">
            <a:extLst>
              <a:ext uri="{FF2B5EF4-FFF2-40B4-BE49-F238E27FC236}">
                <a16:creationId xmlns:a16="http://schemas.microsoft.com/office/drawing/2014/main" id="{7C653463-1142-179E-88BD-AFAF6F8C8637}"/>
              </a:ext>
            </a:extLst>
          </p:cNvPr>
          <p:cNvSpPr/>
          <p:nvPr/>
        </p:nvSpPr>
        <p:spPr>
          <a:xfrm>
            <a:off x="274320" y="822960"/>
            <a:ext cx="3886200" cy="4114800"/>
          </a:xfrm>
          <a:prstGeom prst="roundRect">
            <a:avLst>
              <a:gd name="adj" fmla="val 2824"/>
            </a:avLst>
          </a:prstGeom>
          <a:solidFill>
            <a:srgbClr val="1E0F40"/>
          </a:solidFill>
          <a:ln w="12700">
            <a:solidFill>
              <a:srgbClr val="4F29B7"/>
            </a:solidFill>
            <a:prstDash val="solid"/>
          </a:ln>
        </p:spPr>
        <p:txBody>
          <a:bodyPr/>
          <a:lstStyle/>
          <a:p>
            <a:endParaRPr lang="en-US"/>
          </a:p>
        </p:txBody>
      </p:sp>
      <p:sp>
        <p:nvSpPr>
          <p:cNvPr id="8" name="Text 6">
            <a:extLst>
              <a:ext uri="{FF2B5EF4-FFF2-40B4-BE49-F238E27FC236}">
                <a16:creationId xmlns:a16="http://schemas.microsoft.com/office/drawing/2014/main" id="{87C3DF9D-CF81-CFC2-24DE-26789DF7C566}"/>
              </a:ext>
            </a:extLst>
          </p:cNvPr>
          <p:cNvSpPr/>
          <p:nvPr/>
        </p:nvSpPr>
        <p:spPr>
          <a:xfrm>
            <a:off x="274320" y="822960"/>
            <a:ext cx="3886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Definition</a:t>
            </a:r>
            <a:endParaRPr lang="en-US" sz="2000" dirty="0"/>
          </a:p>
        </p:txBody>
      </p:sp>
      <p:sp>
        <p:nvSpPr>
          <p:cNvPr id="9" name="Text 7">
            <a:extLst>
              <a:ext uri="{FF2B5EF4-FFF2-40B4-BE49-F238E27FC236}">
                <a16:creationId xmlns:a16="http://schemas.microsoft.com/office/drawing/2014/main" id="{8F6E38CC-3D4A-3E0B-2BE5-A1AFFE25B54B}"/>
              </a:ext>
            </a:extLst>
          </p:cNvPr>
          <p:cNvSpPr/>
          <p:nvPr/>
        </p:nvSpPr>
        <p:spPr>
          <a:xfrm>
            <a:off x="274320" y="1188720"/>
            <a:ext cx="3886200" cy="256032"/>
          </a:xfrm>
          <a:prstGeom prst="rect">
            <a:avLst/>
          </a:prstGeom>
          <a:noFill/>
          <a:ln/>
        </p:spPr>
        <p:txBody>
          <a:bodyPr wrap="square" rtlCol="0" anchor="ctr"/>
          <a:lstStyle/>
          <a:p>
            <a:pPr marL="0" indent="0" algn="ctr">
              <a:buNone/>
            </a:pPr>
            <a:r>
              <a:rPr lang="en-US" sz="1000" i="1" dirty="0">
                <a:solidFill>
                  <a:srgbClr val="A380FF"/>
                </a:solidFill>
                <a:latin typeface="Calibri" pitchFamily="34" charset="0"/>
                <a:ea typeface="Calibri" pitchFamily="34" charset="-122"/>
                <a:cs typeface="Calibri" pitchFamily="34" charset="-120"/>
              </a:rPr>
              <a:t>The intuition</a:t>
            </a:r>
            <a:endParaRPr lang="en-US" sz="1000" dirty="0"/>
          </a:p>
        </p:txBody>
      </p:sp>
      <p:sp>
        <p:nvSpPr>
          <p:cNvPr id="10" name="Shape 8">
            <a:extLst>
              <a:ext uri="{FF2B5EF4-FFF2-40B4-BE49-F238E27FC236}">
                <a16:creationId xmlns:a16="http://schemas.microsoft.com/office/drawing/2014/main" id="{F539B252-D602-88A8-A23E-D20791397C62}"/>
              </a:ext>
            </a:extLst>
          </p:cNvPr>
          <p:cNvSpPr/>
          <p:nvPr/>
        </p:nvSpPr>
        <p:spPr>
          <a:xfrm>
            <a:off x="457200" y="1536192"/>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11" name="Text 9">
            <a:extLst>
              <a:ext uri="{FF2B5EF4-FFF2-40B4-BE49-F238E27FC236}">
                <a16:creationId xmlns:a16="http://schemas.microsoft.com/office/drawing/2014/main" id="{6F22105E-A2B1-5DB5-D76C-63941344DE60}"/>
              </a:ext>
            </a:extLst>
          </p:cNvPr>
          <p:cNvSpPr/>
          <p:nvPr/>
        </p:nvSpPr>
        <p:spPr>
          <a:xfrm>
            <a:off x="502920" y="1536192"/>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What it does:</a:t>
            </a:r>
            <a:endParaRPr lang="en-US" sz="800" dirty="0"/>
          </a:p>
        </p:txBody>
      </p:sp>
      <p:sp>
        <p:nvSpPr>
          <p:cNvPr id="12" name="Text 10">
            <a:extLst>
              <a:ext uri="{FF2B5EF4-FFF2-40B4-BE49-F238E27FC236}">
                <a16:creationId xmlns:a16="http://schemas.microsoft.com/office/drawing/2014/main" id="{DFF3E5FA-C8C4-1DB7-9D76-AF20B79D4766}"/>
              </a:ext>
            </a:extLst>
          </p:cNvPr>
          <p:cNvSpPr/>
          <p:nvPr/>
        </p:nvSpPr>
        <p:spPr>
          <a:xfrm>
            <a:off x="1325880" y="1536192"/>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Sorts a list in ascending order</a:t>
            </a:r>
            <a:endParaRPr lang="en-US" sz="900" dirty="0"/>
          </a:p>
        </p:txBody>
      </p:sp>
      <p:sp>
        <p:nvSpPr>
          <p:cNvPr id="13" name="Shape 11">
            <a:extLst>
              <a:ext uri="{FF2B5EF4-FFF2-40B4-BE49-F238E27FC236}">
                <a16:creationId xmlns:a16="http://schemas.microsoft.com/office/drawing/2014/main" id="{251E9839-9550-A02D-B6AA-E0AF4A750EA8}"/>
              </a:ext>
            </a:extLst>
          </p:cNvPr>
          <p:cNvSpPr/>
          <p:nvPr/>
        </p:nvSpPr>
        <p:spPr>
          <a:xfrm>
            <a:off x="457200" y="2011680"/>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14" name="Text 12">
            <a:extLst>
              <a:ext uri="{FF2B5EF4-FFF2-40B4-BE49-F238E27FC236}">
                <a16:creationId xmlns:a16="http://schemas.microsoft.com/office/drawing/2014/main" id="{87599456-8900-62A4-86BE-14B5BFD4D0C7}"/>
              </a:ext>
            </a:extLst>
          </p:cNvPr>
          <p:cNvSpPr/>
          <p:nvPr/>
        </p:nvSpPr>
        <p:spPr>
          <a:xfrm>
            <a:off x="502920" y="2011680"/>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Strategy:</a:t>
            </a:r>
            <a:endParaRPr lang="en-US" sz="800" dirty="0"/>
          </a:p>
        </p:txBody>
      </p:sp>
      <p:sp>
        <p:nvSpPr>
          <p:cNvPr id="15" name="Text 13">
            <a:extLst>
              <a:ext uri="{FF2B5EF4-FFF2-40B4-BE49-F238E27FC236}">
                <a16:creationId xmlns:a16="http://schemas.microsoft.com/office/drawing/2014/main" id="{0F359D1C-3746-BFAC-361A-B9CAFC55E886}"/>
              </a:ext>
            </a:extLst>
          </p:cNvPr>
          <p:cNvSpPr/>
          <p:nvPr/>
        </p:nvSpPr>
        <p:spPr>
          <a:xfrm>
            <a:off x="1325880" y="2011680"/>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Insert each item into its place</a:t>
            </a:r>
            <a:endParaRPr lang="en-US" sz="900" dirty="0"/>
          </a:p>
        </p:txBody>
      </p:sp>
      <p:sp>
        <p:nvSpPr>
          <p:cNvPr id="16" name="Shape 14">
            <a:extLst>
              <a:ext uri="{FF2B5EF4-FFF2-40B4-BE49-F238E27FC236}">
                <a16:creationId xmlns:a16="http://schemas.microsoft.com/office/drawing/2014/main" id="{F71D1348-3AA5-3882-54A1-57A76FAC380D}"/>
              </a:ext>
            </a:extLst>
          </p:cNvPr>
          <p:cNvSpPr/>
          <p:nvPr/>
        </p:nvSpPr>
        <p:spPr>
          <a:xfrm>
            <a:off x="457200" y="2487168"/>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17" name="Text 15">
            <a:extLst>
              <a:ext uri="{FF2B5EF4-FFF2-40B4-BE49-F238E27FC236}">
                <a16:creationId xmlns:a16="http://schemas.microsoft.com/office/drawing/2014/main" id="{CF8A9D77-12E4-A989-944B-42A32BEC703B}"/>
              </a:ext>
            </a:extLst>
          </p:cNvPr>
          <p:cNvSpPr/>
          <p:nvPr/>
        </p:nvSpPr>
        <p:spPr>
          <a:xfrm>
            <a:off x="502920" y="2487168"/>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Card analogy:</a:t>
            </a:r>
            <a:endParaRPr lang="en-US" sz="800" dirty="0"/>
          </a:p>
        </p:txBody>
      </p:sp>
      <p:sp>
        <p:nvSpPr>
          <p:cNvPr id="18" name="Text 16">
            <a:extLst>
              <a:ext uri="{FF2B5EF4-FFF2-40B4-BE49-F238E27FC236}">
                <a16:creationId xmlns:a16="http://schemas.microsoft.com/office/drawing/2014/main" id="{6AF3EE4B-F711-A440-7FC2-F5F1CC31B724}"/>
              </a:ext>
            </a:extLst>
          </p:cNvPr>
          <p:cNvSpPr/>
          <p:nvPr/>
        </p:nvSpPr>
        <p:spPr>
          <a:xfrm>
            <a:off x="1325880" y="2487168"/>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Pick up cards one at a time</a:t>
            </a:r>
            <a:endParaRPr lang="en-US" sz="900" dirty="0"/>
          </a:p>
        </p:txBody>
      </p:sp>
      <p:sp>
        <p:nvSpPr>
          <p:cNvPr id="19" name="Shape 17">
            <a:extLst>
              <a:ext uri="{FF2B5EF4-FFF2-40B4-BE49-F238E27FC236}">
                <a16:creationId xmlns:a16="http://schemas.microsoft.com/office/drawing/2014/main" id="{596A5860-F2B4-C8FE-B166-FD5219F46DE7}"/>
              </a:ext>
            </a:extLst>
          </p:cNvPr>
          <p:cNvSpPr/>
          <p:nvPr/>
        </p:nvSpPr>
        <p:spPr>
          <a:xfrm>
            <a:off x="457200" y="2962656"/>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20" name="Text 18">
            <a:extLst>
              <a:ext uri="{FF2B5EF4-FFF2-40B4-BE49-F238E27FC236}">
                <a16:creationId xmlns:a16="http://schemas.microsoft.com/office/drawing/2014/main" id="{A81CB853-7AB7-49EC-8C36-43EFC3EE9829}"/>
              </a:ext>
            </a:extLst>
          </p:cNvPr>
          <p:cNvSpPr/>
          <p:nvPr/>
        </p:nvSpPr>
        <p:spPr>
          <a:xfrm>
            <a:off x="502920" y="2962656"/>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Sorted region:</a:t>
            </a:r>
            <a:endParaRPr lang="en-US" sz="800" dirty="0"/>
          </a:p>
        </p:txBody>
      </p:sp>
      <p:sp>
        <p:nvSpPr>
          <p:cNvPr id="21" name="Text 19">
            <a:extLst>
              <a:ext uri="{FF2B5EF4-FFF2-40B4-BE49-F238E27FC236}">
                <a16:creationId xmlns:a16="http://schemas.microsoft.com/office/drawing/2014/main" id="{01F475CF-1041-BAFD-6AA4-A1D372E0B2C7}"/>
              </a:ext>
            </a:extLst>
          </p:cNvPr>
          <p:cNvSpPr/>
          <p:nvPr/>
        </p:nvSpPr>
        <p:spPr>
          <a:xfrm>
            <a:off x="1325880" y="2962656"/>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Grows from the left, item by item</a:t>
            </a:r>
            <a:endParaRPr lang="en-US" sz="900" dirty="0"/>
          </a:p>
        </p:txBody>
      </p:sp>
      <p:sp>
        <p:nvSpPr>
          <p:cNvPr id="22" name="Shape 20">
            <a:extLst>
              <a:ext uri="{FF2B5EF4-FFF2-40B4-BE49-F238E27FC236}">
                <a16:creationId xmlns:a16="http://schemas.microsoft.com/office/drawing/2014/main" id="{03F49C8D-AD9E-60C1-F1AA-48F0627BF1EF}"/>
              </a:ext>
            </a:extLst>
          </p:cNvPr>
          <p:cNvSpPr/>
          <p:nvPr/>
        </p:nvSpPr>
        <p:spPr>
          <a:xfrm>
            <a:off x="457200" y="3438144"/>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23" name="Text 21">
            <a:extLst>
              <a:ext uri="{FF2B5EF4-FFF2-40B4-BE49-F238E27FC236}">
                <a16:creationId xmlns:a16="http://schemas.microsoft.com/office/drawing/2014/main" id="{82834748-8E04-C1D1-F4AC-BB51AD8FF547}"/>
              </a:ext>
            </a:extLst>
          </p:cNvPr>
          <p:cNvSpPr/>
          <p:nvPr/>
        </p:nvSpPr>
        <p:spPr>
          <a:xfrm>
            <a:off x="502920" y="3438144"/>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Best case:</a:t>
            </a:r>
            <a:endParaRPr lang="en-US" sz="800" dirty="0"/>
          </a:p>
        </p:txBody>
      </p:sp>
      <p:sp>
        <p:nvSpPr>
          <p:cNvPr id="24" name="Text 22">
            <a:extLst>
              <a:ext uri="{FF2B5EF4-FFF2-40B4-BE49-F238E27FC236}">
                <a16:creationId xmlns:a16="http://schemas.microsoft.com/office/drawing/2014/main" id="{2595A1BA-789B-D1C6-BA77-FFA46E209E26}"/>
              </a:ext>
            </a:extLst>
          </p:cNvPr>
          <p:cNvSpPr/>
          <p:nvPr/>
        </p:nvSpPr>
        <p:spPr>
          <a:xfrm>
            <a:off x="1325880" y="3438144"/>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O(N) on already-sorted data</a:t>
            </a:r>
            <a:endParaRPr lang="en-US" sz="900" dirty="0"/>
          </a:p>
        </p:txBody>
      </p:sp>
      <p:sp>
        <p:nvSpPr>
          <p:cNvPr id="25" name="Shape 23">
            <a:extLst>
              <a:ext uri="{FF2B5EF4-FFF2-40B4-BE49-F238E27FC236}">
                <a16:creationId xmlns:a16="http://schemas.microsoft.com/office/drawing/2014/main" id="{0CA1FABC-481F-2EA3-FA26-2D0379687B51}"/>
              </a:ext>
            </a:extLst>
          </p:cNvPr>
          <p:cNvSpPr/>
          <p:nvPr/>
        </p:nvSpPr>
        <p:spPr>
          <a:xfrm>
            <a:off x="457200" y="3913632"/>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26" name="Text 24">
            <a:extLst>
              <a:ext uri="{FF2B5EF4-FFF2-40B4-BE49-F238E27FC236}">
                <a16:creationId xmlns:a16="http://schemas.microsoft.com/office/drawing/2014/main" id="{513F6708-4696-FCC6-0F1F-74D3C8F7F1BF}"/>
              </a:ext>
            </a:extLst>
          </p:cNvPr>
          <p:cNvSpPr/>
          <p:nvPr/>
        </p:nvSpPr>
        <p:spPr>
          <a:xfrm>
            <a:off x="502920" y="3913632"/>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Worst case:</a:t>
            </a:r>
            <a:endParaRPr lang="en-US" sz="800" dirty="0"/>
          </a:p>
        </p:txBody>
      </p:sp>
      <p:sp>
        <p:nvSpPr>
          <p:cNvPr id="27" name="Text 25">
            <a:extLst>
              <a:ext uri="{FF2B5EF4-FFF2-40B4-BE49-F238E27FC236}">
                <a16:creationId xmlns:a16="http://schemas.microsoft.com/office/drawing/2014/main" id="{CB8CF467-F7B2-6C94-9752-D91C4E5AD506}"/>
              </a:ext>
            </a:extLst>
          </p:cNvPr>
          <p:cNvSpPr/>
          <p:nvPr/>
        </p:nvSpPr>
        <p:spPr>
          <a:xfrm>
            <a:off x="1325880" y="3913632"/>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O(N²) on reversed data</a:t>
            </a:r>
            <a:endParaRPr lang="en-US" sz="900" dirty="0"/>
          </a:p>
        </p:txBody>
      </p:sp>
      <p:sp>
        <p:nvSpPr>
          <p:cNvPr id="28" name="Shape 26">
            <a:extLst>
              <a:ext uri="{FF2B5EF4-FFF2-40B4-BE49-F238E27FC236}">
                <a16:creationId xmlns:a16="http://schemas.microsoft.com/office/drawing/2014/main" id="{28D0995B-6653-F79C-9F46-E12B88A13D38}"/>
              </a:ext>
            </a:extLst>
          </p:cNvPr>
          <p:cNvSpPr/>
          <p:nvPr/>
        </p:nvSpPr>
        <p:spPr>
          <a:xfrm>
            <a:off x="4416552" y="843534"/>
            <a:ext cx="310896" cy="4114800"/>
          </a:xfrm>
          <a:prstGeom prst="rect">
            <a:avLst/>
          </a:prstGeom>
          <a:solidFill>
            <a:srgbClr val="4F29B7"/>
          </a:solidFill>
          <a:ln w="12700">
            <a:solidFill>
              <a:srgbClr val="4F29B7"/>
            </a:solidFill>
            <a:prstDash val="solid"/>
          </a:ln>
        </p:spPr>
        <p:txBody>
          <a:bodyPr/>
          <a:lstStyle/>
          <a:p>
            <a:endParaRPr lang="en-US"/>
          </a:p>
        </p:txBody>
      </p:sp>
      <p:sp>
        <p:nvSpPr>
          <p:cNvPr id="29" name="Text 27">
            <a:extLst>
              <a:ext uri="{FF2B5EF4-FFF2-40B4-BE49-F238E27FC236}">
                <a16:creationId xmlns:a16="http://schemas.microsoft.com/office/drawing/2014/main" id="{8FEE9ABE-4588-73AD-31E1-FC833708A9CC}"/>
              </a:ext>
            </a:extLst>
          </p:cNvPr>
          <p:cNvSpPr/>
          <p:nvPr/>
        </p:nvSpPr>
        <p:spPr>
          <a:xfrm>
            <a:off x="4306824" y="2718054"/>
            <a:ext cx="530352" cy="365760"/>
          </a:xfrm>
          <a:prstGeom prst="rect">
            <a:avLst/>
          </a:prstGeom>
          <a:noFill/>
          <a:ln/>
        </p:spPr>
        <p:txBody>
          <a:bodyPr wrap="square" rtlCol="0" anchor="ctr"/>
          <a:lstStyle/>
          <a:p>
            <a:pPr marL="0" indent="0" algn="ctr">
              <a:buNone/>
            </a:pPr>
            <a:r>
              <a:rPr lang="en-US" sz="1300" b="1" dirty="0">
                <a:solidFill>
                  <a:srgbClr val="EDEDED"/>
                </a:solidFill>
                <a:latin typeface="Calibri" pitchFamily="34" charset="0"/>
                <a:ea typeface="Calibri" pitchFamily="34" charset="-122"/>
                <a:cs typeface="Calibri" pitchFamily="34" charset="-120"/>
              </a:rPr>
              <a:t xml:space="preserve"> </a:t>
            </a:r>
            <a:endParaRPr lang="en-US" sz="1300" dirty="0"/>
          </a:p>
        </p:txBody>
      </p:sp>
      <p:sp>
        <p:nvSpPr>
          <p:cNvPr id="30" name="Shape 28">
            <a:extLst>
              <a:ext uri="{FF2B5EF4-FFF2-40B4-BE49-F238E27FC236}">
                <a16:creationId xmlns:a16="http://schemas.microsoft.com/office/drawing/2014/main" id="{AEE34ACF-5233-297C-7290-F82D7391F43A}"/>
              </a:ext>
            </a:extLst>
          </p:cNvPr>
          <p:cNvSpPr/>
          <p:nvPr/>
        </p:nvSpPr>
        <p:spPr>
          <a:xfrm>
            <a:off x="4983480" y="822960"/>
            <a:ext cx="3886200" cy="4114800"/>
          </a:xfrm>
          <a:prstGeom prst="roundRect">
            <a:avLst>
              <a:gd name="adj" fmla="val 2824"/>
            </a:avLst>
          </a:prstGeom>
          <a:solidFill>
            <a:srgbClr val="0D2020"/>
          </a:solidFill>
          <a:ln w="12700">
            <a:solidFill>
              <a:srgbClr val="57E3D8"/>
            </a:solidFill>
            <a:prstDash val="solid"/>
          </a:ln>
        </p:spPr>
        <p:txBody>
          <a:bodyPr/>
          <a:lstStyle/>
          <a:p>
            <a:endParaRPr lang="en-US"/>
          </a:p>
        </p:txBody>
      </p:sp>
      <p:sp>
        <p:nvSpPr>
          <p:cNvPr id="31" name="Text 29">
            <a:extLst>
              <a:ext uri="{FF2B5EF4-FFF2-40B4-BE49-F238E27FC236}">
                <a16:creationId xmlns:a16="http://schemas.microsoft.com/office/drawing/2014/main" id="{F2EF1F1A-21A0-05F7-0DAD-248D9EFC403C}"/>
              </a:ext>
            </a:extLst>
          </p:cNvPr>
          <p:cNvSpPr/>
          <p:nvPr/>
        </p:nvSpPr>
        <p:spPr>
          <a:xfrm>
            <a:off x="4983480" y="822960"/>
            <a:ext cx="3886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How It Works</a:t>
            </a:r>
            <a:endParaRPr lang="en-US" sz="2000" dirty="0"/>
          </a:p>
        </p:txBody>
      </p:sp>
      <p:sp>
        <p:nvSpPr>
          <p:cNvPr id="32" name="Text 30">
            <a:extLst>
              <a:ext uri="{FF2B5EF4-FFF2-40B4-BE49-F238E27FC236}">
                <a16:creationId xmlns:a16="http://schemas.microsoft.com/office/drawing/2014/main" id="{46E4A81B-148B-8CD9-9160-86527E3CF4B9}"/>
              </a:ext>
            </a:extLst>
          </p:cNvPr>
          <p:cNvSpPr/>
          <p:nvPr/>
        </p:nvSpPr>
        <p:spPr>
          <a:xfrm>
            <a:off x="4983480" y="1188720"/>
            <a:ext cx="3886200" cy="256032"/>
          </a:xfrm>
          <a:prstGeom prst="rect">
            <a:avLst/>
          </a:prstGeom>
          <a:noFill/>
          <a:ln/>
        </p:spPr>
        <p:txBody>
          <a:bodyPr wrap="square" rtlCol="0" anchor="ctr"/>
          <a:lstStyle/>
          <a:p>
            <a:pPr marL="0" indent="0" algn="ctr">
              <a:buNone/>
            </a:pPr>
            <a:r>
              <a:rPr lang="en-US" sz="1000" i="1" dirty="0">
                <a:solidFill>
                  <a:srgbClr val="57E3D8"/>
                </a:solidFill>
                <a:latin typeface="Calibri" pitchFamily="34" charset="0"/>
                <a:ea typeface="Calibri" pitchFamily="34" charset="-122"/>
                <a:cs typeface="Calibri" pitchFamily="34" charset="-120"/>
              </a:rPr>
              <a:t>One insertion at a time</a:t>
            </a:r>
            <a:endParaRPr lang="en-US" sz="1000" dirty="0"/>
          </a:p>
        </p:txBody>
      </p:sp>
      <p:sp>
        <p:nvSpPr>
          <p:cNvPr id="33" name="Shape 31">
            <a:extLst>
              <a:ext uri="{FF2B5EF4-FFF2-40B4-BE49-F238E27FC236}">
                <a16:creationId xmlns:a16="http://schemas.microsoft.com/office/drawing/2014/main" id="{2AA6F638-5CE6-FF35-A36A-357ACBC7A5EE}"/>
              </a:ext>
            </a:extLst>
          </p:cNvPr>
          <p:cNvSpPr/>
          <p:nvPr/>
        </p:nvSpPr>
        <p:spPr>
          <a:xfrm>
            <a:off x="5166360" y="1536192"/>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34" name="Text 32">
            <a:extLst>
              <a:ext uri="{FF2B5EF4-FFF2-40B4-BE49-F238E27FC236}">
                <a16:creationId xmlns:a16="http://schemas.microsoft.com/office/drawing/2014/main" id="{40D20E3D-237B-9D65-0005-F1470DFDA85F}"/>
              </a:ext>
            </a:extLst>
          </p:cNvPr>
          <p:cNvSpPr/>
          <p:nvPr/>
        </p:nvSpPr>
        <p:spPr>
          <a:xfrm>
            <a:off x="5212080" y="1536192"/>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Step 1:</a:t>
            </a:r>
            <a:endParaRPr lang="en-US" sz="800" dirty="0"/>
          </a:p>
        </p:txBody>
      </p:sp>
      <p:sp>
        <p:nvSpPr>
          <p:cNvPr id="35" name="Text 33">
            <a:extLst>
              <a:ext uri="{FF2B5EF4-FFF2-40B4-BE49-F238E27FC236}">
                <a16:creationId xmlns:a16="http://schemas.microsoft.com/office/drawing/2014/main" id="{254710F6-A3D0-2BDA-1EDF-0B27D0168981}"/>
              </a:ext>
            </a:extLst>
          </p:cNvPr>
          <p:cNvSpPr/>
          <p:nvPr/>
        </p:nvSpPr>
        <p:spPr>
          <a:xfrm>
            <a:off x="6035040" y="1536192"/>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Treat list[0] as already sorted</a:t>
            </a:r>
            <a:endParaRPr lang="en-US" sz="900" dirty="0"/>
          </a:p>
        </p:txBody>
      </p:sp>
      <p:sp>
        <p:nvSpPr>
          <p:cNvPr id="36" name="Shape 34">
            <a:extLst>
              <a:ext uri="{FF2B5EF4-FFF2-40B4-BE49-F238E27FC236}">
                <a16:creationId xmlns:a16="http://schemas.microsoft.com/office/drawing/2014/main" id="{276EF63A-0F9F-9871-090D-42662C083648}"/>
              </a:ext>
            </a:extLst>
          </p:cNvPr>
          <p:cNvSpPr/>
          <p:nvPr/>
        </p:nvSpPr>
        <p:spPr>
          <a:xfrm>
            <a:off x="5166360" y="2011680"/>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37" name="Text 35">
            <a:extLst>
              <a:ext uri="{FF2B5EF4-FFF2-40B4-BE49-F238E27FC236}">
                <a16:creationId xmlns:a16="http://schemas.microsoft.com/office/drawing/2014/main" id="{50710570-BD97-07DD-973A-6E0879828529}"/>
              </a:ext>
            </a:extLst>
          </p:cNvPr>
          <p:cNvSpPr/>
          <p:nvPr/>
        </p:nvSpPr>
        <p:spPr>
          <a:xfrm>
            <a:off x="5212080" y="2011680"/>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Step 2:</a:t>
            </a:r>
            <a:endParaRPr lang="en-US" sz="800" dirty="0"/>
          </a:p>
        </p:txBody>
      </p:sp>
      <p:sp>
        <p:nvSpPr>
          <p:cNvPr id="38" name="Text 36">
            <a:extLst>
              <a:ext uri="{FF2B5EF4-FFF2-40B4-BE49-F238E27FC236}">
                <a16:creationId xmlns:a16="http://schemas.microsoft.com/office/drawing/2014/main" id="{325466D3-0145-6B0D-2552-02E73F82500A}"/>
              </a:ext>
            </a:extLst>
          </p:cNvPr>
          <p:cNvSpPr/>
          <p:nvPr/>
        </p:nvSpPr>
        <p:spPr>
          <a:xfrm>
            <a:off x="6035040" y="2011680"/>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Pick the next item: list[i]</a:t>
            </a:r>
            <a:endParaRPr lang="en-US" sz="900" dirty="0"/>
          </a:p>
        </p:txBody>
      </p:sp>
      <p:sp>
        <p:nvSpPr>
          <p:cNvPr id="39" name="Shape 37">
            <a:extLst>
              <a:ext uri="{FF2B5EF4-FFF2-40B4-BE49-F238E27FC236}">
                <a16:creationId xmlns:a16="http://schemas.microsoft.com/office/drawing/2014/main" id="{6942382F-E7A3-C1F2-B83D-D6FA86B546E1}"/>
              </a:ext>
            </a:extLst>
          </p:cNvPr>
          <p:cNvSpPr/>
          <p:nvPr/>
        </p:nvSpPr>
        <p:spPr>
          <a:xfrm>
            <a:off x="5166360" y="2487168"/>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0" name="Text 38">
            <a:extLst>
              <a:ext uri="{FF2B5EF4-FFF2-40B4-BE49-F238E27FC236}">
                <a16:creationId xmlns:a16="http://schemas.microsoft.com/office/drawing/2014/main" id="{E5CD63DE-A2FD-FE4E-8F62-CFED0F0E9EA7}"/>
              </a:ext>
            </a:extLst>
          </p:cNvPr>
          <p:cNvSpPr/>
          <p:nvPr/>
        </p:nvSpPr>
        <p:spPr>
          <a:xfrm>
            <a:off x="5212080" y="2487168"/>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Step 3:</a:t>
            </a:r>
            <a:endParaRPr lang="en-US" sz="800" dirty="0"/>
          </a:p>
        </p:txBody>
      </p:sp>
      <p:sp>
        <p:nvSpPr>
          <p:cNvPr id="41" name="Text 39">
            <a:extLst>
              <a:ext uri="{FF2B5EF4-FFF2-40B4-BE49-F238E27FC236}">
                <a16:creationId xmlns:a16="http://schemas.microsoft.com/office/drawing/2014/main" id="{3B5504F8-686E-BA78-2DB4-23833D5191B0}"/>
              </a:ext>
            </a:extLst>
          </p:cNvPr>
          <p:cNvSpPr/>
          <p:nvPr/>
        </p:nvSpPr>
        <p:spPr>
          <a:xfrm>
            <a:off x="6035040" y="2487168"/>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Slide it left through the sorted</a:t>
            </a:r>
            <a:endParaRPr lang="en-US" sz="900" dirty="0"/>
          </a:p>
        </p:txBody>
      </p:sp>
      <p:sp>
        <p:nvSpPr>
          <p:cNvPr id="42" name="Shape 40">
            <a:extLst>
              <a:ext uri="{FF2B5EF4-FFF2-40B4-BE49-F238E27FC236}">
                <a16:creationId xmlns:a16="http://schemas.microsoft.com/office/drawing/2014/main" id="{B4BD8040-DFF5-8EB7-EFFC-2EDD0AA4C308}"/>
              </a:ext>
            </a:extLst>
          </p:cNvPr>
          <p:cNvSpPr/>
          <p:nvPr/>
        </p:nvSpPr>
        <p:spPr>
          <a:xfrm>
            <a:off x="5166360" y="2962656"/>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3" name="Text 41">
            <a:extLst>
              <a:ext uri="{FF2B5EF4-FFF2-40B4-BE49-F238E27FC236}">
                <a16:creationId xmlns:a16="http://schemas.microsoft.com/office/drawing/2014/main" id="{3C3B4DAE-E3CC-8255-554E-4C338D6C2133}"/>
              </a:ext>
            </a:extLst>
          </p:cNvPr>
          <p:cNvSpPr/>
          <p:nvPr/>
        </p:nvSpPr>
        <p:spPr>
          <a:xfrm>
            <a:off x="5212080" y="2962656"/>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Step 4:</a:t>
            </a:r>
            <a:endParaRPr lang="en-US" sz="800" dirty="0"/>
          </a:p>
        </p:txBody>
      </p:sp>
      <p:sp>
        <p:nvSpPr>
          <p:cNvPr id="44" name="Text 42">
            <a:extLst>
              <a:ext uri="{FF2B5EF4-FFF2-40B4-BE49-F238E27FC236}">
                <a16:creationId xmlns:a16="http://schemas.microsoft.com/office/drawing/2014/main" id="{0EA8348F-EAC9-B6A1-A0A9-981B05749E1E}"/>
              </a:ext>
            </a:extLst>
          </p:cNvPr>
          <p:cNvSpPr/>
          <p:nvPr/>
        </p:nvSpPr>
        <p:spPr>
          <a:xfrm>
            <a:off x="6035040" y="2962656"/>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region until it fits in order</a:t>
            </a:r>
            <a:endParaRPr lang="en-US" sz="900" dirty="0"/>
          </a:p>
        </p:txBody>
      </p:sp>
      <p:sp>
        <p:nvSpPr>
          <p:cNvPr id="45" name="Shape 43">
            <a:extLst>
              <a:ext uri="{FF2B5EF4-FFF2-40B4-BE49-F238E27FC236}">
                <a16:creationId xmlns:a16="http://schemas.microsoft.com/office/drawing/2014/main" id="{AF19D472-79B4-7EAD-A3A0-DB3C2232CDB5}"/>
              </a:ext>
            </a:extLst>
          </p:cNvPr>
          <p:cNvSpPr/>
          <p:nvPr/>
        </p:nvSpPr>
        <p:spPr>
          <a:xfrm>
            <a:off x="5166360" y="3438144"/>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6" name="Text 44">
            <a:extLst>
              <a:ext uri="{FF2B5EF4-FFF2-40B4-BE49-F238E27FC236}">
                <a16:creationId xmlns:a16="http://schemas.microsoft.com/office/drawing/2014/main" id="{AE5764AD-FEB5-7C1D-EED5-D76C266FC016}"/>
              </a:ext>
            </a:extLst>
          </p:cNvPr>
          <p:cNvSpPr/>
          <p:nvPr/>
        </p:nvSpPr>
        <p:spPr>
          <a:xfrm>
            <a:off x="5212080" y="3438144"/>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Step 5:</a:t>
            </a:r>
            <a:endParaRPr lang="en-US" sz="800" dirty="0"/>
          </a:p>
        </p:txBody>
      </p:sp>
      <p:sp>
        <p:nvSpPr>
          <p:cNvPr id="47" name="Text 45">
            <a:extLst>
              <a:ext uri="{FF2B5EF4-FFF2-40B4-BE49-F238E27FC236}">
                <a16:creationId xmlns:a16="http://schemas.microsoft.com/office/drawing/2014/main" id="{C71AEF8E-A22F-ADC6-B183-DCD242EA877B}"/>
              </a:ext>
            </a:extLst>
          </p:cNvPr>
          <p:cNvSpPr/>
          <p:nvPr/>
        </p:nvSpPr>
        <p:spPr>
          <a:xfrm>
            <a:off x="6035040" y="3438144"/>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i = i + 1, repeat to end of list</a:t>
            </a:r>
            <a:endParaRPr lang="en-US" sz="900" dirty="0"/>
          </a:p>
        </p:txBody>
      </p:sp>
      <p:sp>
        <p:nvSpPr>
          <p:cNvPr id="48" name="Shape 46">
            <a:extLst>
              <a:ext uri="{FF2B5EF4-FFF2-40B4-BE49-F238E27FC236}">
                <a16:creationId xmlns:a16="http://schemas.microsoft.com/office/drawing/2014/main" id="{42600777-6D46-7631-F808-A9562ACAB92E}"/>
              </a:ext>
            </a:extLst>
          </p:cNvPr>
          <p:cNvSpPr/>
          <p:nvPr/>
        </p:nvSpPr>
        <p:spPr>
          <a:xfrm>
            <a:off x="5166360" y="3913632"/>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9" name="Text 47">
            <a:extLst>
              <a:ext uri="{FF2B5EF4-FFF2-40B4-BE49-F238E27FC236}">
                <a16:creationId xmlns:a16="http://schemas.microsoft.com/office/drawing/2014/main" id="{519DB8C3-055F-459B-82F6-A024731C65B5}"/>
              </a:ext>
            </a:extLst>
          </p:cNvPr>
          <p:cNvSpPr/>
          <p:nvPr/>
        </p:nvSpPr>
        <p:spPr>
          <a:xfrm>
            <a:off x="5212080" y="3913632"/>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Result:</a:t>
            </a:r>
            <a:endParaRPr lang="en-US" sz="800" dirty="0"/>
          </a:p>
        </p:txBody>
      </p:sp>
      <p:sp>
        <p:nvSpPr>
          <p:cNvPr id="50" name="Text 48">
            <a:extLst>
              <a:ext uri="{FF2B5EF4-FFF2-40B4-BE49-F238E27FC236}">
                <a16:creationId xmlns:a16="http://schemas.microsoft.com/office/drawing/2014/main" id="{3D362DF0-8C20-2710-479A-BDFA915F4002}"/>
              </a:ext>
            </a:extLst>
          </p:cNvPr>
          <p:cNvSpPr/>
          <p:nvPr/>
        </p:nvSpPr>
        <p:spPr>
          <a:xfrm>
            <a:off x="6035040" y="3913632"/>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Sorted region grows by 1 each pass</a:t>
            </a:r>
            <a:endParaRPr lang="en-US" sz="900" dirty="0"/>
          </a:p>
        </p:txBody>
      </p:sp>
    </p:spTree>
    <p:extLst>
      <p:ext uri="{BB962C8B-B14F-4D97-AF65-F5344CB8AC3E}">
        <p14:creationId xmlns:p14="http://schemas.microsoft.com/office/powerpoint/2010/main" val="882858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68E519A1-F28A-CD0E-64F7-A7210D78C55F}"/>
            </a:ext>
          </a:extLst>
        </p:cNvPr>
        <p:cNvGrpSpPr/>
        <p:nvPr/>
      </p:nvGrpSpPr>
      <p:grpSpPr>
        <a:xfrm>
          <a:off x="0" y="0"/>
          <a:ext cx="0" cy="0"/>
          <a:chOff x="0" y="0"/>
          <a:chExt cx="0" cy="0"/>
        </a:xfrm>
      </p:grpSpPr>
      <p:sp>
        <p:nvSpPr>
          <p:cNvPr id="20" name="Shape 1">
            <a:extLst>
              <a:ext uri="{FF2B5EF4-FFF2-40B4-BE49-F238E27FC236}">
                <a16:creationId xmlns:a16="http://schemas.microsoft.com/office/drawing/2014/main" id="{0099FBD7-A32B-D033-BD5D-D091E47C00D1}"/>
              </a:ext>
            </a:extLst>
          </p:cNvPr>
          <p:cNvSpPr/>
          <p:nvPr/>
        </p:nvSpPr>
        <p:spPr>
          <a:xfrm>
            <a:off x="0" y="73152"/>
            <a:ext cx="9144000" cy="841248"/>
          </a:xfrm>
          <a:prstGeom prst="rect">
            <a:avLst/>
          </a:prstGeom>
          <a:solidFill>
            <a:srgbClr val="262626"/>
          </a:solidFill>
          <a:ln w="12700">
            <a:solidFill>
              <a:srgbClr val="262626"/>
            </a:solidFill>
            <a:prstDash val="solid"/>
          </a:ln>
        </p:spPr>
        <p:txBody>
          <a:bodyPr/>
          <a:lstStyle/>
          <a:p>
            <a:endParaRPr lang="en-US"/>
          </a:p>
        </p:txBody>
      </p:sp>
      <p:sp>
        <p:nvSpPr>
          <p:cNvPr id="2" name="Shape 0">
            <a:extLst>
              <a:ext uri="{FF2B5EF4-FFF2-40B4-BE49-F238E27FC236}">
                <a16:creationId xmlns:a16="http://schemas.microsoft.com/office/drawing/2014/main" id="{BF6F45A1-7818-3F7E-F60C-7F708FD03E4C}"/>
              </a:ext>
            </a:extLst>
          </p:cNvPr>
          <p:cNvSpPr/>
          <p:nvPr/>
        </p:nvSpPr>
        <p:spPr>
          <a:xfrm>
            <a:off x="0" y="0"/>
            <a:ext cx="9144000" cy="54864"/>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1EB54078-98E6-CAE0-0567-E08FA45D2C91}"/>
              </a:ext>
            </a:extLst>
          </p:cNvPr>
          <p:cNvSpPr/>
          <p:nvPr/>
        </p:nvSpPr>
        <p:spPr>
          <a:xfrm>
            <a:off x="0" y="5088636"/>
            <a:ext cx="9144000" cy="54864"/>
          </a:xfrm>
          <a:prstGeom prst="rect">
            <a:avLst/>
          </a:prstGeom>
          <a:solidFill>
            <a:srgbClr val="4F29B7"/>
          </a:solidFill>
          <a:ln w="12700">
            <a:solidFill>
              <a:srgbClr val="4F29B7"/>
            </a:solidFill>
            <a:prstDash val="solid"/>
          </a:ln>
        </p:spPr>
        <p:txBody>
          <a:bodyPr/>
          <a:lstStyle/>
          <a:p>
            <a:endParaRPr lang="en-US"/>
          </a:p>
        </p:txBody>
      </p:sp>
      <p:sp>
        <p:nvSpPr>
          <p:cNvPr id="4" name="Text 2">
            <a:extLst>
              <a:ext uri="{FF2B5EF4-FFF2-40B4-BE49-F238E27FC236}">
                <a16:creationId xmlns:a16="http://schemas.microsoft.com/office/drawing/2014/main" id="{F8593CDB-74C1-3A80-4B08-6F33A7ADDE9F}"/>
              </a:ext>
            </a:extLst>
          </p:cNvPr>
          <p:cNvSpPr/>
          <p:nvPr/>
        </p:nvSpPr>
        <p:spPr>
          <a:xfrm>
            <a:off x="347472" y="164592"/>
            <a:ext cx="8449056" cy="475488"/>
          </a:xfrm>
          <a:prstGeom prst="rect">
            <a:avLst/>
          </a:prstGeom>
          <a:noFill/>
          <a:ln/>
        </p:spPr>
        <p:txBody>
          <a:bodyPr wrap="square" rtlCol="0" anchor="ctr"/>
          <a:lstStyle/>
          <a:p>
            <a:pPr marL="0" indent="0">
              <a:buNone/>
            </a:pPr>
            <a:r>
              <a:rPr lang="en-US" sz="2800" b="1" dirty="0">
                <a:solidFill>
                  <a:srgbClr val="57E3D8"/>
                </a:solidFill>
                <a:latin typeface="Calibri" pitchFamily="34" charset="0"/>
                <a:ea typeface="Calibri" pitchFamily="34" charset="-122"/>
                <a:cs typeface="Calibri" pitchFamily="34" charset="-120"/>
              </a:rPr>
              <a:t>Insertion Sort — three ways</a:t>
            </a:r>
            <a:endParaRPr lang="en-US" sz="2800" dirty="0"/>
          </a:p>
        </p:txBody>
      </p:sp>
      <p:sp>
        <p:nvSpPr>
          <p:cNvPr id="5" name="Text 3">
            <a:extLst>
              <a:ext uri="{FF2B5EF4-FFF2-40B4-BE49-F238E27FC236}">
                <a16:creationId xmlns:a16="http://schemas.microsoft.com/office/drawing/2014/main" id="{13CD6B20-AAA5-2647-47EF-A45F5864FAB1}"/>
              </a:ext>
            </a:extLst>
          </p:cNvPr>
          <p:cNvSpPr/>
          <p:nvPr/>
        </p:nvSpPr>
        <p:spPr>
          <a:xfrm>
            <a:off x="347472" y="621792"/>
            <a:ext cx="8449056" cy="256032"/>
          </a:xfrm>
          <a:prstGeom prst="rect">
            <a:avLst/>
          </a:prstGeom>
          <a:noFill/>
          <a:ln/>
        </p:spPr>
        <p:txBody>
          <a:bodyPr wrap="square" rtlCol="0" anchor="ctr"/>
          <a:lstStyle/>
          <a:p>
            <a:pPr marL="0" indent="0">
              <a:buNone/>
            </a:pPr>
            <a:r>
              <a:rPr lang="en-US" sz="1300" i="1" dirty="0">
                <a:solidFill>
                  <a:srgbClr val="EDEDED"/>
                </a:solidFill>
                <a:latin typeface="Calibri" pitchFamily="34" charset="0"/>
                <a:ea typeface="Calibri" pitchFamily="34" charset="-122"/>
                <a:cs typeface="Calibri" pitchFamily="34" charset="-120"/>
              </a:rPr>
              <a:t>The same algorithm in plain English, pseudocode, and a flowchart</a:t>
            </a:r>
            <a:endParaRPr lang="en-US" sz="1300" dirty="0"/>
          </a:p>
        </p:txBody>
      </p:sp>
      <p:sp>
        <p:nvSpPr>
          <p:cNvPr id="6" name="Shape 4">
            <a:extLst>
              <a:ext uri="{FF2B5EF4-FFF2-40B4-BE49-F238E27FC236}">
                <a16:creationId xmlns:a16="http://schemas.microsoft.com/office/drawing/2014/main" id="{8517B760-DBCE-52BB-9F4D-84305AC19443}"/>
              </a:ext>
            </a:extLst>
          </p:cNvPr>
          <p:cNvSpPr/>
          <p:nvPr/>
        </p:nvSpPr>
        <p:spPr>
          <a:xfrm>
            <a:off x="274320" y="987552"/>
            <a:ext cx="8595360" cy="420624"/>
          </a:xfrm>
          <a:prstGeom prst="roundRect">
            <a:avLst>
              <a:gd name="adj" fmla="val 26087"/>
            </a:avLst>
          </a:prstGeom>
          <a:solidFill>
            <a:srgbClr val="1A1040"/>
          </a:solidFill>
          <a:ln w="12700">
            <a:solidFill>
              <a:srgbClr val="1A1040"/>
            </a:solidFill>
            <a:prstDash val="solid"/>
          </a:ln>
        </p:spPr>
        <p:txBody>
          <a:bodyPr/>
          <a:lstStyle/>
          <a:p>
            <a:endParaRPr lang="en-US"/>
          </a:p>
        </p:txBody>
      </p:sp>
      <p:sp>
        <p:nvSpPr>
          <p:cNvPr id="7" name="Text 5">
            <a:extLst>
              <a:ext uri="{FF2B5EF4-FFF2-40B4-BE49-F238E27FC236}">
                <a16:creationId xmlns:a16="http://schemas.microsoft.com/office/drawing/2014/main" id="{C66EFC53-6AE3-524A-AEAD-3F7782680B35}"/>
              </a:ext>
            </a:extLst>
          </p:cNvPr>
          <p:cNvSpPr/>
          <p:nvPr/>
        </p:nvSpPr>
        <p:spPr>
          <a:xfrm>
            <a:off x="502920" y="1024128"/>
            <a:ext cx="8138160" cy="329184"/>
          </a:xfrm>
          <a:prstGeom prst="rect">
            <a:avLst/>
          </a:prstGeom>
          <a:noFill/>
          <a:ln/>
        </p:spPr>
        <p:txBody>
          <a:bodyPr wrap="square" lIns="0" tIns="0" rIns="0" bIns="0" rtlCol="0" anchor="ctr"/>
          <a:lstStyle/>
          <a:p>
            <a:pPr marL="0" indent="0">
              <a:buNone/>
            </a:pPr>
            <a:r>
              <a:rPr lang="en-US" sz="1200" dirty="0">
                <a:solidFill>
                  <a:srgbClr val="EDEDED"/>
                </a:solidFill>
                <a:latin typeface="Calibri" pitchFamily="34" charset="0"/>
                <a:ea typeface="Calibri" pitchFamily="34" charset="-122"/>
                <a:cs typeface="Calibri" pitchFamily="34" charset="-120"/>
              </a:rPr>
              <a:t xml:space="preserve">Read all three side by side. </a:t>
            </a:r>
            <a:r>
              <a:rPr lang="en-US" sz="1200" b="1" dirty="0">
                <a:solidFill>
                  <a:srgbClr val="57E3D8"/>
                </a:solidFill>
                <a:latin typeface="Calibri" pitchFamily="34" charset="0"/>
                <a:ea typeface="Calibri" pitchFamily="34" charset="-122"/>
                <a:cs typeface="Calibri" pitchFamily="34" charset="-120"/>
              </a:rPr>
              <a:t>The card-sorting analogy makes this one easy</a:t>
            </a:r>
            <a:r>
              <a:rPr lang="en-US" sz="1200" dirty="0">
                <a:solidFill>
                  <a:srgbClr val="EDEDED"/>
                </a:solidFill>
                <a:latin typeface="Calibri" pitchFamily="34" charset="0"/>
                <a:ea typeface="Calibri" pitchFamily="34" charset="-122"/>
                <a:cs typeface="Calibri" pitchFamily="34" charset="-120"/>
              </a:rPr>
              <a:t xml:space="preserve"> — every step matches a real, familiar action.</a:t>
            </a:r>
            <a:endParaRPr lang="en-US" sz="1200" dirty="0"/>
          </a:p>
        </p:txBody>
      </p:sp>
      <p:sp>
        <p:nvSpPr>
          <p:cNvPr id="8" name="Shape 6">
            <a:extLst>
              <a:ext uri="{FF2B5EF4-FFF2-40B4-BE49-F238E27FC236}">
                <a16:creationId xmlns:a16="http://schemas.microsoft.com/office/drawing/2014/main" id="{B10692DA-084B-2BAE-A611-4B7E95E96F9A}"/>
              </a:ext>
            </a:extLst>
          </p:cNvPr>
          <p:cNvSpPr/>
          <p:nvPr/>
        </p:nvSpPr>
        <p:spPr>
          <a:xfrm>
            <a:off x="292608" y="1499616"/>
            <a:ext cx="2779776" cy="3401568"/>
          </a:xfrm>
          <a:prstGeom prst="roundRect">
            <a:avLst>
              <a:gd name="adj" fmla="val 4605"/>
            </a:avLst>
          </a:prstGeom>
          <a:solidFill>
            <a:srgbClr val="1E0F40"/>
          </a:solidFill>
          <a:ln w="19050">
            <a:solidFill>
              <a:srgbClr val="4F29B7"/>
            </a:solidFill>
            <a:prstDash val="solid"/>
          </a:ln>
        </p:spPr>
        <p:txBody>
          <a:bodyPr/>
          <a:lstStyle/>
          <a:p>
            <a:endParaRPr lang="en-US"/>
          </a:p>
        </p:txBody>
      </p:sp>
      <p:sp>
        <p:nvSpPr>
          <p:cNvPr id="9" name="Text 7">
            <a:extLst>
              <a:ext uri="{FF2B5EF4-FFF2-40B4-BE49-F238E27FC236}">
                <a16:creationId xmlns:a16="http://schemas.microsoft.com/office/drawing/2014/main" id="{06B2DC9B-FB98-86D6-CF21-280BB1E66B52}"/>
              </a:ext>
            </a:extLst>
          </p:cNvPr>
          <p:cNvSpPr/>
          <p:nvPr/>
        </p:nvSpPr>
        <p:spPr>
          <a:xfrm>
            <a:off x="292608" y="1545336"/>
            <a:ext cx="2779776" cy="457200"/>
          </a:xfrm>
          <a:prstGeom prst="rect">
            <a:avLst/>
          </a:prstGeom>
          <a:noFill/>
          <a:ln/>
        </p:spPr>
        <p:txBody>
          <a:bodyPr wrap="square" rtlCol="0" anchor="ctr"/>
          <a:lstStyle/>
          <a:p>
            <a:pPr marL="0" indent="0" algn="ctr">
              <a:buNone/>
            </a:pPr>
            <a:r>
              <a:rPr lang="en-US" sz="2000" b="1" dirty="0">
                <a:solidFill>
                  <a:srgbClr val="4F29B7"/>
                </a:solidFill>
                <a:latin typeface="Calibri" pitchFamily="34" charset="0"/>
                <a:ea typeface="Calibri" pitchFamily="34" charset="-122"/>
                <a:cs typeface="Calibri" pitchFamily="34" charset="-120"/>
              </a:rPr>
              <a:t>Plain English</a:t>
            </a:r>
            <a:endParaRPr lang="en-US" sz="2000" dirty="0"/>
          </a:p>
        </p:txBody>
      </p:sp>
      <p:sp>
        <p:nvSpPr>
          <p:cNvPr id="10" name="Text 8">
            <a:extLst>
              <a:ext uri="{FF2B5EF4-FFF2-40B4-BE49-F238E27FC236}">
                <a16:creationId xmlns:a16="http://schemas.microsoft.com/office/drawing/2014/main" id="{80F72355-3A6B-4A6C-5A0C-BF6E7C6EF484}"/>
              </a:ext>
            </a:extLst>
          </p:cNvPr>
          <p:cNvSpPr/>
          <p:nvPr/>
        </p:nvSpPr>
        <p:spPr>
          <a:xfrm>
            <a:off x="292608"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The card-sorting picture</a:t>
            </a:r>
            <a:endParaRPr lang="en-US" sz="1000" dirty="0"/>
          </a:p>
        </p:txBody>
      </p:sp>
      <p:sp>
        <p:nvSpPr>
          <p:cNvPr id="11" name="Text 9">
            <a:extLst>
              <a:ext uri="{FF2B5EF4-FFF2-40B4-BE49-F238E27FC236}">
                <a16:creationId xmlns:a16="http://schemas.microsoft.com/office/drawing/2014/main" id="{A6F7F312-11C7-6E2E-23D2-71C708D73857}"/>
              </a:ext>
            </a:extLst>
          </p:cNvPr>
          <p:cNvSpPr/>
          <p:nvPr/>
        </p:nvSpPr>
        <p:spPr>
          <a:xfrm>
            <a:off x="457200"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1. The first card is "sorted" on its own.   2. Pick the next card from the unsorted pile.   3. Compare it with the cards already in your sorted hand, moving right to left.   4. Slide it left past every card that is bigger.   5. Drop it where it fits. Repeat until no cards are left.</a:t>
            </a:r>
            <a:endParaRPr lang="en-US" sz="1100" dirty="0"/>
          </a:p>
        </p:txBody>
      </p:sp>
      <p:sp>
        <p:nvSpPr>
          <p:cNvPr id="12" name="Shape 10">
            <a:extLst>
              <a:ext uri="{FF2B5EF4-FFF2-40B4-BE49-F238E27FC236}">
                <a16:creationId xmlns:a16="http://schemas.microsoft.com/office/drawing/2014/main" id="{B319AB59-A1E4-7495-8B8A-D8FB6939DB40}"/>
              </a:ext>
            </a:extLst>
          </p:cNvPr>
          <p:cNvSpPr/>
          <p:nvPr/>
        </p:nvSpPr>
        <p:spPr>
          <a:xfrm>
            <a:off x="3200400" y="1499616"/>
            <a:ext cx="2779776" cy="3401568"/>
          </a:xfrm>
          <a:prstGeom prst="roundRect">
            <a:avLst>
              <a:gd name="adj" fmla="val 4605"/>
            </a:avLst>
          </a:prstGeom>
          <a:solidFill>
            <a:srgbClr val="110A2E"/>
          </a:solidFill>
          <a:ln w="19050">
            <a:solidFill>
              <a:srgbClr val="A380FF"/>
            </a:solidFill>
            <a:prstDash val="solid"/>
          </a:ln>
        </p:spPr>
        <p:txBody>
          <a:bodyPr/>
          <a:lstStyle/>
          <a:p>
            <a:endParaRPr lang="en-US"/>
          </a:p>
        </p:txBody>
      </p:sp>
      <p:sp>
        <p:nvSpPr>
          <p:cNvPr id="13" name="Text 11">
            <a:extLst>
              <a:ext uri="{FF2B5EF4-FFF2-40B4-BE49-F238E27FC236}">
                <a16:creationId xmlns:a16="http://schemas.microsoft.com/office/drawing/2014/main" id="{7B9E2542-0415-D53F-89A6-B2737BF2D2E8}"/>
              </a:ext>
            </a:extLst>
          </p:cNvPr>
          <p:cNvSpPr/>
          <p:nvPr/>
        </p:nvSpPr>
        <p:spPr>
          <a:xfrm>
            <a:off x="3200400" y="1545336"/>
            <a:ext cx="2779776" cy="457200"/>
          </a:xfrm>
          <a:prstGeom prst="rect">
            <a:avLst/>
          </a:prstGeom>
          <a:noFill/>
          <a:ln/>
        </p:spPr>
        <p:txBody>
          <a:bodyPr wrap="square" rtlCol="0" anchor="ctr"/>
          <a:lstStyle/>
          <a:p>
            <a:pPr marL="0" indent="0" algn="ctr">
              <a:buNone/>
            </a:pPr>
            <a:r>
              <a:rPr lang="en-US" sz="2000" b="1" dirty="0">
                <a:solidFill>
                  <a:srgbClr val="A380FF"/>
                </a:solidFill>
                <a:latin typeface="Calibri" pitchFamily="34" charset="0"/>
                <a:ea typeface="Calibri" pitchFamily="34" charset="-122"/>
                <a:cs typeface="Calibri" pitchFamily="34" charset="-120"/>
              </a:rPr>
              <a:t>Pseudocode</a:t>
            </a:r>
            <a:endParaRPr lang="en-US" sz="2000" dirty="0"/>
          </a:p>
        </p:txBody>
      </p:sp>
      <p:sp>
        <p:nvSpPr>
          <p:cNvPr id="14" name="Text 12">
            <a:extLst>
              <a:ext uri="{FF2B5EF4-FFF2-40B4-BE49-F238E27FC236}">
                <a16:creationId xmlns:a16="http://schemas.microsoft.com/office/drawing/2014/main" id="{D520DB52-41BD-3A9E-774F-0E90DB7F8CDE}"/>
              </a:ext>
            </a:extLst>
          </p:cNvPr>
          <p:cNvSpPr/>
          <p:nvPr/>
        </p:nvSpPr>
        <p:spPr>
          <a:xfrm>
            <a:off x="3200400"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Code-like · Language-free</a:t>
            </a:r>
            <a:endParaRPr lang="en-US" sz="1000" dirty="0"/>
          </a:p>
        </p:txBody>
      </p:sp>
      <p:sp>
        <p:nvSpPr>
          <p:cNvPr id="15" name="Text 13">
            <a:extLst>
              <a:ext uri="{FF2B5EF4-FFF2-40B4-BE49-F238E27FC236}">
                <a16:creationId xmlns:a16="http://schemas.microsoft.com/office/drawing/2014/main" id="{966A8129-1A41-594C-31D7-611070D24803}"/>
              </a:ext>
            </a:extLst>
          </p:cNvPr>
          <p:cNvSpPr/>
          <p:nvPr/>
        </p:nvSpPr>
        <p:spPr>
          <a:xfrm>
            <a:off x="3364992"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FUNCTION insertionSort(list):   FOR i FROM 1 TO length-1:     SET key ← list[i]     SET j ← i - 1     WHILE j ≥ 0 AND list[j] &gt; key:       list[j+1] ← list[j]       j ← j - 1     list[j+1] ← key</a:t>
            </a:r>
            <a:endParaRPr lang="en-US" sz="1100" dirty="0"/>
          </a:p>
        </p:txBody>
      </p:sp>
      <p:sp>
        <p:nvSpPr>
          <p:cNvPr id="16" name="Shape 14">
            <a:extLst>
              <a:ext uri="{FF2B5EF4-FFF2-40B4-BE49-F238E27FC236}">
                <a16:creationId xmlns:a16="http://schemas.microsoft.com/office/drawing/2014/main" id="{7C1B5EBA-52EB-ABC9-D3EB-5CFA15DCA663}"/>
              </a:ext>
            </a:extLst>
          </p:cNvPr>
          <p:cNvSpPr/>
          <p:nvPr/>
        </p:nvSpPr>
        <p:spPr>
          <a:xfrm>
            <a:off x="6108192" y="1499616"/>
            <a:ext cx="2779776" cy="3401568"/>
          </a:xfrm>
          <a:prstGeom prst="roundRect">
            <a:avLst>
              <a:gd name="adj" fmla="val 4605"/>
            </a:avLst>
          </a:prstGeom>
          <a:solidFill>
            <a:srgbClr val="0A2E2E"/>
          </a:solidFill>
          <a:ln w="19050">
            <a:solidFill>
              <a:srgbClr val="57E3D8"/>
            </a:solidFill>
            <a:prstDash val="solid"/>
          </a:ln>
        </p:spPr>
        <p:txBody>
          <a:bodyPr/>
          <a:lstStyle/>
          <a:p>
            <a:endParaRPr lang="en-US"/>
          </a:p>
        </p:txBody>
      </p:sp>
      <p:sp>
        <p:nvSpPr>
          <p:cNvPr id="17" name="Text 15">
            <a:extLst>
              <a:ext uri="{FF2B5EF4-FFF2-40B4-BE49-F238E27FC236}">
                <a16:creationId xmlns:a16="http://schemas.microsoft.com/office/drawing/2014/main" id="{BD01AF8F-536E-C495-E8A0-F7655F895F22}"/>
              </a:ext>
            </a:extLst>
          </p:cNvPr>
          <p:cNvSpPr/>
          <p:nvPr/>
        </p:nvSpPr>
        <p:spPr>
          <a:xfrm>
            <a:off x="6108192" y="1545336"/>
            <a:ext cx="2779776" cy="457200"/>
          </a:xfrm>
          <a:prstGeom prst="rect">
            <a:avLst/>
          </a:prstGeom>
          <a:noFill/>
          <a:ln/>
        </p:spPr>
        <p:txBody>
          <a:bodyPr wrap="square" rtlCol="0" anchor="ctr"/>
          <a:lstStyle/>
          <a:p>
            <a:pPr marL="0" indent="0" algn="ctr">
              <a:buNone/>
            </a:pPr>
            <a:r>
              <a:rPr lang="en-US" sz="2000" b="1" dirty="0">
                <a:solidFill>
                  <a:srgbClr val="57E3D8"/>
                </a:solidFill>
                <a:latin typeface="Calibri" pitchFamily="34" charset="0"/>
                <a:ea typeface="Calibri" pitchFamily="34" charset="-122"/>
                <a:cs typeface="Calibri" pitchFamily="34" charset="-120"/>
              </a:rPr>
              <a:t>Flowchart</a:t>
            </a:r>
            <a:endParaRPr lang="en-US" sz="2000" dirty="0"/>
          </a:p>
        </p:txBody>
      </p:sp>
      <p:sp>
        <p:nvSpPr>
          <p:cNvPr id="18" name="Text 16">
            <a:extLst>
              <a:ext uri="{FF2B5EF4-FFF2-40B4-BE49-F238E27FC236}">
                <a16:creationId xmlns:a16="http://schemas.microsoft.com/office/drawing/2014/main" id="{C4029E02-E763-B814-4C30-6D610F53CED9}"/>
              </a:ext>
            </a:extLst>
          </p:cNvPr>
          <p:cNvSpPr/>
          <p:nvPr/>
        </p:nvSpPr>
        <p:spPr>
          <a:xfrm>
            <a:off x="6108192"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Visual · Standard symbols</a:t>
            </a:r>
            <a:endParaRPr lang="en-US" sz="1000" dirty="0"/>
          </a:p>
        </p:txBody>
      </p:sp>
      <p:sp>
        <p:nvSpPr>
          <p:cNvPr id="19" name="Text 17">
            <a:extLst>
              <a:ext uri="{FF2B5EF4-FFF2-40B4-BE49-F238E27FC236}">
                <a16:creationId xmlns:a16="http://schemas.microsoft.com/office/drawing/2014/main" id="{68B76B5C-86FB-DDD2-2643-011F7DA0DB57}"/>
              </a:ext>
            </a:extLst>
          </p:cNvPr>
          <p:cNvSpPr/>
          <p:nvPr/>
        </p:nvSpPr>
        <p:spPr>
          <a:xfrm>
            <a:off x="6272784"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Start (oval) → i = 1 (rectangle) → i &lt; len? (diamond) → No: End. Yes: key = list[i], j = i-1 (rectangle) → j ≥ 0 AND list[j] &gt; key? (diamond) → Yes: list[j+1] = list[j], j = j-1, loop. No: list[j+1] = key, i = i+1, loop.</a:t>
            </a:r>
            <a:endParaRPr lang="en-US" sz="1100" dirty="0"/>
          </a:p>
        </p:txBody>
      </p:sp>
    </p:spTree>
    <p:extLst>
      <p:ext uri="{BB962C8B-B14F-4D97-AF65-F5344CB8AC3E}">
        <p14:creationId xmlns:p14="http://schemas.microsoft.com/office/powerpoint/2010/main" val="3691256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67E7A1E3-A543-8BE6-F2F7-46DDFC0E611F}"/>
            </a:ext>
          </a:extLst>
        </p:cNvPr>
        <p:cNvGrpSpPr/>
        <p:nvPr/>
      </p:nvGrpSpPr>
      <p:grpSpPr>
        <a:xfrm>
          <a:off x="0" y="0"/>
          <a:ext cx="0" cy="0"/>
          <a:chOff x="0" y="0"/>
          <a:chExt cx="0" cy="0"/>
        </a:xfrm>
      </p:grpSpPr>
      <p:sp>
        <p:nvSpPr>
          <p:cNvPr id="60" name="Shape 1">
            <a:extLst>
              <a:ext uri="{FF2B5EF4-FFF2-40B4-BE49-F238E27FC236}">
                <a16:creationId xmlns:a16="http://schemas.microsoft.com/office/drawing/2014/main" id="{1B08139B-E6D3-F862-7147-3E3B0F5894E8}"/>
              </a:ext>
            </a:extLst>
          </p:cNvPr>
          <p:cNvSpPr/>
          <p:nvPr/>
        </p:nvSpPr>
        <p:spPr>
          <a:xfrm>
            <a:off x="0" y="73152"/>
            <a:ext cx="9144000" cy="841248"/>
          </a:xfrm>
          <a:prstGeom prst="rect">
            <a:avLst/>
          </a:prstGeom>
          <a:solidFill>
            <a:srgbClr val="262626"/>
          </a:solidFill>
          <a:ln w="12700">
            <a:solidFill>
              <a:srgbClr val="262626"/>
            </a:solidFill>
            <a:prstDash val="solid"/>
          </a:ln>
        </p:spPr>
        <p:txBody>
          <a:bodyPr/>
          <a:lstStyle/>
          <a:p>
            <a:endParaRPr lang="en-US"/>
          </a:p>
        </p:txBody>
      </p:sp>
      <p:sp>
        <p:nvSpPr>
          <p:cNvPr id="2" name="Shape 0">
            <a:extLst>
              <a:ext uri="{FF2B5EF4-FFF2-40B4-BE49-F238E27FC236}">
                <a16:creationId xmlns:a16="http://schemas.microsoft.com/office/drawing/2014/main" id="{36AB523D-D286-0D36-36F4-F617E2643A46}"/>
              </a:ext>
            </a:extLst>
          </p:cNvPr>
          <p:cNvSpPr/>
          <p:nvPr/>
        </p:nvSpPr>
        <p:spPr>
          <a:xfrm>
            <a:off x="0" y="0"/>
            <a:ext cx="9144000" cy="54864"/>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96E2A5D1-669D-2D64-D734-7763B1DABBBF}"/>
              </a:ext>
            </a:extLst>
          </p:cNvPr>
          <p:cNvSpPr/>
          <p:nvPr/>
        </p:nvSpPr>
        <p:spPr>
          <a:xfrm>
            <a:off x="0" y="5088636"/>
            <a:ext cx="9144000" cy="54864"/>
          </a:xfrm>
          <a:prstGeom prst="rect">
            <a:avLst/>
          </a:prstGeom>
          <a:solidFill>
            <a:srgbClr val="4F29B7"/>
          </a:solidFill>
          <a:ln w="12700">
            <a:solidFill>
              <a:srgbClr val="4F29B7"/>
            </a:solidFill>
            <a:prstDash val="solid"/>
          </a:ln>
        </p:spPr>
        <p:txBody>
          <a:bodyPr/>
          <a:lstStyle/>
          <a:p>
            <a:endParaRPr lang="en-US"/>
          </a:p>
        </p:txBody>
      </p:sp>
      <p:sp>
        <p:nvSpPr>
          <p:cNvPr id="4" name="Text 2">
            <a:extLst>
              <a:ext uri="{FF2B5EF4-FFF2-40B4-BE49-F238E27FC236}">
                <a16:creationId xmlns:a16="http://schemas.microsoft.com/office/drawing/2014/main" id="{94F68E73-7C67-8C4B-94D3-86BAF3646AF3}"/>
              </a:ext>
            </a:extLst>
          </p:cNvPr>
          <p:cNvSpPr/>
          <p:nvPr/>
        </p:nvSpPr>
        <p:spPr>
          <a:xfrm>
            <a:off x="347472" y="164592"/>
            <a:ext cx="8449056" cy="475488"/>
          </a:xfrm>
          <a:prstGeom prst="rect">
            <a:avLst/>
          </a:prstGeom>
          <a:noFill/>
          <a:ln/>
        </p:spPr>
        <p:txBody>
          <a:bodyPr wrap="square" rtlCol="0" anchor="ctr"/>
          <a:lstStyle/>
          <a:p>
            <a:pPr marL="0" indent="0">
              <a:buNone/>
            </a:pPr>
            <a:r>
              <a:rPr lang="en-US" sz="2800" b="1" dirty="0">
                <a:solidFill>
                  <a:srgbClr val="57E3D8"/>
                </a:solidFill>
                <a:latin typeface="Calibri" pitchFamily="34" charset="0"/>
                <a:ea typeface="Calibri" pitchFamily="34" charset="-122"/>
                <a:cs typeface="Calibri" pitchFamily="34" charset="-120"/>
              </a:rPr>
              <a:t>Selection Sort</a:t>
            </a:r>
            <a:endParaRPr lang="en-US" sz="2800" dirty="0"/>
          </a:p>
        </p:txBody>
      </p:sp>
      <p:sp>
        <p:nvSpPr>
          <p:cNvPr id="5" name="Text 3">
            <a:extLst>
              <a:ext uri="{FF2B5EF4-FFF2-40B4-BE49-F238E27FC236}">
                <a16:creationId xmlns:a16="http://schemas.microsoft.com/office/drawing/2014/main" id="{B0544E3C-EA5C-AE66-3D74-449FAE81DEA2}"/>
              </a:ext>
            </a:extLst>
          </p:cNvPr>
          <p:cNvSpPr/>
          <p:nvPr/>
        </p:nvSpPr>
        <p:spPr>
          <a:xfrm>
            <a:off x="347472" y="621792"/>
            <a:ext cx="8449056" cy="256032"/>
          </a:xfrm>
          <a:prstGeom prst="rect">
            <a:avLst/>
          </a:prstGeom>
          <a:noFill/>
          <a:ln/>
        </p:spPr>
        <p:txBody>
          <a:bodyPr wrap="square" rtlCol="0" anchor="ctr"/>
          <a:lstStyle/>
          <a:p>
            <a:pPr marL="0" indent="0">
              <a:buNone/>
            </a:pPr>
            <a:r>
              <a:rPr lang="en-US" sz="1300" i="1" dirty="0">
                <a:solidFill>
                  <a:srgbClr val="EDEDED"/>
                </a:solidFill>
                <a:latin typeface="Calibri" pitchFamily="34" charset="0"/>
                <a:ea typeface="Calibri" pitchFamily="34" charset="-122"/>
                <a:cs typeface="Calibri" pitchFamily="34" charset="-120"/>
              </a:rPr>
              <a:t>Definition · How it works · When to use it</a:t>
            </a:r>
            <a:endParaRPr lang="en-US" sz="1300" dirty="0"/>
          </a:p>
        </p:txBody>
      </p:sp>
      <p:sp>
        <p:nvSpPr>
          <p:cNvPr id="6" name="Shape 4">
            <a:extLst>
              <a:ext uri="{FF2B5EF4-FFF2-40B4-BE49-F238E27FC236}">
                <a16:creationId xmlns:a16="http://schemas.microsoft.com/office/drawing/2014/main" id="{0620B4A6-1285-10D5-B7E1-D15AEF559736}"/>
              </a:ext>
            </a:extLst>
          </p:cNvPr>
          <p:cNvSpPr/>
          <p:nvPr/>
        </p:nvSpPr>
        <p:spPr>
          <a:xfrm>
            <a:off x="256032" y="987552"/>
            <a:ext cx="2779776" cy="4041648"/>
          </a:xfrm>
          <a:prstGeom prst="roundRect">
            <a:avLst>
              <a:gd name="adj" fmla="val 4605"/>
            </a:avLst>
          </a:prstGeom>
          <a:solidFill>
            <a:srgbClr val="1E0F40"/>
          </a:solidFill>
          <a:ln w="19050">
            <a:solidFill>
              <a:srgbClr val="4F29B7"/>
            </a:solidFill>
            <a:prstDash val="solid"/>
          </a:ln>
        </p:spPr>
        <p:txBody>
          <a:bodyPr/>
          <a:lstStyle/>
          <a:p>
            <a:endParaRPr lang="en-US"/>
          </a:p>
        </p:txBody>
      </p:sp>
      <p:sp>
        <p:nvSpPr>
          <p:cNvPr id="7" name="Text 5">
            <a:extLst>
              <a:ext uri="{FF2B5EF4-FFF2-40B4-BE49-F238E27FC236}">
                <a16:creationId xmlns:a16="http://schemas.microsoft.com/office/drawing/2014/main" id="{09026CF8-B1DC-8B2E-83F5-9A0B426D2580}"/>
              </a:ext>
            </a:extLst>
          </p:cNvPr>
          <p:cNvSpPr/>
          <p:nvPr/>
        </p:nvSpPr>
        <p:spPr>
          <a:xfrm>
            <a:off x="256032" y="1033272"/>
            <a:ext cx="2779776" cy="457200"/>
          </a:xfrm>
          <a:prstGeom prst="rect">
            <a:avLst/>
          </a:prstGeom>
          <a:noFill/>
          <a:ln/>
        </p:spPr>
        <p:txBody>
          <a:bodyPr wrap="square" rtlCol="0" anchor="ctr"/>
          <a:lstStyle/>
          <a:p>
            <a:pPr marL="0" indent="0" algn="ctr">
              <a:buNone/>
            </a:pPr>
            <a:r>
              <a:rPr lang="en-US" sz="2000" b="1" dirty="0">
                <a:solidFill>
                  <a:srgbClr val="4F29B7"/>
                </a:solidFill>
                <a:latin typeface="Calibri" pitchFamily="34" charset="0"/>
                <a:ea typeface="Calibri" pitchFamily="34" charset="-122"/>
                <a:cs typeface="Calibri" pitchFamily="34" charset="-120"/>
              </a:rPr>
              <a:t>Definition</a:t>
            </a:r>
            <a:endParaRPr lang="en-US" sz="2000" dirty="0"/>
          </a:p>
        </p:txBody>
      </p:sp>
      <p:sp>
        <p:nvSpPr>
          <p:cNvPr id="8" name="Text 6">
            <a:extLst>
              <a:ext uri="{FF2B5EF4-FFF2-40B4-BE49-F238E27FC236}">
                <a16:creationId xmlns:a16="http://schemas.microsoft.com/office/drawing/2014/main" id="{4D3D41A9-4F3D-397F-A9C4-61A6A930AF77}"/>
              </a:ext>
            </a:extLst>
          </p:cNvPr>
          <p:cNvSpPr/>
          <p:nvPr/>
        </p:nvSpPr>
        <p:spPr>
          <a:xfrm>
            <a:off x="256032" y="1463040"/>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Find the smallest, place it</a:t>
            </a:r>
            <a:endParaRPr lang="en-US" sz="1000" dirty="0"/>
          </a:p>
        </p:txBody>
      </p:sp>
      <p:sp>
        <p:nvSpPr>
          <p:cNvPr id="9" name="Shape 7">
            <a:extLst>
              <a:ext uri="{FF2B5EF4-FFF2-40B4-BE49-F238E27FC236}">
                <a16:creationId xmlns:a16="http://schemas.microsoft.com/office/drawing/2014/main" id="{6F286425-02A2-36F1-AD2F-8D132EFF3265}"/>
              </a:ext>
            </a:extLst>
          </p:cNvPr>
          <p:cNvSpPr/>
          <p:nvPr/>
        </p:nvSpPr>
        <p:spPr>
          <a:xfrm>
            <a:off x="384048" y="1901952"/>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10" name="Text 8">
            <a:extLst>
              <a:ext uri="{FF2B5EF4-FFF2-40B4-BE49-F238E27FC236}">
                <a16:creationId xmlns:a16="http://schemas.microsoft.com/office/drawing/2014/main" id="{E3CCCA66-CDB9-37CF-7D8A-7918BF601DCD}"/>
              </a:ext>
            </a:extLst>
          </p:cNvPr>
          <p:cNvSpPr/>
          <p:nvPr/>
        </p:nvSpPr>
        <p:spPr>
          <a:xfrm>
            <a:off x="457200" y="1938528"/>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What it does</a:t>
            </a:r>
            <a:endParaRPr lang="en-US" sz="800" dirty="0"/>
          </a:p>
        </p:txBody>
      </p:sp>
      <p:sp>
        <p:nvSpPr>
          <p:cNvPr id="11" name="Text 9">
            <a:extLst>
              <a:ext uri="{FF2B5EF4-FFF2-40B4-BE49-F238E27FC236}">
                <a16:creationId xmlns:a16="http://schemas.microsoft.com/office/drawing/2014/main" id="{5DBA05D7-435E-9CC8-C1F8-1F4D7C558FB6}"/>
              </a:ext>
            </a:extLst>
          </p:cNvPr>
          <p:cNvSpPr/>
          <p:nvPr/>
        </p:nvSpPr>
        <p:spPr>
          <a:xfrm>
            <a:off x="457200" y="2157984"/>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Sorts a list in ascending order</a:t>
            </a:r>
            <a:endParaRPr lang="en-US" sz="1000" dirty="0"/>
          </a:p>
        </p:txBody>
      </p:sp>
      <p:sp>
        <p:nvSpPr>
          <p:cNvPr id="12" name="Shape 10">
            <a:extLst>
              <a:ext uri="{FF2B5EF4-FFF2-40B4-BE49-F238E27FC236}">
                <a16:creationId xmlns:a16="http://schemas.microsoft.com/office/drawing/2014/main" id="{6D9A7D8D-F20F-F17A-CA44-E30DA6E443DE}"/>
              </a:ext>
            </a:extLst>
          </p:cNvPr>
          <p:cNvSpPr/>
          <p:nvPr/>
        </p:nvSpPr>
        <p:spPr>
          <a:xfrm>
            <a:off x="384048" y="2505456"/>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13" name="Text 11">
            <a:extLst>
              <a:ext uri="{FF2B5EF4-FFF2-40B4-BE49-F238E27FC236}">
                <a16:creationId xmlns:a16="http://schemas.microsoft.com/office/drawing/2014/main" id="{F18D6611-CA0F-6B2E-017D-756FEF7CEFD5}"/>
              </a:ext>
            </a:extLst>
          </p:cNvPr>
          <p:cNvSpPr/>
          <p:nvPr/>
        </p:nvSpPr>
        <p:spPr>
          <a:xfrm>
            <a:off x="457200" y="2542032"/>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Strategy</a:t>
            </a:r>
            <a:endParaRPr lang="en-US" sz="800" dirty="0"/>
          </a:p>
        </p:txBody>
      </p:sp>
      <p:sp>
        <p:nvSpPr>
          <p:cNvPr id="14" name="Text 12">
            <a:extLst>
              <a:ext uri="{FF2B5EF4-FFF2-40B4-BE49-F238E27FC236}">
                <a16:creationId xmlns:a16="http://schemas.microsoft.com/office/drawing/2014/main" id="{D77B5AAC-9204-5CA5-F374-0C161542F61F}"/>
              </a:ext>
            </a:extLst>
          </p:cNvPr>
          <p:cNvSpPr/>
          <p:nvPr/>
        </p:nvSpPr>
        <p:spPr>
          <a:xfrm>
            <a:off x="457200" y="2761488"/>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Pick the minimum each pass</a:t>
            </a:r>
            <a:endParaRPr lang="en-US" sz="1000" dirty="0"/>
          </a:p>
        </p:txBody>
      </p:sp>
      <p:sp>
        <p:nvSpPr>
          <p:cNvPr id="15" name="Shape 13">
            <a:extLst>
              <a:ext uri="{FF2B5EF4-FFF2-40B4-BE49-F238E27FC236}">
                <a16:creationId xmlns:a16="http://schemas.microsoft.com/office/drawing/2014/main" id="{C41D8654-471B-E1B5-2246-47BEE515918D}"/>
              </a:ext>
            </a:extLst>
          </p:cNvPr>
          <p:cNvSpPr/>
          <p:nvPr/>
        </p:nvSpPr>
        <p:spPr>
          <a:xfrm>
            <a:off x="384048" y="3108960"/>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16" name="Text 14">
            <a:extLst>
              <a:ext uri="{FF2B5EF4-FFF2-40B4-BE49-F238E27FC236}">
                <a16:creationId xmlns:a16="http://schemas.microsoft.com/office/drawing/2014/main" id="{5BFDBB1E-9225-A8E1-1205-7B7E0637227B}"/>
              </a:ext>
            </a:extLst>
          </p:cNvPr>
          <p:cNvSpPr/>
          <p:nvPr/>
        </p:nvSpPr>
        <p:spPr>
          <a:xfrm>
            <a:off x="457200" y="3145536"/>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Input</a:t>
            </a:r>
            <a:endParaRPr lang="en-US" sz="800" dirty="0"/>
          </a:p>
        </p:txBody>
      </p:sp>
      <p:sp>
        <p:nvSpPr>
          <p:cNvPr id="17" name="Text 15">
            <a:extLst>
              <a:ext uri="{FF2B5EF4-FFF2-40B4-BE49-F238E27FC236}">
                <a16:creationId xmlns:a16="http://schemas.microsoft.com/office/drawing/2014/main" id="{BE4CBAA0-1DD8-C300-54C8-98269928DCB6}"/>
              </a:ext>
            </a:extLst>
          </p:cNvPr>
          <p:cNvSpPr/>
          <p:nvPr/>
        </p:nvSpPr>
        <p:spPr>
          <a:xfrm>
            <a:off x="457200" y="3364992"/>
            <a:ext cx="2377440" cy="201168"/>
          </a:xfrm>
          <a:prstGeom prst="rect">
            <a:avLst/>
          </a:prstGeom>
          <a:noFill/>
          <a:ln/>
        </p:spPr>
        <p:txBody>
          <a:bodyPr wrap="square" lIns="0" tIns="0" rIns="0" bIns="0" rtlCol="0" anchor="ctr"/>
          <a:lstStyle/>
          <a:p>
            <a:r>
              <a:rPr lang="en-US" sz="1000" dirty="0">
                <a:solidFill>
                  <a:srgbClr val="EDEDED"/>
                </a:solidFill>
                <a:latin typeface="Calibri" pitchFamily="34" charset="0"/>
                <a:ea typeface="Calibri" pitchFamily="34" charset="-122"/>
                <a:cs typeface="Calibri" pitchFamily="34" charset="-120"/>
              </a:rPr>
              <a:t>An unsorted list (any order)</a:t>
            </a:r>
          </a:p>
        </p:txBody>
      </p:sp>
      <p:sp>
        <p:nvSpPr>
          <p:cNvPr id="18" name="Shape 16">
            <a:extLst>
              <a:ext uri="{FF2B5EF4-FFF2-40B4-BE49-F238E27FC236}">
                <a16:creationId xmlns:a16="http://schemas.microsoft.com/office/drawing/2014/main" id="{2F063973-CA98-3791-04FD-D91B4BFEBE96}"/>
              </a:ext>
            </a:extLst>
          </p:cNvPr>
          <p:cNvSpPr/>
          <p:nvPr/>
        </p:nvSpPr>
        <p:spPr>
          <a:xfrm>
            <a:off x="384048" y="3712464"/>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19" name="Text 17">
            <a:extLst>
              <a:ext uri="{FF2B5EF4-FFF2-40B4-BE49-F238E27FC236}">
                <a16:creationId xmlns:a16="http://schemas.microsoft.com/office/drawing/2014/main" id="{4A354414-8980-435D-357F-D4B467A84BCA}"/>
              </a:ext>
            </a:extLst>
          </p:cNvPr>
          <p:cNvSpPr/>
          <p:nvPr/>
        </p:nvSpPr>
        <p:spPr>
          <a:xfrm>
            <a:off x="457200" y="3749040"/>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Output</a:t>
            </a:r>
            <a:endParaRPr lang="en-US" sz="800" dirty="0"/>
          </a:p>
        </p:txBody>
      </p:sp>
      <p:sp>
        <p:nvSpPr>
          <p:cNvPr id="20" name="Text 18">
            <a:extLst>
              <a:ext uri="{FF2B5EF4-FFF2-40B4-BE49-F238E27FC236}">
                <a16:creationId xmlns:a16="http://schemas.microsoft.com/office/drawing/2014/main" id="{10988D5E-7783-F62D-3D58-985154F9F681}"/>
              </a:ext>
            </a:extLst>
          </p:cNvPr>
          <p:cNvSpPr/>
          <p:nvPr/>
        </p:nvSpPr>
        <p:spPr>
          <a:xfrm>
            <a:off x="457200" y="3968496"/>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The same list, sorted</a:t>
            </a:r>
            <a:endParaRPr lang="en-US" sz="1000" dirty="0"/>
          </a:p>
        </p:txBody>
      </p:sp>
      <p:sp>
        <p:nvSpPr>
          <p:cNvPr id="21" name="Shape 19">
            <a:extLst>
              <a:ext uri="{FF2B5EF4-FFF2-40B4-BE49-F238E27FC236}">
                <a16:creationId xmlns:a16="http://schemas.microsoft.com/office/drawing/2014/main" id="{6B229D71-6A56-AE58-3983-D7ECD4AE715E}"/>
              </a:ext>
            </a:extLst>
          </p:cNvPr>
          <p:cNvSpPr/>
          <p:nvPr/>
        </p:nvSpPr>
        <p:spPr>
          <a:xfrm>
            <a:off x="384048" y="4315968"/>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22" name="Text 20">
            <a:extLst>
              <a:ext uri="{FF2B5EF4-FFF2-40B4-BE49-F238E27FC236}">
                <a16:creationId xmlns:a16="http://schemas.microsoft.com/office/drawing/2014/main" id="{45F3FB27-EDB2-C24A-106E-053C8980AE8E}"/>
              </a:ext>
            </a:extLst>
          </p:cNvPr>
          <p:cNvSpPr/>
          <p:nvPr/>
        </p:nvSpPr>
        <p:spPr>
          <a:xfrm>
            <a:off x="457200" y="4352544"/>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Big-O</a:t>
            </a:r>
            <a:endParaRPr lang="en-US" sz="800" dirty="0"/>
          </a:p>
        </p:txBody>
      </p:sp>
      <p:sp>
        <p:nvSpPr>
          <p:cNvPr id="23" name="Text 21">
            <a:extLst>
              <a:ext uri="{FF2B5EF4-FFF2-40B4-BE49-F238E27FC236}">
                <a16:creationId xmlns:a16="http://schemas.microsoft.com/office/drawing/2014/main" id="{5CA971F4-B0DF-8B96-0DC6-6F777F3A889A}"/>
              </a:ext>
            </a:extLst>
          </p:cNvPr>
          <p:cNvSpPr/>
          <p:nvPr/>
        </p:nvSpPr>
        <p:spPr>
          <a:xfrm>
            <a:off x="457200" y="4572000"/>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O(N²) — always, even if sorted</a:t>
            </a:r>
            <a:endParaRPr lang="en-US" sz="1000" dirty="0"/>
          </a:p>
        </p:txBody>
      </p:sp>
      <p:sp>
        <p:nvSpPr>
          <p:cNvPr id="24" name="Shape 22">
            <a:extLst>
              <a:ext uri="{FF2B5EF4-FFF2-40B4-BE49-F238E27FC236}">
                <a16:creationId xmlns:a16="http://schemas.microsoft.com/office/drawing/2014/main" id="{BD48AD9D-5621-E7F3-EC42-8BA9A0AFAFB7}"/>
              </a:ext>
            </a:extLst>
          </p:cNvPr>
          <p:cNvSpPr/>
          <p:nvPr/>
        </p:nvSpPr>
        <p:spPr>
          <a:xfrm>
            <a:off x="3163824" y="987552"/>
            <a:ext cx="2779776" cy="4041648"/>
          </a:xfrm>
          <a:prstGeom prst="roundRect">
            <a:avLst>
              <a:gd name="adj" fmla="val 4605"/>
            </a:avLst>
          </a:prstGeom>
          <a:solidFill>
            <a:srgbClr val="110A2E"/>
          </a:solidFill>
          <a:ln w="19050">
            <a:solidFill>
              <a:srgbClr val="A380FF"/>
            </a:solidFill>
            <a:prstDash val="solid"/>
          </a:ln>
        </p:spPr>
        <p:txBody>
          <a:bodyPr/>
          <a:lstStyle/>
          <a:p>
            <a:endParaRPr lang="en-US"/>
          </a:p>
        </p:txBody>
      </p:sp>
      <p:sp>
        <p:nvSpPr>
          <p:cNvPr id="25" name="Text 23">
            <a:extLst>
              <a:ext uri="{FF2B5EF4-FFF2-40B4-BE49-F238E27FC236}">
                <a16:creationId xmlns:a16="http://schemas.microsoft.com/office/drawing/2014/main" id="{2A2AE263-E84F-29F5-59D7-0A4B5C3EDF8B}"/>
              </a:ext>
            </a:extLst>
          </p:cNvPr>
          <p:cNvSpPr/>
          <p:nvPr/>
        </p:nvSpPr>
        <p:spPr>
          <a:xfrm>
            <a:off x="3163824" y="1033272"/>
            <a:ext cx="2779776" cy="457200"/>
          </a:xfrm>
          <a:prstGeom prst="rect">
            <a:avLst/>
          </a:prstGeom>
          <a:noFill/>
          <a:ln/>
        </p:spPr>
        <p:txBody>
          <a:bodyPr wrap="square" rtlCol="0" anchor="ctr"/>
          <a:lstStyle/>
          <a:p>
            <a:pPr marL="0" indent="0" algn="ctr">
              <a:buNone/>
            </a:pPr>
            <a:r>
              <a:rPr lang="en-US" sz="2000" b="1" dirty="0">
                <a:solidFill>
                  <a:srgbClr val="A380FF"/>
                </a:solidFill>
                <a:latin typeface="Calibri" pitchFamily="34" charset="0"/>
                <a:ea typeface="Calibri" pitchFamily="34" charset="-122"/>
                <a:cs typeface="Calibri" pitchFamily="34" charset="-120"/>
              </a:rPr>
              <a:t>How It Works</a:t>
            </a:r>
            <a:endParaRPr lang="en-US" sz="2000" dirty="0"/>
          </a:p>
        </p:txBody>
      </p:sp>
      <p:sp>
        <p:nvSpPr>
          <p:cNvPr id="26" name="Text 24">
            <a:extLst>
              <a:ext uri="{FF2B5EF4-FFF2-40B4-BE49-F238E27FC236}">
                <a16:creationId xmlns:a16="http://schemas.microsoft.com/office/drawing/2014/main" id="{F014DDB2-FE98-268C-10BC-7AFC14ECC9A2}"/>
              </a:ext>
            </a:extLst>
          </p:cNvPr>
          <p:cNvSpPr/>
          <p:nvPr/>
        </p:nvSpPr>
        <p:spPr>
          <a:xfrm>
            <a:off x="3163824" y="1463040"/>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One min per pass</a:t>
            </a:r>
            <a:endParaRPr lang="en-US" sz="1000" dirty="0"/>
          </a:p>
        </p:txBody>
      </p:sp>
      <p:sp>
        <p:nvSpPr>
          <p:cNvPr id="27" name="Shape 25">
            <a:extLst>
              <a:ext uri="{FF2B5EF4-FFF2-40B4-BE49-F238E27FC236}">
                <a16:creationId xmlns:a16="http://schemas.microsoft.com/office/drawing/2014/main" id="{A05F0EF5-72AD-AB9A-BBF5-81CE3F4341A6}"/>
              </a:ext>
            </a:extLst>
          </p:cNvPr>
          <p:cNvSpPr/>
          <p:nvPr/>
        </p:nvSpPr>
        <p:spPr>
          <a:xfrm>
            <a:off x="3291840" y="1901952"/>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28" name="Text 26">
            <a:extLst>
              <a:ext uri="{FF2B5EF4-FFF2-40B4-BE49-F238E27FC236}">
                <a16:creationId xmlns:a16="http://schemas.microsoft.com/office/drawing/2014/main" id="{083A298E-36BD-B8BD-C903-2E6D89F08F9D}"/>
              </a:ext>
            </a:extLst>
          </p:cNvPr>
          <p:cNvSpPr/>
          <p:nvPr/>
        </p:nvSpPr>
        <p:spPr>
          <a:xfrm>
            <a:off x="3364992" y="1938528"/>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Step 1</a:t>
            </a:r>
            <a:endParaRPr lang="en-US" sz="800" dirty="0"/>
          </a:p>
        </p:txBody>
      </p:sp>
      <p:sp>
        <p:nvSpPr>
          <p:cNvPr id="29" name="Text 27">
            <a:extLst>
              <a:ext uri="{FF2B5EF4-FFF2-40B4-BE49-F238E27FC236}">
                <a16:creationId xmlns:a16="http://schemas.microsoft.com/office/drawing/2014/main" id="{B10E638F-8073-CA1D-CF8D-6A0034C827F0}"/>
              </a:ext>
            </a:extLst>
          </p:cNvPr>
          <p:cNvSpPr/>
          <p:nvPr/>
        </p:nvSpPr>
        <p:spPr>
          <a:xfrm>
            <a:off x="3364992" y="2157984"/>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Set i = 0 (first unsorted slot)</a:t>
            </a:r>
            <a:endParaRPr lang="en-US" sz="1000" dirty="0"/>
          </a:p>
        </p:txBody>
      </p:sp>
      <p:sp>
        <p:nvSpPr>
          <p:cNvPr id="30" name="Shape 28">
            <a:extLst>
              <a:ext uri="{FF2B5EF4-FFF2-40B4-BE49-F238E27FC236}">
                <a16:creationId xmlns:a16="http://schemas.microsoft.com/office/drawing/2014/main" id="{1115F7D5-AB59-4793-3017-56977D651FA9}"/>
              </a:ext>
            </a:extLst>
          </p:cNvPr>
          <p:cNvSpPr/>
          <p:nvPr/>
        </p:nvSpPr>
        <p:spPr>
          <a:xfrm>
            <a:off x="3291840" y="2505456"/>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31" name="Text 29">
            <a:extLst>
              <a:ext uri="{FF2B5EF4-FFF2-40B4-BE49-F238E27FC236}">
                <a16:creationId xmlns:a16="http://schemas.microsoft.com/office/drawing/2014/main" id="{6073D696-90F9-5831-A9FA-CEB3FFD55143}"/>
              </a:ext>
            </a:extLst>
          </p:cNvPr>
          <p:cNvSpPr/>
          <p:nvPr/>
        </p:nvSpPr>
        <p:spPr>
          <a:xfrm>
            <a:off x="3364992" y="2542032"/>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Step 2</a:t>
            </a:r>
            <a:endParaRPr lang="en-US" sz="800" dirty="0"/>
          </a:p>
        </p:txBody>
      </p:sp>
      <p:sp>
        <p:nvSpPr>
          <p:cNvPr id="32" name="Text 30">
            <a:extLst>
              <a:ext uri="{FF2B5EF4-FFF2-40B4-BE49-F238E27FC236}">
                <a16:creationId xmlns:a16="http://schemas.microsoft.com/office/drawing/2014/main" id="{338F6E8F-D4EE-58E6-AB3E-E676EB6B9BC9}"/>
              </a:ext>
            </a:extLst>
          </p:cNvPr>
          <p:cNvSpPr/>
          <p:nvPr/>
        </p:nvSpPr>
        <p:spPr>
          <a:xfrm>
            <a:off x="3364992" y="2761488"/>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Scan from i to end, find min</a:t>
            </a:r>
            <a:endParaRPr lang="en-US" sz="1000" dirty="0"/>
          </a:p>
        </p:txBody>
      </p:sp>
      <p:sp>
        <p:nvSpPr>
          <p:cNvPr id="33" name="Shape 31">
            <a:extLst>
              <a:ext uri="{FF2B5EF4-FFF2-40B4-BE49-F238E27FC236}">
                <a16:creationId xmlns:a16="http://schemas.microsoft.com/office/drawing/2014/main" id="{90BAC11F-E1A8-35E9-18F1-62E05E2CCAC8}"/>
              </a:ext>
            </a:extLst>
          </p:cNvPr>
          <p:cNvSpPr/>
          <p:nvPr/>
        </p:nvSpPr>
        <p:spPr>
          <a:xfrm>
            <a:off x="3291840" y="3108960"/>
            <a:ext cx="2523744" cy="512064"/>
          </a:xfrm>
          <a:prstGeom prst="roundRect">
            <a:avLst>
              <a:gd name="adj" fmla="val 12500"/>
            </a:avLst>
          </a:prstGeom>
          <a:solidFill>
            <a:srgbClr val="1E1040"/>
          </a:solidFill>
          <a:ln w="12700">
            <a:solidFill>
              <a:srgbClr val="1E1040"/>
            </a:solidFill>
            <a:prstDash val="solid"/>
          </a:ln>
        </p:spPr>
        <p:txBody>
          <a:bodyPr/>
          <a:lstStyle/>
          <a:p>
            <a:endParaRPr lang="en-US" dirty="0"/>
          </a:p>
        </p:txBody>
      </p:sp>
      <p:sp>
        <p:nvSpPr>
          <p:cNvPr id="34" name="Text 32">
            <a:extLst>
              <a:ext uri="{FF2B5EF4-FFF2-40B4-BE49-F238E27FC236}">
                <a16:creationId xmlns:a16="http://schemas.microsoft.com/office/drawing/2014/main" id="{C0F462FF-7F1E-5DB8-413D-E855FFD315EE}"/>
              </a:ext>
            </a:extLst>
          </p:cNvPr>
          <p:cNvSpPr/>
          <p:nvPr/>
        </p:nvSpPr>
        <p:spPr>
          <a:xfrm>
            <a:off x="3364992" y="3145536"/>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Step 3</a:t>
            </a:r>
            <a:endParaRPr lang="en-US" sz="800" dirty="0"/>
          </a:p>
        </p:txBody>
      </p:sp>
      <p:sp>
        <p:nvSpPr>
          <p:cNvPr id="35" name="Text 33">
            <a:extLst>
              <a:ext uri="{FF2B5EF4-FFF2-40B4-BE49-F238E27FC236}">
                <a16:creationId xmlns:a16="http://schemas.microsoft.com/office/drawing/2014/main" id="{431CD1D4-728D-D439-8C9C-8F258123E6FF}"/>
              </a:ext>
            </a:extLst>
          </p:cNvPr>
          <p:cNvSpPr/>
          <p:nvPr/>
        </p:nvSpPr>
        <p:spPr>
          <a:xfrm>
            <a:off x="3364992" y="3364992"/>
            <a:ext cx="2377440" cy="201168"/>
          </a:xfrm>
          <a:prstGeom prst="rect">
            <a:avLst/>
          </a:prstGeom>
          <a:noFill/>
          <a:ln/>
        </p:spPr>
        <p:txBody>
          <a:bodyPr wrap="square" lIns="0" tIns="0" rIns="0" bIns="0" rtlCol="0" anchor="ctr"/>
          <a:lstStyle/>
          <a:p>
            <a:r>
              <a:rPr lang="en-US" sz="1000" dirty="0">
                <a:solidFill>
                  <a:srgbClr val="EDEDED"/>
                </a:solidFill>
                <a:latin typeface="Calibri" pitchFamily="34" charset="0"/>
                <a:ea typeface="Calibri" pitchFamily="34" charset="-122"/>
                <a:cs typeface="Calibri" pitchFamily="34" charset="-120"/>
              </a:rPr>
              <a:t>Swap that min with list[i]</a:t>
            </a:r>
          </a:p>
        </p:txBody>
      </p:sp>
      <p:sp>
        <p:nvSpPr>
          <p:cNvPr id="36" name="Shape 34">
            <a:extLst>
              <a:ext uri="{FF2B5EF4-FFF2-40B4-BE49-F238E27FC236}">
                <a16:creationId xmlns:a16="http://schemas.microsoft.com/office/drawing/2014/main" id="{1CB16C89-C1B7-CE23-A8E7-A5BD72507E34}"/>
              </a:ext>
            </a:extLst>
          </p:cNvPr>
          <p:cNvSpPr/>
          <p:nvPr/>
        </p:nvSpPr>
        <p:spPr>
          <a:xfrm>
            <a:off x="3291840" y="3712464"/>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37" name="Text 35">
            <a:extLst>
              <a:ext uri="{FF2B5EF4-FFF2-40B4-BE49-F238E27FC236}">
                <a16:creationId xmlns:a16="http://schemas.microsoft.com/office/drawing/2014/main" id="{CAAECD9B-B974-69AF-96E1-1ED6A15A2AC6}"/>
              </a:ext>
            </a:extLst>
          </p:cNvPr>
          <p:cNvSpPr/>
          <p:nvPr/>
        </p:nvSpPr>
        <p:spPr>
          <a:xfrm>
            <a:off x="3364992" y="3749040"/>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Step 4</a:t>
            </a:r>
            <a:endParaRPr lang="en-US" sz="800" dirty="0"/>
          </a:p>
        </p:txBody>
      </p:sp>
      <p:sp>
        <p:nvSpPr>
          <p:cNvPr id="38" name="Text 36">
            <a:extLst>
              <a:ext uri="{FF2B5EF4-FFF2-40B4-BE49-F238E27FC236}">
                <a16:creationId xmlns:a16="http://schemas.microsoft.com/office/drawing/2014/main" id="{C69C938C-3E85-8060-A306-4D527DF6A6C0}"/>
              </a:ext>
            </a:extLst>
          </p:cNvPr>
          <p:cNvSpPr/>
          <p:nvPr/>
        </p:nvSpPr>
        <p:spPr>
          <a:xfrm>
            <a:off x="3364992" y="3968496"/>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Position i is now locked</a:t>
            </a:r>
            <a:endParaRPr lang="en-US" sz="1000" dirty="0"/>
          </a:p>
        </p:txBody>
      </p:sp>
      <p:sp>
        <p:nvSpPr>
          <p:cNvPr id="39" name="Shape 37">
            <a:extLst>
              <a:ext uri="{FF2B5EF4-FFF2-40B4-BE49-F238E27FC236}">
                <a16:creationId xmlns:a16="http://schemas.microsoft.com/office/drawing/2014/main" id="{3DF86B9F-C390-852B-54F8-32B4EAAF6A7E}"/>
              </a:ext>
            </a:extLst>
          </p:cNvPr>
          <p:cNvSpPr/>
          <p:nvPr/>
        </p:nvSpPr>
        <p:spPr>
          <a:xfrm>
            <a:off x="3291840" y="4315968"/>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40" name="Text 38">
            <a:extLst>
              <a:ext uri="{FF2B5EF4-FFF2-40B4-BE49-F238E27FC236}">
                <a16:creationId xmlns:a16="http://schemas.microsoft.com/office/drawing/2014/main" id="{A66CDEBF-5B8A-A325-4EDA-D77297C625E7}"/>
              </a:ext>
            </a:extLst>
          </p:cNvPr>
          <p:cNvSpPr/>
          <p:nvPr/>
        </p:nvSpPr>
        <p:spPr>
          <a:xfrm>
            <a:off x="3364992" y="4352544"/>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Step 5</a:t>
            </a:r>
            <a:endParaRPr lang="en-US" sz="800" dirty="0"/>
          </a:p>
        </p:txBody>
      </p:sp>
      <p:sp>
        <p:nvSpPr>
          <p:cNvPr id="41" name="Text 39">
            <a:extLst>
              <a:ext uri="{FF2B5EF4-FFF2-40B4-BE49-F238E27FC236}">
                <a16:creationId xmlns:a16="http://schemas.microsoft.com/office/drawing/2014/main" id="{70C90110-7151-0F5E-7B75-4281C7115836}"/>
              </a:ext>
            </a:extLst>
          </p:cNvPr>
          <p:cNvSpPr/>
          <p:nvPr/>
        </p:nvSpPr>
        <p:spPr>
          <a:xfrm>
            <a:off x="3364992" y="4572000"/>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i = i + 1, repeat until end</a:t>
            </a:r>
            <a:endParaRPr lang="en-US" sz="1000" dirty="0"/>
          </a:p>
        </p:txBody>
      </p:sp>
      <p:sp>
        <p:nvSpPr>
          <p:cNvPr id="42" name="Shape 40">
            <a:extLst>
              <a:ext uri="{FF2B5EF4-FFF2-40B4-BE49-F238E27FC236}">
                <a16:creationId xmlns:a16="http://schemas.microsoft.com/office/drawing/2014/main" id="{23D47241-34CE-835E-D9B3-5DF3E9C86A4D}"/>
              </a:ext>
            </a:extLst>
          </p:cNvPr>
          <p:cNvSpPr/>
          <p:nvPr/>
        </p:nvSpPr>
        <p:spPr>
          <a:xfrm>
            <a:off x="6071616" y="987552"/>
            <a:ext cx="2779776" cy="4041648"/>
          </a:xfrm>
          <a:prstGeom prst="roundRect">
            <a:avLst>
              <a:gd name="adj" fmla="val 4605"/>
            </a:avLst>
          </a:prstGeom>
          <a:solidFill>
            <a:srgbClr val="0A2E2E"/>
          </a:solidFill>
          <a:ln w="19050">
            <a:solidFill>
              <a:srgbClr val="57E3D8"/>
            </a:solidFill>
            <a:prstDash val="solid"/>
          </a:ln>
        </p:spPr>
        <p:txBody>
          <a:bodyPr/>
          <a:lstStyle/>
          <a:p>
            <a:endParaRPr lang="en-US"/>
          </a:p>
        </p:txBody>
      </p:sp>
      <p:sp>
        <p:nvSpPr>
          <p:cNvPr id="43" name="Text 41">
            <a:extLst>
              <a:ext uri="{FF2B5EF4-FFF2-40B4-BE49-F238E27FC236}">
                <a16:creationId xmlns:a16="http://schemas.microsoft.com/office/drawing/2014/main" id="{160F8E2C-8366-D789-0BA3-8DA4032B4304}"/>
              </a:ext>
            </a:extLst>
          </p:cNvPr>
          <p:cNvSpPr/>
          <p:nvPr/>
        </p:nvSpPr>
        <p:spPr>
          <a:xfrm>
            <a:off x="6071616" y="1033272"/>
            <a:ext cx="2779776" cy="457200"/>
          </a:xfrm>
          <a:prstGeom prst="rect">
            <a:avLst/>
          </a:prstGeom>
          <a:noFill/>
          <a:ln/>
        </p:spPr>
        <p:txBody>
          <a:bodyPr wrap="square" rtlCol="0" anchor="ctr"/>
          <a:lstStyle/>
          <a:p>
            <a:pPr marL="0" indent="0" algn="ctr">
              <a:buNone/>
            </a:pPr>
            <a:r>
              <a:rPr lang="en-US" sz="2000" b="1" dirty="0">
                <a:solidFill>
                  <a:srgbClr val="57E3D8"/>
                </a:solidFill>
                <a:latin typeface="Calibri" pitchFamily="34" charset="0"/>
                <a:ea typeface="Calibri" pitchFamily="34" charset="-122"/>
                <a:cs typeface="Calibri" pitchFamily="34" charset="-120"/>
              </a:rPr>
              <a:t>When to Use It</a:t>
            </a:r>
            <a:endParaRPr lang="en-US" sz="2000" dirty="0"/>
          </a:p>
        </p:txBody>
      </p:sp>
      <p:sp>
        <p:nvSpPr>
          <p:cNvPr id="44" name="Text 42">
            <a:extLst>
              <a:ext uri="{FF2B5EF4-FFF2-40B4-BE49-F238E27FC236}">
                <a16:creationId xmlns:a16="http://schemas.microsoft.com/office/drawing/2014/main" id="{400A9794-536B-5ED1-EAE6-B302049B104A}"/>
              </a:ext>
            </a:extLst>
          </p:cNvPr>
          <p:cNvSpPr/>
          <p:nvPr/>
        </p:nvSpPr>
        <p:spPr>
          <a:xfrm>
            <a:off x="6071616" y="1463040"/>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Strengths and limits</a:t>
            </a:r>
            <a:endParaRPr lang="en-US" sz="1000" dirty="0"/>
          </a:p>
        </p:txBody>
      </p:sp>
      <p:sp>
        <p:nvSpPr>
          <p:cNvPr id="45" name="Shape 43">
            <a:extLst>
              <a:ext uri="{FF2B5EF4-FFF2-40B4-BE49-F238E27FC236}">
                <a16:creationId xmlns:a16="http://schemas.microsoft.com/office/drawing/2014/main" id="{17BB9C3C-FBE9-5806-C1E4-F9F0239F94FD}"/>
              </a:ext>
            </a:extLst>
          </p:cNvPr>
          <p:cNvSpPr/>
          <p:nvPr/>
        </p:nvSpPr>
        <p:spPr>
          <a:xfrm>
            <a:off x="6199632" y="1901952"/>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46" name="Text 44">
            <a:extLst>
              <a:ext uri="{FF2B5EF4-FFF2-40B4-BE49-F238E27FC236}">
                <a16:creationId xmlns:a16="http://schemas.microsoft.com/office/drawing/2014/main" id="{1934E9C9-C2E5-4054-607E-4F78E6D73CD6}"/>
              </a:ext>
            </a:extLst>
          </p:cNvPr>
          <p:cNvSpPr/>
          <p:nvPr/>
        </p:nvSpPr>
        <p:spPr>
          <a:xfrm>
            <a:off x="6272784" y="1938528"/>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Few swaps</a:t>
            </a:r>
            <a:endParaRPr lang="en-US" sz="800" dirty="0"/>
          </a:p>
        </p:txBody>
      </p:sp>
      <p:sp>
        <p:nvSpPr>
          <p:cNvPr id="47" name="Text 45">
            <a:extLst>
              <a:ext uri="{FF2B5EF4-FFF2-40B4-BE49-F238E27FC236}">
                <a16:creationId xmlns:a16="http://schemas.microsoft.com/office/drawing/2014/main" id="{BC2E8DD9-F45B-A649-12EE-B4F1127DA68F}"/>
              </a:ext>
            </a:extLst>
          </p:cNvPr>
          <p:cNvSpPr/>
          <p:nvPr/>
        </p:nvSpPr>
        <p:spPr>
          <a:xfrm>
            <a:off x="6272784" y="2157984"/>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Only one swap per pass</a:t>
            </a:r>
            <a:endParaRPr lang="en-US" sz="1000" dirty="0"/>
          </a:p>
        </p:txBody>
      </p:sp>
      <p:sp>
        <p:nvSpPr>
          <p:cNvPr id="48" name="Shape 46">
            <a:extLst>
              <a:ext uri="{FF2B5EF4-FFF2-40B4-BE49-F238E27FC236}">
                <a16:creationId xmlns:a16="http://schemas.microsoft.com/office/drawing/2014/main" id="{CD98D845-A5B7-CD8A-6A17-A786BC952BFB}"/>
              </a:ext>
            </a:extLst>
          </p:cNvPr>
          <p:cNvSpPr/>
          <p:nvPr/>
        </p:nvSpPr>
        <p:spPr>
          <a:xfrm>
            <a:off x="6199632" y="2505456"/>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49" name="Text 47">
            <a:extLst>
              <a:ext uri="{FF2B5EF4-FFF2-40B4-BE49-F238E27FC236}">
                <a16:creationId xmlns:a16="http://schemas.microsoft.com/office/drawing/2014/main" id="{E4E004CF-D99A-D43E-DEBD-62A9A585E8BC}"/>
              </a:ext>
            </a:extLst>
          </p:cNvPr>
          <p:cNvSpPr/>
          <p:nvPr/>
        </p:nvSpPr>
        <p:spPr>
          <a:xfrm>
            <a:off x="6272784" y="2542032"/>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Predictable</a:t>
            </a:r>
            <a:endParaRPr lang="en-US" sz="800" dirty="0"/>
          </a:p>
        </p:txBody>
      </p:sp>
      <p:sp>
        <p:nvSpPr>
          <p:cNvPr id="50" name="Text 48">
            <a:extLst>
              <a:ext uri="{FF2B5EF4-FFF2-40B4-BE49-F238E27FC236}">
                <a16:creationId xmlns:a16="http://schemas.microsoft.com/office/drawing/2014/main" id="{E1C58A4B-FE46-1795-D7D0-944949F52C8B}"/>
              </a:ext>
            </a:extLst>
          </p:cNvPr>
          <p:cNvSpPr/>
          <p:nvPr/>
        </p:nvSpPr>
        <p:spPr>
          <a:xfrm>
            <a:off x="6272784" y="2761488"/>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Always exactly N-1 passes</a:t>
            </a:r>
            <a:endParaRPr lang="en-US" sz="1000" dirty="0"/>
          </a:p>
        </p:txBody>
      </p:sp>
      <p:sp>
        <p:nvSpPr>
          <p:cNvPr id="51" name="Shape 49">
            <a:extLst>
              <a:ext uri="{FF2B5EF4-FFF2-40B4-BE49-F238E27FC236}">
                <a16:creationId xmlns:a16="http://schemas.microsoft.com/office/drawing/2014/main" id="{A4F5B864-A547-85E2-687E-468DA9810227}"/>
              </a:ext>
            </a:extLst>
          </p:cNvPr>
          <p:cNvSpPr/>
          <p:nvPr/>
        </p:nvSpPr>
        <p:spPr>
          <a:xfrm>
            <a:off x="6199632" y="3108960"/>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52" name="Text 50">
            <a:extLst>
              <a:ext uri="{FF2B5EF4-FFF2-40B4-BE49-F238E27FC236}">
                <a16:creationId xmlns:a16="http://schemas.microsoft.com/office/drawing/2014/main" id="{47875D30-CA79-24B3-8B55-3CA6B7546DD1}"/>
              </a:ext>
            </a:extLst>
          </p:cNvPr>
          <p:cNvSpPr/>
          <p:nvPr/>
        </p:nvSpPr>
        <p:spPr>
          <a:xfrm>
            <a:off x="6272784" y="3145536"/>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Memory-cheap</a:t>
            </a:r>
            <a:endParaRPr lang="en-US" sz="800" dirty="0"/>
          </a:p>
        </p:txBody>
      </p:sp>
      <p:sp>
        <p:nvSpPr>
          <p:cNvPr id="53" name="Text 51">
            <a:extLst>
              <a:ext uri="{FF2B5EF4-FFF2-40B4-BE49-F238E27FC236}">
                <a16:creationId xmlns:a16="http://schemas.microsoft.com/office/drawing/2014/main" id="{15E016C0-85D1-360B-6E43-07A7D50C7823}"/>
              </a:ext>
            </a:extLst>
          </p:cNvPr>
          <p:cNvSpPr/>
          <p:nvPr/>
        </p:nvSpPr>
        <p:spPr>
          <a:xfrm>
            <a:off x="6272784" y="3364992"/>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Sorts in-place, no extra memory</a:t>
            </a:r>
            <a:endParaRPr lang="en-US" sz="1000" dirty="0"/>
          </a:p>
        </p:txBody>
      </p:sp>
      <p:sp>
        <p:nvSpPr>
          <p:cNvPr id="54" name="Shape 52">
            <a:extLst>
              <a:ext uri="{FF2B5EF4-FFF2-40B4-BE49-F238E27FC236}">
                <a16:creationId xmlns:a16="http://schemas.microsoft.com/office/drawing/2014/main" id="{4180C4C0-6012-AC85-4B17-3AFA774A2271}"/>
              </a:ext>
            </a:extLst>
          </p:cNvPr>
          <p:cNvSpPr/>
          <p:nvPr/>
        </p:nvSpPr>
        <p:spPr>
          <a:xfrm>
            <a:off x="6199632" y="3712464"/>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55" name="Text 53">
            <a:extLst>
              <a:ext uri="{FF2B5EF4-FFF2-40B4-BE49-F238E27FC236}">
                <a16:creationId xmlns:a16="http://schemas.microsoft.com/office/drawing/2014/main" id="{6F0CCA05-6F6B-73EB-BB3E-40FF49D41D8D}"/>
              </a:ext>
            </a:extLst>
          </p:cNvPr>
          <p:cNvSpPr/>
          <p:nvPr/>
        </p:nvSpPr>
        <p:spPr>
          <a:xfrm>
            <a:off x="6272784" y="3749040"/>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Easy to write</a:t>
            </a:r>
            <a:endParaRPr lang="en-US" sz="800" dirty="0"/>
          </a:p>
        </p:txBody>
      </p:sp>
      <p:sp>
        <p:nvSpPr>
          <p:cNvPr id="56" name="Text 54">
            <a:extLst>
              <a:ext uri="{FF2B5EF4-FFF2-40B4-BE49-F238E27FC236}">
                <a16:creationId xmlns:a16="http://schemas.microsoft.com/office/drawing/2014/main" id="{1B5A695C-4E1C-1D37-4C84-4CC97C0EF229}"/>
              </a:ext>
            </a:extLst>
          </p:cNvPr>
          <p:cNvSpPr/>
          <p:nvPr/>
        </p:nvSpPr>
        <p:spPr>
          <a:xfrm>
            <a:off x="6272784" y="3968496"/>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Two simple loops, no flag</a:t>
            </a:r>
            <a:endParaRPr lang="en-US" sz="1000" dirty="0"/>
          </a:p>
        </p:txBody>
      </p:sp>
      <p:sp>
        <p:nvSpPr>
          <p:cNvPr id="57" name="Shape 55">
            <a:extLst>
              <a:ext uri="{FF2B5EF4-FFF2-40B4-BE49-F238E27FC236}">
                <a16:creationId xmlns:a16="http://schemas.microsoft.com/office/drawing/2014/main" id="{9479889D-FE47-827C-03B8-A090B2C69810}"/>
              </a:ext>
            </a:extLst>
          </p:cNvPr>
          <p:cNvSpPr/>
          <p:nvPr/>
        </p:nvSpPr>
        <p:spPr>
          <a:xfrm>
            <a:off x="6199632" y="4315968"/>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58" name="Text 56">
            <a:extLst>
              <a:ext uri="{FF2B5EF4-FFF2-40B4-BE49-F238E27FC236}">
                <a16:creationId xmlns:a16="http://schemas.microsoft.com/office/drawing/2014/main" id="{30B55CAD-3273-8860-07F1-9A86A45AE431}"/>
              </a:ext>
            </a:extLst>
          </p:cNvPr>
          <p:cNvSpPr/>
          <p:nvPr/>
        </p:nvSpPr>
        <p:spPr>
          <a:xfrm>
            <a:off x="6272784" y="4352544"/>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Limit</a:t>
            </a:r>
            <a:endParaRPr lang="en-US" sz="800" dirty="0"/>
          </a:p>
        </p:txBody>
      </p:sp>
      <p:sp>
        <p:nvSpPr>
          <p:cNvPr id="59" name="Text 57">
            <a:extLst>
              <a:ext uri="{FF2B5EF4-FFF2-40B4-BE49-F238E27FC236}">
                <a16:creationId xmlns:a16="http://schemas.microsoft.com/office/drawing/2014/main" id="{0270D8ED-165B-1400-E041-17FA430DE5B7}"/>
              </a:ext>
            </a:extLst>
          </p:cNvPr>
          <p:cNvSpPr/>
          <p:nvPr/>
        </p:nvSpPr>
        <p:spPr>
          <a:xfrm>
            <a:off x="6272784" y="4572000"/>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O(N²) regardless of input</a:t>
            </a:r>
            <a:endParaRPr lang="en-US" sz="1000" dirty="0"/>
          </a:p>
        </p:txBody>
      </p:sp>
    </p:spTree>
    <p:extLst>
      <p:ext uri="{BB962C8B-B14F-4D97-AF65-F5344CB8AC3E}">
        <p14:creationId xmlns:p14="http://schemas.microsoft.com/office/powerpoint/2010/main" val="834555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Shape 2"/>
          <p:cNvSpPr/>
          <p:nvPr/>
        </p:nvSpPr>
        <p:spPr>
          <a:xfrm>
            <a:off x="548640" y="548640"/>
            <a:ext cx="8046720" cy="3657600"/>
          </a:xfrm>
          <a:prstGeom prst="rect">
            <a:avLst/>
          </a:prstGeom>
          <a:solidFill>
            <a:srgbClr val="161B26"/>
          </a:solidFill>
          <a:ln w="1905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5" name="Shape 3"/>
          <p:cNvSpPr/>
          <p:nvPr/>
        </p:nvSpPr>
        <p:spPr>
          <a:xfrm>
            <a:off x="914400" y="91440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6" name="Shape 4"/>
          <p:cNvSpPr/>
          <p:nvPr/>
        </p:nvSpPr>
        <p:spPr>
          <a:xfrm>
            <a:off x="914400" y="78638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7" name="Shape 5"/>
          <p:cNvSpPr/>
          <p:nvPr/>
        </p:nvSpPr>
        <p:spPr>
          <a:xfrm>
            <a:off x="2011680" y="77724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8" name="Shape 6"/>
          <p:cNvSpPr/>
          <p:nvPr/>
        </p:nvSpPr>
        <p:spPr>
          <a:xfrm>
            <a:off x="2011680" y="64922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9" name="Shape 7"/>
          <p:cNvSpPr/>
          <p:nvPr/>
        </p:nvSpPr>
        <p:spPr>
          <a:xfrm>
            <a:off x="3291840" y="100584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0" name="Shape 8"/>
          <p:cNvSpPr/>
          <p:nvPr/>
        </p:nvSpPr>
        <p:spPr>
          <a:xfrm>
            <a:off x="3291840" y="87782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1" name="Shape 9"/>
          <p:cNvSpPr/>
          <p:nvPr/>
        </p:nvSpPr>
        <p:spPr>
          <a:xfrm>
            <a:off x="4572000" y="82296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2" name="Shape 10"/>
          <p:cNvSpPr/>
          <p:nvPr/>
        </p:nvSpPr>
        <p:spPr>
          <a:xfrm>
            <a:off x="4572000" y="69494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3" name="Shape 11"/>
          <p:cNvSpPr/>
          <p:nvPr/>
        </p:nvSpPr>
        <p:spPr>
          <a:xfrm>
            <a:off x="5852160" y="91440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4" name="Shape 12"/>
          <p:cNvSpPr/>
          <p:nvPr/>
        </p:nvSpPr>
        <p:spPr>
          <a:xfrm>
            <a:off x="5852160" y="78638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5" name="Shape 13"/>
          <p:cNvSpPr/>
          <p:nvPr/>
        </p:nvSpPr>
        <p:spPr>
          <a:xfrm>
            <a:off x="6949440" y="77724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6" name="Shape 14"/>
          <p:cNvSpPr/>
          <p:nvPr/>
        </p:nvSpPr>
        <p:spPr>
          <a:xfrm>
            <a:off x="6949440" y="64922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7" name="Text 15"/>
          <p:cNvSpPr/>
          <p:nvPr/>
        </p:nvSpPr>
        <p:spPr>
          <a:xfrm>
            <a:off x="548640" y="1417320"/>
            <a:ext cx="8046720" cy="777240"/>
          </a:xfrm>
          <a:prstGeom prst="rect">
            <a:avLst/>
          </a:prstGeom>
          <a:noFill/>
          <a:ln/>
        </p:spPr>
        <p:txBody>
          <a:bodyPr wrap="square" lIns="0" tIns="0" rIns="0" bIns="0" rtlCol="0" anchor="ctr"/>
          <a:lstStyle/>
          <a:p>
            <a:pPr marL="0" indent="0" algn="ctr">
              <a:buNone/>
            </a:pPr>
            <a:r>
              <a:rPr lang="en-US" sz="5200" b="1" dirty="0">
                <a:solidFill>
                  <a:srgbClr val="F0F6FC"/>
                </a:solidFill>
                <a:latin typeface="Calibri" pitchFamily="34" charset="0"/>
                <a:ea typeface="Calibri" pitchFamily="34" charset="-122"/>
                <a:cs typeface="Calibri" pitchFamily="34" charset="-120"/>
              </a:rPr>
              <a:t>Two More</a:t>
            </a:r>
            <a:endParaRPr lang="en-US" sz="5200" dirty="0"/>
          </a:p>
        </p:txBody>
      </p:sp>
      <p:sp>
        <p:nvSpPr>
          <p:cNvPr id="18" name="Text 16"/>
          <p:cNvSpPr/>
          <p:nvPr/>
        </p:nvSpPr>
        <p:spPr>
          <a:xfrm>
            <a:off x="548640" y="2121408"/>
            <a:ext cx="8046720" cy="777240"/>
          </a:xfrm>
          <a:prstGeom prst="rect">
            <a:avLst/>
          </a:prstGeom>
          <a:noFill/>
          <a:ln/>
        </p:spPr>
        <p:txBody>
          <a:bodyPr wrap="square" lIns="0" tIns="0" rIns="0" bIns="0" rtlCol="0" anchor="ctr"/>
          <a:lstStyle/>
          <a:p>
            <a:pPr marL="0" indent="0" algn="ctr">
              <a:buNone/>
            </a:pPr>
            <a:r>
              <a:rPr lang="en-US" sz="5200" b="1" dirty="0">
                <a:solidFill>
                  <a:srgbClr val="3FD9C4"/>
                </a:solidFill>
                <a:latin typeface="Calibri" pitchFamily="34" charset="0"/>
                <a:ea typeface="Calibri" pitchFamily="34" charset="-122"/>
                <a:cs typeface="Calibri" pitchFamily="34" charset="-120"/>
              </a:rPr>
              <a:t>Sorts</a:t>
            </a:r>
            <a:endParaRPr lang="en-US" sz="5200" dirty="0"/>
          </a:p>
        </p:txBody>
      </p:sp>
      <p:sp>
        <p:nvSpPr>
          <p:cNvPr id="19" name="Text 17"/>
          <p:cNvSpPr/>
          <p:nvPr/>
        </p:nvSpPr>
        <p:spPr>
          <a:xfrm>
            <a:off x="548640" y="2944368"/>
            <a:ext cx="8046720" cy="329184"/>
          </a:xfrm>
          <a:prstGeom prst="rect">
            <a:avLst/>
          </a:prstGeom>
          <a:noFill/>
          <a:ln/>
        </p:spPr>
        <p:txBody>
          <a:bodyPr wrap="square" lIns="0" tIns="0" rIns="0" bIns="0" rtlCol="0" anchor="ctr"/>
          <a:lstStyle/>
          <a:p>
            <a:pPr marL="0" indent="0" algn="ctr">
              <a:buNone/>
            </a:pPr>
            <a:r>
              <a:rPr lang="en-US" sz="1500" i="1" dirty="0">
                <a:solidFill>
                  <a:srgbClr val="8B949E"/>
                </a:solidFill>
                <a:latin typeface="Calibri" pitchFamily="34" charset="0"/>
                <a:ea typeface="Calibri" pitchFamily="34" charset="-122"/>
                <a:cs typeface="Calibri" pitchFamily="34" charset="-120"/>
              </a:rPr>
              <a:t>Selection · Insertion · Comparing all three</a:t>
            </a:r>
            <a:endParaRPr lang="en-US" sz="1500" dirty="0"/>
          </a:p>
        </p:txBody>
      </p:sp>
      <p:sp>
        <p:nvSpPr>
          <p:cNvPr id="20" name="Shape 18"/>
          <p:cNvSpPr/>
          <p:nvPr/>
        </p:nvSpPr>
        <p:spPr>
          <a:xfrm>
            <a:off x="2468880" y="3401568"/>
            <a:ext cx="274320" cy="274320"/>
          </a:xfrm>
          <a:prstGeom prst="ellipse">
            <a:avLst/>
          </a:prstGeom>
          <a:solidFill>
            <a:srgbClr val="3FD9C4"/>
          </a:solidFill>
          <a:ln w="12700">
            <a:solidFill>
              <a:srgbClr val="3FD9C4"/>
            </a:solidFill>
            <a:prstDash val="solid"/>
          </a:ln>
        </p:spPr>
        <p:txBody>
          <a:bodyPr/>
          <a:lstStyle/>
          <a:p>
            <a:endParaRPr lang="en-US"/>
          </a:p>
        </p:txBody>
      </p:sp>
      <p:sp>
        <p:nvSpPr>
          <p:cNvPr id="21" name="Shape 19"/>
          <p:cNvSpPr/>
          <p:nvPr/>
        </p:nvSpPr>
        <p:spPr>
          <a:xfrm>
            <a:off x="3090672" y="3401568"/>
            <a:ext cx="274320" cy="274320"/>
          </a:xfrm>
          <a:prstGeom prst="ellipse">
            <a:avLst/>
          </a:prstGeom>
          <a:solidFill>
            <a:srgbClr val="58A6FF"/>
          </a:solidFill>
          <a:ln w="12700">
            <a:solidFill>
              <a:srgbClr val="58A6FF"/>
            </a:solidFill>
            <a:prstDash val="solid"/>
          </a:ln>
        </p:spPr>
        <p:txBody>
          <a:bodyPr/>
          <a:lstStyle/>
          <a:p>
            <a:endParaRPr lang="en-US"/>
          </a:p>
        </p:txBody>
      </p:sp>
      <p:sp>
        <p:nvSpPr>
          <p:cNvPr id="22" name="Shape 20"/>
          <p:cNvSpPr/>
          <p:nvPr/>
        </p:nvSpPr>
        <p:spPr>
          <a:xfrm>
            <a:off x="3712464" y="3401568"/>
            <a:ext cx="274320" cy="274320"/>
          </a:xfrm>
          <a:prstGeom prst="ellipse">
            <a:avLst/>
          </a:prstGeom>
          <a:solidFill>
            <a:srgbClr val="BC8CFF"/>
          </a:solidFill>
          <a:ln w="12700">
            <a:solidFill>
              <a:srgbClr val="BC8CFF"/>
            </a:solidFill>
            <a:prstDash val="solid"/>
          </a:ln>
        </p:spPr>
        <p:txBody>
          <a:bodyPr/>
          <a:lstStyle/>
          <a:p>
            <a:endParaRPr lang="en-US"/>
          </a:p>
        </p:txBody>
      </p:sp>
      <p:sp>
        <p:nvSpPr>
          <p:cNvPr id="23" name="Shape 21"/>
          <p:cNvSpPr/>
          <p:nvPr/>
        </p:nvSpPr>
        <p:spPr>
          <a:xfrm>
            <a:off x="4334256" y="3401568"/>
            <a:ext cx="274320" cy="274320"/>
          </a:xfrm>
          <a:prstGeom prst="ellipse">
            <a:avLst/>
          </a:prstGeom>
          <a:solidFill>
            <a:srgbClr val="FFA657"/>
          </a:solidFill>
          <a:ln w="12700">
            <a:solidFill>
              <a:srgbClr val="FFA657"/>
            </a:solidFill>
            <a:prstDash val="solid"/>
          </a:ln>
        </p:spPr>
        <p:txBody>
          <a:bodyPr/>
          <a:lstStyle/>
          <a:p>
            <a:endParaRPr lang="en-US"/>
          </a:p>
        </p:txBody>
      </p:sp>
      <p:sp>
        <p:nvSpPr>
          <p:cNvPr id="24" name="Shape 22"/>
          <p:cNvSpPr/>
          <p:nvPr/>
        </p:nvSpPr>
        <p:spPr>
          <a:xfrm>
            <a:off x="4956048" y="3401568"/>
            <a:ext cx="274320" cy="274320"/>
          </a:xfrm>
          <a:prstGeom prst="ellipse">
            <a:avLst/>
          </a:prstGeom>
          <a:solidFill>
            <a:srgbClr val="3FB950"/>
          </a:solidFill>
          <a:ln w="12700">
            <a:solidFill>
              <a:srgbClr val="3FB950"/>
            </a:solidFill>
            <a:prstDash val="solid"/>
          </a:ln>
        </p:spPr>
        <p:txBody>
          <a:bodyPr/>
          <a:lstStyle/>
          <a:p>
            <a:endParaRPr lang="en-US"/>
          </a:p>
        </p:txBody>
      </p:sp>
      <p:sp>
        <p:nvSpPr>
          <p:cNvPr id="25" name="Shape 23"/>
          <p:cNvSpPr/>
          <p:nvPr/>
        </p:nvSpPr>
        <p:spPr>
          <a:xfrm>
            <a:off x="5577840" y="3401568"/>
            <a:ext cx="274320" cy="274320"/>
          </a:xfrm>
          <a:prstGeom prst="ellipse">
            <a:avLst/>
          </a:prstGeom>
          <a:solidFill>
            <a:srgbClr val="F778BA"/>
          </a:solidFill>
          <a:ln w="12700">
            <a:solidFill>
              <a:srgbClr val="F778BA"/>
            </a:solidFill>
            <a:prstDash val="solid"/>
          </a:ln>
        </p:spPr>
        <p:txBody>
          <a:bodyPr/>
          <a:lstStyle/>
          <a:p>
            <a:endParaRPr lang="en-US"/>
          </a:p>
        </p:txBody>
      </p:sp>
      <p:sp>
        <p:nvSpPr>
          <p:cNvPr id="26" name="Text 24"/>
          <p:cNvSpPr/>
          <p:nvPr/>
        </p:nvSpPr>
        <p:spPr>
          <a:xfrm>
            <a:off x="0" y="4526280"/>
            <a:ext cx="9144000" cy="292608"/>
          </a:xfrm>
          <a:prstGeom prst="rect">
            <a:avLst/>
          </a:prstGeom>
          <a:noFill/>
          <a:ln/>
        </p:spPr>
        <p:txBody>
          <a:bodyPr wrap="square" lIns="0" tIns="0" rIns="0" bIns="0" rtlCol="0" anchor="ctr"/>
          <a:lstStyle/>
          <a:p>
            <a:pPr marL="0" indent="0" algn="ctr">
              <a:buNone/>
            </a:pPr>
            <a:r>
              <a:rPr lang="en-US" sz="1000" dirty="0">
                <a:solidFill>
                  <a:srgbClr val="3D444D"/>
                </a:solidFill>
                <a:latin typeface="Calibri" pitchFamily="34" charset="0"/>
                <a:ea typeface="Calibri" pitchFamily="34" charset="-122"/>
                <a:cs typeface="Calibri" pitchFamily="34" charset="-120"/>
              </a:rPr>
              <a:t>Foundation Bootcamp · Programming Fundamentals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THREE INTUITIONS</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Same Problem, Three Strategies</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Sorting can be done many ways — each algorithm reflects a different way of thinking about order</a:t>
            </a:r>
            <a:endParaRPr lang="en-US" sz="1300" dirty="0"/>
          </a:p>
        </p:txBody>
      </p:sp>
      <p:sp>
        <p:nvSpPr>
          <p:cNvPr id="7" name="Shape 5"/>
          <p:cNvSpPr/>
          <p:nvPr/>
        </p:nvSpPr>
        <p:spPr>
          <a:xfrm>
            <a:off x="411480" y="1170432"/>
            <a:ext cx="8321040" cy="91440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Text 6"/>
          <p:cNvSpPr/>
          <p:nvPr/>
        </p:nvSpPr>
        <p:spPr>
          <a:xfrm>
            <a:off x="594360" y="1243584"/>
            <a:ext cx="7955280" cy="749808"/>
          </a:xfrm>
          <a:prstGeom prst="rect">
            <a:avLst/>
          </a:prstGeom>
          <a:noFill/>
          <a:ln/>
        </p:spPr>
        <p:txBody>
          <a:bodyPr wrap="square" lIns="0" tIns="0" rIns="0" bIns="0" rtlCol="0" anchor="ctr"/>
          <a:lstStyle/>
          <a:p>
            <a:pPr marL="0" indent="0">
              <a:buNone/>
            </a:pPr>
            <a:r>
              <a:rPr lang="en-US" sz="1300" b="1" dirty="0">
                <a:solidFill>
                  <a:srgbClr val="3FD9C4"/>
                </a:solidFill>
                <a:latin typeface="Calibri" pitchFamily="34" charset="0"/>
                <a:ea typeface="Calibri" pitchFamily="34" charset="-122"/>
                <a:cs typeface="Calibri" pitchFamily="34" charset="-120"/>
              </a:rPr>
              <a:t xml:space="preserve">The point  </a:t>
            </a:r>
            <a:r>
              <a:rPr lang="en-US" sz="1300" dirty="0">
                <a:solidFill>
                  <a:srgbClr val="F0F6FC"/>
                </a:solidFill>
                <a:latin typeface="Calibri" pitchFamily="34" charset="0"/>
                <a:ea typeface="Calibri" pitchFamily="34" charset="-122"/>
                <a:cs typeface="Calibri" pitchFamily="34" charset="-120"/>
              </a:rPr>
              <a:t xml:space="preserve">is that the same input </a:t>
            </a:r>
            <a:r>
              <a:rPr lang="en-US" sz="1300" b="1" dirty="0">
                <a:solidFill>
                  <a:srgbClr val="E3B341"/>
                </a:solidFill>
                <a:latin typeface="Calibri" pitchFamily="34" charset="0"/>
                <a:ea typeface="Calibri" pitchFamily="34" charset="-122"/>
                <a:cs typeface="Calibri" pitchFamily="34" charset="-120"/>
              </a:rPr>
              <a:t xml:space="preserve">can be sorted </a:t>
            </a:r>
            <a:r>
              <a:rPr lang="en-US" sz="1300" dirty="0">
                <a:solidFill>
                  <a:srgbClr val="F0F6FC"/>
                </a:solidFill>
                <a:latin typeface="Calibri" pitchFamily="34" charset="0"/>
                <a:ea typeface="Calibri" pitchFamily="34" charset="-122"/>
                <a:cs typeface="Calibri" pitchFamily="34" charset="-120"/>
              </a:rPr>
              <a:t xml:space="preserve">by completely different routes. Each card below shows the everyday metaphor behind one strategy — </a:t>
            </a:r>
            <a:r>
              <a:rPr lang="en-US" sz="1300" dirty="0">
                <a:solidFill>
                  <a:srgbClr val="8B949E"/>
                </a:solidFill>
                <a:latin typeface="Calibri" pitchFamily="34" charset="0"/>
                <a:ea typeface="Calibri" pitchFamily="34" charset="-122"/>
                <a:cs typeface="Calibri" pitchFamily="34" charset="-120"/>
              </a:rPr>
              <a:t>recognising the metaphor makes the algorithm much easier to remember.</a:t>
            </a:r>
            <a:endParaRPr lang="en-US" sz="1300" dirty="0"/>
          </a:p>
        </p:txBody>
      </p:sp>
      <p:sp>
        <p:nvSpPr>
          <p:cNvPr id="9" name="Shape 7"/>
          <p:cNvSpPr/>
          <p:nvPr/>
        </p:nvSpPr>
        <p:spPr>
          <a:xfrm>
            <a:off x="411480" y="2212848"/>
            <a:ext cx="1993392" cy="214884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10" name="Shape 8"/>
          <p:cNvSpPr/>
          <p:nvPr/>
        </p:nvSpPr>
        <p:spPr>
          <a:xfrm>
            <a:off x="411480" y="2212848"/>
            <a:ext cx="1993392"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11" name="Text 9"/>
          <p:cNvSpPr/>
          <p:nvPr/>
        </p:nvSpPr>
        <p:spPr>
          <a:xfrm>
            <a:off x="521208"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Bubble Sort</a:t>
            </a:r>
            <a:endParaRPr lang="en-US" sz="1100" dirty="0"/>
          </a:p>
        </p:txBody>
      </p:sp>
      <p:sp>
        <p:nvSpPr>
          <p:cNvPr id="12" name="Text 10"/>
          <p:cNvSpPr/>
          <p:nvPr/>
        </p:nvSpPr>
        <p:spPr>
          <a:xfrm>
            <a:off x="521208"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Like air bubbles rising</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through water — the</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biggest values move</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up to the surface.</a:t>
            </a:r>
            <a:endParaRPr lang="en-US" sz="1100" dirty="0"/>
          </a:p>
        </p:txBody>
      </p:sp>
      <p:sp>
        <p:nvSpPr>
          <p:cNvPr id="13" name="Shape 11"/>
          <p:cNvSpPr/>
          <p:nvPr/>
        </p:nvSpPr>
        <p:spPr>
          <a:xfrm>
            <a:off x="2532888" y="2212848"/>
            <a:ext cx="1993392" cy="214884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14" name="Shape 12"/>
          <p:cNvSpPr/>
          <p:nvPr/>
        </p:nvSpPr>
        <p:spPr>
          <a:xfrm>
            <a:off x="2532888" y="2212848"/>
            <a:ext cx="1993392"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15" name="Text 13"/>
          <p:cNvSpPr/>
          <p:nvPr/>
        </p:nvSpPr>
        <p:spPr>
          <a:xfrm>
            <a:off x="2642616"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Selection Sort</a:t>
            </a:r>
            <a:endParaRPr lang="en-US" sz="1100" dirty="0"/>
          </a:p>
        </p:txBody>
      </p:sp>
      <p:sp>
        <p:nvSpPr>
          <p:cNvPr id="16" name="Text 14"/>
          <p:cNvSpPr/>
          <p:nvPr/>
        </p:nvSpPr>
        <p:spPr>
          <a:xfrm>
            <a:off x="2642616"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Like picking winners</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for a podium — find the</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smallest, place at front,</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repeat with what is left.</a:t>
            </a:r>
            <a:endParaRPr lang="en-US" sz="1100" dirty="0"/>
          </a:p>
        </p:txBody>
      </p:sp>
      <p:sp>
        <p:nvSpPr>
          <p:cNvPr id="17" name="Shape 15"/>
          <p:cNvSpPr/>
          <p:nvPr/>
        </p:nvSpPr>
        <p:spPr>
          <a:xfrm>
            <a:off x="4654296" y="2212848"/>
            <a:ext cx="1993392" cy="214884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18" name="Shape 16"/>
          <p:cNvSpPr/>
          <p:nvPr/>
        </p:nvSpPr>
        <p:spPr>
          <a:xfrm>
            <a:off x="4654296" y="2212848"/>
            <a:ext cx="1993392"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19" name="Text 17"/>
          <p:cNvSpPr/>
          <p:nvPr/>
        </p:nvSpPr>
        <p:spPr>
          <a:xfrm>
            <a:off x="4764024"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Insertion Sort</a:t>
            </a:r>
            <a:endParaRPr lang="en-US" sz="1100" dirty="0"/>
          </a:p>
        </p:txBody>
      </p:sp>
      <p:sp>
        <p:nvSpPr>
          <p:cNvPr id="20" name="Text 18"/>
          <p:cNvSpPr/>
          <p:nvPr/>
        </p:nvSpPr>
        <p:spPr>
          <a:xfrm>
            <a:off x="4764024"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Like sorting playing</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cards in your hand —</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pick up each card and</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slide it where it fits.</a:t>
            </a:r>
            <a:endParaRPr lang="en-US" sz="1100" dirty="0"/>
          </a:p>
        </p:txBody>
      </p:sp>
      <p:sp>
        <p:nvSpPr>
          <p:cNvPr id="21" name="Shape 19"/>
          <p:cNvSpPr/>
          <p:nvPr/>
        </p:nvSpPr>
        <p:spPr>
          <a:xfrm>
            <a:off x="6775704" y="2212848"/>
            <a:ext cx="1993392" cy="214884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2" name="Shape 20"/>
          <p:cNvSpPr/>
          <p:nvPr/>
        </p:nvSpPr>
        <p:spPr>
          <a:xfrm>
            <a:off x="6775704" y="2212848"/>
            <a:ext cx="1993392"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23" name="Text 21"/>
          <p:cNvSpPr/>
          <p:nvPr/>
        </p:nvSpPr>
        <p:spPr>
          <a:xfrm>
            <a:off x="6885432"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Today's Focus</a:t>
            </a:r>
            <a:endParaRPr lang="en-US" sz="1100" dirty="0"/>
          </a:p>
        </p:txBody>
      </p:sp>
      <p:sp>
        <p:nvSpPr>
          <p:cNvPr id="24" name="Text 22"/>
          <p:cNvSpPr/>
          <p:nvPr/>
        </p:nvSpPr>
        <p:spPr>
          <a:xfrm>
            <a:off x="6885432"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Selection and Insertion</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step by step. Then a</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side-by-side comparison</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of all three sorts you</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have learned this week.</a:t>
            </a:r>
            <a:endParaRPr lang="en-US" sz="1100" dirty="0"/>
          </a:p>
        </p:txBody>
      </p:sp>
      <p:sp>
        <p:nvSpPr>
          <p:cNvPr id="25" name="Shape 23"/>
          <p:cNvSpPr/>
          <p:nvPr/>
        </p:nvSpPr>
        <p:spPr>
          <a:xfrm>
            <a:off x="365760" y="4572000"/>
            <a:ext cx="8412480" cy="384048"/>
          </a:xfrm>
          <a:prstGeom prst="rect">
            <a:avLst/>
          </a:prstGeom>
          <a:solidFill>
            <a:srgbClr val="0A1020"/>
          </a:solidFill>
          <a:ln w="12700">
            <a:solidFill>
              <a:srgbClr val="E3B341"/>
            </a:solidFill>
            <a:prstDash val="solid"/>
          </a:ln>
        </p:spPr>
        <p:txBody>
          <a:bodyPr/>
          <a:lstStyle/>
          <a:p>
            <a:endParaRPr lang="en-US"/>
          </a:p>
        </p:txBody>
      </p:sp>
      <p:sp>
        <p:nvSpPr>
          <p:cNvPr id="26" name="Text 24"/>
          <p:cNvSpPr/>
          <p:nvPr/>
        </p:nvSpPr>
        <p:spPr>
          <a:xfrm>
            <a:off x="502920" y="4599432"/>
            <a:ext cx="8229600" cy="310896"/>
          </a:xfrm>
          <a:prstGeom prst="rect">
            <a:avLst/>
          </a:prstGeom>
          <a:noFill/>
          <a:ln/>
        </p:spPr>
        <p:txBody>
          <a:bodyPr wrap="square" lIns="0" tIns="0" rIns="0" bIns="0" rtlCol="0" anchor="ctr"/>
          <a:lstStyle/>
          <a:p>
            <a:pPr marL="0" indent="0">
              <a:buNone/>
            </a:pPr>
            <a:r>
              <a:rPr lang="en-US" sz="1100" b="1" dirty="0">
                <a:solidFill>
                  <a:srgbClr val="E3B341"/>
                </a:solidFill>
                <a:latin typeface="Calibri" pitchFamily="34" charset="0"/>
                <a:ea typeface="Calibri" pitchFamily="34" charset="-122"/>
                <a:cs typeface="Calibri" pitchFamily="34" charset="-120"/>
              </a:rPr>
              <a:t xml:space="preserve">Why three sorts?  </a:t>
            </a:r>
            <a:r>
              <a:rPr lang="en-US" sz="1100" dirty="0">
                <a:solidFill>
                  <a:srgbClr val="F0F6FC"/>
                </a:solidFill>
                <a:latin typeface="Calibri" pitchFamily="34" charset="0"/>
                <a:ea typeface="Calibri" pitchFamily="34" charset="-122"/>
                <a:cs typeface="Calibri" pitchFamily="34" charset="-120"/>
              </a:rPr>
              <a:t>Each algorithm has a different worst case, a different best case, and a different feel. Knowing all three trains you to recognise patterns in problems and pick the right tool — a habit that pays off in every sorting situation, even ones you have never seen before.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VARIABLES &amp; FLOW</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Insertion Sort in Detail</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The variables you track on every step — and the pseudocode that puts them all together</a:t>
            </a:r>
            <a:endParaRPr lang="en-US" sz="1300" dirty="0"/>
          </a:p>
        </p:txBody>
      </p:sp>
      <p:sp>
        <p:nvSpPr>
          <p:cNvPr id="7" name="Shape 5"/>
          <p:cNvSpPr/>
          <p:nvPr/>
        </p:nvSpPr>
        <p:spPr>
          <a:xfrm>
            <a:off x="411480" y="1170432"/>
            <a:ext cx="3931920" cy="324612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393192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9" name="Text 7"/>
          <p:cNvSpPr/>
          <p:nvPr/>
        </p:nvSpPr>
        <p:spPr>
          <a:xfrm>
            <a:off x="548640" y="1216152"/>
            <a:ext cx="365760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The Variables We Track</a:t>
            </a:r>
            <a:endParaRPr lang="en-US" sz="1100" dirty="0"/>
          </a:p>
        </p:txBody>
      </p:sp>
      <p:sp>
        <p:nvSpPr>
          <p:cNvPr id="10" name="Shape 8"/>
          <p:cNvSpPr/>
          <p:nvPr/>
        </p:nvSpPr>
        <p:spPr>
          <a:xfrm>
            <a:off x="548640" y="1600200"/>
            <a:ext cx="777240" cy="329184"/>
          </a:xfrm>
          <a:prstGeom prst="rect">
            <a:avLst/>
          </a:prstGeom>
          <a:solidFill>
            <a:srgbClr val="3FD9C4">
              <a:alpha val="30000"/>
            </a:srgbClr>
          </a:solidFill>
          <a:ln w="12700">
            <a:solidFill>
              <a:srgbClr val="3FD9C4"/>
            </a:solidFill>
            <a:prstDash val="solid"/>
          </a:ln>
        </p:spPr>
        <p:txBody>
          <a:bodyPr/>
          <a:lstStyle/>
          <a:p>
            <a:endParaRPr lang="en-US"/>
          </a:p>
        </p:txBody>
      </p:sp>
      <p:sp>
        <p:nvSpPr>
          <p:cNvPr id="11" name="Text 9"/>
          <p:cNvSpPr/>
          <p:nvPr/>
        </p:nvSpPr>
        <p:spPr>
          <a:xfrm>
            <a:off x="548640" y="1600200"/>
            <a:ext cx="777240" cy="329184"/>
          </a:xfrm>
          <a:prstGeom prst="rect">
            <a:avLst/>
          </a:prstGeom>
          <a:noFill/>
          <a:ln/>
        </p:spPr>
        <p:txBody>
          <a:bodyPr wrap="square" lIns="0" tIns="0" rIns="0" bIns="0" rtlCol="0" anchor="ctr"/>
          <a:lstStyle/>
          <a:p>
            <a:pPr marL="0" indent="0" algn="ctr">
              <a:buNone/>
            </a:pPr>
            <a:r>
              <a:rPr lang="en-US" sz="950" b="1" dirty="0">
                <a:solidFill>
                  <a:srgbClr val="3FD9C4"/>
                </a:solidFill>
                <a:latin typeface="Consolas" pitchFamily="34" charset="0"/>
                <a:ea typeface="Consolas" pitchFamily="34" charset="-122"/>
                <a:cs typeface="Consolas" pitchFamily="34" charset="-120"/>
              </a:rPr>
              <a:t>list</a:t>
            </a:r>
            <a:endParaRPr lang="en-US" sz="950" dirty="0"/>
          </a:p>
        </p:txBody>
      </p:sp>
      <p:sp>
        <p:nvSpPr>
          <p:cNvPr id="12" name="Text 10"/>
          <p:cNvSpPr/>
          <p:nvPr/>
        </p:nvSpPr>
        <p:spPr>
          <a:xfrm>
            <a:off x="1389888" y="16184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INPUT</a:t>
            </a:r>
            <a:endParaRPr lang="en-US" sz="1100" dirty="0"/>
          </a:p>
        </p:txBody>
      </p:sp>
      <p:sp>
        <p:nvSpPr>
          <p:cNvPr id="13" name="Text 11"/>
          <p:cNvSpPr/>
          <p:nvPr/>
        </p:nvSpPr>
        <p:spPr>
          <a:xfrm>
            <a:off x="1389888" y="18013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The collection to sort</a:t>
            </a:r>
            <a:endParaRPr lang="en-US" sz="900" dirty="0"/>
          </a:p>
        </p:txBody>
      </p:sp>
      <p:sp>
        <p:nvSpPr>
          <p:cNvPr id="14" name="Shape 12"/>
          <p:cNvSpPr/>
          <p:nvPr/>
        </p:nvSpPr>
        <p:spPr>
          <a:xfrm>
            <a:off x="548640" y="2057400"/>
            <a:ext cx="777240" cy="329184"/>
          </a:xfrm>
          <a:prstGeom prst="rect">
            <a:avLst/>
          </a:prstGeom>
          <a:solidFill>
            <a:srgbClr val="58A6FF">
              <a:alpha val="30000"/>
            </a:srgbClr>
          </a:solidFill>
          <a:ln w="12700">
            <a:solidFill>
              <a:srgbClr val="58A6FF"/>
            </a:solidFill>
            <a:prstDash val="solid"/>
          </a:ln>
        </p:spPr>
        <p:txBody>
          <a:bodyPr/>
          <a:lstStyle/>
          <a:p>
            <a:endParaRPr lang="en-US"/>
          </a:p>
        </p:txBody>
      </p:sp>
      <p:sp>
        <p:nvSpPr>
          <p:cNvPr id="15" name="Text 13"/>
          <p:cNvSpPr/>
          <p:nvPr/>
        </p:nvSpPr>
        <p:spPr>
          <a:xfrm>
            <a:off x="548640" y="2057400"/>
            <a:ext cx="777240" cy="329184"/>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length</a:t>
            </a:r>
            <a:endParaRPr lang="en-US" sz="950" dirty="0"/>
          </a:p>
        </p:txBody>
      </p:sp>
      <p:sp>
        <p:nvSpPr>
          <p:cNvPr id="16" name="Text 14"/>
          <p:cNvSpPr/>
          <p:nvPr/>
        </p:nvSpPr>
        <p:spPr>
          <a:xfrm>
            <a:off x="1389888" y="20756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BOUNDARY</a:t>
            </a:r>
            <a:endParaRPr lang="en-US" sz="1100" dirty="0"/>
          </a:p>
        </p:txBody>
      </p:sp>
      <p:sp>
        <p:nvSpPr>
          <p:cNvPr id="17" name="Text 15"/>
          <p:cNvSpPr/>
          <p:nvPr/>
        </p:nvSpPr>
        <p:spPr>
          <a:xfrm>
            <a:off x="1389888" y="22585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How far the outer loop goes</a:t>
            </a:r>
            <a:endParaRPr lang="en-US" sz="900" dirty="0"/>
          </a:p>
        </p:txBody>
      </p:sp>
      <p:sp>
        <p:nvSpPr>
          <p:cNvPr id="18" name="Shape 16"/>
          <p:cNvSpPr/>
          <p:nvPr/>
        </p:nvSpPr>
        <p:spPr>
          <a:xfrm>
            <a:off x="548640" y="2514600"/>
            <a:ext cx="777240" cy="329184"/>
          </a:xfrm>
          <a:prstGeom prst="rect">
            <a:avLst/>
          </a:prstGeom>
          <a:solidFill>
            <a:srgbClr val="BC8CFF">
              <a:alpha val="30000"/>
            </a:srgbClr>
          </a:solidFill>
          <a:ln w="12700">
            <a:solidFill>
              <a:srgbClr val="BC8CFF"/>
            </a:solidFill>
            <a:prstDash val="solid"/>
          </a:ln>
        </p:spPr>
        <p:txBody>
          <a:bodyPr/>
          <a:lstStyle/>
          <a:p>
            <a:endParaRPr lang="en-US"/>
          </a:p>
        </p:txBody>
      </p:sp>
      <p:sp>
        <p:nvSpPr>
          <p:cNvPr id="19" name="Text 17"/>
          <p:cNvSpPr/>
          <p:nvPr/>
        </p:nvSpPr>
        <p:spPr>
          <a:xfrm>
            <a:off x="548640" y="2514600"/>
            <a:ext cx="777240" cy="329184"/>
          </a:xfrm>
          <a:prstGeom prst="rect">
            <a:avLst/>
          </a:prstGeom>
          <a:noFill/>
          <a:ln/>
        </p:spPr>
        <p:txBody>
          <a:bodyPr wrap="square" lIns="0" tIns="0" rIns="0" bIns="0" rtlCol="0" anchor="ctr"/>
          <a:lstStyle/>
          <a:p>
            <a:pPr marL="0" indent="0" algn="ctr">
              <a:buNone/>
            </a:pPr>
            <a:r>
              <a:rPr lang="en-US" sz="950" b="1" dirty="0">
                <a:solidFill>
                  <a:srgbClr val="BC8CFF"/>
                </a:solidFill>
                <a:latin typeface="Consolas" pitchFamily="34" charset="0"/>
                <a:ea typeface="Consolas" pitchFamily="34" charset="-122"/>
                <a:cs typeface="Consolas" pitchFamily="34" charset="-120"/>
              </a:rPr>
              <a:t>i</a:t>
            </a:r>
            <a:endParaRPr lang="en-US" sz="950" dirty="0"/>
          </a:p>
        </p:txBody>
      </p:sp>
      <p:sp>
        <p:nvSpPr>
          <p:cNvPr id="20" name="Text 18"/>
          <p:cNvSpPr/>
          <p:nvPr/>
        </p:nvSpPr>
        <p:spPr>
          <a:xfrm>
            <a:off x="1389888" y="25328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OUTER COUNTER</a:t>
            </a:r>
            <a:endParaRPr lang="en-US" sz="1100" dirty="0"/>
          </a:p>
        </p:txBody>
      </p:sp>
      <p:sp>
        <p:nvSpPr>
          <p:cNvPr id="21" name="Text 19"/>
          <p:cNvSpPr/>
          <p:nvPr/>
        </p:nvSpPr>
        <p:spPr>
          <a:xfrm>
            <a:off x="1389888" y="27157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Index of card to insert</a:t>
            </a:r>
            <a:endParaRPr lang="en-US" sz="900" dirty="0"/>
          </a:p>
        </p:txBody>
      </p:sp>
      <p:sp>
        <p:nvSpPr>
          <p:cNvPr id="22" name="Shape 20"/>
          <p:cNvSpPr/>
          <p:nvPr/>
        </p:nvSpPr>
        <p:spPr>
          <a:xfrm>
            <a:off x="548640" y="2971800"/>
            <a:ext cx="777240" cy="329184"/>
          </a:xfrm>
          <a:prstGeom prst="rect">
            <a:avLst/>
          </a:prstGeom>
          <a:solidFill>
            <a:srgbClr val="FFA657">
              <a:alpha val="30000"/>
            </a:srgbClr>
          </a:solidFill>
          <a:ln w="12700">
            <a:solidFill>
              <a:srgbClr val="FFA657"/>
            </a:solidFill>
            <a:prstDash val="solid"/>
          </a:ln>
        </p:spPr>
        <p:txBody>
          <a:bodyPr/>
          <a:lstStyle/>
          <a:p>
            <a:endParaRPr lang="en-US"/>
          </a:p>
        </p:txBody>
      </p:sp>
      <p:sp>
        <p:nvSpPr>
          <p:cNvPr id="23" name="Text 21"/>
          <p:cNvSpPr/>
          <p:nvPr/>
        </p:nvSpPr>
        <p:spPr>
          <a:xfrm>
            <a:off x="548640" y="2971800"/>
            <a:ext cx="777240" cy="329184"/>
          </a:xfrm>
          <a:prstGeom prst="rect">
            <a:avLst/>
          </a:prstGeom>
          <a:noFill/>
          <a:ln/>
        </p:spPr>
        <p:txBody>
          <a:bodyPr wrap="square" lIns="0" tIns="0" rIns="0" bIns="0" rtlCol="0" anchor="ctr"/>
          <a:lstStyle/>
          <a:p>
            <a:pPr marL="0" indent="0" algn="ctr">
              <a:buNone/>
            </a:pPr>
            <a:r>
              <a:rPr lang="en-US" sz="950" b="1" dirty="0">
                <a:solidFill>
                  <a:srgbClr val="FFA657"/>
                </a:solidFill>
                <a:latin typeface="Consolas" pitchFamily="34" charset="0"/>
                <a:ea typeface="Consolas" pitchFamily="34" charset="-122"/>
                <a:cs typeface="Consolas" pitchFamily="34" charset="-120"/>
              </a:rPr>
              <a:t>key</a:t>
            </a:r>
            <a:endParaRPr lang="en-US" sz="950" dirty="0"/>
          </a:p>
        </p:txBody>
      </p:sp>
      <p:sp>
        <p:nvSpPr>
          <p:cNvPr id="24" name="Text 22"/>
          <p:cNvSpPr/>
          <p:nvPr/>
        </p:nvSpPr>
        <p:spPr>
          <a:xfrm>
            <a:off x="1389888" y="29900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VALUE</a:t>
            </a:r>
            <a:endParaRPr lang="en-US" sz="1100" dirty="0"/>
          </a:p>
        </p:txBody>
      </p:sp>
      <p:sp>
        <p:nvSpPr>
          <p:cNvPr id="25" name="Text 23"/>
          <p:cNvSpPr/>
          <p:nvPr/>
        </p:nvSpPr>
        <p:spPr>
          <a:xfrm>
            <a:off x="1389888" y="31729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Saved copy of list[i]</a:t>
            </a:r>
            <a:endParaRPr lang="en-US" sz="900" dirty="0"/>
          </a:p>
        </p:txBody>
      </p:sp>
      <p:sp>
        <p:nvSpPr>
          <p:cNvPr id="26" name="Shape 24"/>
          <p:cNvSpPr/>
          <p:nvPr/>
        </p:nvSpPr>
        <p:spPr>
          <a:xfrm>
            <a:off x="548640" y="3429000"/>
            <a:ext cx="777240" cy="329184"/>
          </a:xfrm>
          <a:prstGeom prst="rect">
            <a:avLst/>
          </a:prstGeom>
          <a:solidFill>
            <a:srgbClr val="E3B341">
              <a:alpha val="30000"/>
            </a:srgbClr>
          </a:solidFill>
          <a:ln w="12700">
            <a:solidFill>
              <a:srgbClr val="E3B341"/>
            </a:solidFill>
            <a:prstDash val="solid"/>
          </a:ln>
        </p:spPr>
        <p:txBody>
          <a:bodyPr/>
          <a:lstStyle/>
          <a:p>
            <a:endParaRPr lang="en-US"/>
          </a:p>
        </p:txBody>
      </p:sp>
      <p:sp>
        <p:nvSpPr>
          <p:cNvPr id="27" name="Text 25"/>
          <p:cNvSpPr/>
          <p:nvPr/>
        </p:nvSpPr>
        <p:spPr>
          <a:xfrm>
            <a:off x="548640" y="3429000"/>
            <a:ext cx="777240" cy="329184"/>
          </a:xfrm>
          <a:prstGeom prst="rect">
            <a:avLst/>
          </a:prstGeom>
          <a:noFill/>
          <a:ln/>
        </p:spPr>
        <p:txBody>
          <a:bodyPr wrap="square" lIns="0" tIns="0" rIns="0" bIns="0" rtlCol="0" anchor="ctr"/>
          <a:lstStyle/>
          <a:p>
            <a:pPr marL="0" indent="0" algn="ctr">
              <a:buNone/>
            </a:pPr>
            <a:r>
              <a:rPr lang="en-US" sz="950" b="1" dirty="0">
                <a:solidFill>
                  <a:srgbClr val="E3B341"/>
                </a:solidFill>
                <a:latin typeface="Consolas" pitchFamily="34" charset="0"/>
                <a:ea typeface="Consolas" pitchFamily="34" charset="-122"/>
                <a:cs typeface="Consolas" pitchFamily="34" charset="-120"/>
              </a:rPr>
              <a:t>j</a:t>
            </a:r>
            <a:endParaRPr lang="en-US" sz="950" dirty="0"/>
          </a:p>
        </p:txBody>
      </p:sp>
      <p:sp>
        <p:nvSpPr>
          <p:cNvPr id="28" name="Text 26"/>
          <p:cNvSpPr/>
          <p:nvPr/>
        </p:nvSpPr>
        <p:spPr>
          <a:xfrm>
            <a:off x="1389888" y="34472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INNER COUNTER</a:t>
            </a:r>
            <a:endParaRPr lang="en-US" sz="1100" dirty="0"/>
          </a:p>
        </p:txBody>
      </p:sp>
      <p:sp>
        <p:nvSpPr>
          <p:cNvPr id="29" name="Text 27"/>
          <p:cNvSpPr/>
          <p:nvPr/>
        </p:nvSpPr>
        <p:spPr>
          <a:xfrm>
            <a:off x="1389888" y="36301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Walks left through sorted</a:t>
            </a:r>
            <a:endParaRPr lang="en-US" sz="900" dirty="0"/>
          </a:p>
        </p:txBody>
      </p:sp>
      <p:sp>
        <p:nvSpPr>
          <p:cNvPr id="30" name="Shape 28"/>
          <p:cNvSpPr/>
          <p:nvPr/>
        </p:nvSpPr>
        <p:spPr>
          <a:xfrm>
            <a:off x="548640" y="3886200"/>
            <a:ext cx="777240" cy="329184"/>
          </a:xfrm>
          <a:prstGeom prst="rect">
            <a:avLst/>
          </a:prstGeom>
          <a:solidFill>
            <a:srgbClr val="3FB950">
              <a:alpha val="30000"/>
            </a:srgbClr>
          </a:solidFill>
          <a:ln w="12700">
            <a:solidFill>
              <a:srgbClr val="3FB950"/>
            </a:solidFill>
            <a:prstDash val="solid"/>
          </a:ln>
        </p:spPr>
        <p:txBody>
          <a:bodyPr/>
          <a:lstStyle/>
          <a:p>
            <a:endParaRPr lang="en-US"/>
          </a:p>
        </p:txBody>
      </p:sp>
      <p:sp>
        <p:nvSpPr>
          <p:cNvPr id="31" name="Text 29"/>
          <p:cNvSpPr/>
          <p:nvPr/>
        </p:nvSpPr>
        <p:spPr>
          <a:xfrm>
            <a:off x="548640" y="3886200"/>
            <a:ext cx="777240" cy="329184"/>
          </a:xfrm>
          <a:prstGeom prst="rect">
            <a:avLst/>
          </a:prstGeom>
          <a:noFill/>
          <a:ln/>
        </p:spPr>
        <p:txBody>
          <a:bodyPr wrap="square" lIns="0" tIns="0" rIns="0" bIns="0" rtlCol="0" anchor="ctr"/>
          <a:lstStyle/>
          <a:p>
            <a:pPr marL="0" indent="0" algn="ctr">
              <a:buNone/>
            </a:pPr>
            <a:r>
              <a:rPr lang="en-US" sz="950" b="1" dirty="0">
                <a:solidFill>
                  <a:srgbClr val="3FB950"/>
                </a:solidFill>
                <a:latin typeface="Consolas" pitchFamily="34" charset="0"/>
                <a:ea typeface="Consolas" pitchFamily="34" charset="-122"/>
                <a:cs typeface="Consolas" pitchFamily="34" charset="-120"/>
              </a:rPr>
              <a:t>list[j]</a:t>
            </a:r>
            <a:endParaRPr lang="en-US" sz="950" dirty="0"/>
          </a:p>
        </p:txBody>
      </p:sp>
      <p:sp>
        <p:nvSpPr>
          <p:cNvPr id="32" name="Text 30"/>
          <p:cNvSpPr/>
          <p:nvPr/>
        </p:nvSpPr>
        <p:spPr>
          <a:xfrm>
            <a:off x="1389888" y="39044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COMPARED</a:t>
            </a:r>
            <a:endParaRPr lang="en-US" sz="1100" dirty="0"/>
          </a:p>
        </p:txBody>
      </p:sp>
      <p:sp>
        <p:nvSpPr>
          <p:cNvPr id="33" name="Text 31"/>
          <p:cNvSpPr/>
          <p:nvPr/>
        </p:nvSpPr>
        <p:spPr>
          <a:xfrm>
            <a:off x="1389888" y="40873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Sorted item under inspection</a:t>
            </a:r>
            <a:endParaRPr lang="en-US" sz="900" dirty="0"/>
          </a:p>
        </p:txBody>
      </p:sp>
      <p:sp>
        <p:nvSpPr>
          <p:cNvPr id="34" name="Shape 32"/>
          <p:cNvSpPr/>
          <p:nvPr/>
        </p:nvSpPr>
        <p:spPr>
          <a:xfrm>
            <a:off x="4480560" y="1170432"/>
            <a:ext cx="4251960" cy="1536192"/>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35" name="Shape 33"/>
          <p:cNvSpPr/>
          <p:nvPr/>
        </p:nvSpPr>
        <p:spPr>
          <a:xfrm>
            <a:off x="4480560" y="1170432"/>
            <a:ext cx="425196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36" name="Text 34"/>
          <p:cNvSpPr/>
          <p:nvPr/>
        </p:nvSpPr>
        <p:spPr>
          <a:xfrm>
            <a:off x="4617720" y="1216152"/>
            <a:ext cx="39776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The Complete Pseudocode</a:t>
            </a:r>
            <a:endParaRPr lang="en-US" sz="1100" dirty="0"/>
          </a:p>
        </p:txBody>
      </p:sp>
      <p:sp>
        <p:nvSpPr>
          <p:cNvPr id="37" name="Text 35"/>
          <p:cNvSpPr/>
          <p:nvPr/>
        </p:nvSpPr>
        <p:spPr>
          <a:xfrm>
            <a:off x="4617720" y="1572768"/>
            <a:ext cx="3977640" cy="237744"/>
          </a:xfrm>
          <a:prstGeom prst="rect">
            <a:avLst/>
          </a:prstGeom>
          <a:noFill/>
          <a:ln/>
        </p:spPr>
        <p:txBody>
          <a:bodyPr wrap="square" lIns="0" tIns="0" rIns="0" bIns="0" rtlCol="0" anchor="ctr"/>
          <a:lstStyle/>
          <a:p>
            <a:pPr marL="0" indent="0">
              <a:buNone/>
            </a:pPr>
            <a:r>
              <a:rPr lang="en-US" sz="1050" dirty="0">
                <a:solidFill>
                  <a:srgbClr val="F0F6FC"/>
                </a:solidFill>
                <a:latin typeface="Consolas" pitchFamily="34" charset="0"/>
                <a:ea typeface="Consolas" pitchFamily="34" charset="-122"/>
                <a:cs typeface="Consolas" pitchFamily="34" charset="-120"/>
              </a:rPr>
              <a:t>FUNCTION insertionSort(list):</a:t>
            </a:r>
            <a:endParaRPr lang="en-US" sz="1050" dirty="0"/>
          </a:p>
        </p:txBody>
      </p:sp>
      <p:sp>
        <p:nvSpPr>
          <p:cNvPr id="38" name="Text 36"/>
          <p:cNvSpPr/>
          <p:nvPr/>
        </p:nvSpPr>
        <p:spPr>
          <a:xfrm>
            <a:off x="4617720" y="1819656"/>
            <a:ext cx="3977640" cy="219456"/>
          </a:xfrm>
          <a:prstGeom prst="rect">
            <a:avLst/>
          </a:prstGeom>
          <a:noFill/>
          <a:ln/>
        </p:spPr>
        <p:txBody>
          <a:bodyPr wrap="square" lIns="0" tIns="0" rIns="0" bIns="0" rtlCol="0" anchor="ctr"/>
          <a:lstStyle/>
          <a:p>
            <a:pPr marL="0" indent="0">
              <a:buNone/>
            </a:pPr>
            <a:r>
              <a:rPr lang="en-US" sz="1050" dirty="0">
                <a:solidFill>
                  <a:srgbClr val="8B949E"/>
                </a:solidFill>
                <a:latin typeface="Consolas" pitchFamily="34" charset="0"/>
                <a:ea typeface="Consolas" pitchFamily="34" charset="-122"/>
                <a:cs typeface="Consolas" pitchFamily="34" charset="-120"/>
              </a:rPr>
              <a:t>FOR i: key ← list[i], shift list[j] right while &gt; key</a:t>
            </a:r>
            <a:endParaRPr lang="en-US" sz="1050" dirty="0"/>
          </a:p>
        </p:txBody>
      </p:sp>
      <p:sp>
        <p:nvSpPr>
          <p:cNvPr id="39" name="Shape 37"/>
          <p:cNvSpPr/>
          <p:nvPr/>
        </p:nvSpPr>
        <p:spPr>
          <a:xfrm>
            <a:off x="4617720" y="2139696"/>
            <a:ext cx="457200" cy="274320"/>
          </a:xfrm>
          <a:prstGeom prst="rect">
            <a:avLst/>
          </a:prstGeom>
          <a:solidFill>
            <a:srgbClr val="3FD9C4">
              <a:alpha val="22000"/>
            </a:srgbClr>
          </a:solidFill>
          <a:ln w="12700">
            <a:solidFill>
              <a:srgbClr val="3FD9C4"/>
            </a:solidFill>
            <a:prstDash val="solid"/>
          </a:ln>
        </p:spPr>
        <p:txBody>
          <a:bodyPr/>
          <a:lstStyle/>
          <a:p>
            <a:endParaRPr lang="en-US"/>
          </a:p>
        </p:txBody>
      </p:sp>
      <p:sp>
        <p:nvSpPr>
          <p:cNvPr id="40" name="Text 38"/>
          <p:cNvSpPr/>
          <p:nvPr/>
        </p:nvSpPr>
        <p:spPr>
          <a:xfrm>
            <a:off x="4617720" y="2139696"/>
            <a:ext cx="457200" cy="274320"/>
          </a:xfrm>
          <a:prstGeom prst="rect">
            <a:avLst/>
          </a:prstGeom>
          <a:noFill/>
          <a:ln/>
        </p:spPr>
        <p:txBody>
          <a:bodyPr wrap="square" lIns="0" tIns="0" rIns="0" bIns="0" rtlCol="0" anchor="ctr"/>
          <a:lstStyle/>
          <a:p>
            <a:pPr marL="0" indent="0" algn="ctr">
              <a:buNone/>
            </a:pPr>
            <a:r>
              <a:rPr lang="en-US" sz="950" b="1" dirty="0">
                <a:solidFill>
                  <a:srgbClr val="3FD9C4"/>
                </a:solidFill>
                <a:latin typeface="Consolas" pitchFamily="34" charset="0"/>
                <a:ea typeface="Consolas" pitchFamily="34" charset="-122"/>
                <a:cs typeface="Consolas" pitchFamily="34" charset="-120"/>
              </a:rPr>
              <a:t>L1</a:t>
            </a:r>
            <a:endParaRPr lang="en-US" sz="950" dirty="0"/>
          </a:p>
        </p:txBody>
      </p:sp>
      <p:sp>
        <p:nvSpPr>
          <p:cNvPr id="41" name="Shape 39"/>
          <p:cNvSpPr/>
          <p:nvPr/>
        </p:nvSpPr>
        <p:spPr>
          <a:xfrm>
            <a:off x="5148072" y="2139696"/>
            <a:ext cx="457200" cy="274320"/>
          </a:xfrm>
          <a:prstGeom prst="rect">
            <a:avLst/>
          </a:prstGeom>
          <a:solidFill>
            <a:srgbClr val="3FD9C4">
              <a:alpha val="22000"/>
            </a:srgbClr>
          </a:solidFill>
          <a:ln w="12700">
            <a:solidFill>
              <a:srgbClr val="3FD9C4"/>
            </a:solidFill>
            <a:prstDash val="solid"/>
          </a:ln>
        </p:spPr>
        <p:txBody>
          <a:bodyPr/>
          <a:lstStyle/>
          <a:p>
            <a:endParaRPr lang="en-US"/>
          </a:p>
        </p:txBody>
      </p:sp>
      <p:sp>
        <p:nvSpPr>
          <p:cNvPr id="42" name="Text 40"/>
          <p:cNvSpPr/>
          <p:nvPr/>
        </p:nvSpPr>
        <p:spPr>
          <a:xfrm>
            <a:off x="5148072" y="2139696"/>
            <a:ext cx="457200" cy="274320"/>
          </a:xfrm>
          <a:prstGeom prst="rect">
            <a:avLst/>
          </a:prstGeom>
          <a:noFill/>
          <a:ln/>
        </p:spPr>
        <p:txBody>
          <a:bodyPr wrap="square" lIns="0" tIns="0" rIns="0" bIns="0" rtlCol="0" anchor="ctr"/>
          <a:lstStyle/>
          <a:p>
            <a:pPr marL="0" indent="0" algn="ctr">
              <a:buNone/>
            </a:pPr>
            <a:r>
              <a:rPr lang="en-US" sz="950" b="1" dirty="0">
                <a:solidFill>
                  <a:srgbClr val="3FD9C4"/>
                </a:solidFill>
                <a:latin typeface="Consolas" pitchFamily="34" charset="0"/>
                <a:ea typeface="Consolas" pitchFamily="34" charset="-122"/>
                <a:cs typeface="Consolas" pitchFamily="34" charset="-120"/>
              </a:rPr>
              <a:t>L2</a:t>
            </a:r>
            <a:endParaRPr lang="en-US" sz="950" dirty="0"/>
          </a:p>
        </p:txBody>
      </p:sp>
      <p:sp>
        <p:nvSpPr>
          <p:cNvPr id="43" name="Shape 41"/>
          <p:cNvSpPr/>
          <p:nvPr/>
        </p:nvSpPr>
        <p:spPr>
          <a:xfrm>
            <a:off x="5678424"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44" name="Text 42"/>
          <p:cNvSpPr/>
          <p:nvPr/>
        </p:nvSpPr>
        <p:spPr>
          <a:xfrm>
            <a:off x="5678424"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L3</a:t>
            </a:r>
            <a:endParaRPr lang="en-US" sz="950" dirty="0"/>
          </a:p>
        </p:txBody>
      </p:sp>
      <p:sp>
        <p:nvSpPr>
          <p:cNvPr id="45" name="Shape 43"/>
          <p:cNvSpPr/>
          <p:nvPr/>
        </p:nvSpPr>
        <p:spPr>
          <a:xfrm>
            <a:off x="6208776"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46" name="Text 44"/>
          <p:cNvSpPr/>
          <p:nvPr/>
        </p:nvSpPr>
        <p:spPr>
          <a:xfrm>
            <a:off x="6208776"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L4</a:t>
            </a:r>
            <a:endParaRPr lang="en-US" sz="950" dirty="0"/>
          </a:p>
        </p:txBody>
      </p:sp>
      <p:sp>
        <p:nvSpPr>
          <p:cNvPr id="47" name="Shape 45"/>
          <p:cNvSpPr/>
          <p:nvPr/>
        </p:nvSpPr>
        <p:spPr>
          <a:xfrm>
            <a:off x="6739128"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48" name="Text 46"/>
          <p:cNvSpPr/>
          <p:nvPr/>
        </p:nvSpPr>
        <p:spPr>
          <a:xfrm>
            <a:off x="6739128"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L5</a:t>
            </a:r>
            <a:endParaRPr lang="en-US" sz="950" dirty="0"/>
          </a:p>
        </p:txBody>
      </p:sp>
      <p:sp>
        <p:nvSpPr>
          <p:cNvPr id="49" name="Shape 47"/>
          <p:cNvSpPr/>
          <p:nvPr/>
        </p:nvSpPr>
        <p:spPr>
          <a:xfrm>
            <a:off x="7269480"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50" name="Text 48"/>
          <p:cNvSpPr/>
          <p:nvPr/>
        </p:nvSpPr>
        <p:spPr>
          <a:xfrm>
            <a:off x="7269480"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L6</a:t>
            </a:r>
            <a:endParaRPr lang="en-US" sz="950" dirty="0"/>
          </a:p>
        </p:txBody>
      </p:sp>
      <p:sp>
        <p:nvSpPr>
          <p:cNvPr id="51" name="Shape 49"/>
          <p:cNvSpPr/>
          <p:nvPr/>
        </p:nvSpPr>
        <p:spPr>
          <a:xfrm>
            <a:off x="7799832"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52" name="Text 50"/>
          <p:cNvSpPr/>
          <p:nvPr/>
        </p:nvSpPr>
        <p:spPr>
          <a:xfrm>
            <a:off x="7799832"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L7</a:t>
            </a:r>
            <a:endParaRPr lang="en-US" sz="950" dirty="0"/>
          </a:p>
        </p:txBody>
      </p:sp>
      <p:sp>
        <p:nvSpPr>
          <p:cNvPr id="53" name="Shape 51"/>
          <p:cNvSpPr/>
          <p:nvPr/>
        </p:nvSpPr>
        <p:spPr>
          <a:xfrm>
            <a:off x="8330184"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54" name="Text 52"/>
          <p:cNvSpPr/>
          <p:nvPr/>
        </p:nvSpPr>
        <p:spPr>
          <a:xfrm>
            <a:off x="8330184"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L8</a:t>
            </a:r>
            <a:endParaRPr lang="en-US" sz="950" dirty="0"/>
          </a:p>
        </p:txBody>
      </p:sp>
      <p:sp>
        <p:nvSpPr>
          <p:cNvPr id="55" name="Text 53"/>
          <p:cNvSpPr/>
          <p:nvPr/>
        </p:nvSpPr>
        <p:spPr>
          <a:xfrm>
            <a:off x="4617720" y="2450592"/>
            <a:ext cx="3977640"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FUNC    FOR    KEY    J    WHILE    SHIFT    SET    END</a:t>
            </a:r>
            <a:endParaRPr lang="en-US" sz="850" dirty="0"/>
          </a:p>
        </p:txBody>
      </p:sp>
      <p:sp>
        <p:nvSpPr>
          <p:cNvPr id="56" name="Shape 54"/>
          <p:cNvSpPr/>
          <p:nvPr/>
        </p:nvSpPr>
        <p:spPr>
          <a:xfrm>
            <a:off x="4480560" y="2834640"/>
            <a:ext cx="4251960" cy="1581912"/>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57" name="Shape 55"/>
          <p:cNvSpPr/>
          <p:nvPr/>
        </p:nvSpPr>
        <p:spPr>
          <a:xfrm>
            <a:off x="4480560" y="2834640"/>
            <a:ext cx="4251960"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58" name="Text 56"/>
          <p:cNvSpPr/>
          <p:nvPr/>
        </p:nvSpPr>
        <p:spPr>
          <a:xfrm>
            <a:off x="4617720" y="2880360"/>
            <a:ext cx="39776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Why Insertion is fast on sorted data</a:t>
            </a:r>
            <a:endParaRPr lang="en-US" sz="1100" dirty="0"/>
          </a:p>
        </p:txBody>
      </p:sp>
      <p:sp>
        <p:nvSpPr>
          <p:cNvPr id="75" name="Text 73"/>
          <p:cNvSpPr/>
          <p:nvPr/>
        </p:nvSpPr>
        <p:spPr>
          <a:xfrm>
            <a:off x="4617720" y="3977640"/>
            <a:ext cx="3977640" cy="329184"/>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If the list is already sorted, the WHILE loop never runs — list[j] is already smaller than key. The whole sort finishes in just N-1 comparisons. That is why Insertion Sort is the fastest of the simple sorts on nearly-sorted input.</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SELECTION SORT</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Selection Sort — Step by Step</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Six steps that find and place one minimum value per pass — the disciplined way to sort</a:t>
            </a:r>
            <a:endParaRPr lang="en-US" sz="1300" dirty="0"/>
          </a:p>
        </p:txBody>
      </p:sp>
      <p:sp>
        <p:nvSpPr>
          <p:cNvPr id="7" name="Shape 5"/>
          <p:cNvSpPr/>
          <p:nvPr/>
        </p:nvSpPr>
        <p:spPr>
          <a:xfrm>
            <a:off x="411480" y="1170432"/>
            <a:ext cx="4206240" cy="109728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420624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Shape 7"/>
          <p:cNvSpPr/>
          <p:nvPr/>
        </p:nvSpPr>
        <p:spPr>
          <a:xfrm>
            <a:off x="521208" y="1207008"/>
            <a:ext cx="347472" cy="347472"/>
          </a:xfrm>
          <a:prstGeom prst="ellipse">
            <a:avLst/>
          </a:prstGeom>
          <a:solidFill>
            <a:srgbClr val="3FD9C4">
              <a:alpha val="80000"/>
            </a:srgbClr>
          </a:solidFill>
          <a:ln w="19050">
            <a:solidFill>
              <a:srgbClr val="3FD9C4"/>
            </a:solidFill>
            <a:prstDash val="solid"/>
          </a:ln>
        </p:spPr>
        <p:txBody>
          <a:bodyPr/>
          <a:lstStyle/>
          <a:p>
            <a:endParaRPr lang="en-US"/>
          </a:p>
        </p:txBody>
      </p:sp>
      <p:sp>
        <p:nvSpPr>
          <p:cNvPr id="10" name="Text 8"/>
          <p:cNvSpPr/>
          <p:nvPr/>
        </p:nvSpPr>
        <p:spPr>
          <a:xfrm>
            <a:off x="521208" y="1207008"/>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1</a:t>
            </a:r>
            <a:endParaRPr lang="en-US" sz="1400" dirty="0">
              <a:solidFill>
                <a:schemeClr val="bg1"/>
              </a:solidFill>
            </a:endParaRPr>
          </a:p>
        </p:txBody>
      </p:sp>
      <p:sp>
        <p:nvSpPr>
          <p:cNvPr id="11" name="Text 9"/>
          <p:cNvSpPr/>
          <p:nvPr/>
        </p:nvSpPr>
        <p:spPr>
          <a:xfrm>
            <a:off x="960120" y="1225296"/>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Receive the list</a:t>
            </a:r>
            <a:endParaRPr lang="en-US" sz="1200" dirty="0"/>
          </a:p>
        </p:txBody>
      </p:sp>
      <p:sp>
        <p:nvSpPr>
          <p:cNvPr id="12" name="Shape 10"/>
          <p:cNvSpPr/>
          <p:nvPr/>
        </p:nvSpPr>
        <p:spPr>
          <a:xfrm>
            <a:off x="548640" y="1517904"/>
            <a:ext cx="3931920" cy="0"/>
          </a:xfrm>
          <a:prstGeom prst="line">
            <a:avLst/>
          </a:prstGeom>
          <a:noFill/>
          <a:ln w="7620">
            <a:solidFill>
              <a:srgbClr val="3D444D"/>
            </a:solidFill>
            <a:prstDash val="solid"/>
          </a:ln>
        </p:spPr>
        <p:txBody>
          <a:bodyPr/>
          <a:lstStyle/>
          <a:p>
            <a:endParaRPr lang="en-US"/>
          </a:p>
        </p:txBody>
      </p:sp>
      <p:sp>
        <p:nvSpPr>
          <p:cNvPr id="13" name="Text 11"/>
          <p:cNvSpPr/>
          <p:nvPr/>
        </p:nvSpPr>
        <p:spPr>
          <a:xfrm>
            <a:off x="548640" y="1572768"/>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Take in the unsorted list.</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We will treat positions 0</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through length-1 as the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boundary between regions.</a:t>
            </a:r>
            <a:endParaRPr lang="en-US" sz="1050" dirty="0"/>
          </a:p>
        </p:txBody>
      </p:sp>
      <p:sp>
        <p:nvSpPr>
          <p:cNvPr id="14" name="Shape 12"/>
          <p:cNvSpPr/>
          <p:nvPr/>
        </p:nvSpPr>
        <p:spPr>
          <a:xfrm>
            <a:off x="411480" y="2386584"/>
            <a:ext cx="4206240" cy="109728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15" name="Shape 13"/>
          <p:cNvSpPr/>
          <p:nvPr/>
        </p:nvSpPr>
        <p:spPr>
          <a:xfrm>
            <a:off x="411480" y="2386584"/>
            <a:ext cx="420624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16" name="Shape 14"/>
          <p:cNvSpPr/>
          <p:nvPr/>
        </p:nvSpPr>
        <p:spPr>
          <a:xfrm>
            <a:off x="521208" y="2423160"/>
            <a:ext cx="347472" cy="347472"/>
          </a:xfrm>
          <a:prstGeom prst="ellipse">
            <a:avLst/>
          </a:prstGeom>
          <a:solidFill>
            <a:srgbClr val="58A6FF">
              <a:alpha val="80000"/>
            </a:srgbClr>
          </a:solidFill>
          <a:ln w="19050">
            <a:solidFill>
              <a:srgbClr val="58A6FF"/>
            </a:solidFill>
            <a:prstDash val="solid"/>
          </a:ln>
        </p:spPr>
        <p:txBody>
          <a:bodyPr/>
          <a:lstStyle/>
          <a:p>
            <a:endParaRPr lang="en-US"/>
          </a:p>
        </p:txBody>
      </p:sp>
      <p:sp>
        <p:nvSpPr>
          <p:cNvPr id="17" name="Text 15"/>
          <p:cNvSpPr/>
          <p:nvPr/>
        </p:nvSpPr>
        <p:spPr>
          <a:xfrm>
            <a:off x="521208" y="242316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2</a:t>
            </a:r>
            <a:endParaRPr lang="en-US" sz="1400" dirty="0">
              <a:solidFill>
                <a:schemeClr val="bg1"/>
              </a:solidFill>
            </a:endParaRPr>
          </a:p>
        </p:txBody>
      </p:sp>
      <p:sp>
        <p:nvSpPr>
          <p:cNvPr id="18" name="Text 16"/>
          <p:cNvSpPr/>
          <p:nvPr/>
        </p:nvSpPr>
        <p:spPr>
          <a:xfrm>
            <a:off x="960120" y="2441448"/>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Mark position i</a:t>
            </a:r>
            <a:endParaRPr lang="en-US" sz="1200" dirty="0"/>
          </a:p>
        </p:txBody>
      </p:sp>
      <p:sp>
        <p:nvSpPr>
          <p:cNvPr id="19" name="Shape 17"/>
          <p:cNvSpPr/>
          <p:nvPr/>
        </p:nvSpPr>
        <p:spPr>
          <a:xfrm>
            <a:off x="548640" y="2734056"/>
            <a:ext cx="3931920" cy="0"/>
          </a:xfrm>
          <a:prstGeom prst="line">
            <a:avLst/>
          </a:prstGeom>
          <a:noFill/>
          <a:ln w="7620">
            <a:solidFill>
              <a:srgbClr val="3D444D"/>
            </a:solidFill>
            <a:prstDash val="solid"/>
          </a:ln>
        </p:spPr>
        <p:txBody>
          <a:bodyPr/>
          <a:lstStyle/>
          <a:p>
            <a:endParaRPr lang="en-US"/>
          </a:p>
        </p:txBody>
      </p:sp>
      <p:sp>
        <p:nvSpPr>
          <p:cNvPr id="20" name="Text 18"/>
          <p:cNvSpPr/>
          <p:nvPr/>
        </p:nvSpPr>
        <p:spPr>
          <a:xfrm>
            <a:off x="548640" y="2788920"/>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Set i = 0. Everything to</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the left of i is sorted;</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everything from i to the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end is unsorted territory.</a:t>
            </a:r>
            <a:endParaRPr lang="en-US" sz="1050" dirty="0"/>
          </a:p>
        </p:txBody>
      </p:sp>
      <p:sp>
        <p:nvSpPr>
          <p:cNvPr id="21" name="Shape 19"/>
          <p:cNvSpPr/>
          <p:nvPr/>
        </p:nvSpPr>
        <p:spPr>
          <a:xfrm>
            <a:off x="411480" y="3602736"/>
            <a:ext cx="4206240" cy="109728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22" name="Shape 20"/>
          <p:cNvSpPr/>
          <p:nvPr/>
        </p:nvSpPr>
        <p:spPr>
          <a:xfrm>
            <a:off x="411480" y="3602736"/>
            <a:ext cx="4206240"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23" name="Shape 21"/>
          <p:cNvSpPr/>
          <p:nvPr/>
        </p:nvSpPr>
        <p:spPr>
          <a:xfrm>
            <a:off x="521208" y="3639312"/>
            <a:ext cx="347472" cy="347472"/>
          </a:xfrm>
          <a:prstGeom prst="ellipse">
            <a:avLst/>
          </a:prstGeom>
          <a:solidFill>
            <a:srgbClr val="BC8CFF">
              <a:alpha val="80000"/>
            </a:srgbClr>
          </a:solidFill>
          <a:ln w="19050">
            <a:solidFill>
              <a:srgbClr val="BC8CFF"/>
            </a:solidFill>
            <a:prstDash val="solid"/>
          </a:ln>
        </p:spPr>
        <p:txBody>
          <a:bodyPr/>
          <a:lstStyle/>
          <a:p>
            <a:endParaRPr lang="en-US"/>
          </a:p>
        </p:txBody>
      </p:sp>
      <p:sp>
        <p:nvSpPr>
          <p:cNvPr id="24" name="Text 22"/>
          <p:cNvSpPr/>
          <p:nvPr/>
        </p:nvSpPr>
        <p:spPr>
          <a:xfrm>
            <a:off x="521208" y="3639312"/>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3</a:t>
            </a:r>
            <a:endParaRPr lang="en-US" sz="1400" dirty="0">
              <a:solidFill>
                <a:schemeClr val="bg1"/>
              </a:solidFill>
            </a:endParaRPr>
          </a:p>
        </p:txBody>
      </p:sp>
      <p:sp>
        <p:nvSpPr>
          <p:cNvPr id="25" name="Text 23"/>
          <p:cNvSpPr/>
          <p:nvPr/>
        </p:nvSpPr>
        <p:spPr>
          <a:xfrm>
            <a:off x="960120" y="3657600"/>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Find the minimum</a:t>
            </a:r>
            <a:endParaRPr lang="en-US" sz="1200" dirty="0"/>
          </a:p>
        </p:txBody>
      </p:sp>
      <p:sp>
        <p:nvSpPr>
          <p:cNvPr id="26" name="Shape 24"/>
          <p:cNvSpPr/>
          <p:nvPr/>
        </p:nvSpPr>
        <p:spPr>
          <a:xfrm>
            <a:off x="548640" y="3950208"/>
            <a:ext cx="3931920" cy="0"/>
          </a:xfrm>
          <a:prstGeom prst="line">
            <a:avLst/>
          </a:prstGeom>
          <a:noFill/>
          <a:ln w="7620">
            <a:solidFill>
              <a:srgbClr val="3D444D"/>
            </a:solidFill>
            <a:prstDash val="solid"/>
          </a:ln>
        </p:spPr>
        <p:txBody>
          <a:bodyPr/>
          <a:lstStyle/>
          <a:p>
            <a:endParaRPr lang="en-US"/>
          </a:p>
        </p:txBody>
      </p:sp>
      <p:sp>
        <p:nvSpPr>
          <p:cNvPr id="27" name="Text 25"/>
          <p:cNvSpPr/>
          <p:nvPr/>
        </p:nvSpPr>
        <p:spPr>
          <a:xfrm>
            <a:off x="548640" y="4005072"/>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Scan from i to the end.</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Track the smallest value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seen so far in a variable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called minIndex.</a:t>
            </a:r>
            <a:endParaRPr lang="en-US" sz="1050" dirty="0"/>
          </a:p>
        </p:txBody>
      </p:sp>
      <p:sp>
        <p:nvSpPr>
          <p:cNvPr id="28" name="Shape 26"/>
          <p:cNvSpPr/>
          <p:nvPr/>
        </p:nvSpPr>
        <p:spPr>
          <a:xfrm>
            <a:off x="4800600" y="1170432"/>
            <a:ext cx="4206240" cy="109728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9" name="Shape 27"/>
          <p:cNvSpPr/>
          <p:nvPr/>
        </p:nvSpPr>
        <p:spPr>
          <a:xfrm>
            <a:off x="4800600" y="1170432"/>
            <a:ext cx="4206240"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30" name="Shape 28"/>
          <p:cNvSpPr/>
          <p:nvPr/>
        </p:nvSpPr>
        <p:spPr>
          <a:xfrm>
            <a:off x="4910328" y="1207008"/>
            <a:ext cx="347472" cy="347472"/>
          </a:xfrm>
          <a:prstGeom prst="ellipse">
            <a:avLst/>
          </a:prstGeom>
          <a:solidFill>
            <a:srgbClr val="FFA657">
              <a:alpha val="80000"/>
            </a:srgbClr>
          </a:solidFill>
          <a:ln w="19050">
            <a:solidFill>
              <a:srgbClr val="FFA657"/>
            </a:solidFill>
            <a:prstDash val="solid"/>
          </a:ln>
        </p:spPr>
        <p:txBody>
          <a:bodyPr/>
          <a:lstStyle/>
          <a:p>
            <a:endParaRPr lang="en-US"/>
          </a:p>
        </p:txBody>
      </p:sp>
      <p:sp>
        <p:nvSpPr>
          <p:cNvPr id="31" name="Text 29"/>
          <p:cNvSpPr/>
          <p:nvPr/>
        </p:nvSpPr>
        <p:spPr>
          <a:xfrm>
            <a:off x="4910328" y="1207008"/>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4</a:t>
            </a:r>
            <a:endParaRPr lang="en-US" sz="1400" dirty="0">
              <a:solidFill>
                <a:schemeClr val="bg1"/>
              </a:solidFill>
            </a:endParaRPr>
          </a:p>
        </p:txBody>
      </p:sp>
      <p:sp>
        <p:nvSpPr>
          <p:cNvPr id="32" name="Text 30"/>
          <p:cNvSpPr/>
          <p:nvPr/>
        </p:nvSpPr>
        <p:spPr>
          <a:xfrm>
            <a:off x="5349240" y="1225296"/>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Swap into place</a:t>
            </a:r>
            <a:endParaRPr lang="en-US" sz="1200" dirty="0"/>
          </a:p>
        </p:txBody>
      </p:sp>
      <p:sp>
        <p:nvSpPr>
          <p:cNvPr id="33" name="Shape 31"/>
          <p:cNvSpPr/>
          <p:nvPr/>
        </p:nvSpPr>
        <p:spPr>
          <a:xfrm>
            <a:off x="4937760" y="1517904"/>
            <a:ext cx="3931920" cy="0"/>
          </a:xfrm>
          <a:prstGeom prst="line">
            <a:avLst/>
          </a:prstGeom>
          <a:noFill/>
          <a:ln w="7620">
            <a:solidFill>
              <a:srgbClr val="3D444D"/>
            </a:solidFill>
            <a:prstDash val="solid"/>
          </a:ln>
        </p:spPr>
        <p:txBody>
          <a:bodyPr/>
          <a:lstStyle/>
          <a:p>
            <a:endParaRPr lang="en-US"/>
          </a:p>
        </p:txBody>
      </p:sp>
      <p:sp>
        <p:nvSpPr>
          <p:cNvPr id="34" name="Text 32"/>
          <p:cNvSpPr/>
          <p:nvPr/>
        </p:nvSpPr>
        <p:spPr>
          <a:xfrm>
            <a:off x="4937760" y="1572768"/>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If minIndex differs from i,</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swap list[i] and</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list[minIndex]. The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minimum is now at i.</a:t>
            </a:r>
            <a:endParaRPr lang="en-US" sz="1050" dirty="0"/>
          </a:p>
        </p:txBody>
      </p:sp>
      <p:sp>
        <p:nvSpPr>
          <p:cNvPr id="35" name="Shape 33"/>
          <p:cNvSpPr/>
          <p:nvPr/>
        </p:nvSpPr>
        <p:spPr>
          <a:xfrm>
            <a:off x="4800600" y="2386584"/>
            <a:ext cx="4206240" cy="1097280"/>
          </a:xfrm>
          <a:prstGeom prst="rect">
            <a:avLst/>
          </a:prstGeom>
          <a:solidFill>
            <a:srgbClr val="161B26"/>
          </a:solidFill>
          <a:ln w="15240">
            <a:solidFill>
              <a:srgbClr val="E3B341"/>
            </a:solidFill>
            <a:prstDash val="solid"/>
          </a:ln>
          <a:effectLst>
            <a:outerShdw blurRad="177800" dist="38100" dir="8100000" algn="bl" rotWithShape="0">
              <a:srgbClr val="000000">
                <a:alpha val="35000"/>
              </a:srgbClr>
            </a:outerShdw>
          </a:effectLst>
        </p:spPr>
        <p:txBody>
          <a:bodyPr/>
          <a:lstStyle/>
          <a:p>
            <a:endParaRPr lang="en-US"/>
          </a:p>
        </p:txBody>
      </p:sp>
      <p:sp>
        <p:nvSpPr>
          <p:cNvPr id="36" name="Shape 34"/>
          <p:cNvSpPr/>
          <p:nvPr/>
        </p:nvSpPr>
        <p:spPr>
          <a:xfrm>
            <a:off x="4800600" y="2386584"/>
            <a:ext cx="4206240" cy="329184"/>
          </a:xfrm>
          <a:prstGeom prst="rect">
            <a:avLst/>
          </a:prstGeom>
          <a:solidFill>
            <a:srgbClr val="E3B341">
              <a:alpha val="78000"/>
            </a:srgbClr>
          </a:solidFill>
          <a:ln w="12700">
            <a:solidFill>
              <a:srgbClr val="E3B341"/>
            </a:solidFill>
            <a:prstDash val="solid"/>
          </a:ln>
        </p:spPr>
        <p:txBody>
          <a:bodyPr/>
          <a:lstStyle/>
          <a:p>
            <a:endParaRPr lang="en-US"/>
          </a:p>
        </p:txBody>
      </p:sp>
      <p:sp>
        <p:nvSpPr>
          <p:cNvPr id="37" name="Shape 35"/>
          <p:cNvSpPr/>
          <p:nvPr/>
        </p:nvSpPr>
        <p:spPr>
          <a:xfrm>
            <a:off x="4910328" y="2423160"/>
            <a:ext cx="347472" cy="347472"/>
          </a:xfrm>
          <a:prstGeom prst="ellipse">
            <a:avLst/>
          </a:prstGeom>
          <a:solidFill>
            <a:srgbClr val="E3B341">
              <a:alpha val="80000"/>
            </a:srgbClr>
          </a:solidFill>
          <a:ln w="19050">
            <a:solidFill>
              <a:srgbClr val="E3B341"/>
            </a:solidFill>
            <a:prstDash val="solid"/>
          </a:ln>
        </p:spPr>
        <p:txBody>
          <a:bodyPr/>
          <a:lstStyle/>
          <a:p>
            <a:endParaRPr lang="en-US"/>
          </a:p>
        </p:txBody>
      </p:sp>
      <p:sp>
        <p:nvSpPr>
          <p:cNvPr id="38" name="Text 36"/>
          <p:cNvSpPr/>
          <p:nvPr/>
        </p:nvSpPr>
        <p:spPr>
          <a:xfrm>
            <a:off x="4910328" y="242316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5</a:t>
            </a:r>
            <a:endParaRPr lang="en-US" sz="1400" dirty="0">
              <a:solidFill>
                <a:schemeClr val="bg1"/>
              </a:solidFill>
            </a:endParaRPr>
          </a:p>
        </p:txBody>
      </p:sp>
      <p:sp>
        <p:nvSpPr>
          <p:cNvPr id="39" name="Text 37"/>
          <p:cNvSpPr/>
          <p:nvPr/>
        </p:nvSpPr>
        <p:spPr>
          <a:xfrm>
            <a:off x="5349240" y="2441448"/>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Lock position i</a:t>
            </a:r>
            <a:endParaRPr lang="en-US" sz="1200" dirty="0"/>
          </a:p>
        </p:txBody>
      </p:sp>
      <p:sp>
        <p:nvSpPr>
          <p:cNvPr id="40" name="Shape 38"/>
          <p:cNvSpPr/>
          <p:nvPr/>
        </p:nvSpPr>
        <p:spPr>
          <a:xfrm>
            <a:off x="4937760" y="2734056"/>
            <a:ext cx="3931920" cy="0"/>
          </a:xfrm>
          <a:prstGeom prst="line">
            <a:avLst/>
          </a:prstGeom>
          <a:noFill/>
          <a:ln w="7620">
            <a:solidFill>
              <a:srgbClr val="3D444D"/>
            </a:solidFill>
            <a:prstDash val="solid"/>
          </a:ln>
        </p:spPr>
        <p:txBody>
          <a:bodyPr/>
          <a:lstStyle/>
          <a:p>
            <a:endParaRPr lang="en-US"/>
          </a:p>
        </p:txBody>
      </p:sp>
      <p:sp>
        <p:nvSpPr>
          <p:cNvPr id="41" name="Text 39"/>
          <p:cNvSpPr/>
          <p:nvPr/>
        </p:nvSpPr>
        <p:spPr>
          <a:xfrm>
            <a:off x="4937760" y="2788920"/>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Position i now holds its</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final, sorted value.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The sorted region is one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position bigger.</a:t>
            </a:r>
            <a:endParaRPr lang="en-US" sz="1050" dirty="0"/>
          </a:p>
        </p:txBody>
      </p:sp>
      <p:sp>
        <p:nvSpPr>
          <p:cNvPr id="42" name="Shape 40"/>
          <p:cNvSpPr/>
          <p:nvPr/>
        </p:nvSpPr>
        <p:spPr>
          <a:xfrm>
            <a:off x="4800600" y="3602736"/>
            <a:ext cx="4206240" cy="1097280"/>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43" name="Shape 41"/>
          <p:cNvSpPr/>
          <p:nvPr/>
        </p:nvSpPr>
        <p:spPr>
          <a:xfrm>
            <a:off x="4800600" y="3602736"/>
            <a:ext cx="4206240"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44" name="Shape 42"/>
          <p:cNvSpPr/>
          <p:nvPr/>
        </p:nvSpPr>
        <p:spPr>
          <a:xfrm>
            <a:off x="4910328" y="3639312"/>
            <a:ext cx="347472" cy="347472"/>
          </a:xfrm>
          <a:prstGeom prst="ellipse">
            <a:avLst/>
          </a:prstGeom>
          <a:solidFill>
            <a:srgbClr val="3FB950">
              <a:alpha val="80000"/>
            </a:srgbClr>
          </a:solidFill>
          <a:ln w="19050">
            <a:solidFill>
              <a:srgbClr val="3FB950"/>
            </a:solidFill>
            <a:prstDash val="solid"/>
          </a:ln>
        </p:spPr>
        <p:txBody>
          <a:bodyPr/>
          <a:lstStyle/>
          <a:p>
            <a:endParaRPr lang="en-US"/>
          </a:p>
        </p:txBody>
      </p:sp>
      <p:sp>
        <p:nvSpPr>
          <p:cNvPr id="45" name="Text 43"/>
          <p:cNvSpPr/>
          <p:nvPr/>
        </p:nvSpPr>
        <p:spPr>
          <a:xfrm>
            <a:off x="4910328" y="3639312"/>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6</a:t>
            </a:r>
            <a:endParaRPr lang="en-US" sz="1400" dirty="0">
              <a:solidFill>
                <a:schemeClr val="bg1"/>
              </a:solidFill>
            </a:endParaRPr>
          </a:p>
        </p:txBody>
      </p:sp>
      <p:sp>
        <p:nvSpPr>
          <p:cNvPr id="46" name="Text 44"/>
          <p:cNvSpPr/>
          <p:nvPr/>
        </p:nvSpPr>
        <p:spPr>
          <a:xfrm>
            <a:off x="5349240" y="3657600"/>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Move on or stop</a:t>
            </a:r>
            <a:endParaRPr lang="en-US" sz="1200" dirty="0"/>
          </a:p>
        </p:txBody>
      </p:sp>
      <p:sp>
        <p:nvSpPr>
          <p:cNvPr id="47" name="Shape 45"/>
          <p:cNvSpPr/>
          <p:nvPr/>
        </p:nvSpPr>
        <p:spPr>
          <a:xfrm>
            <a:off x="4937760" y="3950208"/>
            <a:ext cx="3931920" cy="0"/>
          </a:xfrm>
          <a:prstGeom prst="line">
            <a:avLst/>
          </a:prstGeom>
          <a:noFill/>
          <a:ln w="7620">
            <a:solidFill>
              <a:srgbClr val="3D444D"/>
            </a:solidFill>
            <a:prstDash val="solid"/>
          </a:ln>
        </p:spPr>
        <p:txBody>
          <a:bodyPr/>
          <a:lstStyle/>
          <a:p>
            <a:endParaRPr lang="en-US"/>
          </a:p>
        </p:txBody>
      </p:sp>
      <p:sp>
        <p:nvSpPr>
          <p:cNvPr id="48" name="Text 46"/>
          <p:cNvSpPr/>
          <p:nvPr/>
        </p:nvSpPr>
        <p:spPr>
          <a:xfrm>
            <a:off x="4937760" y="4005072"/>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Increment i. If i is still</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less than length-1, repeat</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from step 3. Otherwise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the list is fully sorted.</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WORKED EXAMPLE</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Worked Example — Selection Sort</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Sorting  [5, 2, 8, 1]  by finding and placing the minimum on each pass</a:t>
            </a:r>
            <a:endParaRPr lang="en-US" sz="1300" dirty="0"/>
          </a:p>
        </p:txBody>
      </p:sp>
      <p:sp>
        <p:nvSpPr>
          <p:cNvPr id="7" name="Shape 5"/>
          <p:cNvSpPr/>
          <p:nvPr/>
        </p:nvSpPr>
        <p:spPr>
          <a:xfrm>
            <a:off x="411480" y="1170432"/>
            <a:ext cx="8321040" cy="137160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832104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Text 7"/>
          <p:cNvSpPr/>
          <p:nvPr/>
        </p:nvSpPr>
        <p:spPr>
          <a:xfrm>
            <a:off x="548640" y="1216152"/>
            <a:ext cx="804672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The Pass Pipeline</a:t>
            </a:r>
            <a:endParaRPr lang="en-US" sz="1100" dirty="0"/>
          </a:p>
        </p:txBody>
      </p:sp>
      <p:sp>
        <p:nvSpPr>
          <p:cNvPr id="10" name="Shape 8"/>
          <p:cNvSpPr/>
          <p:nvPr/>
        </p:nvSpPr>
        <p:spPr>
          <a:xfrm>
            <a:off x="548640" y="1591056"/>
            <a:ext cx="1261872" cy="658368"/>
          </a:xfrm>
          <a:prstGeom prst="rect">
            <a:avLst/>
          </a:prstGeom>
          <a:solidFill>
            <a:srgbClr val="3FD9C4">
              <a:alpha val="28000"/>
            </a:srgbClr>
          </a:solidFill>
          <a:ln w="15240">
            <a:solidFill>
              <a:srgbClr val="3FD9C4"/>
            </a:solidFill>
            <a:prstDash val="solid"/>
          </a:ln>
        </p:spPr>
        <p:txBody>
          <a:bodyPr/>
          <a:lstStyle/>
          <a:p>
            <a:endParaRPr lang="en-US"/>
          </a:p>
        </p:txBody>
      </p:sp>
      <p:sp>
        <p:nvSpPr>
          <p:cNvPr id="11" name="Text 9"/>
          <p:cNvSpPr/>
          <p:nvPr/>
        </p:nvSpPr>
        <p:spPr>
          <a:xfrm>
            <a:off x="548640" y="1591056"/>
            <a:ext cx="1261872" cy="658368"/>
          </a:xfrm>
          <a:prstGeom prst="rect">
            <a:avLst/>
          </a:prstGeom>
          <a:noFill/>
          <a:ln/>
        </p:spPr>
        <p:txBody>
          <a:bodyPr wrap="square" lIns="0" tIns="0" rIns="0" bIns="0" rtlCol="0" anchor="ctr"/>
          <a:lstStyle/>
          <a:p>
            <a:pPr marL="0" indent="0" algn="ctr">
              <a:buNone/>
            </a:pPr>
            <a:r>
              <a:rPr lang="en-US" sz="950" b="1" dirty="0">
                <a:solidFill>
                  <a:srgbClr val="3FD9C4"/>
                </a:solidFill>
                <a:latin typeface="Calibri" pitchFamily="34" charset="0"/>
                <a:ea typeface="Calibri" pitchFamily="34" charset="-122"/>
                <a:cs typeface="Calibri" pitchFamily="34" charset="-120"/>
              </a:rPr>
              <a:t>[5, 2, 8, 1]</a:t>
            </a:r>
            <a:endParaRPr lang="en-US" sz="950" dirty="0"/>
          </a:p>
        </p:txBody>
      </p:sp>
      <p:sp>
        <p:nvSpPr>
          <p:cNvPr id="12" name="Shape 10"/>
          <p:cNvSpPr/>
          <p:nvPr/>
        </p:nvSpPr>
        <p:spPr>
          <a:xfrm>
            <a:off x="1810512"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13" name="Shape 11"/>
          <p:cNvSpPr/>
          <p:nvPr/>
        </p:nvSpPr>
        <p:spPr>
          <a:xfrm>
            <a:off x="1938528" y="1591056"/>
            <a:ext cx="1261872" cy="658368"/>
          </a:xfrm>
          <a:prstGeom prst="rect">
            <a:avLst/>
          </a:prstGeom>
          <a:solidFill>
            <a:srgbClr val="58A6FF">
              <a:alpha val="28000"/>
            </a:srgbClr>
          </a:solidFill>
          <a:ln w="15240">
            <a:solidFill>
              <a:srgbClr val="58A6FF"/>
            </a:solidFill>
            <a:prstDash val="solid"/>
          </a:ln>
        </p:spPr>
        <p:txBody>
          <a:bodyPr/>
          <a:lstStyle/>
          <a:p>
            <a:endParaRPr lang="en-US"/>
          </a:p>
        </p:txBody>
      </p:sp>
      <p:sp>
        <p:nvSpPr>
          <p:cNvPr id="14" name="Text 12"/>
          <p:cNvSpPr/>
          <p:nvPr/>
        </p:nvSpPr>
        <p:spPr>
          <a:xfrm>
            <a:off x="1938528" y="1591056"/>
            <a:ext cx="1261872" cy="658368"/>
          </a:xfrm>
          <a:prstGeom prst="rect">
            <a:avLst/>
          </a:prstGeom>
          <a:noFill/>
          <a:ln/>
        </p:spPr>
        <p:txBody>
          <a:bodyPr wrap="square" lIns="0" tIns="0" rIns="0" bIns="0" rtlCol="0" anchor="ctr"/>
          <a:lstStyle/>
          <a:p>
            <a:pPr marL="0" indent="0" algn="ctr">
              <a:buNone/>
            </a:pPr>
            <a:r>
              <a:rPr lang="en-US" sz="950" b="1" dirty="0">
                <a:solidFill>
                  <a:srgbClr val="58A6FF"/>
                </a:solidFill>
                <a:latin typeface="Calibri" pitchFamily="34" charset="0"/>
                <a:ea typeface="Calibri" pitchFamily="34" charset="-122"/>
                <a:cs typeface="Calibri" pitchFamily="34" charset="-120"/>
              </a:rPr>
              <a:t>min=1, swap</a:t>
            </a:r>
            <a:endParaRPr lang="en-US" sz="950" dirty="0"/>
          </a:p>
        </p:txBody>
      </p:sp>
      <p:sp>
        <p:nvSpPr>
          <p:cNvPr id="15" name="Shape 13"/>
          <p:cNvSpPr/>
          <p:nvPr/>
        </p:nvSpPr>
        <p:spPr>
          <a:xfrm>
            <a:off x="3200400"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16" name="Shape 14"/>
          <p:cNvSpPr/>
          <p:nvPr/>
        </p:nvSpPr>
        <p:spPr>
          <a:xfrm>
            <a:off x="3328416" y="1591056"/>
            <a:ext cx="1261872" cy="658368"/>
          </a:xfrm>
          <a:prstGeom prst="rect">
            <a:avLst/>
          </a:prstGeom>
          <a:solidFill>
            <a:srgbClr val="BC8CFF">
              <a:alpha val="28000"/>
            </a:srgbClr>
          </a:solidFill>
          <a:ln w="15240">
            <a:solidFill>
              <a:srgbClr val="BC8CFF"/>
            </a:solidFill>
            <a:prstDash val="solid"/>
          </a:ln>
        </p:spPr>
        <p:txBody>
          <a:bodyPr/>
          <a:lstStyle/>
          <a:p>
            <a:endParaRPr lang="en-US"/>
          </a:p>
        </p:txBody>
      </p:sp>
      <p:sp>
        <p:nvSpPr>
          <p:cNvPr id="17" name="Text 15"/>
          <p:cNvSpPr/>
          <p:nvPr/>
        </p:nvSpPr>
        <p:spPr>
          <a:xfrm>
            <a:off x="3328416" y="1591056"/>
            <a:ext cx="1261872" cy="658368"/>
          </a:xfrm>
          <a:prstGeom prst="rect">
            <a:avLst/>
          </a:prstGeom>
          <a:noFill/>
          <a:ln/>
        </p:spPr>
        <p:txBody>
          <a:bodyPr wrap="square" lIns="0" tIns="0" rIns="0" bIns="0" rtlCol="0" anchor="ctr"/>
          <a:lstStyle/>
          <a:p>
            <a:pPr marL="0" indent="0" algn="ctr">
              <a:buNone/>
            </a:pPr>
            <a:r>
              <a:rPr lang="en-US" sz="950" b="1" dirty="0">
                <a:solidFill>
                  <a:srgbClr val="BC8CFF"/>
                </a:solidFill>
                <a:latin typeface="Calibri" pitchFamily="34" charset="0"/>
                <a:ea typeface="Calibri" pitchFamily="34" charset="-122"/>
                <a:cs typeface="Calibri" pitchFamily="34" charset="-120"/>
              </a:rPr>
              <a:t>[1, 2, 8, 5]</a:t>
            </a:r>
            <a:endParaRPr lang="en-US" sz="950" dirty="0"/>
          </a:p>
        </p:txBody>
      </p:sp>
      <p:sp>
        <p:nvSpPr>
          <p:cNvPr id="18" name="Shape 16"/>
          <p:cNvSpPr/>
          <p:nvPr/>
        </p:nvSpPr>
        <p:spPr>
          <a:xfrm>
            <a:off x="4590288"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19" name="Shape 17"/>
          <p:cNvSpPr/>
          <p:nvPr/>
        </p:nvSpPr>
        <p:spPr>
          <a:xfrm>
            <a:off x="4718304" y="1591056"/>
            <a:ext cx="1261872" cy="658368"/>
          </a:xfrm>
          <a:prstGeom prst="rect">
            <a:avLst/>
          </a:prstGeom>
          <a:solidFill>
            <a:srgbClr val="FFA657">
              <a:alpha val="28000"/>
            </a:srgbClr>
          </a:solidFill>
          <a:ln w="15240">
            <a:solidFill>
              <a:srgbClr val="FFA657"/>
            </a:solidFill>
            <a:prstDash val="solid"/>
          </a:ln>
        </p:spPr>
        <p:txBody>
          <a:bodyPr/>
          <a:lstStyle/>
          <a:p>
            <a:endParaRPr lang="en-US"/>
          </a:p>
        </p:txBody>
      </p:sp>
      <p:sp>
        <p:nvSpPr>
          <p:cNvPr id="20" name="Text 18"/>
          <p:cNvSpPr/>
          <p:nvPr/>
        </p:nvSpPr>
        <p:spPr>
          <a:xfrm>
            <a:off x="4718304" y="1591056"/>
            <a:ext cx="1261872" cy="658368"/>
          </a:xfrm>
          <a:prstGeom prst="rect">
            <a:avLst/>
          </a:prstGeom>
          <a:noFill/>
          <a:ln/>
        </p:spPr>
        <p:txBody>
          <a:bodyPr wrap="square" lIns="0" tIns="0" rIns="0" bIns="0" rtlCol="0" anchor="ctr"/>
          <a:lstStyle/>
          <a:p>
            <a:pPr marL="0" indent="0" algn="ctr">
              <a:buNone/>
            </a:pPr>
            <a:r>
              <a:rPr lang="en-US" sz="950" b="1" dirty="0">
                <a:solidFill>
                  <a:srgbClr val="FFA657"/>
                </a:solidFill>
                <a:latin typeface="Calibri" pitchFamily="34" charset="0"/>
                <a:ea typeface="Calibri" pitchFamily="34" charset="-122"/>
                <a:cs typeface="Calibri" pitchFamily="34" charset="-120"/>
              </a:rPr>
              <a:t>min=2, no swap</a:t>
            </a:r>
            <a:endParaRPr lang="en-US" sz="950" dirty="0"/>
          </a:p>
        </p:txBody>
      </p:sp>
      <p:sp>
        <p:nvSpPr>
          <p:cNvPr id="21" name="Shape 19"/>
          <p:cNvSpPr/>
          <p:nvPr/>
        </p:nvSpPr>
        <p:spPr>
          <a:xfrm>
            <a:off x="5980176"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22" name="Shape 20"/>
          <p:cNvSpPr/>
          <p:nvPr/>
        </p:nvSpPr>
        <p:spPr>
          <a:xfrm>
            <a:off x="6108192" y="1591056"/>
            <a:ext cx="1261872" cy="658368"/>
          </a:xfrm>
          <a:prstGeom prst="rect">
            <a:avLst/>
          </a:prstGeom>
          <a:solidFill>
            <a:srgbClr val="E3B341">
              <a:alpha val="28000"/>
            </a:srgbClr>
          </a:solidFill>
          <a:ln w="15240">
            <a:solidFill>
              <a:srgbClr val="E3B341"/>
            </a:solidFill>
            <a:prstDash val="solid"/>
          </a:ln>
        </p:spPr>
        <p:txBody>
          <a:bodyPr/>
          <a:lstStyle/>
          <a:p>
            <a:endParaRPr lang="en-US"/>
          </a:p>
        </p:txBody>
      </p:sp>
      <p:sp>
        <p:nvSpPr>
          <p:cNvPr id="23" name="Text 21"/>
          <p:cNvSpPr/>
          <p:nvPr/>
        </p:nvSpPr>
        <p:spPr>
          <a:xfrm>
            <a:off x="6108192" y="1591056"/>
            <a:ext cx="1261872" cy="658368"/>
          </a:xfrm>
          <a:prstGeom prst="rect">
            <a:avLst/>
          </a:prstGeom>
          <a:noFill/>
          <a:ln/>
        </p:spPr>
        <p:txBody>
          <a:bodyPr wrap="square" lIns="0" tIns="0" rIns="0" bIns="0" rtlCol="0" anchor="ctr"/>
          <a:lstStyle/>
          <a:p>
            <a:pPr marL="0" indent="0" algn="ctr">
              <a:buNone/>
            </a:pPr>
            <a:r>
              <a:rPr lang="en-US" sz="950" b="1" dirty="0">
                <a:solidFill>
                  <a:srgbClr val="E3B341"/>
                </a:solidFill>
                <a:latin typeface="Calibri" pitchFamily="34" charset="0"/>
                <a:ea typeface="Calibri" pitchFamily="34" charset="-122"/>
                <a:cs typeface="Calibri" pitchFamily="34" charset="-120"/>
              </a:rPr>
              <a:t>min=5, swap</a:t>
            </a:r>
            <a:endParaRPr lang="en-US" sz="950" dirty="0"/>
          </a:p>
        </p:txBody>
      </p:sp>
      <p:sp>
        <p:nvSpPr>
          <p:cNvPr id="24" name="Shape 22"/>
          <p:cNvSpPr/>
          <p:nvPr/>
        </p:nvSpPr>
        <p:spPr>
          <a:xfrm>
            <a:off x="7370064"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25" name="Shape 23"/>
          <p:cNvSpPr/>
          <p:nvPr/>
        </p:nvSpPr>
        <p:spPr>
          <a:xfrm>
            <a:off x="7498080" y="1591056"/>
            <a:ext cx="1261872" cy="658368"/>
          </a:xfrm>
          <a:prstGeom prst="rect">
            <a:avLst/>
          </a:prstGeom>
          <a:solidFill>
            <a:srgbClr val="3FB950">
              <a:alpha val="28000"/>
            </a:srgbClr>
          </a:solidFill>
          <a:ln w="15240">
            <a:solidFill>
              <a:srgbClr val="3FB950"/>
            </a:solidFill>
            <a:prstDash val="solid"/>
          </a:ln>
        </p:spPr>
        <p:txBody>
          <a:bodyPr/>
          <a:lstStyle/>
          <a:p>
            <a:endParaRPr lang="en-US"/>
          </a:p>
        </p:txBody>
      </p:sp>
      <p:sp>
        <p:nvSpPr>
          <p:cNvPr id="26" name="Text 24"/>
          <p:cNvSpPr/>
          <p:nvPr/>
        </p:nvSpPr>
        <p:spPr>
          <a:xfrm>
            <a:off x="7498080" y="1591056"/>
            <a:ext cx="1261872" cy="658368"/>
          </a:xfrm>
          <a:prstGeom prst="rect">
            <a:avLst/>
          </a:prstGeom>
          <a:noFill/>
          <a:ln/>
        </p:spPr>
        <p:txBody>
          <a:bodyPr wrap="square" lIns="0" tIns="0" rIns="0" bIns="0" rtlCol="0" anchor="ctr"/>
          <a:lstStyle/>
          <a:p>
            <a:pPr marL="0" indent="0" algn="ctr">
              <a:buNone/>
            </a:pPr>
            <a:r>
              <a:rPr lang="en-US" sz="950" b="1" dirty="0">
                <a:solidFill>
                  <a:srgbClr val="3FB950"/>
                </a:solidFill>
                <a:latin typeface="Calibri" pitchFamily="34" charset="0"/>
                <a:ea typeface="Calibri" pitchFamily="34" charset="-122"/>
                <a:cs typeface="Calibri" pitchFamily="34" charset="-120"/>
              </a:rPr>
              <a:t>[1, 2, 5, 8]</a:t>
            </a:r>
            <a:endParaRPr lang="en-US" sz="950" dirty="0"/>
          </a:p>
        </p:txBody>
      </p:sp>
      <p:sp>
        <p:nvSpPr>
          <p:cNvPr id="27" name="Shape 25"/>
          <p:cNvSpPr/>
          <p:nvPr/>
        </p:nvSpPr>
        <p:spPr>
          <a:xfrm>
            <a:off x="411480" y="2670048"/>
            <a:ext cx="4160520" cy="1755648"/>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28" name="Shape 26"/>
          <p:cNvSpPr/>
          <p:nvPr/>
        </p:nvSpPr>
        <p:spPr>
          <a:xfrm>
            <a:off x="411480" y="2670048"/>
            <a:ext cx="416052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29" name="Text 27"/>
          <p:cNvSpPr/>
          <p:nvPr/>
        </p:nvSpPr>
        <p:spPr>
          <a:xfrm>
            <a:off x="548640" y="2715768"/>
            <a:ext cx="3895344"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Step-by-Step Trace</a:t>
            </a:r>
            <a:endParaRPr lang="en-US" sz="1100" dirty="0"/>
          </a:p>
        </p:txBody>
      </p:sp>
      <p:sp>
        <p:nvSpPr>
          <p:cNvPr id="30" name="Text 28"/>
          <p:cNvSpPr/>
          <p:nvPr/>
        </p:nvSpPr>
        <p:spPr>
          <a:xfrm>
            <a:off x="548640" y="3017520"/>
            <a:ext cx="3895344" cy="201168"/>
          </a:xfrm>
          <a:prstGeom prst="rect">
            <a:avLst/>
          </a:prstGeom>
          <a:noFill/>
          <a:ln/>
        </p:spPr>
        <p:txBody>
          <a:bodyPr wrap="square" lIns="0" tIns="0" rIns="0" bIns="0" rtlCol="0" anchor="ctr"/>
          <a:lstStyle/>
          <a:p>
            <a:pPr marL="0" indent="0">
              <a:buNone/>
            </a:pPr>
            <a:r>
              <a:rPr lang="en-US" sz="950" dirty="0">
                <a:solidFill>
                  <a:srgbClr val="58A6FF"/>
                </a:solidFill>
                <a:latin typeface="Consolas" pitchFamily="34" charset="0"/>
                <a:ea typeface="Consolas" pitchFamily="34" charset="-122"/>
                <a:cs typeface="Consolas" pitchFamily="34" charset="-120"/>
              </a:rPr>
              <a:t>1. INPUT: list = [5, 2, 8, 1].   length = 4</a:t>
            </a:r>
            <a:endParaRPr lang="en-US" sz="950" dirty="0"/>
          </a:p>
        </p:txBody>
      </p:sp>
      <p:sp>
        <p:nvSpPr>
          <p:cNvPr id="31" name="Text 29"/>
          <p:cNvSpPr/>
          <p:nvPr/>
        </p:nvSpPr>
        <p:spPr>
          <a:xfrm>
            <a:off x="548640" y="322326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2. Pass 1: scan from i=0. Minimum = 1 (at idx 3).</a:t>
            </a:r>
            <a:endParaRPr lang="en-US" sz="950" dirty="0"/>
          </a:p>
        </p:txBody>
      </p:sp>
      <p:sp>
        <p:nvSpPr>
          <p:cNvPr id="32" name="Text 30"/>
          <p:cNvSpPr/>
          <p:nvPr/>
        </p:nvSpPr>
        <p:spPr>
          <a:xfrm>
            <a:off x="548640" y="342900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3. Swap list[0] ↔ list[3]. → [1, 2, 8, 5]</a:t>
            </a:r>
            <a:endParaRPr lang="en-US" sz="950" dirty="0"/>
          </a:p>
        </p:txBody>
      </p:sp>
      <p:sp>
        <p:nvSpPr>
          <p:cNvPr id="33" name="Text 31"/>
          <p:cNvSpPr/>
          <p:nvPr/>
        </p:nvSpPr>
        <p:spPr>
          <a:xfrm>
            <a:off x="548640" y="363474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4. Pass 2: scan from i=1. Min = 2 (already at idx 1).</a:t>
            </a:r>
            <a:endParaRPr lang="en-US" sz="950" dirty="0"/>
          </a:p>
        </p:txBody>
      </p:sp>
      <p:sp>
        <p:nvSpPr>
          <p:cNvPr id="34" name="Text 32"/>
          <p:cNvSpPr/>
          <p:nvPr/>
        </p:nvSpPr>
        <p:spPr>
          <a:xfrm>
            <a:off x="548640" y="384048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5. No swap needed. → [1, 2, 8, 5]</a:t>
            </a:r>
            <a:endParaRPr lang="en-US" sz="950" dirty="0"/>
          </a:p>
        </p:txBody>
      </p:sp>
      <p:sp>
        <p:nvSpPr>
          <p:cNvPr id="35" name="Text 33"/>
          <p:cNvSpPr/>
          <p:nvPr/>
        </p:nvSpPr>
        <p:spPr>
          <a:xfrm>
            <a:off x="548640" y="404622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6. Pass 3: scan from i=2. Min = 5. Swap [2] ↔ [3].</a:t>
            </a:r>
            <a:endParaRPr lang="en-US" sz="950" dirty="0"/>
          </a:p>
        </p:txBody>
      </p:sp>
      <p:sp>
        <p:nvSpPr>
          <p:cNvPr id="36" name="Text 34"/>
          <p:cNvSpPr/>
          <p:nvPr/>
        </p:nvSpPr>
        <p:spPr>
          <a:xfrm>
            <a:off x="548640" y="4251960"/>
            <a:ext cx="3895344" cy="201168"/>
          </a:xfrm>
          <a:prstGeom prst="rect">
            <a:avLst/>
          </a:prstGeom>
          <a:noFill/>
          <a:ln/>
        </p:spPr>
        <p:txBody>
          <a:bodyPr wrap="square" lIns="0" tIns="0" rIns="0" bIns="0" rtlCol="0" anchor="ctr"/>
          <a:lstStyle/>
          <a:p>
            <a:pPr marL="0" indent="0">
              <a:buNone/>
            </a:pPr>
            <a:r>
              <a:rPr lang="en-US" sz="950" dirty="0">
                <a:solidFill>
                  <a:srgbClr val="3FD9C4"/>
                </a:solidFill>
                <a:latin typeface="Consolas" pitchFamily="34" charset="0"/>
                <a:ea typeface="Consolas" pitchFamily="34" charset="-122"/>
                <a:cs typeface="Consolas" pitchFamily="34" charset="-120"/>
              </a:rPr>
              <a:t>7. Result: [1, 2, 5, 8] sorted. 3 passes, 2 swaps.</a:t>
            </a:r>
            <a:endParaRPr lang="en-US" sz="950" dirty="0"/>
          </a:p>
        </p:txBody>
      </p:sp>
      <p:sp>
        <p:nvSpPr>
          <p:cNvPr id="37" name="Shape 35"/>
          <p:cNvSpPr/>
          <p:nvPr/>
        </p:nvSpPr>
        <p:spPr>
          <a:xfrm>
            <a:off x="4663440" y="2670048"/>
            <a:ext cx="4069080" cy="1755648"/>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38" name="Shape 36"/>
          <p:cNvSpPr/>
          <p:nvPr/>
        </p:nvSpPr>
        <p:spPr>
          <a:xfrm>
            <a:off x="4663440" y="2670048"/>
            <a:ext cx="4069080"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39" name="Text 37"/>
          <p:cNvSpPr/>
          <p:nvPr/>
        </p:nvSpPr>
        <p:spPr>
          <a:xfrm>
            <a:off x="4800600" y="2715768"/>
            <a:ext cx="3803904"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Counting the Work</a:t>
            </a:r>
            <a:endParaRPr lang="en-US" sz="1100" dirty="0"/>
          </a:p>
        </p:txBody>
      </p:sp>
      <p:sp>
        <p:nvSpPr>
          <p:cNvPr id="40" name="Text 38"/>
          <p:cNvSpPr/>
          <p:nvPr/>
        </p:nvSpPr>
        <p:spPr>
          <a:xfrm>
            <a:off x="4800600" y="3017520"/>
            <a:ext cx="3803904" cy="502920"/>
          </a:xfrm>
          <a:prstGeom prst="rect">
            <a:avLst/>
          </a:prstGeom>
          <a:noFill/>
          <a:ln/>
        </p:spPr>
        <p:txBody>
          <a:bodyPr wrap="square" lIns="0" tIns="0" rIns="0" bIns="0" rtlCol="0" anchor="ctr"/>
          <a:lstStyle/>
          <a:p>
            <a:pPr marL="0" indent="0">
              <a:buNone/>
            </a:pPr>
            <a:r>
              <a:rPr lang="en-US" sz="1050" b="1" dirty="0">
                <a:solidFill>
                  <a:srgbClr val="3FB950"/>
                </a:solidFill>
                <a:latin typeface="Calibri" pitchFamily="34" charset="0"/>
                <a:ea typeface="Calibri" pitchFamily="34" charset="-122"/>
                <a:cs typeface="Calibri" pitchFamily="34" charset="-120"/>
              </a:rPr>
              <a:t xml:space="preserve">Comparisons:  </a:t>
            </a:r>
            <a:r>
              <a:rPr lang="en-US" sz="1050" dirty="0">
                <a:solidFill>
                  <a:srgbClr val="F0F6FC"/>
                </a:solidFill>
                <a:latin typeface="Calibri" pitchFamily="34" charset="0"/>
                <a:ea typeface="Calibri" pitchFamily="34" charset="-122"/>
                <a:cs typeface="Calibri" pitchFamily="34" charset="-120"/>
              </a:rPr>
              <a:t>Selection Sort always does N(N-1)/2 comparisons regardless of input order. For 4 items: 4·3/2 = 6 comparisons.</a:t>
            </a:r>
            <a:endParaRPr lang="en-US" sz="1050" dirty="0"/>
          </a:p>
        </p:txBody>
      </p:sp>
      <p:sp>
        <p:nvSpPr>
          <p:cNvPr id="41" name="Text 39"/>
          <p:cNvSpPr/>
          <p:nvPr/>
        </p:nvSpPr>
        <p:spPr>
          <a:xfrm>
            <a:off x="4800600" y="3566160"/>
            <a:ext cx="3803904" cy="594360"/>
          </a:xfrm>
          <a:prstGeom prst="rect">
            <a:avLst/>
          </a:prstGeom>
          <a:noFill/>
          <a:ln/>
        </p:spPr>
        <p:txBody>
          <a:bodyPr wrap="square" lIns="0" tIns="0" rIns="0" bIns="0" rtlCol="0" anchor="ctr"/>
          <a:lstStyle/>
          <a:p>
            <a:pPr marL="0" indent="0">
              <a:buNone/>
            </a:pPr>
            <a:r>
              <a:rPr lang="en-US" sz="1050" b="1" dirty="0">
                <a:solidFill>
                  <a:srgbClr val="F85149"/>
                </a:solidFill>
                <a:latin typeface="Calibri" pitchFamily="34" charset="0"/>
                <a:ea typeface="Calibri" pitchFamily="34" charset="-122"/>
                <a:cs typeface="Calibri" pitchFamily="34" charset="-120"/>
              </a:rPr>
              <a:t xml:space="preserve">Swaps:  </a:t>
            </a:r>
            <a:r>
              <a:rPr lang="en-US" sz="1050" dirty="0">
                <a:solidFill>
                  <a:srgbClr val="F0F6FC"/>
                </a:solidFill>
                <a:latin typeface="Calibri" pitchFamily="34" charset="0"/>
                <a:ea typeface="Calibri" pitchFamily="34" charset="-122"/>
                <a:cs typeface="Calibri" pitchFamily="34" charset="-120"/>
              </a:rPr>
              <a:t>At most N-1 swaps total (one per pass). Often fewer — pass 2 in our example needed no swap. This makes Selection Sort attractive when swaps are expensive.</a:t>
            </a:r>
            <a:endParaRPr lang="en-US" sz="1050" dirty="0"/>
          </a:p>
        </p:txBody>
      </p:sp>
      <p:sp>
        <p:nvSpPr>
          <p:cNvPr id="42" name="Text 40"/>
          <p:cNvSpPr/>
          <p:nvPr/>
        </p:nvSpPr>
        <p:spPr>
          <a:xfrm>
            <a:off x="4800600" y="4206240"/>
            <a:ext cx="3803904" cy="18288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 xml:space="preserve">Input: [5, 2, 8, 1]  ·  </a:t>
            </a:r>
            <a:r>
              <a:rPr lang="en-US" sz="1000" dirty="0">
                <a:solidFill>
                  <a:srgbClr val="3FD9C4"/>
                </a:solidFill>
                <a:latin typeface="Calibri" pitchFamily="34" charset="0"/>
                <a:ea typeface="Calibri" pitchFamily="34" charset="-122"/>
                <a:cs typeface="Calibri" pitchFamily="34" charset="-120"/>
              </a:rPr>
              <a:t xml:space="preserve">Compares: 6  ·  </a:t>
            </a:r>
            <a:r>
              <a:rPr lang="en-US" sz="1000" dirty="0">
                <a:solidFill>
                  <a:srgbClr val="3FB950"/>
                </a:solidFill>
                <a:latin typeface="Calibri" pitchFamily="34" charset="0"/>
                <a:ea typeface="Calibri" pitchFamily="34" charset="-122"/>
                <a:cs typeface="Calibri" pitchFamily="34" charset="-120"/>
              </a:rPr>
              <a:t>Swaps: 2</a:t>
            </a:r>
            <a:endParaRPr lang="en-US" sz="1000" dirty="0"/>
          </a:p>
        </p:txBody>
      </p:sp>
      <p:sp>
        <p:nvSpPr>
          <p:cNvPr id="43" name="Shape 41"/>
          <p:cNvSpPr/>
          <p:nvPr/>
        </p:nvSpPr>
        <p:spPr>
          <a:xfrm>
            <a:off x="365760" y="4572000"/>
            <a:ext cx="8412480" cy="384048"/>
          </a:xfrm>
          <a:prstGeom prst="rect">
            <a:avLst/>
          </a:prstGeom>
          <a:solidFill>
            <a:srgbClr val="0A1020"/>
          </a:solidFill>
          <a:ln w="12700">
            <a:solidFill>
              <a:srgbClr val="3FD9C4"/>
            </a:solidFill>
            <a:prstDash val="solid"/>
          </a:ln>
        </p:spPr>
        <p:txBody>
          <a:bodyPr/>
          <a:lstStyle/>
          <a:p>
            <a:endParaRPr lang="en-US"/>
          </a:p>
        </p:txBody>
      </p:sp>
      <p:sp>
        <p:nvSpPr>
          <p:cNvPr id="44" name="Text 42"/>
          <p:cNvSpPr/>
          <p:nvPr/>
        </p:nvSpPr>
        <p:spPr>
          <a:xfrm>
            <a:off x="502920" y="4599432"/>
            <a:ext cx="8229600" cy="310896"/>
          </a:xfrm>
          <a:prstGeom prst="rect">
            <a:avLst/>
          </a:prstGeom>
          <a:noFill/>
          <a:ln/>
        </p:spPr>
        <p:txBody>
          <a:bodyPr wrap="square" lIns="0" tIns="0" rIns="0" bIns="0" rtlCol="0" anchor="ctr"/>
          <a:lstStyle/>
          <a:p>
            <a:pPr marL="0" indent="0">
              <a:buNone/>
            </a:pPr>
            <a:r>
              <a:rPr lang="en-US" sz="1100" b="1" dirty="0">
                <a:solidFill>
                  <a:srgbClr val="3FD9C4"/>
                </a:solidFill>
                <a:latin typeface="Calibri" pitchFamily="34" charset="0"/>
                <a:ea typeface="Calibri" pitchFamily="34" charset="-122"/>
                <a:cs typeface="Calibri" pitchFamily="34" charset="-120"/>
              </a:rPr>
              <a:t xml:space="preserve">The pattern:  </a:t>
            </a:r>
            <a:r>
              <a:rPr lang="en-US" sz="1100" dirty="0">
                <a:solidFill>
                  <a:srgbClr val="F0F6FC"/>
                </a:solidFill>
                <a:latin typeface="Calibri" pitchFamily="34" charset="0"/>
                <a:ea typeface="Calibri" pitchFamily="34" charset="-122"/>
                <a:cs typeface="Calibri" pitchFamily="34" charset="-120"/>
              </a:rPr>
              <a:t>Selection Sort guarantees one sorted position per pass, no matter what the input looks like. Predictable, but it cannot exit early — even on already-sorted input it still does every comparison.</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FINAL COMPARISON</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Bubble · Selection · Insertion</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The three sorts you learned this week, side by side, on every dimension that matters</a:t>
            </a:r>
            <a:endParaRPr lang="en-US" sz="1300" dirty="0"/>
          </a:p>
        </p:txBody>
      </p:sp>
      <p:sp>
        <p:nvSpPr>
          <p:cNvPr id="7" name="Shape 5"/>
          <p:cNvSpPr/>
          <p:nvPr/>
        </p:nvSpPr>
        <p:spPr>
          <a:xfrm>
            <a:off x="411480" y="1170432"/>
            <a:ext cx="2048256" cy="178308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2048256"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Text 7"/>
          <p:cNvSpPr/>
          <p:nvPr/>
        </p:nvSpPr>
        <p:spPr>
          <a:xfrm>
            <a:off x="521208"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Best Case</a:t>
            </a:r>
            <a:endParaRPr lang="en-US" sz="1100" dirty="0"/>
          </a:p>
        </p:txBody>
      </p:sp>
      <p:sp>
        <p:nvSpPr>
          <p:cNvPr id="10" name="Text 8"/>
          <p:cNvSpPr/>
          <p:nvPr/>
        </p:nvSpPr>
        <p:spPr>
          <a:xfrm>
            <a:off x="521208"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Already-sorted input.</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Bubble: O(N) (with flag)</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Selection: O(N²) — fixed</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Insertion: O(N) — fastest</a:t>
            </a:r>
            <a:endParaRPr lang="en-US" sz="1000" dirty="0"/>
          </a:p>
        </p:txBody>
      </p:sp>
      <p:sp>
        <p:nvSpPr>
          <p:cNvPr id="11" name="Shape 9"/>
          <p:cNvSpPr/>
          <p:nvPr/>
        </p:nvSpPr>
        <p:spPr>
          <a:xfrm>
            <a:off x="2587752" y="1170432"/>
            <a:ext cx="2048256" cy="178308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12" name="Shape 10"/>
          <p:cNvSpPr/>
          <p:nvPr/>
        </p:nvSpPr>
        <p:spPr>
          <a:xfrm>
            <a:off x="2587752" y="1170432"/>
            <a:ext cx="2048256"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13" name="Text 11"/>
          <p:cNvSpPr/>
          <p:nvPr/>
        </p:nvSpPr>
        <p:spPr>
          <a:xfrm>
            <a:off x="2697480"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Worst Case</a:t>
            </a:r>
            <a:endParaRPr lang="en-US" sz="1100" dirty="0"/>
          </a:p>
        </p:txBody>
      </p:sp>
      <p:sp>
        <p:nvSpPr>
          <p:cNvPr id="14" name="Text 12"/>
          <p:cNvSpPr/>
          <p:nvPr/>
        </p:nvSpPr>
        <p:spPr>
          <a:xfrm>
            <a:off x="2697480"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Reverse-sorted input.</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Bubble: O(N²)</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Selection: O(N²)</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Insertion: O(N²)</a:t>
            </a:r>
            <a:endParaRPr lang="en-US" sz="1000" dirty="0"/>
          </a:p>
        </p:txBody>
      </p:sp>
      <p:sp>
        <p:nvSpPr>
          <p:cNvPr id="15" name="Shape 13"/>
          <p:cNvSpPr/>
          <p:nvPr/>
        </p:nvSpPr>
        <p:spPr>
          <a:xfrm>
            <a:off x="4764024" y="1170432"/>
            <a:ext cx="2048256" cy="178308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16" name="Shape 14"/>
          <p:cNvSpPr/>
          <p:nvPr/>
        </p:nvSpPr>
        <p:spPr>
          <a:xfrm>
            <a:off x="4764024" y="1170432"/>
            <a:ext cx="2048256"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17" name="Text 15"/>
          <p:cNvSpPr/>
          <p:nvPr/>
        </p:nvSpPr>
        <p:spPr>
          <a:xfrm>
            <a:off x="4873752"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Average Case</a:t>
            </a:r>
            <a:endParaRPr lang="en-US" sz="1100" dirty="0"/>
          </a:p>
        </p:txBody>
      </p:sp>
      <p:sp>
        <p:nvSpPr>
          <p:cNvPr id="18" name="Text 16"/>
          <p:cNvSpPr/>
          <p:nvPr/>
        </p:nvSpPr>
        <p:spPr>
          <a:xfrm>
            <a:off x="4873752"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Random input.</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All three: O(N²)</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Insertion edges out</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the others in practice.</a:t>
            </a:r>
            <a:endParaRPr lang="en-US" sz="1000" dirty="0"/>
          </a:p>
        </p:txBody>
      </p:sp>
      <p:sp>
        <p:nvSpPr>
          <p:cNvPr id="19" name="Shape 17"/>
          <p:cNvSpPr/>
          <p:nvPr/>
        </p:nvSpPr>
        <p:spPr>
          <a:xfrm>
            <a:off x="6940296" y="1170432"/>
            <a:ext cx="2048256" cy="178308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0" name="Shape 18"/>
          <p:cNvSpPr/>
          <p:nvPr/>
        </p:nvSpPr>
        <p:spPr>
          <a:xfrm>
            <a:off x="6940296" y="1170432"/>
            <a:ext cx="2048256"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21" name="Text 19"/>
          <p:cNvSpPr/>
          <p:nvPr/>
        </p:nvSpPr>
        <p:spPr>
          <a:xfrm>
            <a:off x="7050024"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Comparisons</a:t>
            </a:r>
            <a:endParaRPr lang="en-US" sz="1100" dirty="0"/>
          </a:p>
        </p:txBody>
      </p:sp>
      <p:sp>
        <p:nvSpPr>
          <p:cNvPr id="22" name="Text 20"/>
          <p:cNvSpPr/>
          <p:nvPr/>
        </p:nvSpPr>
        <p:spPr>
          <a:xfrm>
            <a:off x="7050024"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How much it looks.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Bubble: variable, can stop</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Selection: always N²/2</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Insertion: variable</a:t>
            </a:r>
            <a:endParaRPr lang="en-US" sz="1000" dirty="0"/>
          </a:p>
        </p:txBody>
      </p:sp>
      <p:sp>
        <p:nvSpPr>
          <p:cNvPr id="23" name="Shape 21"/>
          <p:cNvSpPr/>
          <p:nvPr/>
        </p:nvSpPr>
        <p:spPr>
          <a:xfrm>
            <a:off x="411480" y="3072384"/>
            <a:ext cx="2048256" cy="1783080"/>
          </a:xfrm>
          <a:prstGeom prst="rect">
            <a:avLst/>
          </a:prstGeom>
          <a:solidFill>
            <a:srgbClr val="161B26"/>
          </a:solidFill>
          <a:ln w="15240">
            <a:solidFill>
              <a:srgbClr val="E3B341"/>
            </a:solidFill>
            <a:prstDash val="solid"/>
          </a:ln>
          <a:effectLst>
            <a:outerShdw blurRad="177800" dist="38100" dir="8100000" algn="bl" rotWithShape="0">
              <a:srgbClr val="000000">
                <a:alpha val="35000"/>
              </a:srgbClr>
            </a:outerShdw>
          </a:effectLst>
        </p:spPr>
        <p:txBody>
          <a:bodyPr/>
          <a:lstStyle/>
          <a:p>
            <a:endParaRPr lang="en-US"/>
          </a:p>
        </p:txBody>
      </p:sp>
      <p:sp>
        <p:nvSpPr>
          <p:cNvPr id="24" name="Shape 22"/>
          <p:cNvSpPr/>
          <p:nvPr/>
        </p:nvSpPr>
        <p:spPr>
          <a:xfrm>
            <a:off x="411480" y="3072384"/>
            <a:ext cx="2048256" cy="329184"/>
          </a:xfrm>
          <a:prstGeom prst="rect">
            <a:avLst/>
          </a:prstGeom>
          <a:solidFill>
            <a:srgbClr val="E3B341">
              <a:alpha val="78000"/>
            </a:srgbClr>
          </a:solidFill>
          <a:ln w="12700">
            <a:solidFill>
              <a:srgbClr val="E3B341"/>
            </a:solidFill>
            <a:prstDash val="solid"/>
          </a:ln>
        </p:spPr>
        <p:txBody>
          <a:bodyPr/>
          <a:lstStyle/>
          <a:p>
            <a:endParaRPr lang="en-US"/>
          </a:p>
        </p:txBody>
      </p:sp>
      <p:sp>
        <p:nvSpPr>
          <p:cNvPr id="25" name="Text 23"/>
          <p:cNvSpPr/>
          <p:nvPr/>
        </p:nvSpPr>
        <p:spPr>
          <a:xfrm>
            <a:off x="521208"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Swaps</a:t>
            </a:r>
            <a:endParaRPr lang="en-US" sz="1100" dirty="0"/>
          </a:p>
        </p:txBody>
      </p:sp>
      <p:sp>
        <p:nvSpPr>
          <p:cNvPr id="26" name="Text 24"/>
          <p:cNvSpPr/>
          <p:nvPr/>
        </p:nvSpPr>
        <p:spPr>
          <a:xfrm>
            <a:off x="521208"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How much it moves data.</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Bubble: many, up to N²/2</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Selection: at most N-1 ✅</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Insertion: similar to Bubble</a:t>
            </a:r>
            <a:endParaRPr lang="en-US" sz="1000" dirty="0"/>
          </a:p>
        </p:txBody>
      </p:sp>
      <p:sp>
        <p:nvSpPr>
          <p:cNvPr id="27" name="Shape 25"/>
          <p:cNvSpPr/>
          <p:nvPr/>
        </p:nvSpPr>
        <p:spPr>
          <a:xfrm>
            <a:off x="2587752" y="3072384"/>
            <a:ext cx="2048256" cy="1783080"/>
          </a:xfrm>
          <a:prstGeom prst="rect">
            <a:avLst/>
          </a:prstGeom>
          <a:solidFill>
            <a:srgbClr val="161B26"/>
          </a:solidFill>
          <a:ln w="15240">
            <a:solidFill>
              <a:srgbClr val="F85149"/>
            </a:solidFill>
            <a:prstDash val="solid"/>
          </a:ln>
          <a:effectLst>
            <a:outerShdw blurRad="177800" dist="38100" dir="8100000" algn="bl" rotWithShape="0">
              <a:srgbClr val="000000">
                <a:alpha val="35000"/>
              </a:srgbClr>
            </a:outerShdw>
          </a:effectLst>
        </p:spPr>
        <p:txBody>
          <a:bodyPr/>
          <a:lstStyle/>
          <a:p>
            <a:endParaRPr lang="en-US"/>
          </a:p>
        </p:txBody>
      </p:sp>
      <p:sp>
        <p:nvSpPr>
          <p:cNvPr id="28" name="Shape 26"/>
          <p:cNvSpPr/>
          <p:nvPr/>
        </p:nvSpPr>
        <p:spPr>
          <a:xfrm>
            <a:off x="2587752" y="3072384"/>
            <a:ext cx="2048256" cy="329184"/>
          </a:xfrm>
          <a:prstGeom prst="rect">
            <a:avLst/>
          </a:prstGeom>
          <a:solidFill>
            <a:srgbClr val="F85149">
              <a:alpha val="78000"/>
            </a:srgbClr>
          </a:solidFill>
          <a:ln w="12700">
            <a:solidFill>
              <a:srgbClr val="F85149"/>
            </a:solidFill>
            <a:prstDash val="solid"/>
          </a:ln>
        </p:spPr>
        <p:txBody>
          <a:bodyPr/>
          <a:lstStyle/>
          <a:p>
            <a:endParaRPr lang="en-US"/>
          </a:p>
        </p:txBody>
      </p:sp>
      <p:sp>
        <p:nvSpPr>
          <p:cNvPr id="29" name="Text 27"/>
          <p:cNvSpPr/>
          <p:nvPr/>
        </p:nvSpPr>
        <p:spPr>
          <a:xfrm>
            <a:off x="2697480"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Memory</a:t>
            </a:r>
            <a:endParaRPr lang="en-US" sz="1100" dirty="0"/>
          </a:p>
        </p:txBody>
      </p:sp>
      <p:sp>
        <p:nvSpPr>
          <p:cNvPr id="30" name="Text 28"/>
          <p:cNvSpPr/>
          <p:nvPr/>
        </p:nvSpPr>
        <p:spPr>
          <a:xfrm>
            <a:off x="2697480"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Extra space needed.</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All three: O(1) extra</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Just one temp variable</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for swap or key. In-place.</a:t>
            </a:r>
            <a:endParaRPr lang="en-US" sz="1000" dirty="0"/>
          </a:p>
        </p:txBody>
      </p:sp>
      <p:sp>
        <p:nvSpPr>
          <p:cNvPr id="31" name="Shape 29"/>
          <p:cNvSpPr/>
          <p:nvPr/>
        </p:nvSpPr>
        <p:spPr>
          <a:xfrm>
            <a:off x="4764024" y="3072384"/>
            <a:ext cx="2048256" cy="1783080"/>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32" name="Shape 30"/>
          <p:cNvSpPr/>
          <p:nvPr/>
        </p:nvSpPr>
        <p:spPr>
          <a:xfrm>
            <a:off x="4764024" y="3072384"/>
            <a:ext cx="2048256"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33" name="Text 31"/>
          <p:cNvSpPr/>
          <p:nvPr/>
        </p:nvSpPr>
        <p:spPr>
          <a:xfrm>
            <a:off x="4873752"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Stable Sort?</a:t>
            </a:r>
            <a:endParaRPr lang="en-US" sz="1100" dirty="0"/>
          </a:p>
        </p:txBody>
      </p:sp>
      <p:sp>
        <p:nvSpPr>
          <p:cNvPr id="34" name="Text 32"/>
          <p:cNvSpPr/>
          <p:nvPr/>
        </p:nvSpPr>
        <p:spPr>
          <a:xfrm>
            <a:off x="4873752"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Equal items keep order?</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Bubble: YES ✅</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Selection: NO ❌</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Insertion: YES ✅</a:t>
            </a:r>
            <a:endParaRPr lang="en-US" sz="1000" dirty="0"/>
          </a:p>
        </p:txBody>
      </p:sp>
      <p:sp>
        <p:nvSpPr>
          <p:cNvPr id="35" name="Shape 33"/>
          <p:cNvSpPr/>
          <p:nvPr/>
        </p:nvSpPr>
        <p:spPr>
          <a:xfrm>
            <a:off x="6940296" y="3072384"/>
            <a:ext cx="2048256" cy="1783080"/>
          </a:xfrm>
          <a:prstGeom prst="rect">
            <a:avLst/>
          </a:prstGeom>
          <a:solidFill>
            <a:srgbClr val="161B26"/>
          </a:solidFill>
          <a:ln w="15240">
            <a:solidFill>
              <a:srgbClr val="F778BA"/>
            </a:solidFill>
            <a:prstDash val="solid"/>
          </a:ln>
          <a:effectLst>
            <a:outerShdw blurRad="177800" dist="38100" dir="8100000" algn="bl" rotWithShape="0">
              <a:srgbClr val="000000">
                <a:alpha val="35000"/>
              </a:srgbClr>
            </a:outerShdw>
          </a:effectLst>
        </p:spPr>
        <p:txBody>
          <a:bodyPr/>
          <a:lstStyle/>
          <a:p>
            <a:endParaRPr lang="en-US"/>
          </a:p>
        </p:txBody>
      </p:sp>
      <p:sp>
        <p:nvSpPr>
          <p:cNvPr id="36" name="Shape 34"/>
          <p:cNvSpPr/>
          <p:nvPr/>
        </p:nvSpPr>
        <p:spPr>
          <a:xfrm>
            <a:off x="6940296" y="3072384"/>
            <a:ext cx="2048256" cy="329184"/>
          </a:xfrm>
          <a:prstGeom prst="rect">
            <a:avLst/>
          </a:prstGeom>
          <a:solidFill>
            <a:srgbClr val="F778BA">
              <a:alpha val="78000"/>
            </a:srgbClr>
          </a:solidFill>
          <a:ln w="12700">
            <a:solidFill>
              <a:srgbClr val="F778BA"/>
            </a:solidFill>
            <a:prstDash val="solid"/>
          </a:ln>
        </p:spPr>
        <p:txBody>
          <a:bodyPr/>
          <a:lstStyle/>
          <a:p>
            <a:endParaRPr lang="en-US"/>
          </a:p>
        </p:txBody>
      </p:sp>
      <p:sp>
        <p:nvSpPr>
          <p:cNvPr id="37" name="Text 35"/>
          <p:cNvSpPr/>
          <p:nvPr/>
        </p:nvSpPr>
        <p:spPr>
          <a:xfrm>
            <a:off x="7050024"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When to Use</a:t>
            </a:r>
            <a:endParaRPr lang="en-US" sz="1100" dirty="0"/>
          </a:p>
        </p:txBody>
      </p:sp>
      <p:sp>
        <p:nvSpPr>
          <p:cNvPr id="38" name="Text 36"/>
          <p:cNvSpPr/>
          <p:nvPr/>
        </p:nvSpPr>
        <p:spPr>
          <a:xfrm>
            <a:off x="7050024"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Pick the right tool.</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Bubble: never, in practice</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Selection: minimise swaps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Insertion: nearly-sorted data</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Shape 2"/>
          <p:cNvSpPr/>
          <p:nvPr/>
        </p:nvSpPr>
        <p:spPr>
          <a:xfrm>
            <a:off x="548640" y="548640"/>
            <a:ext cx="8046720" cy="3657600"/>
          </a:xfrm>
          <a:prstGeom prst="rect">
            <a:avLst/>
          </a:prstGeom>
          <a:solidFill>
            <a:srgbClr val="161B26"/>
          </a:solidFill>
          <a:ln w="1905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5" name="Text 3"/>
          <p:cNvSpPr/>
          <p:nvPr/>
        </p:nvSpPr>
        <p:spPr>
          <a:xfrm>
            <a:off x="914400" y="841248"/>
            <a:ext cx="274320" cy="384048"/>
          </a:xfrm>
          <a:prstGeom prst="rect">
            <a:avLst/>
          </a:prstGeom>
          <a:noFill/>
          <a:ln/>
        </p:spPr>
        <p:txBody>
          <a:bodyPr wrap="square" lIns="0" tIns="0" rIns="0" bIns="0" rtlCol="0" anchor="ctr"/>
          <a:lstStyle/>
          <a:p>
            <a:pPr marL="0" indent="0" algn="ctr">
              <a:buNone/>
            </a:pPr>
            <a:r>
              <a:rPr lang="en-US" sz="1600" b="1" dirty="0">
                <a:solidFill>
                  <a:srgbClr val="FFA657"/>
                </a:solidFill>
                <a:latin typeface="Consolas" pitchFamily="34" charset="0"/>
                <a:ea typeface="Consolas" pitchFamily="34" charset="-122"/>
                <a:cs typeface="Consolas" pitchFamily="34" charset="-120"/>
              </a:rPr>
              <a:t xml:space="preserve"> </a:t>
            </a:r>
            <a:endParaRPr lang="en-US" sz="1600" dirty="0"/>
          </a:p>
        </p:txBody>
      </p:sp>
      <p:sp>
        <p:nvSpPr>
          <p:cNvPr id="6" name="Text 4"/>
          <p:cNvSpPr/>
          <p:nvPr/>
        </p:nvSpPr>
        <p:spPr>
          <a:xfrm>
            <a:off x="1197864" y="841248"/>
            <a:ext cx="274320" cy="384048"/>
          </a:xfrm>
          <a:prstGeom prst="rect">
            <a:avLst/>
          </a:prstGeom>
          <a:noFill/>
          <a:ln/>
        </p:spPr>
        <p:txBody>
          <a:bodyPr wrap="square" lIns="0" tIns="0" rIns="0" bIns="0" rtlCol="0" anchor="ctr"/>
          <a:lstStyle/>
          <a:p>
            <a:pPr marL="0" indent="0" algn="ctr">
              <a:buNone/>
            </a:pPr>
            <a:r>
              <a:rPr lang="en-US" sz="1600" b="1" dirty="0">
                <a:solidFill>
                  <a:srgbClr val="FFA657"/>
                </a:solidFill>
                <a:latin typeface="Consolas" pitchFamily="34" charset="0"/>
                <a:ea typeface="Consolas" pitchFamily="34" charset="-122"/>
                <a:cs typeface="Consolas" pitchFamily="34" charset="-120"/>
              </a:rPr>
              <a:t xml:space="preserve"> </a:t>
            </a:r>
            <a:endParaRPr lang="en-US" sz="1600" dirty="0"/>
          </a:p>
        </p:txBody>
      </p:sp>
      <p:sp>
        <p:nvSpPr>
          <p:cNvPr id="7" name="Text 5"/>
          <p:cNvSpPr/>
          <p:nvPr/>
        </p:nvSpPr>
        <p:spPr>
          <a:xfrm>
            <a:off x="1481328" y="841248"/>
            <a:ext cx="274320" cy="384048"/>
          </a:xfrm>
          <a:prstGeom prst="rect">
            <a:avLst/>
          </a:prstGeom>
          <a:noFill/>
          <a:ln/>
        </p:spPr>
        <p:txBody>
          <a:bodyPr wrap="square" lIns="0" tIns="0" rIns="0" bIns="0" rtlCol="0" anchor="ctr"/>
          <a:lstStyle/>
          <a:p>
            <a:pPr marL="0" indent="0" algn="ctr">
              <a:buNone/>
            </a:pPr>
            <a:r>
              <a:rPr lang="en-US" sz="1600" b="1" dirty="0">
                <a:solidFill>
                  <a:srgbClr val="3D444D"/>
                </a:solidFill>
                <a:latin typeface="Consolas" pitchFamily="34" charset="0"/>
                <a:ea typeface="Consolas" pitchFamily="34" charset="-122"/>
                <a:cs typeface="Consolas" pitchFamily="34" charset="-120"/>
              </a:rPr>
              <a:t xml:space="preserve"> </a:t>
            </a:r>
            <a:endParaRPr lang="en-US" sz="1600" dirty="0"/>
          </a:p>
        </p:txBody>
      </p:sp>
      <p:sp>
        <p:nvSpPr>
          <p:cNvPr id="8" name="Text 6"/>
          <p:cNvSpPr/>
          <p:nvPr/>
        </p:nvSpPr>
        <p:spPr>
          <a:xfrm>
            <a:off x="1764792" y="841248"/>
            <a:ext cx="274320" cy="384048"/>
          </a:xfrm>
          <a:prstGeom prst="rect">
            <a:avLst/>
          </a:prstGeom>
          <a:noFill/>
          <a:ln/>
        </p:spPr>
        <p:txBody>
          <a:bodyPr wrap="square" lIns="0" tIns="0" rIns="0" bIns="0" rtlCol="0" anchor="ctr"/>
          <a:lstStyle/>
          <a:p>
            <a:pPr marL="0" indent="0" algn="ctr">
              <a:buNone/>
            </a:pPr>
            <a:r>
              <a:rPr lang="en-US" sz="1600" b="1" dirty="0">
                <a:solidFill>
                  <a:srgbClr val="3FD9C4"/>
                </a:solidFill>
                <a:latin typeface="Consolas" pitchFamily="34" charset="0"/>
                <a:ea typeface="Consolas" pitchFamily="34" charset="-122"/>
                <a:cs typeface="Consolas" pitchFamily="34" charset="-120"/>
              </a:rPr>
              <a:t xml:space="preserve"> </a:t>
            </a:r>
            <a:endParaRPr lang="en-US" sz="1600" dirty="0"/>
          </a:p>
        </p:txBody>
      </p:sp>
      <p:sp>
        <p:nvSpPr>
          <p:cNvPr id="9" name="Text 7"/>
          <p:cNvSpPr/>
          <p:nvPr/>
        </p:nvSpPr>
        <p:spPr>
          <a:xfrm>
            <a:off x="2048256" y="841248"/>
            <a:ext cx="274320" cy="384048"/>
          </a:xfrm>
          <a:prstGeom prst="rect">
            <a:avLst/>
          </a:prstGeom>
          <a:noFill/>
          <a:ln/>
        </p:spPr>
        <p:txBody>
          <a:bodyPr wrap="square" lIns="0" tIns="0" rIns="0" bIns="0" rtlCol="0" anchor="ctr"/>
          <a:lstStyle/>
          <a:p>
            <a:pPr marL="0" indent="0" algn="ctr">
              <a:buNone/>
            </a:pPr>
            <a:r>
              <a:rPr lang="en-US" sz="1600" b="1" dirty="0">
                <a:solidFill>
                  <a:srgbClr val="3FD9C4"/>
                </a:solidFill>
                <a:latin typeface="Consolas" pitchFamily="34" charset="0"/>
                <a:ea typeface="Consolas" pitchFamily="34" charset="-122"/>
                <a:cs typeface="Consolas" pitchFamily="34" charset="-120"/>
              </a:rPr>
              <a:t xml:space="preserve"> </a:t>
            </a:r>
            <a:endParaRPr lang="en-US" sz="1600" dirty="0"/>
          </a:p>
        </p:txBody>
      </p:sp>
      <p:sp>
        <p:nvSpPr>
          <p:cNvPr id="10" name="Text 8"/>
          <p:cNvSpPr/>
          <p:nvPr/>
        </p:nvSpPr>
        <p:spPr>
          <a:xfrm>
            <a:off x="2331720" y="841248"/>
            <a:ext cx="274320" cy="384048"/>
          </a:xfrm>
          <a:prstGeom prst="rect">
            <a:avLst/>
          </a:prstGeom>
          <a:noFill/>
          <a:ln/>
        </p:spPr>
        <p:txBody>
          <a:bodyPr wrap="square" lIns="0" tIns="0" rIns="0" bIns="0" rtlCol="0" anchor="ctr"/>
          <a:lstStyle/>
          <a:p>
            <a:pPr marL="0" indent="0" algn="ctr">
              <a:buNone/>
            </a:pPr>
            <a:r>
              <a:rPr lang="en-US" sz="1600" b="1" dirty="0">
                <a:solidFill>
                  <a:srgbClr val="3FD9C4"/>
                </a:solidFill>
                <a:latin typeface="Consolas" pitchFamily="34" charset="0"/>
                <a:ea typeface="Consolas" pitchFamily="34" charset="-122"/>
                <a:cs typeface="Consolas" pitchFamily="34" charset="-120"/>
              </a:rPr>
              <a:t xml:space="preserve"> </a:t>
            </a:r>
            <a:endParaRPr lang="en-US" sz="1600" dirty="0"/>
          </a:p>
        </p:txBody>
      </p:sp>
      <p:sp>
        <p:nvSpPr>
          <p:cNvPr id="11" name="Text 9"/>
          <p:cNvSpPr/>
          <p:nvPr/>
        </p:nvSpPr>
        <p:spPr>
          <a:xfrm>
            <a:off x="2615184" y="841248"/>
            <a:ext cx="274320" cy="384048"/>
          </a:xfrm>
          <a:prstGeom prst="rect">
            <a:avLst/>
          </a:prstGeom>
          <a:noFill/>
          <a:ln/>
        </p:spPr>
        <p:txBody>
          <a:bodyPr wrap="square" lIns="0" tIns="0" rIns="0" bIns="0" rtlCol="0" anchor="ctr"/>
          <a:lstStyle/>
          <a:p>
            <a:pPr marL="0" indent="0" algn="ctr">
              <a:buNone/>
            </a:pPr>
            <a:r>
              <a:rPr lang="en-US" sz="1600" b="1" dirty="0">
                <a:solidFill>
                  <a:srgbClr val="3FD9C4"/>
                </a:solidFill>
                <a:latin typeface="Consolas" pitchFamily="34" charset="0"/>
                <a:ea typeface="Consolas" pitchFamily="34" charset="-122"/>
                <a:cs typeface="Consolas" pitchFamily="34" charset="-120"/>
              </a:rPr>
              <a:t xml:space="preserve"> </a:t>
            </a:r>
            <a:endParaRPr lang="en-US" sz="1600" dirty="0"/>
          </a:p>
        </p:txBody>
      </p:sp>
      <p:sp>
        <p:nvSpPr>
          <p:cNvPr id="12" name="Text 10"/>
          <p:cNvSpPr/>
          <p:nvPr/>
        </p:nvSpPr>
        <p:spPr>
          <a:xfrm>
            <a:off x="2898648" y="841248"/>
            <a:ext cx="274320" cy="384048"/>
          </a:xfrm>
          <a:prstGeom prst="rect">
            <a:avLst/>
          </a:prstGeom>
          <a:noFill/>
          <a:ln/>
        </p:spPr>
        <p:txBody>
          <a:bodyPr wrap="square" lIns="0" tIns="0" rIns="0" bIns="0" rtlCol="0" anchor="ctr"/>
          <a:lstStyle/>
          <a:p>
            <a:pPr marL="0" indent="0" algn="ctr">
              <a:buNone/>
            </a:pPr>
            <a:r>
              <a:rPr lang="en-US" sz="1600" b="1" dirty="0">
                <a:solidFill>
                  <a:srgbClr val="3FD9C4"/>
                </a:solidFill>
                <a:latin typeface="Consolas" pitchFamily="34" charset="0"/>
                <a:ea typeface="Consolas" pitchFamily="34" charset="-122"/>
                <a:cs typeface="Consolas" pitchFamily="34" charset="-120"/>
              </a:rPr>
              <a:t xml:space="preserve"> </a:t>
            </a:r>
            <a:endParaRPr lang="en-US" sz="1600" dirty="0"/>
          </a:p>
        </p:txBody>
      </p:sp>
      <p:sp>
        <p:nvSpPr>
          <p:cNvPr id="13" name="Text 11"/>
          <p:cNvSpPr/>
          <p:nvPr/>
        </p:nvSpPr>
        <p:spPr>
          <a:xfrm>
            <a:off x="3182112" y="841248"/>
            <a:ext cx="274320" cy="384048"/>
          </a:xfrm>
          <a:prstGeom prst="rect">
            <a:avLst/>
          </a:prstGeom>
          <a:noFill/>
          <a:ln/>
        </p:spPr>
        <p:txBody>
          <a:bodyPr wrap="square" lIns="0" tIns="0" rIns="0" bIns="0" rtlCol="0" anchor="ctr"/>
          <a:lstStyle/>
          <a:p>
            <a:pPr marL="0" indent="0" algn="ctr">
              <a:buNone/>
            </a:pPr>
            <a:r>
              <a:rPr lang="en-US" sz="1600" b="1" dirty="0">
                <a:solidFill>
                  <a:srgbClr val="3D444D"/>
                </a:solidFill>
                <a:latin typeface="Consolas" pitchFamily="34" charset="0"/>
                <a:ea typeface="Consolas" pitchFamily="34" charset="-122"/>
                <a:cs typeface="Consolas" pitchFamily="34" charset="-120"/>
              </a:rPr>
              <a:t xml:space="preserve"> </a:t>
            </a:r>
            <a:endParaRPr lang="en-US" sz="1600" dirty="0"/>
          </a:p>
        </p:txBody>
      </p:sp>
      <p:sp>
        <p:nvSpPr>
          <p:cNvPr id="14" name="Text 12"/>
          <p:cNvSpPr/>
          <p:nvPr/>
        </p:nvSpPr>
        <p:spPr>
          <a:xfrm>
            <a:off x="3465576" y="841248"/>
            <a:ext cx="274320" cy="384048"/>
          </a:xfrm>
          <a:prstGeom prst="rect">
            <a:avLst/>
          </a:prstGeom>
          <a:noFill/>
          <a:ln/>
        </p:spPr>
        <p:txBody>
          <a:bodyPr wrap="square" lIns="0" tIns="0" rIns="0" bIns="0" rtlCol="0" anchor="ctr"/>
          <a:lstStyle/>
          <a:p>
            <a:pPr marL="0" indent="0" algn="ctr">
              <a:buNone/>
            </a:pPr>
            <a:r>
              <a:rPr lang="en-US" sz="1600" b="1" dirty="0">
                <a:solidFill>
                  <a:srgbClr val="58A6FF"/>
                </a:solidFill>
                <a:latin typeface="Consolas" pitchFamily="34" charset="0"/>
                <a:ea typeface="Consolas" pitchFamily="34" charset="-122"/>
                <a:cs typeface="Consolas" pitchFamily="34" charset="-120"/>
              </a:rPr>
              <a:t xml:space="preserve"> </a:t>
            </a:r>
            <a:endParaRPr lang="en-US" sz="1600" dirty="0"/>
          </a:p>
        </p:txBody>
      </p:sp>
      <p:sp>
        <p:nvSpPr>
          <p:cNvPr id="15" name="Text 13"/>
          <p:cNvSpPr/>
          <p:nvPr/>
        </p:nvSpPr>
        <p:spPr>
          <a:xfrm>
            <a:off x="3749040" y="841248"/>
            <a:ext cx="274320" cy="384048"/>
          </a:xfrm>
          <a:prstGeom prst="rect">
            <a:avLst/>
          </a:prstGeom>
          <a:noFill/>
          <a:ln/>
        </p:spPr>
        <p:txBody>
          <a:bodyPr wrap="square" lIns="0" tIns="0" rIns="0" bIns="0" rtlCol="0" anchor="ctr"/>
          <a:lstStyle/>
          <a:p>
            <a:pPr marL="0" indent="0" algn="ctr">
              <a:buNone/>
            </a:pPr>
            <a:r>
              <a:rPr lang="en-US" sz="1600" b="1" dirty="0">
                <a:solidFill>
                  <a:srgbClr val="58A6FF"/>
                </a:solidFill>
                <a:latin typeface="Consolas" pitchFamily="34" charset="0"/>
                <a:ea typeface="Consolas" pitchFamily="34" charset="-122"/>
                <a:cs typeface="Consolas" pitchFamily="34" charset="-120"/>
              </a:rPr>
              <a:t xml:space="preserve"> </a:t>
            </a:r>
            <a:endParaRPr lang="en-US" sz="1600" dirty="0"/>
          </a:p>
        </p:txBody>
      </p:sp>
      <p:sp>
        <p:nvSpPr>
          <p:cNvPr id="16" name="Text 14"/>
          <p:cNvSpPr/>
          <p:nvPr/>
        </p:nvSpPr>
        <p:spPr>
          <a:xfrm>
            <a:off x="4032504" y="841248"/>
            <a:ext cx="274320" cy="384048"/>
          </a:xfrm>
          <a:prstGeom prst="rect">
            <a:avLst/>
          </a:prstGeom>
          <a:noFill/>
          <a:ln/>
        </p:spPr>
        <p:txBody>
          <a:bodyPr wrap="square" lIns="0" tIns="0" rIns="0" bIns="0" rtlCol="0" anchor="ctr"/>
          <a:lstStyle/>
          <a:p>
            <a:pPr marL="0" indent="0" algn="ctr">
              <a:buNone/>
            </a:pPr>
            <a:r>
              <a:rPr lang="en-US" sz="1600" b="1" dirty="0">
                <a:solidFill>
                  <a:srgbClr val="58A6FF"/>
                </a:solidFill>
                <a:latin typeface="Consolas" pitchFamily="34" charset="0"/>
                <a:ea typeface="Consolas" pitchFamily="34" charset="-122"/>
                <a:cs typeface="Consolas" pitchFamily="34" charset="-120"/>
              </a:rPr>
              <a:t xml:space="preserve"> </a:t>
            </a:r>
            <a:endParaRPr lang="en-US" sz="1600" dirty="0"/>
          </a:p>
        </p:txBody>
      </p:sp>
      <p:sp>
        <p:nvSpPr>
          <p:cNvPr id="17" name="Text 15"/>
          <p:cNvSpPr/>
          <p:nvPr/>
        </p:nvSpPr>
        <p:spPr>
          <a:xfrm>
            <a:off x="4315968" y="841248"/>
            <a:ext cx="274320" cy="384048"/>
          </a:xfrm>
          <a:prstGeom prst="rect">
            <a:avLst/>
          </a:prstGeom>
          <a:noFill/>
          <a:ln/>
        </p:spPr>
        <p:txBody>
          <a:bodyPr wrap="square" lIns="0" tIns="0" rIns="0" bIns="0" rtlCol="0" anchor="ctr"/>
          <a:lstStyle/>
          <a:p>
            <a:pPr marL="0" indent="0" algn="ctr">
              <a:buNone/>
            </a:pPr>
            <a:r>
              <a:rPr lang="en-US" sz="1600" b="1" dirty="0">
                <a:solidFill>
                  <a:srgbClr val="58A6FF"/>
                </a:solidFill>
                <a:latin typeface="Consolas" pitchFamily="34" charset="0"/>
                <a:ea typeface="Consolas" pitchFamily="34" charset="-122"/>
                <a:cs typeface="Consolas" pitchFamily="34" charset="-120"/>
              </a:rPr>
              <a:t xml:space="preserve"> </a:t>
            </a:r>
            <a:endParaRPr lang="en-US" sz="1600" dirty="0"/>
          </a:p>
        </p:txBody>
      </p:sp>
      <p:sp>
        <p:nvSpPr>
          <p:cNvPr id="18" name="Text 16"/>
          <p:cNvSpPr/>
          <p:nvPr/>
        </p:nvSpPr>
        <p:spPr>
          <a:xfrm>
            <a:off x="4599432" y="841248"/>
            <a:ext cx="274320" cy="384048"/>
          </a:xfrm>
          <a:prstGeom prst="rect">
            <a:avLst/>
          </a:prstGeom>
          <a:noFill/>
          <a:ln/>
        </p:spPr>
        <p:txBody>
          <a:bodyPr wrap="square" lIns="0" tIns="0" rIns="0" bIns="0" rtlCol="0" anchor="ctr"/>
          <a:lstStyle/>
          <a:p>
            <a:pPr marL="0" indent="0" algn="ctr">
              <a:buNone/>
            </a:pPr>
            <a:r>
              <a:rPr lang="en-US" sz="1600" b="1" dirty="0">
                <a:solidFill>
                  <a:srgbClr val="58A6FF"/>
                </a:solidFill>
                <a:latin typeface="Consolas" pitchFamily="34" charset="0"/>
                <a:ea typeface="Consolas" pitchFamily="34" charset="-122"/>
                <a:cs typeface="Consolas" pitchFamily="34" charset="-120"/>
              </a:rPr>
              <a:t xml:space="preserve"> </a:t>
            </a:r>
            <a:endParaRPr lang="en-US" sz="1600" dirty="0"/>
          </a:p>
        </p:txBody>
      </p:sp>
      <p:sp>
        <p:nvSpPr>
          <p:cNvPr id="19" name="Text 17"/>
          <p:cNvSpPr/>
          <p:nvPr/>
        </p:nvSpPr>
        <p:spPr>
          <a:xfrm>
            <a:off x="4882896" y="841248"/>
            <a:ext cx="274320" cy="384048"/>
          </a:xfrm>
          <a:prstGeom prst="rect">
            <a:avLst/>
          </a:prstGeom>
          <a:noFill/>
          <a:ln/>
        </p:spPr>
        <p:txBody>
          <a:bodyPr wrap="square" lIns="0" tIns="0" rIns="0" bIns="0" rtlCol="0" anchor="ctr"/>
          <a:lstStyle/>
          <a:p>
            <a:pPr marL="0" indent="0" algn="ctr">
              <a:buNone/>
            </a:pPr>
            <a:r>
              <a:rPr lang="en-US" sz="1600" b="1" dirty="0">
                <a:solidFill>
                  <a:srgbClr val="3D444D"/>
                </a:solidFill>
                <a:latin typeface="Consolas" pitchFamily="34" charset="0"/>
                <a:ea typeface="Consolas" pitchFamily="34" charset="-122"/>
                <a:cs typeface="Consolas" pitchFamily="34" charset="-120"/>
              </a:rPr>
              <a:t xml:space="preserve"> </a:t>
            </a:r>
            <a:endParaRPr lang="en-US" sz="1600" dirty="0"/>
          </a:p>
        </p:txBody>
      </p:sp>
      <p:sp>
        <p:nvSpPr>
          <p:cNvPr id="20" name="Text 18"/>
          <p:cNvSpPr/>
          <p:nvPr/>
        </p:nvSpPr>
        <p:spPr>
          <a:xfrm>
            <a:off x="5166360" y="841248"/>
            <a:ext cx="274320" cy="384048"/>
          </a:xfrm>
          <a:prstGeom prst="rect">
            <a:avLst/>
          </a:prstGeom>
          <a:noFill/>
          <a:ln/>
        </p:spPr>
        <p:txBody>
          <a:bodyPr wrap="square" lIns="0" tIns="0" rIns="0" bIns="0" rtlCol="0" anchor="ctr"/>
          <a:lstStyle/>
          <a:p>
            <a:pPr marL="0" indent="0" algn="ctr">
              <a:buNone/>
            </a:pPr>
            <a:r>
              <a:rPr lang="en-US" sz="1600" b="1" dirty="0">
                <a:solidFill>
                  <a:srgbClr val="BC8CFF"/>
                </a:solidFill>
                <a:latin typeface="Consolas" pitchFamily="34" charset="0"/>
                <a:ea typeface="Consolas" pitchFamily="34" charset="-122"/>
                <a:cs typeface="Consolas" pitchFamily="34" charset="-120"/>
              </a:rPr>
              <a:t xml:space="preserve"> </a:t>
            </a:r>
            <a:endParaRPr lang="en-US" sz="1600" dirty="0"/>
          </a:p>
        </p:txBody>
      </p:sp>
      <p:sp>
        <p:nvSpPr>
          <p:cNvPr id="21" name="Text 19"/>
          <p:cNvSpPr/>
          <p:nvPr/>
        </p:nvSpPr>
        <p:spPr>
          <a:xfrm>
            <a:off x="5449824" y="841248"/>
            <a:ext cx="274320" cy="384048"/>
          </a:xfrm>
          <a:prstGeom prst="rect">
            <a:avLst/>
          </a:prstGeom>
          <a:noFill/>
          <a:ln/>
        </p:spPr>
        <p:txBody>
          <a:bodyPr wrap="square" lIns="0" tIns="0" rIns="0" bIns="0" rtlCol="0" anchor="ctr"/>
          <a:lstStyle/>
          <a:p>
            <a:pPr marL="0" indent="0" algn="ctr">
              <a:buNone/>
            </a:pPr>
            <a:r>
              <a:rPr lang="en-US" sz="1600" b="1" dirty="0">
                <a:solidFill>
                  <a:srgbClr val="BC8CFF"/>
                </a:solidFill>
                <a:latin typeface="Consolas" pitchFamily="34" charset="0"/>
                <a:ea typeface="Consolas" pitchFamily="34" charset="-122"/>
                <a:cs typeface="Consolas" pitchFamily="34" charset="-120"/>
              </a:rPr>
              <a:t xml:space="preserve"> </a:t>
            </a:r>
            <a:endParaRPr lang="en-US" sz="1600" dirty="0"/>
          </a:p>
        </p:txBody>
      </p:sp>
      <p:sp>
        <p:nvSpPr>
          <p:cNvPr id="22" name="Text 20"/>
          <p:cNvSpPr/>
          <p:nvPr/>
        </p:nvSpPr>
        <p:spPr>
          <a:xfrm>
            <a:off x="5733288" y="841248"/>
            <a:ext cx="274320" cy="384048"/>
          </a:xfrm>
          <a:prstGeom prst="rect">
            <a:avLst/>
          </a:prstGeom>
          <a:noFill/>
          <a:ln/>
        </p:spPr>
        <p:txBody>
          <a:bodyPr wrap="square" lIns="0" tIns="0" rIns="0" bIns="0" rtlCol="0" anchor="ctr"/>
          <a:lstStyle/>
          <a:p>
            <a:pPr marL="0" indent="0" algn="ctr">
              <a:buNone/>
            </a:pPr>
            <a:r>
              <a:rPr lang="en-US" sz="1600" b="1" dirty="0">
                <a:solidFill>
                  <a:srgbClr val="BC8CFF"/>
                </a:solidFill>
                <a:latin typeface="Consolas" pitchFamily="34" charset="0"/>
                <a:ea typeface="Consolas" pitchFamily="34" charset="-122"/>
                <a:cs typeface="Consolas" pitchFamily="34" charset="-120"/>
              </a:rPr>
              <a:t xml:space="preserve"> </a:t>
            </a:r>
            <a:endParaRPr lang="en-US" sz="1600" dirty="0"/>
          </a:p>
        </p:txBody>
      </p:sp>
      <p:sp>
        <p:nvSpPr>
          <p:cNvPr id="23" name="Text 21"/>
          <p:cNvSpPr/>
          <p:nvPr/>
        </p:nvSpPr>
        <p:spPr>
          <a:xfrm>
            <a:off x="6016752" y="841248"/>
            <a:ext cx="274320" cy="384048"/>
          </a:xfrm>
          <a:prstGeom prst="rect">
            <a:avLst/>
          </a:prstGeom>
          <a:noFill/>
          <a:ln/>
        </p:spPr>
        <p:txBody>
          <a:bodyPr wrap="square" lIns="0" tIns="0" rIns="0" bIns="0" rtlCol="0" anchor="ctr"/>
          <a:lstStyle/>
          <a:p>
            <a:pPr marL="0" indent="0" algn="ctr">
              <a:buNone/>
            </a:pPr>
            <a:r>
              <a:rPr lang="en-US" sz="1600" b="1" dirty="0">
                <a:solidFill>
                  <a:srgbClr val="BC8CFF"/>
                </a:solidFill>
                <a:latin typeface="Consolas" pitchFamily="34" charset="0"/>
                <a:ea typeface="Consolas" pitchFamily="34" charset="-122"/>
                <a:cs typeface="Consolas" pitchFamily="34" charset="-120"/>
              </a:rPr>
              <a:t xml:space="preserve"> </a:t>
            </a:r>
            <a:endParaRPr lang="en-US" sz="1600" dirty="0"/>
          </a:p>
        </p:txBody>
      </p:sp>
      <p:sp>
        <p:nvSpPr>
          <p:cNvPr id="24" name="Text 22"/>
          <p:cNvSpPr/>
          <p:nvPr/>
        </p:nvSpPr>
        <p:spPr>
          <a:xfrm>
            <a:off x="6300216" y="841248"/>
            <a:ext cx="274320" cy="384048"/>
          </a:xfrm>
          <a:prstGeom prst="rect">
            <a:avLst/>
          </a:prstGeom>
          <a:noFill/>
          <a:ln/>
        </p:spPr>
        <p:txBody>
          <a:bodyPr wrap="square" lIns="0" tIns="0" rIns="0" bIns="0" rtlCol="0" anchor="ctr"/>
          <a:lstStyle/>
          <a:p>
            <a:pPr marL="0" indent="0" algn="ctr">
              <a:buNone/>
            </a:pPr>
            <a:r>
              <a:rPr lang="en-US" sz="1600" b="1" dirty="0">
                <a:solidFill>
                  <a:srgbClr val="3D444D"/>
                </a:solidFill>
                <a:latin typeface="Consolas" pitchFamily="34" charset="0"/>
                <a:ea typeface="Consolas" pitchFamily="34" charset="-122"/>
                <a:cs typeface="Consolas" pitchFamily="34" charset="-120"/>
              </a:rPr>
              <a:t xml:space="preserve"> </a:t>
            </a:r>
            <a:endParaRPr lang="en-US" sz="1600" dirty="0"/>
          </a:p>
        </p:txBody>
      </p:sp>
      <p:sp>
        <p:nvSpPr>
          <p:cNvPr id="25" name="Text 23"/>
          <p:cNvSpPr/>
          <p:nvPr/>
        </p:nvSpPr>
        <p:spPr>
          <a:xfrm>
            <a:off x="6583680" y="841248"/>
            <a:ext cx="274320" cy="384048"/>
          </a:xfrm>
          <a:prstGeom prst="rect">
            <a:avLst/>
          </a:prstGeom>
          <a:noFill/>
          <a:ln/>
        </p:spPr>
        <p:txBody>
          <a:bodyPr wrap="square" lIns="0" tIns="0" rIns="0" bIns="0" rtlCol="0" anchor="ctr"/>
          <a:lstStyle/>
          <a:p>
            <a:pPr marL="0" indent="0" algn="ctr">
              <a:buNone/>
            </a:pPr>
            <a:r>
              <a:rPr lang="en-US" sz="1600" b="1" dirty="0">
                <a:solidFill>
                  <a:srgbClr val="F0F6FC"/>
                </a:solidFill>
                <a:latin typeface="Consolas" pitchFamily="34" charset="0"/>
                <a:ea typeface="Consolas" pitchFamily="34" charset="-122"/>
                <a:cs typeface="Consolas" pitchFamily="34" charset="-120"/>
              </a:rPr>
              <a:t xml:space="preserve"> </a:t>
            </a:r>
            <a:endParaRPr lang="en-US" sz="1600" dirty="0"/>
          </a:p>
        </p:txBody>
      </p:sp>
      <p:sp>
        <p:nvSpPr>
          <p:cNvPr id="26" name="Text 24"/>
          <p:cNvSpPr/>
          <p:nvPr/>
        </p:nvSpPr>
        <p:spPr>
          <a:xfrm>
            <a:off x="6867144" y="841248"/>
            <a:ext cx="274320" cy="384048"/>
          </a:xfrm>
          <a:prstGeom prst="rect">
            <a:avLst/>
          </a:prstGeom>
          <a:noFill/>
          <a:ln/>
        </p:spPr>
        <p:txBody>
          <a:bodyPr wrap="square" lIns="0" tIns="0" rIns="0" bIns="0" rtlCol="0" anchor="ctr"/>
          <a:lstStyle/>
          <a:p>
            <a:pPr marL="0" indent="0" algn="ctr">
              <a:buNone/>
            </a:pPr>
            <a:r>
              <a:rPr lang="en-US" sz="1600" b="1" dirty="0">
                <a:solidFill>
                  <a:srgbClr val="F0F6FC"/>
                </a:solidFill>
                <a:latin typeface="Consolas" pitchFamily="34" charset="0"/>
                <a:ea typeface="Consolas" pitchFamily="34" charset="-122"/>
                <a:cs typeface="Consolas" pitchFamily="34" charset="-120"/>
              </a:rPr>
              <a:t xml:space="preserve"> </a:t>
            </a:r>
            <a:endParaRPr lang="en-US" sz="1600" dirty="0"/>
          </a:p>
        </p:txBody>
      </p:sp>
      <p:sp>
        <p:nvSpPr>
          <p:cNvPr id="27" name="Text 25"/>
          <p:cNvSpPr/>
          <p:nvPr/>
        </p:nvSpPr>
        <p:spPr>
          <a:xfrm>
            <a:off x="7150608" y="841248"/>
            <a:ext cx="274320" cy="384048"/>
          </a:xfrm>
          <a:prstGeom prst="rect">
            <a:avLst/>
          </a:prstGeom>
          <a:noFill/>
          <a:ln/>
        </p:spPr>
        <p:txBody>
          <a:bodyPr wrap="square" lIns="0" tIns="0" rIns="0" bIns="0" rtlCol="0" anchor="ctr"/>
          <a:lstStyle/>
          <a:p>
            <a:pPr marL="0" indent="0" algn="ctr">
              <a:buNone/>
            </a:pPr>
            <a:r>
              <a:rPr lang="en-US" sz="1600" b="1" dirty="0">
                <a:solidFill>
                  <a:srgbClr val="F0F6FC"/>
                </a:solidFill>
                <a:latin typeface="Consolas" pitchFamily="34" charset="0"/>
                <a:ea typeface="Consolas" pitchFamily="34" charset="-122"/>
                <a:cs typeface="Consolas" pitchFamily="34" charset="-120"/>
              </a:rPr>
              <a:t xml:space="preserve"> </a:t>
            </a:r>
            <a:endParaRPr lang="en-US" sz="1600" dirty="0"/>
          </a:p>
        </p:txBody>
      </p:sp>
      <p:sp>
        <p:nvSpPr>
          <p:cNvPr id="28" name="Text 26"/>
          <p:cNvSpPr/>
          <p:nvPr/>
        </p:nvSpPr>
        <p:spPr>
          <a:xfrm>
            <a:off x="7434072" y="841248"/>
            <a:ext cx="274320" cy="384048"/>
          </a:xfrm>
          <a:prstGeom prst="rect">
            <a:avLst/>
          </a:prstGeom>
          <a:noFill/>
          <a:ln/>
        </p:spPr>
        <p:txBody>
          <a:bodyPr wrap="square" lIns="0" tIns="0" rIns="0" bIns="0" rtlCol="0" anchor="ctr"/>
          <a:lstStyle/>
          <a:p>
            <a:pPr marL="0" indent="0" algn="ctr">
              <a:buNone/>
            </a:pPr>
            <a:r>
              <a:rPr lang="en-US" sz="1600" b="1" dirty="0">
                <a:solidFill>
                  <a:srgbClr val="F0F6FC"/>
                </a:solidFill>
                <a:latin typeface="Consolas" pitchFamily="34" charset="0"/>
                <a:ea typeface="Consolas" pitchFamily="34" charset="-122"/>
                <a:cs typeface="Consolas" pitchFamily="34" charset="-120"/>
              </a:rPr>
              <a:t xml:space="preserve"> </a:t>
            </a:r>
            <a:endParaRPr lang="en-US" sz="1600" dirty="0"/>
          </a:p>
        </p:txBody>
      </p:sp>
      <p:sp>
        <p:nvSpPr>
          <p:cNvPr id="29" name="Text 27"/>
          <p:cNvSpPr/>
          <p:nvPr/>
        </p:nvSpPr>
        <p:spPr>
          <a:xfrm>
            <a:off x="7717536" y="841248"/>
            <a:ext cx="274320" cy="384048"/>
          </a:xfrm>
          <a:prstGeom prst="rect">
            <a:avLst/>
          </a:prstGeom>
          <a:noFill/>
          <a:ln/>
        </p:spPr>
        <p:txBody>
          <a:bodyPr wrap="square" lIns="0" tIns="0" rIns="0" bIns="0" rtlCol="0" anchor="ctr"/>
          <a:lstStyle/>
          <a:p>
            <a:pPr marL="0" indent="0" algn="ctr">
              <a:buNone/>
            </a:pPr>
            <a:r>
              <a:rPr lang="en-US" sz="1600" b="1" dirty="0">
                <a:solidFill>
                  <a:srgbClr val="E3B341"/>
                </a:solidFill>
                <a:latin typeface="Consolas" pitchFamily="34" charset="0"/>
                <a:ea typeface="Consolas" pitchFamily="34" charset="-122"/>
                <a:cs typeface="Consolas" pitchFamily="34" charset="-120"/>
              </a:rPr>
              <a:t xml:space="preserve"> </a:t>
            </a:r>
            <a:endParaRPr lang="en-US" sz="1600" dirty="0"/>
          </a:p>
        </p:txBody>
      </p:sp>
      <p:sp>
        <p:nvSpPr>
          <p:cNvPr id="30" name="Text 28"/>
          <p:cNvSpPr/>
          <p:nvPr/>
        </p:nvSpPr>
        <p:spPr>
          <a:xfrm>
            <a:off x="8001000" y="841248"/>
            <a:ext cx="274320" cy="384048"/>
          </a:xfrm>
          <a:prstGeom prst="rect">
            <a:avLst/>
          </a:prstGeom>
          <a:noFill/>
          <a:ln/>
        </p:spPr>
        <p:txBody>
          <a:bodyPr wrap="square" lIns="0" tIns="0" rIns="0" bIns="0" rtlCol="0" anchor="ctr"/>
          <a:lstStyle/>
          <a:p>
            <a:pPr marL="0" indent="0" algn="ctr">
              <a:buNone/>
            </a:pPr>
            <a:r>
              <a:rPr lang="en-US" sz="1600" b="1" dirty="0">
                <a:solidFill>
                  <a:srgbClr val="3FB950"/>
                </a:solidFill>
                <a:latin typeface="Consolas" pitchFamily="34" charset="0"/>
                <a:ea typeface="Consolas" pitchFamily="34" charset="-122"/>
                <a:cs typeface="Consolas" pitchFamily="34" charset="-120"/>
              </a:rPr>
              <a:t xml:space="preserve"> </a:t>
            </a:r>
            <a:endParaRPr lang="en-US" sz="1600" dirty="0"/>
          </a:p>
        </p:txBody>
      </p:sp>
      <p:sp>
        <p:nvSpPr>
          <p:cNvPr id="31" name="Text 29"/>
          <p:cNvSpPr/>
          <p:nvPr/>
        </p:nvSpPr>
        <p:spPr>
          <a:xfrm>
            <a:off x="8284464" y="841248"/>
            <a:ext cx="274320" cy="384048"/>
          </a:xfrm>
          <a:prstGeom prst="rect">
            <a:avLst/>
          </a:prstGeom>
          <a:noFill/>
          <a:ln/>
        </p:spPr>
        <p:txBody>
          <a:bodyPr wrap="square" lIns="0" tIns="0" rIns="0" bIns="0" rtlCol="0" anchor="ctr"/>
          <a:lstStyle/>
          <a:p>
            <a:pPr marL="0" indent="0" algn="ctr">
              <a:buNone/>
            </a:pPr>
            <a:r>
              <a:rPr lang="en-US" sz="1600" b="1" dirty="0">
                <a:solidFill>
                  <a:srgbClr val="3FB950"/>
                </a:solidFill>
                <a:latin typeface="Consolas" pitchFamily="34" charset="0"/>
                <a:ea typeface="Consolas" pitchFamily="34" charset="-122"/>
                <a:cs typeface="Consolas" pitchFamily="34" charset="-120"/>
              </a:rPr>
              <a:t xml:space="preserve"> </a:t>
            </a:r>
            <a:endParaRPr lang="en-US" sz="1600" dirty="0"/>
          </a:p>
        </p:txBody>
      </p:sp>
      <p:sp>
        <p:nvSpPr>
          <p:cNvPr id="32" name="Text 30"/>
          <p:cNvSpPr/>
          <p:nvPr/>
        </p:nvSpPr>
        <p:spPr>
          <a:xfrm>
            <a:off x="548640" y="1417320"/>
            <a:ext cx="8046720" cy="804672"/>
          </a:xfrm>
          <a:prstGeom prst="rect">
            <a:avLst/>
          </a:prstGeom>
          <a:noFill/>
          <a:ln/>
        </p:spPr>
        <p:txBody>
          <a:bodyPr wrap="square" lIns="0" tIns="0" rIns="0" bIns="0" rtlCol="0" anchor="ctr"/>
          <a:lstStyle/>
          <a:p>
            <a:pPr marL="0" indent="0" algn="ctr">
              <a:buNone/>
            </a:pPr>
            <a:r>
              <a:rPr lang="en-US" sz="5200" b="1" dirty="0">
                <a:solidFill>
                  <a:srgbClr val="F0F6FC"/>
                </a:solidFill>
                <a:latin typeface="Calibri" pitchFamily="34" charset="0"/>
                <a:ea typeface="Calibri" pitchFamily="34" charset="-122"/>
                <a:cs typeface="Calibri" pitchFamily="34" charset="-120"/>
              </a:rPr>
              <a:t>End of</a:t>
            </a:r>
            <a:endParaRPr lang="en-US" sz="5200" dirty="0"/>
          </a:p>
        </p:txBody>
      </p:sp>
      <p:sp>
        <p:nvSpPr>
          <p:cNvPr id="33" name="Text 31"/>
          <p:cNvSpPr/>
          <p:nvPr/>
        </p:nvSpPr>
        <p:spPr>
          <a:xfrm>
            <a:off x="548640" y="2148840"/>
            <a:ext cx="8046720" cy="804672"/>
          </a:xfrm>
          <a:prstGeom prst="rect">
            <a:avLst/>
          </a:prstGeom>
          <a:noFill/>
          <a:ln/>
        </p:spPr>
        <p:txBody>
          <a:bodyPr wrap="square" lIns="0" tIns="0" rIns="0" bIns="0" rtlCol="0" anchor="ctr"/>
          <a:lstStyle/>
          <a:p>
            <a:pPr marL="0" indent="0" algn="ctr">
              <a:buNone/>
            </a:pPr>
            <a:r>
              <a:rPr lang="en-US" sz="5200" b="1" dirty="0">
                <a:solidFill>
                  <a:srgbClr val="3FD9C4"/>
                </a:solidFill>
                <a:latin typeface="Calibri" pitchFamily="34" charset="0"/>
                <a:ea typeface="Calibri" pitchFamily="34" charset="-122"/>
                <a:cs typeface="Calibri" pitchFamily="34" charset="-120"/>
              </a:rPr>
              <a:t>Week 3</a:t>
            </a:r>
            <a:endParaRPr lang="en-US" sz="5200" dirty="0"/>
          </a:p>
        </p:txBody>
      </p:sp>
      <p:sp>
        <p:nvSpPr>
          <p:cNvPr id="34" name="Text 32"/>
          <p:cNvSpPr/>
          <p:nvPr/>
        </p:nvSpPr>
        <p:spPr>
          <a:xfrm>
            <a:off x="548640" y="2999232"/>
            <a:ext cx="8046720" cy="329184"/>
          </a:xfrm>
          <a:prstGeom prst="rect">
            <a:avLst/>
          </a:prstGeom>
          <a:noFill/>
          <a:ln/>
        </p:spPr>
        <p:txBody>
          <a:bodyPr wrap="square" lIns="0" tIns="0" rIns="0" bIns="0" rtlCol="0" anchor="ctr"/>
          <a:lstStyle/>
          <a:p>
            <a:pPr marL="0" indent="0" algn="ctr">
              <a:buNone/>
            </a:pPr>
            <a:r>
              <a:rPr lang="en-US" sz="1500" i="1" dirty="0">
                <a:solidFill>
                  <a:srgbClr val="8B949E"/>
                </a:solidFill>
                <a:latin typeface="Calibri" pitchFamily="34" charset="0"/>
                <a:ea typeface="Calibri" pitchFamily="34" charset="-122"/>
                <a:cs typeface="Calibri" pitchFamily="34" charset="-120"/>
              </a:rPr>
              <a:t>You now know two searches and three sorts — the building blocks every developer uses</a:t>
            </a:r>
            <a:endParaRPr lang="en-US" sz="1500" dirty="0"/>
          </a:p>
        </p:txBody>
      </p:sp>
      <p:sp>
        <p:nvSpPr>
          <p:cNvPr id="35" name="Shape 33"/>
          <p:cNvSpPr/>
          <p:nvPr/>
        </p:nvSpPr>
        <p:spPr>
          <a:xfrm>
            <a:off x="2468880" y="3401568"/>
            <a:ext cx="274320" cy="274320"/>
          </a:xfrm>
          <a:prstGeom prst="ellipse">
            <a:avLst/>
          </a:prstGeom>
          <a:solidFill>
            <a:srgbClr val="3FD9C4"/>
          </a:solidFill>
          <a:ln w="12700">
            <a:solidFill>
              <a:srgbClr val="3FD9C4"/>
            </a:solidFill>
            <a:prstDash val="solid"/>
          </a:ln>
        </p:spPr>
        <p:txBody>
          <a:bodyPr/>
          <a:lstStyle/>
          <a:p>
            <a:endParaRPr lang="en-US"/>
          </a:p>
        </p:txBody>
      </p:sp>
      <p:sp>
        <p:nvSpPr>
          <p:cNvPr id="36" name="Shape 34"/>
          <p:cNvSpPr/>
          <p:nvPr/>
        </p:nvSpPr>
        <p:spPr>
          <a:xfrm>
            <a:off x="3090672" y="3401568"/>
            <a:ext cx="274320" cy="274320"/>
          </a:xfrm>
          <a:prstGeom prst="ellipse">
            <a:avLst/>
          </a:prstGeom>
          <a:solidFill>
            <a:srgbClr val="58A6FF"/>
          </a:solidFill>
          <a:ln w="12700">
            <a:solidFill>
              <a:srgbClr val="58A6FF"/>
            </a:solidFill>
            <a:prstDash val="solid"/>
          </a:ln>
        </p:spPr>
        <p:txBody>
          <a:bodyPr/>
          <a:lstStyle/>
          <a:p>
            <a:endParaRPr lang="en-US"/>
          </a:p>
        </p:txBody>
      </p:sp>
      <p:sp>
        <p:nvSpPr>
          <p:cNvPr id="37" name="Shape 35"/>
          <p:cNvSpPr/>
          <p:nvPr/>
        </p:nvSpPr>
        <p:spPr>
          <a:xfrm>
            <a:off x="3712464" y="3401568"/>
            <a:ext cx="274320" cy="274320"/>
          </a:xfrm>
          <a:prstGeom prst="ellipse">
            <a:avLst/>
          </a:prstGeom>
          <a:solidFill>
            <a:srgbClr val="BC8CFF"/>
          </a:solidFill>
          <a:ln w="12700">
            <a:solidFill>
              <a:srgbClr val="BC8CFF"/>
            </a:solidFill>
            <a:prstDash val="solid"/>
          </a:ln>
        </p:spPr>
        <p:txBody>
          <a:bodyPr/>
          <a:lstStyle/>
          <a:p>
            <a:endParaRPr lang="en-US"/>
          </a:p>
        </p:txBody>
      </p:sp>
      <p:sp>
        <p:nvSpPr>
          <p:cNvPr id="38" name="Shape 36"/>
          <p:cNvSpPr/>
          <p:nvPr/>
        </p:nvSpPr>
        <p:spPr>
          <a:xfrm>
            <a:off x="4334256" y="3401568"/>
            <a:ext cx="274320" cy="274320"/>
          </a:xfrm>
          <a:prstGeom prst="ellipse">
            <a:avLst/>
          </a:prstGeom>
          <a:solidFill>
            <a:srgbClr val="FFA657"/>
          </a:solidFill>
          <a:ln w="12700">
            <a:solidFill>
              <a:srgbClr val="FFA657"/>
            </a:solidFill>
            <a:prstDash val="solid"/>
          </a:ln>
        </p:spPr>
        <p:txBody>
          <a:bodyPr/>
          <a:lstStyle/>
          <a:p>
            <a:endParaRPr lang="en-US"/>
          </a:p>
        </p:txBody>
      </p:sp>
      <p:sp>
        <p:nvSpPr>
          <p:cNvPr id="39" name="Shape 37"/>
          <p:cNvSpPr/>
          <p:nvPr/>
        </p:nvSpPr>
        <p:spPr>
          <a:xfrm>
            <a:off x="4956048" y="3401568"/>
            <a:ext cx="274320" cy="274320"/>
          </a:xfrm>
          <a:prstGeom prst="ellipse">
            <a:avLst/>
          </a:prstGeom>
          <a:solidFill>
            <a:srgbClr val="3FB950"/>
          </a:solidFill>
          <a:ln w="12700">
            <a:solidFill>
              <a:srgbClr val="3FB950"/>
            </a:solidFill>
            <a:prstDash val="solid"/>
          </a:ln>
        </p:spPr>
        <p:txBody>
          <a:bodyPr/>
          <a:lstStyle/>
          <a:p>
            <a:endParaRPr lang="en-US"/>
          </a:p>
        </p:txBody>
      </p:sp>
      <p:sp>
        <p:nvSpPr>
          <p:cNvPr id="40" name="Shape 38"/>
          <p:cNvSpPr/>
          <p:nvPr/>
        </p:nvSpPr>
        <p:spPr>
          <a:xfrm>
            <a:off x="5577840" y="3401568"/>
            <a:ext cx="274320" cy="274320"/>
          </a:xfrm>
          <a:prstGeom prst="ellipse">
            <a:avLst/>
          </a:prstGeom>
          <a:solidFill>
            <a:srgbClr val="F778BA"/>
          </a:solidFill>
          <a:ln w="12700">
            <a:solidFill>
              <a:srgbClr val="F778BA"/>
            </a:solidFill>
            <a:prstDash val="solid"/>
          </a:ln>
        </p:spPr>
        <p:txBody>
          <a:bodyPr/>
          <a:lstStyle/>
          <a:p>
            <a:endParaRPr lang="en-US"/>
          </a:p>
        </p:txBody>
      </p:sp>
      <p:sp>
        <p:nvSpPr>
          <p:cNvPr id="41" name="Text 39"/>
          <p:cNvSpPr/>
          <p:nvPr/>
        </p:nvSpPr>
        <p:spPr>
          <a:xfrm>
            <a:off x="0" y="4526280"/>
            <a:ext cx="9144000" cy="292608"/>
          </a:xfrm>
          <a:prstGeom prst="rect">
            <a:avLst/>
          </a:prstGeom>
          <a:noFill/>
          <a:ln/>
        </p:spPr>
        <p:txBody>
          <a:bodyPr wrap="square" lIns="0" tIns="0" rIns="0" bIns="0" rtlCol="0" anchor="ctr"/>
          <a:lstStyle/>
          <a:p>
            <a:pPr marL="0" indent="0" algn="ctr">
              <a:buNone/>
            </a:pPr>
            <a:r>
              <a:rPr lang="en-US" sz="1000" dirty="0">
                <a:solidFill>
                  <a:srgbClr val="3D444D"/>
                </a:solidFill>
                <a:latin typeface="Calibri" pitchFamily="34" charset="0"/>
                <a:ea typeface="Calibri" pitchFamily="34" charset="-122"/>
                <a:cs typeface="Calibri" pitchFamily="34" charset="-120"/>
              </a:rPr>
              <a:t>Foundation Bootcamp · Programming Fundamentals</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VISUAL TRACE</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Watching Insertion Sort Run</a:t>
            </a:r>
            <a:endParaRPr lang="en-US" sz="2800" dirty="0"/>
          </a:p>
        </p:txBody>
      </p:sp>
      <p:sp>
        <p:nvSpPr>
          <p:cNvPr id="6" name="Text 4"/>
          <p:cNvSpPr/>
          <p:nvPr/>
        </p:nvSpPr>
        <p:spPr>
          <a:xfrm>
            <a:off x="457200" y="877824"/>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Sorting  [5, 2, 8, 1, 4, 7, 3, 6]  by inserting each item into the growing sorted region on the left</a:t>
            </a:r>
            <a:endParaRPr lang="en-US" sz="1300" dirty="0"/>
          </a:p>
        </p:txBody>
      </p:sp>
      <p:sp>
        <p:nvSpPr>
          <p:cNvPr id="7" name="Shape 5"/>
          <p:cNvSpPr/>
          <p:nvPr/>
        </p:nvSpPr>
        <p:spPr>
          <a:xfrm>
            <a:off x="411480" y="1170432"/>
            <a:ext cx="2048256" cy="374904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2048256"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9" name="Text 7"/>
          <p:cNvSpPr/>
          <p:nvPr/>
        </p:nvSpPr>
        <p:spPr>
          <a:xfrm>
            <a:off x="502920"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Initial — only list[0] is the "sorted region" (just one item)</a:t>
            </a:r>
            <a:endParaRPr lang="en-US" sz="1000" dirty="0"/>
          </a:p>
        </p:txBody>
      </p:sp>
      <p:sp>
        <p:nvSpPr>
          <p:cNvPr id="10" name="Shape 8"/>
          <p:cNvSpPr/>
          <p:nvPr/>
        </p:nvSpPr>
        <p:spPr>
          <a:xfrm>
            <a:off x="502920" y="1572768"/>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11" name="Text 9"/>
          <p:cNvSpPr/>
          <p:nvPr/>
        </p:nvSpPr>
        <p:spPr>
          <a:xfrm>
            <a:off x="502920" y="1572768"/>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5</a:t>
            </a:r>
            <a:endParaRPr lang="en-US" sz="900" dirty="0"/>
          </a:p>
        </p:txBody>
      </p:sp>
      <p:sp>
        <p:nvSpPr>
          <p:cNvPr id="12" name="Text 10"/>
          <p:cNvSpPr/>
          <p:nvPr/>
        </p:nvSpPr>
        <p:spPr>
          <a:xfrm>
            <a:off x="1014984"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 (alone)</a:t>
            </a:r>
            <a:endParaRPr lang="en-US" sz="950" dirty="0"/>
          </a:p>
        </p:txBody>
      </p:sp>
      <p:sp>
        <p:nvSpPr>
          <p:cNvPr id="13" name="Shape 11"/>
          <p:cNvSpPr/>
          <p:nvPr/>
        </p:nvSpPr>
        <p:spPr>
          <a:xfrm>
            <a:off x="502920" y="1965960"/>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14" name="Text 12"/>
          <p:cNvSpPr/>
          <p:nvPr/>
        </p:nvSpPr>
        <p:spPr>
          <a:xfrm>
            <a:off x="502920" y="1965960"/>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2</a:t>
            </a:r>
            <a:endParaRPr lang="en-US" sz="900" dirty="0"/>
          </a:p>
        </p:txBody>
      </p:sp>
      <p:sp>
        <p:nvSpPr>
          <p:cNvPr id="15" name="Text 13"/>
          <p:cNvSpPr/>
          <p:nvPr/>
        </p:nvSpPr>
        <p:spPr>
          <a:xfrm>
            <a:off x="1014984"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next to insert</a:t>
            </a:r>
            <a:endParaRPr lang="en-US" sz="950" dirty="0"/>
          </a:p>
        </p:txBody>
      </p:sp>
      <p:sp>
        <p:nvSpPr>
          <p:cNvPr id="16" name="Shape 14"/>
          <p:cNvSpPr/>
          <p:nvPr/>
        </p:nvSpPr>
        <p:spPr>
          <a:xfrm>
            <a:off x="502920" y="2359152"/>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17" name="Text 15"/>
          <p:cNvSpPr/>
          <p:nvPr/>
        </p:nvSpPr>
        <p:spPr>
          <a:xfrm>
            <a:off x="502920" y="2359152"/>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8</a:t>
            </a:r>
            <a:endParaRPr lang="en-US" sz="900" dirty="0"/>
          </a:p>
        </p:txBody>
      </p:sp>
      <p:sp>
        <p:nvSpPr>
          <p:cNvPr id="18" name="Text 16"/>
          <p:cNvSpPr/>
          <p:nvPr/>
        </p:nvSpPr>
        <p:spPr>
          <a:xfrm>
            <a:off x="1014984"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unsorted</a:t>
            </a:r>
            <a:endParaRPr lang="en-US" sz="950" dirty="0"/>
          </a:p>
        </p:txBody>
      </p:sp>
      <p:sp>
        <p:nvSpPr>
          <p:cNvPr id="19" name="Shape 17"/>
          <p:cNvSpPr/>
          <p:nvPr/>
        </p:nvSpPr>
        <p:spPr>
          <a:xfrm>
            <a:off x="502920" y="2752344"/>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0" name="Text 18"/>
          <p:cNvSpPr/>
          <p:nvPr/>
        </p:nvSpPr>
        <p:spPr>
          <a:xfrm>
            <a:off x="502920" y="2752344"/>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1</a:t>
            </a:r>
            <a:endParaRPr lang="en-US" sz="900" dirty="0"/>
          </a:p>
        </p:txBody>
      </p:sp>
      <p:sp>
        <p:nvSpPr>
          <p:cNvPr id="21" name="Text 19"/>
          <p:cNvSpPr/>
          <p:nvPr/>
        </p:nvSpPr>
        <p:spPr>
          <a:xfrm>
            <a:off x="1014984"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unsorted</a:t>
            </a:r>
            <a:endParaRPr lang="en-US" sz="950" dirty="0"/>
          </a:p>
        </p:txBody>
      </p:sp>
      <p:sp>
        <p:nvSpPr>
          <p:cNvPr id="22" name="Shape 20"/>
          <p:cNvSpPr/>
          <p:nvPr/>
        </p:nvSpPr>
        <p:spPr>
          <a:xfrm>
            <a:off x="502920" y="3145536"/>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3" name="Text 21"/>
          <p:cNvSpPr/>
          <p:nvPr/>
        </p:nvSpPr>
        <p:spPr>
          <a:xfrm>
            <a:off x="502920" y="3145536"/>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4</a:t>
            </a:r>
            <a:endParaRPr lang="en-US" sz="900" dirty="0"/>
          </a:p>
        </p:txBody>
      </p:sp>
      <p:sp>
        <p:nvSpPr>
          <p:cNvPr id="24" name="Text 22"/>
          <p:cNvSpPr/>
          <p:nvPr/>
        </p:nvSpPr>
        <p:spPr>
          <a:xfrm>
            <a:off x="1014984"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unsorted</a:t>
            </a:r>
            <a:endParaRPr lang="en-US" sz="950" dirty="0"/>
          </a:p>
        </p:txBody>
      </p:sp>
      <p:sp>
        <p:nvSpPr>
          <p:cNvPr id="25" name="Shape 23"/>
          <p:cNvSpPr/>
          <p:nvPr/>
        </p:nvSpPr>
        <p:spPr>
          <a:xfrm>
            <a:off x="502920" y="3538728"/>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6" name="Text 24"/>
          <p:cNvSpPr/>
          <p:nvPr/>
        </p:nvSpPr>
        <p:spPr>
          <a:xfrm>
            <a:off x="502920" y="3538728"/>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7</a:t>
            </a:r>
            <a:endParaRPr lang="en-US" sz="900" dirty="0"/>
          </a:p>
        </p:txBody>
      </p:sp>
      <p:sp>
        <p:nvSpPr>
          <p:cNvPr id="27" name="Text 25"/>
          <p:cNvSpPr/>
          <p:nvPr/>
        </p:nvSpPr>
        <p:spPr>
          <a:xfrm>
            <a:off x="1014984"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unsorted</a:t>
            </a:r>
            <a:endParaRPr lang="en-US" sz="950" dirty="0"/>
          </a:p>
        </p:txBody>
      </p:sp>
      <p:sp>
        <p:nvSpPr>
          <p:cNvPr id="28" name="Shape 26"/>
          <p:cNvSpPr/>
          <p:nvPr/>
        </p:nvSpPr>
        <p:spPr>
          <a:xfrm>
            <a:off x="502920" y="3931920"/>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9" name="Text 27"/>
          <p:cNvSpPr/>
          <p:nvPr/>
        </p:nvSpPr>
        <p:spPr>
          <a:xfrm>
            <a:off x="502920" y="3931920"/>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3</a:t>
            </a:r>
            <a:endParaRPr lang="en-US" sz="900" dirty="0"/>
          </a:p>
        </p:txBody>
      </p:sp>
      <p:sp>
        <p:nvSpPr>
          <p:cNvPr id="30" name="Text 28"/>
          <p:cNvSpPr/>
          <p:nvPr/>
        </p:nvSpPr>
        <p:spPr>
          <a:xfrm>
            <a:off x="1014984"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unsorted</a:t>
            </a:r>
            <a:endParaRPr lang="en-US" sz="950" dirty="0"/>
          </a:p>
        </p:txBody>
      </p:sp>
      <p:sp>
        <p:nvSpPr>
          <p:cNvPr id="31" name="Shape 29"/>
          <p:cNvSpPr/>
          <p:nvPr/>
        </p:nvSpPr>
        <p:spPr>
          <a:xfrm>
            <a:off x="502920" y="4325112"/>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32" name="Text 30"/>
          <p:cNvSpPr/>
          <p:nvPr/>
        </p:nvSpPr>
        <p:spPr>
          <a:xfrm>
            <a:off x="502920" y="4325112"/>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6</a:t>
            </a:r>
            <a:endParaRPr lang="en-US" sz="900" dirty="0"/>
          </a:p>
        </p:txBody>
      </p:sp>
      <p:sp>
        <p:nvSpPr>
          <p:cNvPr id="33" name="Text 31"/>
          <p:cNvSpPr/>
          <p:nvPr/>
        </p:nvSpPr>
        <p:spPr>
          <a:xfrm>
            <a:off x="1014984"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unsorted</a:t>
            </a:r>
            <a:endParaRPr lang="en-US" sz="950" dirty="0"/>
          </a:p>
        </p:txBody>
      </p:sp>
      <p:sp>
        <p:nvSpPr>
          <p:cNvPr id="34" name="Shape 32"/>
          <p:cNvSpPr/>
          <p:nvPr/>
        </p:nvSpPr>
        <p:spPr>
          <a:xfrm>
            <a:off x="2587752" y="1170432"/>
            <a:ext cx="2048256" cy="374904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35" name="Shape 33"/>
          <p:cNvSpPr/>
          <p:nvPr/>
        </p:nvSpPr>
        <p:spPr>
          <a:xfrm>
            <a:off x="2587752" y="1170432"/>
            <a:ext cx="2048256"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36" name="Text 34"/>
          <p:cNvSpPr/>
          <p:nvPr/>
        </p:nvSpPr>
        <p:spPr>
          <a:xfrm>
            <a:off x="2679192"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1️⃣  After i = 2 — sorted region grew to 3 items: [2, 5, 8]</a:t>
            </a:r>
            <a:endParaRPr lang="en-US" sz="1000" dirty="0"/>
          </a:p>
        </p:txBody>
      </p:sp>
      <p:sp>
        <p:nvSpPr>
          <p:cNvPr id="37" name="Shape 35"/>
          <p:cNvSpPr/>
          <p:nvPr/>
        </p:nvSpPr>
        <p:spPr>
          <a:xfrm>
            <a:off x="2679192" y="1572768"/>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38" name="Text 36"/>
          <p:cNvSpPr/>
          <p:nvPr/>
        </p:nvSpPr>
        <p:spPr>
          <a:xfrm>
            <a:off x="2679192" y="1572768"/>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2</a:t>
            </a:r>
            <a:endParaRPr lang="en-US" sz="900" dirty="0"/>
          </a:p>
        </p:txBody>
      </p:sp>
      <p:sp>
        <p:nvSpPr>
          <p:cNvPr id="39" name="Text 37"/>
          <p:cNvSpPr/>
          <p:nvPr/>
        </p:nvSpPr>
        <p:spPr>
          <a:xfrm>
            <a:off x="3191256"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
        <p:nvSpPr>
          <p:cNvPr id="40" name="Shape 38"/>
          <p:cNvSpPr/>
          <p:nvPr/>
        </p:nvSpPr>
        <p:spPr>
          <a:xfrm>
            <a:off x="2679192" y="1965960"/>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41" name="Text 39"/>
          <p:cNvSpPr/>
          <p:nvPr/>
        </p:nvSpPr>
        <p:spPr>
          <a:xfrm>
            <a:off x="2679192" y="1965960"/>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5</a:t>
            </a:r>
            <a:endParaRPr lang="en-US" sz="900" dirty="0"/>
          </a:p>
        </p:txBody>
      </p:sp>
      <p:sp>
        <p:nvSpPr>
          <p:cNvPr id="42" name="Text 40"/>
          <p:cNvSpPr/>
          <p:nvPr/>
        </p:nvSpPr>
        <p:spPr>
          <a:xfrm>
            <a:off x="3191256"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
        <p:nvSpPr>
          <p:cNvPr id="43" name="Shape 41"/>
          <p:cNvSpPr/>
          <p:nvPr/>
        </p:nvSpPr>
        <p:spPr>
          <a:xfrm>
            <a:off x="2679192" y="2359152"/>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44" name="Text 42"/>
          <p:cNvSpPr/>
          <p:nvPr/>
        </p:nvSpPr>
        <p:spPr>
          <a:xfrm>
            <a:off x="2679192" y="2359152"/>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8</a:t>
            </a:r>
            <a:endParaRPr lang="en-US" sz="900" dirty="0"/>
          </a:p>
        </p:txBody>
      </p:sp>
      <p:sp>
        <p:nvSpPr>
          <p:cNvPr id="45" name="Text 43"/>
          <p:cNvSpPr/>
          <p:nvPr/>
        </p:nvSpPr>
        <p:spPr>
          <a:xfrm>
            <a:off x="3191256"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
        <p:nvSpPr>
          <p:cNvPr id="46" name="Shape 44"/>
          <p:cNvSpPr/>
          <p:nvPr/>
        </p:nvSpPr>
        <p:spPr>
          <a:xfrm>
            <a:off x="2679192" y="2752344"/>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47" name="Text 45"/>
          <p:cNvSpPr/>
          <p:nvPr/>
        </p:nvSpPr>
        <p:spPr>
          <a:xfrm>
            <a:off x="2679192" y="2752344"/>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1</a:t>
            </a:r>
            <a:endParaRPr lang="en-US" sz="900" dirty="0"/>
          </a:p>
        </p:txBody>
      </p:sp>
      <p:sp>
        <p:nvSpPr>
          <p:cNvPr id="48" name="Text 46"/>
          <p:cNvSpPr/>
          <p:nvPr/>
        </p:nvSpPr>
        <p:spPr>
          <a:xfrm>
            <a:off x="3191256"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next to insert</a:t>
            </a:r>
            <a:endParaRPr lang="en-US" sz="950" dirty="0"/>
          </a:p>
        </p:txBody>
      </p:sp>
      <p:sp>
        <p:nvSpPr>
          <p:cNvPr id="49" name="Shape 47"/>
          <p:cNvSpPr/>
          <p:nvPr/>
        </p:nvSpPr>
        <p:spPr>
          <a:xfrm>
            <a:off x="2679192" y="3145536"/>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0" name="Text 48"/>
          <p:cNvSpPr/>
          <p:nvPr/>
        </p:nvSpPr>
        <p:spPr>
          <a:xfrm>
            <a:off x="2679192" y="3145536"/>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4</a:t>
            </a:r>
            <a:endParaRPr lang="en-US" sz="900" dirty="0"/>
          </a:p>
        </p:txBody>
      </p:sp>
      <p:sp>
        <p:nvSpPr>
          <p:cNvPr id="51" name="Text 49"/>
          <p:cNvSpPr/>
          <p:nvPr/>
        </p:nvSpPr>
        <p:spPr>
          <a:xfrm>
            <a:off x="3191256"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unsorted</a:t>
            </a:r>
            <a:endParaRPr lang="en-US" sz="950" dirty="0"/>
          </a:p>
        </p:txBody>
      </p:sp>
      <p:sp>
        <p:nvSpPr>
          <p:cNvPr id="52" name="Shape 50"/>
          <p:cNvSpPr/>
          <p:nvPr/>
        </p:nvSpPr>
        <p:spPr>
          <a:xfrm>
            <a:off x="2679192" y="3538728"/>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3" name="Text 51"/>
          <p:cNvSpPr/>
          <p:nvPr/>
        </p:nvSpPr>
        <p:spPr>
          <a:xfrm>
            <a:off x="2679192" y="3538728"/>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7</a:t>
            </a:r>
            <a:endParaRPr lang="en-US" sz="900" dirty="0"/>
          </a:p>
        </p:txBody>
      </p:sp>
      <p:sp>
        <p:nvSpPr>
          <p:cNvPr id="54" name="Text 52"/>
          <p:cNvSpPr/>
          <p:nvPr/>
        </p:nvSpPr>
        <p:spPr>
          <a:xfrm>
            <a:off x="3191256"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unsorted</a:t>
            </a:r>
            <a:endParaRPr lang="en-US" sz="950" dirty="0"/>
          </a:p>
        </p:txBody>
      </p:sp>
      <p:sp>
        <p:nvSpPr>
          <p:cNvPr id="55" name="Shape 53"/>
          <p:cNvSpPr/>
          <p:nvPr/>
        </p:nvSpPr>
        <p:spPr>
          <a:xfrm>
            <a:off x="2679192" y="3931920"/>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6" name="Text 54"/>
          <p:cNvSpPr/>
          <p:nvPr/>
        </p:nvSpPr>
        <p:spPr>
          <a:xfrm>
            <a:off x="2679192" y="3931920"/>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3</a:t>
            </a:r>
            <a:endParaRPr lang="en-US" sz="900" dirty="0"/>
          </a:p>
        </p:txBody>
      </p:sp>
      <p:sp>
        <p:nvSpPr>
          <p:cNvPr id="57" name="Text 55"/>
          <p:cNvSpPr/>
          <p:nvPr/>
        </p:nvSpPr>
        <p:spPr>
          <a:xfrm>
            <a:off x="3191256"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unsorted</a:t>
            </a:r>
            <a:endParaRPr lang="en-US" sz="950" dirty="0"/>
          </a:p>
        </p:txBody>
      </p:sp>
      <p:sp>
        <p:nvSpPr>
          <p:cNvPr id="58" name="Shape 56"/>
          <p:cNvSpPr/>
          <p:nvPr/>
        </p:nvSpPr>
        <p:spPr>
          <a:xfrm>
            <a:off x="2679192" y="4325112"/>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9" name="Text 57"/>
          <p:cNvSpPr/>
          <p:nvPr/>
        </p:nvSpPr>
        <p:spPr>
          <a:xfrm>
            <a:off x="2679192" y="4325112"/>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6</a:t>
            </a:r>
            <a:endParaRPr lang="en-US" sz="900" dirty="0"/>
          </a:p>
        </p:txBody>
      </p:sp>
      <p:sp>
        <p:nvSpPr>
          <p:cNvPr id="60" name="Text 58"/>
          <p:cNvSpPr/>
          <p:nvPr/>
        </p:nvSpPr>
        <p:spPr>
          <a:xfrm>
            <a:off x="3191256"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unsorted</a:t>
            </a:r>
            <a:endParaRPr lang="en-US" sz="950" dirty="0"/>
          </a:p>
        </p:txBody>
      </p:sp>
      <p:sp>
        <p:nvSpPr>
          <p:cNvPr id="61" name="Shape 59"/>
          <p:cNvSpPr/>
          <p:nvPr/>
        </p:nvSpPr>
        <p:spPr>
          <a:xfrm>
            <a:off x="4764024" y="1170432"/>
            <a:ext cx="2048256" cy="374904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62" name="Shape 60"/>
          <p:cNvSpPr/>
          <p:nvPr/>
        </p:nvSpPr>
        <p:spPr>
          <a:xfrm>
            <a:off x="4764024" y="1170432"/>
            <a:ext cx="2048256"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63" name="Text 61"/>
          <p:cNvSpPr/>
          <p:nvPr/>
        </p:nvSpPr>
        <p:spPr>
          <a:xfrm>
            <a:off x="4855464"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2️⃣  After i = 4 — sorted region grew to 5 items: [1, 2, 4, 5, 8]</a:t>
            </a:r>
            <a:endParaRPr lang="en-US" sz="1000" dirty="0"/>
          </a:p>
        </p:txBody>
      </p:sp>
      <p:sp>
        <p:nvSpPr>
          <p:cNvPr id="64" name="Shape 62"/>
          <p:cNvSpPr/>
          <p:nvPr/>
        </p:nvSpPr>
        <p:spPr>
          <a:xfrm>
            <a:off x="4855464" y="1572768"/>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65" name="Text 63"/>
          <p:cNvSpPr/>
          <p:nvPr/>
        </p:nvSpPr>
        <p:spPr>
          <a:xfrm>
            <a:off x="4855464" y="1572768"/>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1</a:t>
            </a:r>
            <a:endParaRPr lang="en-US" sz="900" dirty="0"/>
          </a:p>
        </p:txBody>
      </p:sp>
      <p:sp>
        <p:nvSpPr>
          <p:cNvPr id="66" name="Text 64"/>
          <p:cNvSpPr/>
          <p:nvPr/>
        </p:nvSpPr>
        <p:spPr>
          <a:xfrm>
            <a:off x="5367528"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
        <p:nvSpPr>
          <p:cNvPr id="67" name="Shape 65"/>
          <p:cNvSpPr/>
          <p:nvPr/>
        </p:nvSpPr>
        <p:spPr>
          <a:xfrm>
            <a:off x="4855464" y="1965960"/>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68" name="Text 66"/>
          <p:cNvSpPr/>
          <p:nvPr/>
        </p:nvSpPr>
        <p:spPr>
          <a:xfrm>
            <a:off x="4855464" y="1965960"/>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2</a:t>
            </a:r>
            <a:endParaRPr lang="en-US" sz="900" dirty="0"/>
          </a:p>
        </p:txBody>
      </p:sp>
      <p:sp>
        <p:nvSpPr>
          <p:cNvPr id="69" name="Text 67"/>
          <p:cNvSpPr/>
          <p:nvPr/>
        </p:nvSpPr>
        <p:spPr>
          <a:xfrm>
            <a:off x="5367528"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
        <p:nvSpPr>
          <p:cNvPr id="70" name="Shape 68"/>
          <p:cNvSpPr/>
          <p:nvPr/>
        </p:nvSpPr>
        <p:spPr>
          <a:xfrm>
            <a:off x="4855464" y="2359152"/>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71" name="Text 69"/>
          <p:cNvSpPr/>
          <p:nvPr/>
        </p:nvSpPr>
        <p:spPr>
          <a:xfrm>
            <a:off x="4855464" y="2359152"/>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4</a:t>
            </a:r>
            <a:endParaRPr lang="en-US" sz="900" dirty="0"/>
          </a:p>
        </p:txBody>
      </p:sp>
      <p:sp>
        <p:nvSpPr>
          <p:cNvPr id="72" name="Text 70"/>
          <p:cNvSpPr/>
          <p:nvPr/>
        </p:nvSpPr>
        <p:spPr>
          <a:xfrm>
            <a:off x="5367528"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
        <p:nvSpPr>
          <p:cNvPr id="73" name="Shape 71"/>
          <p:cNvSpPr/>
          <p:nvPr/>
        </p:nvSpPr>
        <p:spPr>
          <a:xfrm>
            <a:off x="4855464" y="2752344"/>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74" name="Text 72"/>
          <p:cNvSpPr/>
          <p:nvPr/>
        </p:nvSpPr>
        <p:spPr>
          <a:xfrm>
            <a:off x="4855464" y="2752344"/>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5</a:t>
            </a:r>
            <a:endParaRPr lang="en-US" sz="900" dirty="0"/>
          </a:p>
        </p:txBody>
      </p:sp>
      <p:sp>
        <p:nvSpPr>
          <p:cNvPr id="75" name="Text 73"/>
          <p:cNvSpPr/>
          <p:nvPr/>
        </p:nvSpPr>
        <p:spPr>
          <a:xfrm>
            <a:off x="5367528"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
        <p:nvSpPr>
          <p:cNvPr id="76" name="Shape 74"/>
          <p:cNvSpPr/>
          <p:nvPr/>
        </p:nvSpPr>
        <p:spPr>
          <a:xfrm>
            <a:off x="4855464" y="3145536"/>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77" name="Text 75"/>
          <p:cNvSpPr/>
          <p:nvPr/>
        </p:nvSpPr>
        <p:spPr>
          <a:xfrm>
            <a:off x="4855464" y="3145536"/>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8</a:t>
            </a:r>
            <a:endParaRPr lang="en-US" sz="900" dirty="0"/>
          </a:p>
        </p:txBody>
      </p:sp>
      <p:sp>
        <p:nvSpPr>
          <p:cNvPr id="78" name="Text 76"/>
          <p:cNvSpPr/>
          <p:nvPr/>
        </p:nvSpPr>
        <p:spPr>
          <a:xfrm>
            <a:off x="5367528"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
        <p:nvSpPr>
          <p:cNvPr id="79" name="Shape 77"/>
          <p:cNvSpPr/>
          <p:nvPr/>
        </p:nvSpPr>
        <p:spPr>
          <a:xfrm>
            <a:off x="4855464" y="3538728"/>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80" name="Text 78"/>
          <p:cNvSpPr/>
          <p:nvPr/>
        </p:nvSpPr>
        <p:spPr>
          <a:xfrm>
            <a:off x="4855464" y="3538728"/>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7</a:t>
            </a:r>
            <a:endParaRPr lang="en-US" sz="900" dirty="0"/>
          </a:p>
        </p:txBody>
      </p:sp>
      <p:sp>
        <p:nvSpPr>
          <p:cNvPr id="81" name="Text 79"/>
          <p:cNvSpPr/>
          <p:nvPr/>
        </p:nvSpPr>
        <p:spPr>
          <a:xfrm>
            <a:off x="5367528"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next to insert</a:t>
            </a:r>
            <a:endParaRPr lang="en-US" sz="950" dirty="0"/>
          </a:p>
        </p:txBody>
      </p:sp>
      <p:sp>
        <p:nvSpPr>
          <p:cNvPr id="82" name="Shape 80"/>
          <p:cNvSpPr/>
          <p:nvPr/>
        </p:nvSpPr>
        <p:spPr>
          <a:xfrm>
            <a:off x="4855464" y="3931920"/>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83" name="Text 81"/>
          <p:cNvSpPr/>
          <p:nvPr/>
        </p:nvSpPr>
        <p:spPr>
          <a:xfrm>
            <a:off x="4855464" y="3931920"/>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3</a:t>
            </a:r>
            <a:endParaRPr lang="en-US" sz="900" dirty="0"/>
          </a:p>
        </p:txBody>
      </p:sp>
      <p:sp>
        <p:nvSpPr>
          <p:cNvPr id="84" name="Text 82"/>
          <p:cNvSpPr/>
          <p:nvPr/>
        </p:nvSpPr>
        <p:spPr>
          <a:xfrm>
            <a:off x="5367528"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unsorted</a:t>
            </a:r>
            <a:endParaRPr lang="en-US" sz="950" dirty="0"/>
          </a:p>
        </p:txBody>
      </p:sp>
      <p:sp>
        <p:nvSpPr>
          <p:cNvPr id="85" name="Shape 83"/>
          <p:cNvSpPr/>
          <p:nvPr/>
        </p:nvSpPr>
        <p:spPr>
          <a:xfrm>
            <a:off x="4855464" y="4325112"/>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86" name="Text 84"/>
          <p:cNvSpPr/>
          <p:nvPr/>
        </p:nvSpPr>
        <p:spPr>
          <a:xfrm>
            <a:off x="4855464" y="4325112"/>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6</a:t>
            </a:r>
            <a:endParaRPr lang="en-US" sz="900" dirty="0"/>
          </a:p>
        </p:txBody>
      </p:sp>
      <p:sp>
        <p:nvSpPr>
          <p:cNvPr id="87" name="Text 85"/>
          <p:cNvSpPr/>
          <p:nvPr/>
        </p:nvSpPr>
        <p:spPr>
          <a:xfrm>
            <a:off x="5367528"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unsorted</a:t>
            </a:r>
            <a:endParaRPr lang="en-US" sz="950" dirty="0"/>
          </a:p>
        </p:txBody>
      </p:sp>
      <p:sp>
        <p:nvSpPr>
          <p:cNvPr id="88" name="Shape 86"/>
          <p:cNvSpPr/>
          <p:nvPr/>
        </p:nvSpPr>
        <p:spPr>
          <a:xfrm>
            <a:off x="6940296" y="1170432"/>
            <a:ext cx="2048256" cy="3749040"/>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89" name="Shape 87"/>
          <p:cNvSpPr/>
          <p:nvPr/>
        </p:nvSpPr>
        <p:spPr>
          <a:xfrm>
            <a:off x="6940296" y="1170432"/>
            <a:ext cx="2048256"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90" name="Text 88"/>
          <p:cNvSpPr/>
          <p:nvPr/>
        </p:nvSpPr>
        <p:spPr>
          <a:xfrm>
            <a:off x="7031736"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3️⃣  After i = 7 — fully sorted ✅</a:t>
            </a:r>
            <a:endParaRPr lang="en-US" sz="1000" dirty="0"/>
          </a:p>
        </p:txBody>
      </p:sp>
      <p:sp>
        <p:nvSpPr>
          <p:cNvPr id="91" name="Shape 89"/>
          <p:cNvSpPr/>
          <p:nvPr/>
        </p:nvSpPr>
        <p:spPr>
          <a:xfrm>
            <a:off x="7031736" y="1572768"/>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92" name="Text 90"/>
          <p:cNvSpPr/>
          <p:nvPr/>
        </p:nvSpPr>
        <p:spPr>
          <a:xfrm>
            <a:off x="7031736" y="1572768"/>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1</a:t>
            </a:r>
            <a:endParaRPr lang="en-US" sz="900" dirty="0"/>
          </a:p>
        </p:txBody>
      </p:sp>
      <p:sp>
        <p:nvSpPr>
          <p:cNvPr id="93" name="Text 91"/>
          <p:cNvSpPr/>
          <p:nvPr/>
        </p:nvSpPr>
        <p:spPr>
          <a:xfrm>
            <a:off x="7543800"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
        <p:nvSpPr>
          <p:cNvPr id="94" name="Shape 92"/>
          <p:cNvSpPr/>
          <p:nvPr/>
        </p:nvSpPr>
        <p:spPr>
          <a:xfrm>
            <a:off x="7031736" y="1965960"/>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95" name="Text 93"/>
          <p:cNvSpPr/>
          <p:nvPr/>
        </p:nvSpPr>
        <p:spPr>
          <a:xfrm>
            <a:off x="7031736" y="1965960"/>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2</a:t>
            </a:r>
            <a:endParaRPr lang="en-US" sz="900" dirty="0"/>
          </a:p>
        </p:txBody>
      </p:sp>
      <p:sp>
        <p:nvSpPr>
          <p:cNvPr id="96" name="Text 94"/>
          <p:cNvSpPr/>
          <p:nvPr/>
        </p:nvSpPr>
        <p:spPr>
          <a:xfrm>
            <a:off x="7543800"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
        <p:nvSpPr>
          <p:cNvPr id="97" name="Shape 95"/>
          <p:cNvSpPr/>
          <p:nvPr/>
        </p:nvSpPr>
        <p:spPr>
          <a:xfrm>
            <a:off x="7031736" y="2359152"/>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98" name="Text 96"/>
          <p:cNvSpPr/>
          <p:nvPr/>
        </p:nvSpPr>
        <p:spPr>
          <a:xfrm>
            <a:off x="7031736" y="2359152"/>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3</a:t>
            </a:r>
            <a:endParaRPr lang="en-US" sz="900" dirty="0"/>
          </a:p>
        </p:txBody>
      </p:sp>
      <p:sp>
        <p:nvSpPr>
          <p:cNvPr id="99" name="Text 97"/>
          <p:cNvSpPr/>
          <p:nvPr/>
        </p:nvSpPr>
        <p:spPr>
          <a:xfrm>
            <a:off x="7543800"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
        <p:nvSpPr>
          <p:cNvPr id="100" name="Shape 98"/>
          <p:cNvSpPr/>
          <p:nvPr/>
        </p:nvSpPr>
        <p:spPr>
          <a:xfrm>
            <a:off x="7031736" y="2752344"/>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01" name="Text 99"/>
          <p:cNvSpPr/>
          <p:nvPr/>
        </p:nvSpPr>
        <p:spPr>
          <a:xfrm>
            <a:off x="7031736" y="2752344"/>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4</a:t>
            </a:r>
            <a:endParaRPr lang="en-US" sz="900" dirty="0"/>
          </a:p>
        </p:txBody>
      </p:sp>
      <p:sp>
        <p:nvSpPr>
          <p:cNvPr id="102" name="Text 100"/>
          <p:cNvSpPr/>
          <p:nvPr/>
        </p:nvSpPr>
        <p:spPr>
          <a:xfrm>
            <a:off x="7543800"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
        <p:nvSpPr>
          <p:cNvPr id="103" name="Shape 101"/>
          <p:cNvSpPr/>
          <p:nvPr/>
        </p:nvSpPr>
        <p:spPr>
          <a:xfrm>
            <a:off x="7031736" y="3145536"/>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04" name="Text 102"/>
          <p:cNvSpPr/>
          <p:nvPr/>
        </p:nvSpPr>
        <p:spPr>
          <a:xfrm>
            <a:off x="7031736" y="3145536"/>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5</a:t>
            </a:r>
            <a:endParaRPr lang="en-US" sz="900" dirty="0"/>
          </a:p>
        </p:txBody>
      </p:sp>
      <p:sp>
        <p:nvSpPr>
          <p:cNvPr id="105" name="Text 103"/>
          <p:cNvSpPr/>
          <p:nvPr/>
        </p:nvSpPr>
        <p:spPr>
          <a:xfrm>
            <a:off x="7543800"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
        <p:nvSpPr>
          <p:cNvPr id="106" name="Shape 104"/>
          <p:cNvSpPr/>
          <p:nvPr/>
        </p:nvSpPr>
        <p:spPr>
          <a:xfrm>
            <a:off x="7031736" y="3538728"/>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07" name="Text 105"/>
          <p:cNvSpPr/>
          <p:nvPr/>
        </p:nvSpPr>
        <p:spPr>
          <a:xfrm>
            <a:off x="7031736" y="3538728"/>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6</a:t>
            </a:r>
            <a:endParaRPr lang="en-US" sz="900" dirty="0"/>
          </a:p>
        </p:txBody>
      </p:sp>
      <p:sp>
        <p:nvSpPr>
          <p:cNvPr id="108" name="Text 106"/>
          <p:cNvSpPr/>
          <p:nvPr/>
        </p:nvSpPr>
        <p:spPr>
          <a:xfrm>
            <a:off x="7543800"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
        <p:nvSpPr>
          <p:cNvPr id="109" name="Shape 107"/>
          <p:cNvSpPr/>
          <p:nvPr/>
        </p:nvSpPr>
        <p:spPr>
          <a:xfrm>
            <a:off x="7031736" y="3931920"/>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10" name="Text 108"/>
          <p:cNvSpPr/>
          <p:nvPr/>
        </p:nvSpPr>
        <p:spPr>
          <a:xfrm>
            <a:off x="7031736" y="3931920"/>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7</a:t>
            </a:r>
            <a:endParaRPr lang="en-US" sz="900" dirty="0"/>
          </a:p>
        </p:txBody>
      </p:sp>
      <p:sp>
        <p:nvSpPr>
          <p:cNvPr id="111" name="Text 109"/>
          <p:cNvSpPr/>
          <p:nvPr/>
        </p:nvSpPr>
        <p:spPr>
          <a:xfrm>
            <a:off x="7543800"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
        <p:nvSpPr>
          <p:cNvPr id="112" name="Shape 110"/>
          <p:cNvSpPr/>
          <p:nvPr/>
        </p:nvSpPr>
        <p:spPr>
          <a:xfrm>
            <a:off x="7031736" y="4325112"/>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13" name="Text 111"/>
          <p:cNvSpPr/>
          <p:nvPr/>
        </p:nvSpPr>
        <p:spPr>
          <a:xfrm>
            <a:off x="7031736" y="4325112"/>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8</a:t>
            </a:r>
            <a:endParaRPr lang="en-US" sz="900" dirty="0"/>
          </a:p>
        </p:txBody>
      </p:sp>
      <p:sp>
        <p:nvSpPr>
          <p:cNvPr id="114" name="Text 112"/>
          <p:cNvSpPr/>
          <p:nvPr/>
        </p:nvSpPr>
        <p:spPr>
          <a:xfrm>
            <a:off x="7543800"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38"/>
          <p:cNvSpPr txBox="1">
            <a:spLocks noGrp="1"/>
          </p:cNvSpPr>
          <p:nvPr>
            <p:ph type="title"/>
          </p:nvPr>
        </p:nvSpPr>
        <p:spPr>
          <a:xfrm>
            <a:off x="5548225" y="2230950"/>
            <a:ext cx="3062100" cy="681600"/>
          </a:xfrm>
          <a:prstGeom prst="rect">
            <a:avLst/>
          </a:prstGeom>
        </p:spPr>
        <p:txBody>
          <a:bodyPr spcFirstLastPara="1" wrap="square" lIns="91425" tIns="91425" rIns="91425" bIns="91425" anchor="b" anchorCtr="0">
            <a:normAutofit fontScale="90000"/>
          </a:bodyPr>
          <a:lstStyle/>
          <a:p>
            <a:pPr marL="0" lvl="0" indent="0" algn="r" rtl="0">
              <a:spcBef>
                <a:spcPts val="0"/>
              </a:spcBef>
              <a:spcAft>
                <a:spcPts val="0"/>
              </a:spcAft>
              <a:buNone/>
            </a:pPr>
            <a:r>
              <a:rPr lang="en"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580" name="Google Shape;580;p38"/>
          <p:cNvSpPr txBox="1">
            <a:spLocks noGrp="1"/>
          </p:cNvSpPr>
          <p:nvPr>
            <p:ph type="ctrTitle" idx="4294967295"/>
          </p:nvPr>
        </p:nvSpPr>
        <p:spPr>
          <a:xfrm>
            <a:off x="4166050" y="2870075"/>
            <a:ext cx="4444200" cy="576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SzPts val="990"/>
              <a:buNone/>
            </a:pPr>
            <a:r>
              <a:rPr lang="en" sz="2900" b="1">
                <a:solidFill>
                  <a:schemeClr val="lt1"/>
                </a:solidFill>
                <a:latin typeface="IBM Plex Sans Arabic"/>
                <a:ea typeface="IBM Plex Sans Arabic"/>
                <a:cs typeface="IBM Plex Sans Arabic"/>
                <a:sym typeface="IBM Plex Sans Arabic"/>
              </a:rPr>
              <a:t>THANK YOU</a:t>
            </a:r>
            <a:endParaRPr sz="2900" b="1">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68E519A1-F28A-CD0E-64F7-A7210D78C55F}"/>
            </a:ext>
          </a:extLst>
        </p:cNvPr>
        <p:cNvGrpSpPr/>
        <p:nvPr/>
      </p:nvGrpSpPr>
      <p:grpSpPr>
        <a:xfrm>
          <a:off x="0" y="0"/>
          <a:ext cx="0" cy="0"/>
          <a:chOff x="0" y="0"/>
          <a:chExt cx="0" cy="0"/>
        </a:xfrm>
      </p:grpSpPr>
      <p:sp>
        <p:nvSpPr>
          <p:cNvPr id="20" name="Shape 1">
            <a:extLst>
              <a:ext uri="{FF2B5EF4-FFF2-40B4-BE49-F238E27FC236}">
                <a16:creationId xmlns:a16="http://schemas.microsoft.com/office/drawing/2014/main" id="{0099FBD7-A32B-D033-BD5D-D091E47C00D1}"/>
              </a:ext>
            </a:extLst>
          </p:cNvPr>
          <p:cNvSpPr/>
          <p:nvPr/>
        </p:nvSpPr>
        <p:spPr>
          <a:xfrm>
            <a:off x="0" y="73152"/>
            <a:ext cx="9144000" cy="841248"/>
          </a:xfrm>
          <a:prstGeom prst="rect">
            <a:avLst/>
          </a:prstGeom>
          <a:solidFill>
            <a:srgbClr val="262626"/>
          </a:solidFill>
          <a:ln w="12700">
            <a:solidFill>
              <a:srgbClr val="262626"/>
            </a:solidFill>
            <a:prstDash val="solid"/>
          </a:ln>
        </p:spPr>
        <p:txBody>
          <a:bodyPr/>
          <a:lstStyle/>
          <a:p>
            <a:endParaRPr lang="en-US"/>
          </a:p>
        </p:txBody>
      </p:sp>
      <p:sp>
        <p:nvSpPr>
          <p:cNvPr id="2" name="Shape 0">
            <a:extLst>
              <a:ext uri="{FF2B5EF4-FFF2-40B4-BE49-F238E27FC236}">
                <a16:creationId xmlns:a16="http://schemas.microsoft.com/office/drawing/2014/main" id="{BF6F45A1-7818-3F7E-F60C-7F708FD03E4C}"/>
              </a:ext>
            </a:extLst>
          </p:cNvPr>
          <p:cNvSpPr/>
          <p:nvPr/>
        </p:nvSpPr>
        <p:spPr>
          <a:xfrm>
            <a:off x="0" y="0"/>
            <a:ext cx="9144000" cy="54864"/>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1EB54078-98E6-CAE0-0567-E08FA45D2C91}"/>
              </a:ext>
            </a:extLst>
          </p:cNvPr>
          <p:cNvSpPr/>
          <p:nvPr/>
        </p:nvSpPr>
        <p:spPr>
          <a:xfrm>
            <a:off x="0" y="5088636"/>
            <a:ext cx="9144000" cy="54864"/>
          </a:xfrm>
          <a:prstGeom prst="rect">
            <a:avLst/>
          </a:prstGeom>
          <a:solidFill>
            <a:srgbClr val="4F29B7"/>
          </a:solidFill>
          <a:ln w="12700">
            <a:solidFill>
              <a:srgbClr val="4F29B7"/>
            </a:solidFill>
            <a:prstDash val="solid"/>
          </a:ln>
        </p:spPr>
        <p:txBody>
          <a:bodyPr/>
          <a:lstStyle/>
          <a:p>
            <a:endParaRPr lang="en-US"/>
          </a:p>
        </p:txBody>
      </p:sp>
      <p:sp>
        <p:nvSpPr>
          <p:cNvPr id="4" name="Text 2">
            <a:extLst>
              <a:ext uri="{FF2B5EF4-FFF2-40B4-BE49-F238E27FC236}">
                <a16:creationId xmlns:a16="http://schemas.microsoft.com/office/drawing/2014/main" id="{F8593CDB-74C1-3A80-4B08-6F33A7ADDE9F}"/>
              </a:ext>
            </a:extLst>
          </p:cNvPr>
          <p:cNvSpPr/>
          <p:nvPr/>
        </p:nvSpPr>
        <p:spPr>
          <a:xfrm>
            <a:off x="347472" y="164592"/>
            <a:ext cx="8449056" cy="475488"/>
          </a:xfrm>
          <a:prstGeom prst="rect">
            <a:avLst/>
          </a:prstGeom>
          <a:noFill/>
          <a:ln/>
        </p:spPr>
        <p:txBody>
          <a:bodyPr wrap="square" rtlCol="0" anchor="ctr"/>
          <a:lstStyle/>
          <a:p>
            <a:pPr marL="0" indent="0">
              <a:buNone/>
            </a:pPr>
            <a:r>
              <a:rPr lang="en-US" sz="2800" b="1" dirty="0">
                <a:solidFill>
                  <a:srgbClr val="57E3D8"/>
                </a:solidFill>
                <a:latin typeface="Calibri" pitchFamily="34" charset="0"/>
                <a:ea typeface="Calibri" pitchFamily="34" charset="-122"/>
                <a:cs typeface="Calibri" pitchFamily="34" charset="-120"/>
              </a:rPr>
              <a:t>Selection Sort — three ways</a:t>
            </a:r>
            <a:endParaRPr lang="en-US" sz="2800" dirty="0"/>
          </a:p>
        </p:txBody>
      </p:sp>
      <p:sp>
        <p:nvSpPr>
          <p:cNvPr id="5" name="Text 3">
            <a:extLst>
              <a:ext uri="{FF2B5EF4-FFF2-40B4-BE49-F238E27FC236}">
                <a16:creationId xmlns:a16="http://schemas.microsoft.com/office/drawing/2014/main" id="{13CD6B20-AAA5-2647-47EF-A45F5864FAB1}"/>
              </a:ext>
            </a:extLst>
          </p:cNvPr>
          <p:cNvSpPr/>
          <p:nvPr/>
        </p:nvSpPr>
        <p:spPr>
          <a:xfrm>
            <a:off x="347472" y="621792"/>
            <a:ext cx="8449056" cy="256032"/>
          </a:xfrm>
          <a:prstGeom prst="rect">
            <a:avLst/>
          </a:prstGeom>
          <a:noFill/>
          <a:ln/>
        </p:spPr>
        <p:txBody>
          <a:bodyPr wrap="square" rtlCol="0" anchor="ctr"/>
          <a:lstStyle/>
          <a:p>
            <a:pPr marL="0" indent="0">
              <a:buNone/>
            </a:pPr>
            <a:r>
              <a:rPr lang="en-US" sz="1300" i="1" dirty="0">
                <a:solidFill>
                  <a:srgbClr val="EDEDED"/>
                </a:solidFill>
                <a:latin typeface="Calibri" pitchFamily="34" charset="0"/>
                <a:ea typeface="Calibri" pitchFamily="34" charset="-122"/>
                <a:cs typeface="Calibri" pitchFamily="34" charset="-120"/>
              </a:rPr>
              <a:t>The same algorithm in plain English, pseudocode, and a flowchart</a:t>
            </a:r>
            <a:endParaRPr lang="en-US" sz="1300" dirty="0"/>
          </a:p>
        </p:txBody>
      </p:sp>
      <p:sp>
        <p:nvSpPr>
          <p:cNvPr id="6" name="Shape 4">
            <a:extLst>
              <a:ext uri="{FF2B5EF4-FFF2-40B4-BE49-F238E27FC236}">
                <a16:creationId xmlns:a16="http://schemas.microsoft.com/office/drawing/2014/main" id="{8517B760-DBCE-52BB-9F4D-84305AC19443}"/>
              </a:ext>
            </a:extLst>
          </p:cNvPr>
          <p:cNvSpPr/>
          <p:nvPr/>
        </p:nvSpPr>
        <p:spPr>
          <a:xfrm>
            <a:off x="274320" y="987552"/>
            <a:ext cx="8595360" cy="420624"/>
          </a:xfrm>
          <a:prstGeom prst="roundRect">
            <a:avLst>
              <a:gd name="adj" fmla="val 26087"/>
            </a:avLst>
          </a:prstGeom>
          <a:solidFill>
            <a:srgbClr val="1A1040"/>
          </a:solidFill>
          <a:ln w="12700">
            <a:solidFill>
              <a:srgbClr val="1A1040"/>
            </a:solidFill>
            <a:prstDash val="solid"/>
          </a:ln>
        </p:spPr>
        <p:txBody>
          <a:bodyPr/>
          <a:lstStyle/>
          <a:p>
            <a:endParaRPr lang="en-US"/>
          </a:p>
        </p:txBody>
      </p:sp>
      <p:sp>
        <p:nvSpPr>
          <p:cNvPr id="7" name="Text 5">
            <a:extLst>
              <a:ext uri="{FF2B5EF4-FFF2-40B4-BE49-F238E27FC236}">
                <a16:creationId xmlns:a16="http://schemas.microsoft.com/office/drawing/2014/main" id="{C66EFC53-6AE3-524A-AEAD-3F7782680B35}"/>
              </a:ext>
            </a:extLst>
          </p:cNvPr>
          <p:cNvSpPr/>
          <p:nvPr/>
        </p:nvSpPr>
        <p:spPr>
          <a:xfrm>
            <a:off x="502920" y="1024128"/>
            <a:ext cx="8138160" cy="329184"/>
          </a:xfrm>
          <a:prstGeom prst="rect">
            <a:avLst/>
          </a:prstGeom>
          <a:noFill/>
          <a:ln/>
        </p:spPr>
        <p:txBody>
          <a:bodyPr wrap="square" lIns="0" tIns="0" rIns="0" bIns="0" rtlCol="0" anchor="ctr"/>
          <a:lstStyle/>
          <a:p>
            <a:pPr marL="0" indent="0">
              <a:buNone/>
            </a:pPr>
            <a:r>
              <a:rPr lang="en-US" sz="1200" dirty="0">
                <a:solidFill>
                  <a:srgbClr val="EDEDED"/>
                </a:solidFill>
                <a:latin typeface="Calibri" pitchFamily="34" charset="0"/>
                <a:ea typeface="Calibri" pitchFamily="34" charset="-122"/>
                <a:cs typeface="Calibri" pitchFamily="34" charset="-120"/>
              </a:rPr>
              <a:t xml:space="preserve">Read all three side by side. </a:t>
            </a:r>
            <a:r>
              <a:rPr lang="en-US" sz="1200" b="1" dirty="0">
                <a:solidFill>
                  <a:srgbClr val="57E3D8"/>
                </a:solidFill>
                <a:latin typeface="Calibri" pitchFamily="34" charset="0"/>
                <a:ea typeface="Calibri" pitchFamily="34" charset="-122"/>
                <a:cs typeface="Calibri" pitchFamily="34" charset="-120"/>
              </a:rPr>
              <a:t>Find-the-min, swap, repeat — predictable and easy to trace</a:t>
            </a:r>
            <a:r>
              <a:rPr lang="en-US" sz="1200" dirty="0">
                <a:solidFill>
                  <a:srgbClr val="EDEDED"/>
                </a:solidFill>
                <a:latin typeface="Calibri" pitchFamily="34" charset="0"/>
                <a:ea typeface="Calibri" pitchFamily="34" charset="-122"/>
                <a:cs typeface="Calibri" pitchFamily="34" charset="-120"/>
              </a:rPr>
              <a:t xml:space="preserve"> — every pass locks one more position into its final place.</a:t>
            </a:r>
            <a:endParaRPr lang="en-US" sz="1200" dirty="0"/>
          </a:p>
        </p:txBody>
      </p:sp>
      <p:sp>
        <p:nvSpPr>
          <p:cNvPr id="8" name="Shape 6">
            <a:extLst>
              <a:ext uri="{FF2B5EF4-FFF2-40B4-BE49-F238E27FC236}">
                <a16:creationId xmlns:a16="http://schemas.microsoft.com/office/drawing/2014/main" id="{B10692DA-084B-2BAE-A611-4B7E95E96F9A}"/>
              </a:ext>
            </a:extLst>
          </p:cNvPr>
          <p:cNvSpPr/>
          <p:nvPr/>
        </p:nvSpPr>
        <p:spPr>
          <a:xfrm>
            <a:off x="292608" y="1499616"/>
            <a:ext cx="2779776" cy="3401568"/>
          </a:xfrm>
          <a:prstGeom prst="roundRect">
            <a:avLst>
              <a:gd name="adj" fmla="val 4605"/>
            </a:avLst>
          </a:prstGeom>
          <a:solidFill>
            <a:srgbClr val="1E0F40"/>
          </a:solidFill>
          <a:ln w="19050">
            <a:solidFill>
              <a:srgbClr val="4F29B7"/>
            </a:solidFill>
            <a:prstDash val="solid"/>
          </a:ln>
        </p:spPr>
        <p:txBody>
          <a:bodyPr/>
          <a:lstStyle/>
          <a:p>
            <a:endParaRPr lang="en-US"/>
          </a:p>
        </p:txBody>
      </p:sp>
      <p:sp>
        <p:nvSpPr>
          <p:cNvPr id="9" name="Text 7">
            <a:extLst>
              <a:ext uri="{FF2B5EF4-FFF2-40B4-BE49-F238E27FC236}">
                <a16:creationId xmlns:a16="http://schemas.microsoft.com/office/drawing/2014/main" id="{06B2DC9B-FB98-86D6-CF21-280BB1E66B52}"/>
              </a:ext>
            </a:extLst>
          </p:cNvPr>
          <p:cNvSpPr/>
          <p:nvPr/>
        </p:nvSpPr>
        <p:spPr>
          <a:xfrm>
            <a:off x="292608" y="1545336"/>
            <a:ext cx="2779776" cy="457200"/>
          </a:xfrm>
          <a:prstGeom prst="rect">
            <a:avLst/>
          </a:prstGeom>
          <a:noFill/>
          <a:ln/>
        </p:spPr>
        <p:txBody>
          <a:bodyPr wrap="square" rtlCol="0" anchor="ctr"/>
          <a:lstStyle/>
          <a:p>
            <a:pPr marL="0" indent="0" algn="ctr">
              <a:buNone/>
            </a:pPr>
            <a:r>
              <a:rPr lang="en-US" sz="2000" b="1" dirty="0">
                <a:solidFill>
                  <a:srgbClr val="4F29B7"/>
                </a:solidFill>
                <a:latin typeface="Calibri" pitchFamily="34" charset="0"/>
                <a:ea typeface="Calibri" pitchFamily="34" charset="-122"/>
                <a:cs typeface="Calibri" pitchFamily="34" charset="-120"/>
              </a:rPr>
              <a:t>Plain English</a:t>
            </a:r>
            <a:endParaRPr lang="en-US" sz="2000" dirty="0"/>
          </a:p>
        </p:txBody>
      </p:sp>
      <p:sp>
        <p:nvSpPr>
          <p:cNvPr id="10" name="Text 8">
            <a:extLst>
              <a:ext uri="{FF2B5EF4-FFF2-40B4-BE49-F238E27FC236}">
                <a16:creationId xmlns:a16="http://schemas.microsoft.com/office/drawing/2014/main" id="{80F72355-3A6B-4A6C-5A0C-BF6E7C6EF484}"/>
              </a:ext>
            </a:extLst>
          </p:cNvPr>
          <p:cNvSpPr/>
          <p:nvPr/>
        </p:nvSpPr>
        <p:spPr>
          <a:xfrm>
            <a:off x="292608"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The find-the-minimum picture</a:t>
            </a:r>
            <a:endParaRPr lang="en-US" sz="1000" dirty="0"/>
          </a:p>
        </p:txBody>
      </p:sp>
      <p:sp>
        <p:nvSpPr>
          <p:cNvPr id="11" name="Text 9">
            <a:extLst>
              <a:ext uri="{FF2B5EF4-FFF2-40B4-BE49-F238E27FC236}">
                <a16:creationId xmlns:a16="http://schemas.microsoft.com/office/drawing/2014/main" id="{A6F7F312-11C7-6E2E-23D2-71C708D73857}"/>
              </a:ext>
            </a:extLst>
          </p:cNvPr>
          <p:cNvSpPr/>
          <p:nvPr/>
        </p:nvSpPr>
        <p:spPr>
          <a:xfrm>
            <a:off x="457200"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1. Look at the whole list as one unsorted pile.   2. Scan it to find the smallest value.   3. Swap that smallest value with the item at the front.   4. The front position is now locked in — sorted.   5. Repeat on the rest of the list, one position smaller each time, until nothing is left.</a:t>
            </a:r>
            <a:endParaRPr lang="en-US" sz="1100" dirty="0"/>
          </a:p>
        </p:txBody>
      </p:sp>
      <p:sp>
        <p:nvSpPr>
          <p:cNvPr id="12" name="Shape 10">
            <a:extLst>
              <a:ext uri="{FF2B5EF4-FFF2-40B4-BE49-F238E27FC236}">
                <a16:creationId xmlns:a16="http://schemas.microsoft.com/office/drawing/2014/main" id="{B319AB59-A1E4-7495-8B8A-D8FB6939DB40}"/>
              </a:ext>
            </a:extLst>
          </p:cNvPr>
          <p:cNvSpPr/>
          <p:nvPr/>
        </p:nvSpPr>
        <p:spPr>
          <a:xfrm>
            <a:off x="3200400" y="1499616"/>
            <a:ext cx="2779776" cy="3401568"/>
          </a:xfrm>
          <a:prstGeom prst="roundRect">
            <a:avLst>
              <a:gd name="adj" fmla="val 4605"/>
            </a:avLst>
          </a:prstGeom>
          <a:solidFill>
            <a:srgbClr val="110A2E"/>
          </a:solidFill>
          <a:ln w="19050">
            <a:solidFill>
              <a:srgbClr val="A380FF"/>
            </a:solidFill>
            <a:prstDash val="solid"/>
          </a:ln>
        </p:spPr>
        <p:txBody>
          <a:bodyPr/>
          <a:lstStyle/>
          <a:p>
            <a:endParaRPr lang="en-US"/>
          </a:p>
        </p:txBody>
      </p:sp>
      <p:sp>
        <p:nvSpPr>
          <p:cNvPr id="13" name="Text 11">
            <a:extLst>
              <a:ext uri="{FF2B5EF4-FFF2-40B4-BE49-F238E27FC236}">
                <a16:creationId xmlns:a16="http://schemas.microsoft.com/office/drawing/2014/main" id="{7B9E2542-0415-D53F-89A6-B2737BF2D2E8}"/>
              </a:ext>
            </a:extLst>
          </p:cNvPr>
          <p:cNvSpPr/>
          <p:nvPr/>
        </p:nvSpPr>
        <p:spPr>
          <a:xfrm>
            <a:off x="3200400" y="1545336"/>
            <a:ext cx="2779776" cy="457200"/>
          </a:xfrm>
          <a:prstGeom prst="rect">
            <a:avLst/>
          </a:prstGeom>
          <a:noFill/>
          <a:ln/>
        </p:spPr>
        <p:txBody>
          <a:bodyPr wrap="square" rtlCol="0" anchor="ctr"/>
          <a:lstStyle/>
          <a:p>
            <a:pPr marL="0" indent="0" algn="ctr">
              <a:buNone/>
            </a:pPr>
            <a:r>
              <a:rPr lang="en-US" sz="2000" b="1" dirty="0">
                <a:solidFill>
                  <a:srgbClr val="A380FF"/>
                </a:solidFill>
                <a:latin typeface="Calibri" pitchFamily="34" charset="0"/>
                <a:ea typeface="Calibri" pitchFamily="34" charset="-122"/>
                <a:cs typeface="Calibri" pitchFamily="34" charset="-120"/>
              </a:rPr>
              <a:t>Pseudocode</a:t>
            </a:r>
            <a:endParaRPr lang="en-US" sz="2000" dirty="0"/>
          </a:p>
        </p:txBody>
      </p:sp>
      <p:sp>
        <p:nvSpPr>
          <p:cNvPr id="14" name="Text 12">
            <a:extLst>
              <a:ext uri="{FF2B5EF4-FFF2-40B4-BE49-F238E27FC236}">
                <a16:creationId xmlns:a16="http://schemas.microsoft.com/office/drawing/2014/main" id="{D520DB52-41BD-3A9E-774F-0E90DB7F8CDE}"/>
              </a:ext>
            </a:extLst>
          </p:cNvPr>
          <p:cNvSpPr/>
          <p:nvPr/>
        </p:nvSpPr>
        <p:spPr>
          <a:xfrm>
            <a:off x="3200400"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Code-like · Language-free</a:t>
            </a:r>
            <a:endParaRPr lang="en-US" sz="1000" dirty="0"/>
          </a:p>
        </p:txBody>
      </p:sp>
      <p:sp>
        <p:nvSpPr>
          <p:cNvPr id="15" name="Text 13">
            <a:extLst>
              <a:ext uri="{FF2B5EF4-FFF2-40B4-BE49-F238E27FC236}">
                <a16:creationId xmlns:a16="http://schemas.microsoft.com/office/drawing/2014/main" id="{966A8129-1A41-594C-31D7-611070D24803}"/>
              </a:ext>
            </a:extLst>
          </p:cNvPr>
          <p:cNvSpPr/>
          <p:nvPr/>
        </p:nvSpPr>
        <p:spPr>
          <a:xfrm>
            <a:off x="3364992"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FUNCTION selectionSort(list):   FOR i FROM 0 TO length-2:     SET minIndex ← i     FOR j FROM i+1 TO length-1:       IF list[j] &lt; list[minIndex]:         minIndex ← j     IF minIndex ≠ i:       SWAP list[i] AND list[minIndex]</a:t>
            </a:r>
            <a:endParaRPr lang="en-US" sz="1100" dirty="0"/>
          </a:p>
        </p:txBody>
      </p:sp>
      <p:sp>
        <p:nvSpPr>
          <p:cNvPr id="16" name="Shape 14">
            <a:extLst>
              <a:ext uri="{FF2B5EF4-FFF2-40B4-BE49-F238E27FC236}">
                <a16:creationId xmlns:a16="http://schemas.microsoft.com/office/drawing/2014/main" id="{7C1B5EBA-52EB-ABC9-D3EB-5CFA15DCA663}"/>
              </a:ext>
            </a:extLst>
          </p:cNvPr>
          <p:cNvSpPr/>
          <p:nvPr/>
        </p:nvSpPr>
        <p:spPr>
          <a:xfrm>
            <a:off x="6108192" y="1499616"/>
            <a:ext cx="2779776" cy="3401568"/>
          </a:xfrm>
          <a:prstGeom prst="roundRect">
            <a:avLst>
              <a:gd name="adj" fmla="val 4605"/>
            </a:avLst>
          </a:prstGeom>
          <a:solidFill>
            <a:srgbClr val="0A2E2E"/>
          </a:solidFill>
          <a:ln w="19050">
            <a:solidFill>
              <a:srgbClr val="57E3D8"/>
            </a:solidFill>
            <a:prstDash val="solid"/>
          </a:ln>
        </p:spPr>
        <p:txBody>
          <a:bodyPr/>
          <a:lstStyle/>
          <a:p>
            <a:endParaRPr lang="en-US"/>
          </a:p>
        </p:txBody>
      </p:sp>
      <p:sp>
        <p:nvSpPr>
          <p:cNvPr id="17" name="Text 15">
            <a:extLst>
              <a:ext uri="{FF2B5EF4-FFF2-40B4-BE49-F238E27FC236}">
                <a16:creationId xmlns:a16="http://schemas.microsoft.com/office/drawing/2014/main" id="{BD01AF8F-536E-C495-E8A0-F7655F895F22}"/>
              </a:ext>
            </a:extLst>
          </p:cNvPr>
          <p:cNvSpPr/>
          <p:nvPr/>
        </p:nvSpPr>
        <p:spPr>
          <a:xfrm>
            <a:off x="6108192" y="1545336"/>
            <a:ext cx="2779776" cy="457200"/>
          </a:xfrm>
          <a:prstGeom prst="rect">
            <a:avLst/>
          </a:prstGeom>
          <a:noFill/>
          <a:ln/>
        </p:spPr>
        <p:txBody>
          <a:bodyPr wrap="square" rtlCol="0" anchor="ctr"/>
          <a:lstStyle/>
          <a:p>
            <a:pPr marL="0" indent="0" algn="ctr">
              <a:buNone/>
            </a:pPr>
            <a:r>
              <a:rPr lang="en-US" sz="2000" b="1" dirty="0">
                <a:solidFill>
                  <a:srgbClr val="57E3D8"/>
                </a:solidFill>
                <a:latin typeface="Calibri" pitchFamily="34" charset="0"/>
                <a:ea typeface="Calibri" pitchFamily="34" charset="-122"/>
                <a:cs typeface="Calibri" pitchFamily="34" charset="-120"/>
              </a:rPr>
              <a:t>Flowchart</a:t>
            </a:r>
            <a:endParaRPr lang="en-US" sz="2000" dirty="0"/>
          </a:p>
        </p:txBody>
      </p:sp>
      <p:sp>
        <p:nvSpPr>
          <p:cNvPr id="18" name="Text 16">
            <a:extLst>
              <a:ext uri="{FF2B5EF4-FFF2-40B4-BE49-F238E27FC236}">
                <a16:creationId xmlns:a16="http://schemas.microsoft.com/office/drawing/2014/main" id="{C4029E02-E763-B814-4C30-6D610F53CED9}"/>
              </a:ext>
            </a:extLst>
          </p:cNvPr>
          <p:cNvSpPr/>
          <p:nvPr/>
        </p:nvSpPr>
        <p:spPr>
          <a:xfrm>
            <a:off x="6108192"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Visual · Standard symbols</a:t>
            </a:r>
            <a:endParaRPr lang="en-US" sz="1000" dirty="0"/>
          </a:p>
        </p:txBody>
      </p:sp>
      <p:sp>
        <p:nvSpPr>
          <p:cNvPr id="19" name="Text 17">
            <a:extLst>
              <a:ext uri="{FF2B5EF4-FFF2-40B4-BE49-F238E27FC236}">
                <a16:creationId xmlns:a16="http://schemas.microsoft.com/office/drawing/2014/main" id="{68B76B5C-86FB-DDD2-2643-011F7DA0DB57}"/>
              </a:ext>
            </a:extLst>
          </p:cNvPr>
          <p:cNvSpPr/>
          <p:nvPr/>
        </p:nvSpPr>
        <p:spPr>
          <a:xfrm>
            <a:off x="6272784"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Start (oval) → i = 0 (rectangle) → i &lt; len-1? (diamond) → No: End. Yes: minIndex = i, j = i+1 (rectangle) → j &lt; len? (diamond) → Yes: list[j] &lt; list[minIndex]? if yes minIndex = j, j = j+1, loop. No: minIndex ≠ i? swap list[i] with list[minIndex], i = i+1, loop.</a:t>
            </a:r>
            <a:endParaRPr lang="en-US" sz="1100" dirty="0"/>
          </a:p>
        </p:txBody>
      </p:sp>
    </p:spTree>
    <p:extLst>
      <p:ext uri="{BB962C8B-B14F-4D97-AF65-F5344CB8AC3E}">
        <p14:creationId xmlns:p14="http://schemas.microsoft.com/office/powerpoint/2010/main" val="369125619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31173</TotalTime>
  <Words>6497</Words>
  <Application>Microsoft Office PowerPoint</Application>
  <PresentationFormat>On-screen Show (16:9)</PresentationFormat>
  <Paragraphs>1230</Paragraphs>
  <Slides>42</Slides>
  <Notes>39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Tajawal</vt:lpstr>
      <vt:lpstr>Calibri</vt:lpstr>
      <vt:lpstr>IBM Plex Sans Arabic</vt:lpstr>
      <vt:lpstr>IBM Plex Sans Arabic Medium</vt:lpstr>
      <vt:lpstr>Consolas</vt:lpstr>
      <vt:lpstr>Arial</vt:lpstr>
      <vt:lpstr>IBM Plex Sans Arabic SemiBold</vt:lpstr>
      <vt:lpstr>Simple Light</vt:lpstr>
      <vt:lpstr>أكـــــاديميــــة طــــويـــق</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Ahmed Al-Hadari</dc:creator>
  <cp:lastModifiedBy>Ahmed Alhussein</cp:lastModifiedBy>
  <cp:revision>257</cp:revision>
  <dcterms:modified xsi:type="dcterms:W3CDTF">2026-04-17T17:20:07Z</dcterms:modified>
</cp:coreProperties>
</file>