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slides/slide15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4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4"/>
  </p:notesMasterIdLst>
  <p:sldIdLst>
    <p:sldId id="256" r:id="rId2"/>
    <p:sldId id="541" r:id="rId5"/>
    <p:sldId id="542" r:id="rId6"/>
    <p:sldId id="258" r:id="rId7"/>
    <p:sldId id="519" r:id="rId20"/>
    <p:sldId id="257" r:id="rId21"/>
    <p:sldId id="509" r:id="rId19"/>
    <p:sldId id="502" r:id="rId13"/>
    <p:sldId id="521" r:id="rId24"/>
    <p:sldId id="508" r:id="rId16"/>
    <p:sldId id="520" r:id="rId22"/>
    <p:sldId id="531" r:id="rId35"/>
    <p:sldId id="522" r:id="rId25"/>
    <p:sldId id="528" r:id="rId32"/>
    <p:sldId id="529" r:id="rId33"/>
    <p:sldId id="281" r:id="rId43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45"/>
      <p:bold r:id="rId46"/>
      <p:italic r:id="rId47"/>
      <p:boldItalic r:id="rId48"/>
    </p:embeddedFont>
    <p:embeddedFont>
      <p:font typeface="IBM Plex Sans Arabic" panose="020B0604020202020204" charset="-78"/>
      <p:regular r:id="rId49"/>
      <p:bold r:id="rId50"/>
    </p:embeddedFont>
    <p:embeddedFont>
      <p:font typeface="IBM Plex Sans Arabic Medium" panose="020B0604020202020204" charset="-78"/>
      <p:regular r:id="rId51"/>
      <p:bold r:id="rId52"/>
    </p:embeddedFont>
    <p:embeddedFont>
      <p:font typeface="IBM Plex Sans Arabic SemiBold" panose="020B0604020202020204" charset="-78"/>
      <p:regular r:id="rId53"/>
      <p:bold r:id="rId54"/>
    </p:embeddedFont>
    <p:embeddedFont>
      <p:font typeface="Tajawal" panose="020B0604020202020204" charset="-78"/>
      <p:regular r:id="rId55"/>
      <p:bold r:id="rId5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24">
          <p15:clr>
            <a:srgbClr val="747775"/>
          </p15:clr>
        </p15:guide>
        <p15:guide id="2" orient="horz" pos="2560">
          <p15:clr>
            <a:srgbClr val="747775"/>
          </p15:clr>
        </p15:guide>
        <p15:guide id="3" pos="2880">
          <p15:clr>
            <a:srgbClr val="747775"/>
          </p15:clr>
        </p15:guide>
        <p15:guide id="4" orient="horz" pos="759">
          <p15:clr>
            <a:srgbClr val="747775"/>
          </p15:clr>
        </p15:guide>
        <p15:guide id="5" orient="horz" pos="2428">
          <p15:clr>
            <a:srgbClr val="747775"/>
          </p15:clr>
        </p15:guide>
        <p15:guide id="6" pos="5325">
          <p15:clr>
            <a:srgbClr val="747775"/>
          </p15:clr>
        </p15:guide>
        <p15:guide id="7" orient="horz" pos="96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22E0367-EB9C-4807-88CA-1A682D9BA7E9}">
  <a:tblStyle styleId="{922E0367-EB9C-4807-88CA-1A682D9BA7E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393" y="45"/>
      </p:cViewPr>
      <p:guideLst>
        <p:guide orient="horz" pos="524"/>
        <p:guide orient="horz" pos="2560"/>
        <p:guide pos="2880"/>
        <p:guide orient="horz" pos="759"/>
        <p:guide orient="horz" pos="2428"/>
        <p:guide pos="5325"/>
        <p:guide orient="horz" pos="9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2.xml"/><Relationship Id="rId21" Type="http://schemas.openxmlformats.org/officeDocument/2006/relationships/slide" Target="slides/slide20.xml"/><Relationship Id="rId47" Type="http://schemas.openxmlformats.org/officeDocument/2006/relationships/font" Target="fonts/font3.fntdata"/><Relationship Id="rId50" Type="http://schemas.openxmlformats.org/officeDocument/2006/relationships/font" Target="fonts/font6.fntdata"/><Relationship Id="rId55" Type="http://schemas.openxmlformats.org/officeDocument/2006/relationships/font" Target="fonts/font11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45" Type="http://schemas.openxmlformats.org/officeDocument/2006/relationships/font" Target="fonts/font1.fntdata"/><Relationship Id="rId53" Type="http://schemas.openxmlformats.org/officeDocument/2006/relationships/font" Target="fonts/font9.fntdata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22" Type="http://schemas.openxmlformats.org/officeDocument/2006/relationships/slide" Target="slides/slide21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4.fntdata"/><Relationship Id="rId56" Type="http://schemas.openxmlformats.org/officeDocument/2006/relationships/font" Target="fonts/font12.fntdata"/><Relationship Id="rId51" Type="http://schemas.openxmlformats.org/officeDocument/2006/relationships/font" Target="fonts/font7.fntdata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46" Type="http://schemas.openxmlformats.org/officeDocument/2006/relationships/font" Target="fonts/font2.fntdata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54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49" Type="http://schemas.openxmlformats.org/officeDocument/2006/relationships/font" Target="fonts/font5.fntdata"/><Relationship Id="rId57" Type="http://schemas.openxmlformats.org/officeDocument/2006/relationships/presProps" Target="presProps.xml"/><Relationship Id="rId44" Type="http://schemas.openxmlformats.org/officeDocument/2006/relationships/notesMaster" Target="notesMasters/notesMaster1.xml"/><Relationship Id="rId52" Type="http://schemas.openxmlformats.org/officeDocument/2006/relationships/font" Target="fonts/font8.fntdata"/><Relationship Id="rId60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8.xml.rels><?xml version="1.0" encoding="UTF-8"?>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?>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?>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9.xml.rels><?xml version="1.0" encoding="UTF-8"?>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1a09276e835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1a09276e835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5C67915C-273D-DB22-68F9-4062B5581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1a09276e835_1_0:notes">
            <a:extLst>
              <a:ext uri="{FF2B5EF4-FFF2-40B4-BE49-F238E27FC236}">
                <a16:creationId xmlns:a16="http://schemas.microsoft.com/office/drawing/2014/main" id="{706FDF88-2753-8D55-AD1A-6D580D9CEA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1a09276e835_1_0:notes">
            <a:extLst>
              <a:ext uri="{FF2B5EF4-FFF2-40B4-BE49-F238E27FC236}">
                <a16:creationId xmlns:a16="http://schemas.microsoft.com/office/drawing/2014/main" id="{B56EB0F5-1310-85DC-E000-8F4BA8E56A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026398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65ACD813-A344-EA14-2585-22D87E60A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1a09276e835_1_0:notes">
            <a:extLst>
              <a:ext uri="{FF2B5EF4-FFF2-40B4-BE49-F238E27FC236}">
                <a16:creationId xmlns:a16="http://schemas.microsoft.com/office/drawing/2014/main" id="{9AE6DE2A-13CA-F834-C6C6-D9FFB6543A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1a09276e835_1_0:notes">
            <a:extLst>
              <a:ext uri="{FF2B5EF4-FFF2-40B4-BE49-F238E27FC236}">
                <a16:creationId xmlns:a16="http://schemas.microsoft.com/office/drawing/2014/main" id="{56AAAFB3-7192-6462-847D-721D6FC67F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579881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01729062-C001-1BC3-21F3-013B25C79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1a09276e835_1_0:notes">
            <a:extLst>
              <a:ext uri="{FF2B5EF4-FFF2-40B4-BE49-F238E27FC236}">
                <a16:creationId xmlns:a16="http://schemas.microsoft.com/office/drawing/2014/main" id="{A4925C8B-74A4-6D0E-A1F6-3ED5AFE791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1a09276e835_1_0:notes">
            <a:extLst>
              <a:ext uri="{FF2B5EF4-FFF2-40B4-BE49-F238E27FC236}">
                <a16:creationId xmlns:a16="http://schemas.microsoft.com/office/drawing/2014/main" id="{40070772-E495-65C8-BB68-C028467C22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976726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1a09276e835_1_9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1a09276e835_1_9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300"/>
              <a:buFont typeface="Tajawal"/>
              <a:buNone/>
              <a:defRPr sz="4300" b="1">
                <a:latin typeface="Tajawal"/>
                <a:ea typeface="Tajawal"/>
                <a:cs typeface="Tajawal"/>
                <a:sym typeface="Tajawa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2079450" y="714175"/>
            <a:ext cx="6707400" cy="77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1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500"/>
              <a:buNone/>
              <a:defRPr b="1">
                <a:solidFill>
                  <a:srgbClr val="543198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2758650" y="1526325"/>
            <a:ext cx="6028200" cy="17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Char char="●"/>
              <a:defRPr>
                <a:solidFill>
                  <a:srgbClr val="424242"/>
                </a:solidFill>
              </a:defRPr>
            </a:lvl1pPr>
            <a:lvl2pPr marL="914400" lvl="1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2pPr>
            <a:lvl3pPr marL="1371600" lvl="2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3pPr>
            <a:lvl4pPr marL="1828800" lvl="3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4pPr>
            <a:lvl5pPr marL="2286000" lvl="4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5pPr>
            <a:lvl6pPr marL="2743200" lvl="5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6pPr>
            <a:lvl7pPr marL="3200400" lvl="6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7pPr>
            <a:lvl8pPr marL="3657600" lvl="7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8pPr>
            <a:lvl9pPr marL="4114800" lvl="8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title"/>
          </p:nvPr>
        </p:nvSpPr>
        <p:spPr>
          <a:xfrm>
            <a:off x="311700" y="282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7" name="Google Shape;27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59271" y="4703039"/>
            <a:ext cx="946580" cy="213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pic>
        <p:nvPicPr>
          <p:cNvPr id="43" name="Google Shape;43;p11" title="twq white-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43975" y="84975"/>
            <a:ext cx="1388326" cy="59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5784194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0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2824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1">
              <a:spcBef>
                <a:spcPts val="0"/>
              </a:spcBef>
              <a:spcAft>
                <a:spcPts val="0"/>
              </a:spcAft>
              <a:buClr>
                <a:srgbClr val="4F29B7"/>
              </a:buClr>
              <a:buSzPts val="2500"/>
              <a:buFont typeface="IBM Plex Sans Arabic Medium"/>
              <a:buNone/>
              <a:defRPr sz="2500">
                <a:solidFill>
                  <a:srgbClr val="4F29B7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defRPr>
            </a:lvl1pPr>
            <a:lvl2pPr lvl="1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800"/>
              <a:buFont typeface="IBM Plex Sans Arabic"/>
              <a:buChar char="●"/>
              <a:defRPr sz="1800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1pPr>
            <a:lvl2pPr marL="914400" lvl="1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2pPr>
            <a:lvl3pPr marL="1371600" lvl="2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3pPr>
            <a:lvl4pPr marL="1828800" lvl="3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●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4pPr>
            <a:lvl5pPr marL="2286000" lvl="4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5pPr>
            <a:lvl6pPr marL="2743200" lvl="5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6pPr>
            <a:lvl7pPr marL="3200400" lvl="6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●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7pPr>
            <a:lvl8pPr marL="3657600" lvl="7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8pPr>
            <a:lvl9pPr marL="4114800" lvl="8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5" r:id="rId5"/>
    <p:sldLayoutId id="2147483657" r:id="rId6"/>
    <p:sldLayoutId id="2147483658" r:id="rId7"/>
    <p:sldLayoutId id="2147483660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5.xml.rels><?xml version="1.0" encoding="UTF-8"?>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8.xml.rels><?xml version="1.0" encoding="UTF-8"?>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9.xml.rels><?xml version="1.0" encoding="UTF-8"?>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20.xml.rels><?xml version="1.0" encoding="UTF-8"?>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21.xml.rels><?xml version="1.0" encoding="UTF-8"?>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23.xml.rels><?xml version="1.0" encoding="UTF-8"?>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4.xml.rels><?xml version="1.0" encoding="UTF-8"?>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31.xml.rels><?xml version="1.0" encoding="UTF-8"?>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/Relationships>
</file>

<file path=ppt/slides/_rels/slide32.xml.rels><?xml version="1.0" encoding="UTF-8"?>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/Relationships>
</file>

<file path=ppt/slides/_rels/slide34.xml.rels><?xml version="1.0" encoding="UTF-8"?>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/Relationships>
</file>

<file path=ppt/slides/_rels/slide42.xml.rels><?xml version="1.0" encoding="UTF-8"?>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>
            <a:spLocks noGrp="1"/>
          </p:cNvSpPr>
          <p:nvPr>
            <p:ph type="title"/>
          </p:nvPr>
        </p:nvSpPr>
        <p:spPr>
          <a:xfrm>
            <a:off x="5435226" y="867625"/>
            <a:ext cx="2974200" cy="226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>
                <a:solidFill>
                  <a:srgbClr val="58E3D8"/>
                </a:solidFill>
                <a:latin typeface="IBM Plex Sans Arabic SemiBold"/>
                <a:ea typeface="IBM Plex Sans Arabic SemiBold"/>
                <a:cs typeface="IBM Plex Sans Arabic SemiBold"/>
                <a:sym typeface="IBM Plex Sans Arabic SemiBold"/>
              </a:rPr>
              <a:t>أكـــــاديميــــة طــــويـــق</a:t>
            </a:r>
            <a:endParaRPr sz="4800" dirty="0">
              <a:solidFill>
                <a:srgbClr val="58E3D8"/>
              </a:solidFill>
              <a:latin typeface="IBM Plex Sans Arabic SemiBold"/>
              <a:ea typeface="IBM Plex Sans Arabic SemiBold"/>
              <a:cs typeface="IBM Plex Sans Arabic SemiBold"/>
              <a:sym typeface="IBM Plex Sans Arabic SemiBold"/>
            </a:endParaRPr>
          </a:p>
        </p:txBody>
      </p:sp>
      <p:sp>
        <p:nvSpPr>
          <p:cNvPr id="51" name="Google Shape;51;p13"/>
          <p:cNvSpPr txBox="1">
            <a:spLocks noGrp="1"/>
          </p:cNvSpPr>
          <p:nvPr>
            <p:ph type="body" idx="4294967295"/>
          </p:nvPr>
        </p:nvSpPr>
        <p:spPr>
          <a:xfrm>
            <a:off x="3902100" y="3253272"/>
            <a:ext cx="4447500" cy="4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 algn="r">
              <a:buNone/>
            </a:pPr>
            <a:r>
              <a:rPr lang="ar-SA" sz="2000" b="1" dirty="0">
                <a:solidFill>
                  <a:schemeClr val="bg1"/>
                </a:solidFill>
              </a:rPr>
              <a:t>المعسكر التأسيسي - مسار البرمجة</a:t>
            </a:r>
          </a:p>
          <a:p>
            <a:pPr marL="114300" indent="0">
              <a:buNone/>
            </a:pPr>
            <a:br>
              <a:rPr lang="ar-SA" sz="2000" dirty="0"/>
            </a:br>
            <a:endParaRPr lang="ar-SA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67E406D-77C5-64FC-1384-3ED885662E43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58AB1B6-4F13-B6F1-65C4-FDEAF2A7575E}"/>
              </a:ext>
            </a:extLst>
          </p:cNvPr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4F29B7"/>
          </a:solidFill>
          <a:ln w="12700">
            <a:solidFill>
              <a:srgbClr val="4F2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F820E8F-A391-AC62-D54D-317374F62C88}"/>
              </a:ext>
            </a:extLst>
          </p:cNvPr>
          <p:cNvSpPr/>
          <p:nvPr/>
        </p:nvSpPr>
        <p:spPr>
          <a:xfrm>
            <a:off x="0" y="64008"/>
            <a:ext cx="2560320" cy="5015484"/>
          </a:xfrm>
          <a:prstGeom prst="rect">
            <a:avLst/>
          </a:prstGeom>
          <a:solidFill>
            <a:srgbClr val="0A2020"/>
          </a:solidFill>
          <a:ln w="12700">
            <a:solidFill>
              <a:srgbClr val="0A2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44B5C98-FBD3-E2CD-5772-833C4D8DBE51}"/>
              </a:ext>
            </a:extLst>
          </p:cNvPr>
          <p:cNvSpPr/>
          <p:nvPr/>
        </p:nvSpPr>
        <p:spPr>
          <a:xfrm>
            <a:off x="2560320" y="64008"/>
            <a:ext cx="0" cy="5015484"/>
          </a:xfrm>
          <a:prstGeom prst="line">
            <a:avLst/>
          </a:prstGeom>
          <a:noFill/>
          <a:ln w="254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0A0054A-5F93-C0F8-68C3-1CAD4846EE0E}"/>
              </a:ext>
            </a:extLst>
          </p:cNvPr>
          <p:cNvSpPr/>
          <p:nvPr/>
        </p:nvSpPr>
        <p:spPr>
          <a:xfrm>
            <a:off x="0" y="32004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0" dirty="0">
              <a:solidFill>
                <a:schemeClr val="bg1"/>
              </a:solidFill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2D400CA1-A6FF-D2ED-B42E-71359923989F}"/>
              </a:ext>
            </a:extLst>
          </p:cNvPr>
          <p:cNvSpPr/>
          <p:nvPr/>
        </p:nvSpPr>
        <p:spPr>
          <a:xfrm>
            <a:off x="228600" y="384048"/>
            <a:ext cx="822960" cy="256032"/>
          </a:xfrm>
          <a:prstGeom prst="roundRect">
            <a:avLst>
              <a:gd name="adj" fmla="val 42857"/>
            </a:avLst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273ADA2-B102-4B1E-6AF9-898A94FBDFA6}"/>
              </a:ext>
            </a:extLst>
          </p:cNvPr>
          <p:cNvSpPr/>
          <p:nvPr/>
        </p:nvSpPr>
        <p:spPr>
          <a:xfrm>
            <a:off x="228600" y="38404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1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09B99FC-C479-8C2D-E6D2-881A32388889}"/>
              </a:ext>
            </a:extLst>
          </p:cNvPr>
          <p:cNvSpPr/>
          <p:nvPr/>
        </p:nvSpPr>
        <p:spPr>
          <a:xfrm>
            <a:off x="137160" y="14173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22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38A5CAEB-8102-DF38-E1B7-6B194D394D41}"/>
              </a:ext>
            </a:extLst>
          </p:cNvPr>
          <p:cNvSpPr/>
          <p:nvPr/>
        </p:nvSpPr>
        <p:spPr>
          <a:xfrm>
            <a:off x="320040" y="4069080"/>
            <a:ext cx="1920240" cy="0"/>
          </a:xfrm>
          <a:prstGeom prst="line">
            <a:avLst/>
          </a:prstGeom>
          <a:noFill/>
          <a:ln w="9525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2B591E3-3AA6-686E-4CAC-AF218B233E00}"/>
              </a:ext>
            </a:extLst>
          </p:cNvPr>
          <p:cNvSpPr/>
          <p:nvPr/>
        </p:nvSpPr>
        <p:spPr>
          <a:xfrm>
            <a:off x="137160" y="4160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Bootcamp</a:t>
            </a:r>
            <a:endParaRPr lang="en-US" sz="10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599767D-CE61-3911-E941-102809D30A60}"/>
              </a:ext>
            </a:extLst>
          </p:cNvPr>
          <p:cNvSpPr/>
          <p:nvPr/>
        </p:nvSpPr>
        <p:spPr>
          <a:xfrm>
            <a:off x="137160" y="44074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مسار البرمجة</a:t>
            </a:r>
            <a:endParaRPr lang="en-US" sz="10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55F4100E-9CB8-5B37-C0F2-CBEC90D9766C}"/>
              </a:ext>
            </a:extLst>
          </p:cNvPr>
          <p:cNvSpPr/>
          <p:nvPr/>
        </p:nvSpPr>
        <p:spPr>
          <a:xfrm>
            <a:off x="2834640" y="637794"/>
            <a:ext cx="6035040" cy="685800"/>
          </a:xfrm>
          <a:prstGeom prst="roundRect">
            <a:avLst>
              <a:gd name="adj" fmla="val 10667"/>
            </a:avLst>
          </a:prstGeom>
          <a:solidFill>
            <a:srgbClr val="1A1A2E"/>
          </a:solidFill>
          <a:ln w="9525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5C0B6CAB-0687-131B-B1A3-5DC2E6225321}"/>
              </a:ext>
            </a:extLst>
          </p:cNvPr>
          <p:cNvSpPr/>
          <p:nvPr/>
        </p:nvSpPr>
        <p:spPr>
          <a:xfrm>
            <a:off x="3035808" y="788670"/>
            <a:ext cx="384048" cy="384048"/>
          </a:xfrm>
          <a:prstGeom prst="ellipse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AC7BC44D-1FC9-9F64-5CC7-E434D27250A8}"/>
              </a:ext>
            </a:extLst>
          </p:cNvPr>
          <p:cNvSpPr/>
          <p:nvPr/>
        </p:nvSpPr>
        <p:spPr>
          <a:xfrm>
            <a:off x="3035808" y="78867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C3F1AAB6-AEF6-43A8-6A84-7CBE0EB54EF6}"/>
              </a:ext>
            </a:extLst>
          </p:cNvPr>
          <p:cNvSpPr/>
          <p:nvPr/>
        </p:nvSpPr>
        <p:spPr>
          <a:xfrm>
            <a:off x="3584448" y="729234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95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648B9736-5271-3F10-9283-6A47244C9274}"/>
              </a:ext>
            </a:extLst>
          </p:cNvPr>
          <p:cNvSpPr/>
          <p:nvPr/>
        </p:nvSpPr>
        <p:spPr>
          <a:xfrm>
            <a:off x="4361688" y="784098"/>
            <a:ext cx="0" cy="393192"/>
          </a:xfrm>
          <a:prstGeom prst="line">
            <a:avLst/>
          </a:prstGeom>
          <a:noFill/>
          <a:ln w="9525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07A12A8A-1C6B-110F-8997-E7E5477EA5F8}"/>
              </a:ext>
            </a:extLst>
          </p:cNvPr>
          <p:cNvSpPr/>
          <p:nvPr/>
        </p:nvSpPr>
        <p:spPr>
          <a:xfrm>
            <a:off x="4453128" y="637794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</a:t>
            </a:r>
            <a:endParaRPr lang="en-US" sz="12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63889319-52E7-F6EA-214C-6FB5D81E6B30}"/>
              </a:ext>
            </a:extLst>
          </p:cNvPr>
          <p:cNvSpPr/>
          <p:nvPr/>
        </p:nvSpPr>
        <p:spPr>
          <a:xfrm>
            <a:off x="2834640" y="1433322"/>
            <a:ext cx="6035040" cy="685800"/>
          </a:xfrm>
          <a:prstGeom prst="roundRect">
            <a:avLst>
              <a:gd name="adj" fmla="val 10667"/>
            </a:avLst>
          </a:prstGeom>
          <a:solidFill>
            <a:srgbClr val="16243A"/>
          </a:solidFill>
          <a:ln w="22225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06C2D083-16B0-081D-EC91-9BC5FB3A7C31}"/>
              </a:ext>
            </a:extLst>
          </p:cNvPr>
          <p:cNvSpPr/>
          <p:nvPr/>
        </p:nvSpPr>
        <p:spPr>
          <a:xfrm>
            <a:off x="3035808" y="1584198"/>
            <a:ext cx="384048" cy="384048"/>
          </a:xfrm>
          <a:prstGeom prst="ellipse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BAFCCA92-7DB9-D2AC-FF94-D4A25331D56E}"/>
              </a:ext>
            </a:extLst>
          </p:cNvPr>
          <p:cNvSpPr/>
          <p:nvPr/>
        </p:nvSpPr>
        <p:spPr>
          <a:xfrm>
            <a:off x="3035808" y="158419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0C22C430-4049-84D0-C905-1AECAADE9A85}"/>
              </a:ext>
            </a:extLst>
          </p:cNvPr>
          <p:cNvSpPr/>
          <p:nvPr/>
        </p:nvSpPr>
        <p:spPr>
          <a:xfrm>
            <a:off x="3584448" y="152476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95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82A72DA3-1CC8-C226-C2AB-67A0BD33B796}"/>
              </a:ext>
            </a:extLst>
          </p:cNvPr>
          <p:cNvSpPr/>
          <p:nvPr/>
        </p:nvSpPr>
        <p:spPr>
          <a:xfrm>
            <a:off x="4361688" y="1579626"/>
            <a:ext cx="0" cy="393192"/>
          </a:xfrm>
          <a:prstGeom prst="line">
            <a:avLst/>
          </a:prstGeom>
          <a:noFill/>
          <a:ln w="9525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F2904907-D386-E744-B0D6-2A064A9BA7D6}"/>
              </a:ext>
            </a:extLst>
          </p:cNvPr>
          <p:cNvSpPr/>
          <p:nvPr/>
        </p:nvSpPr>
        <p:spPr>
          <a:xfrm>
            <a:off x="4453128" y="1433322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Arrays</a:t>
            </a:r>
            <a:endParaRPr lang="en-US" sz="12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8D5DB58C-C19C-BF82-38F2-3520D1D40072}"/>
              </a:ext>
            </a:extLst>
          </p:cNvPr>
          <p:cNvSpPr/>
          <p:nvPr/>
        </p:nvSpPr>
        <p:spPr>
          <a:xfrm>
            <a:off x="2834640" y="2228850"/>
            <a:ext cx="6035040" cy="685800"/>
          </a:xfrm>
          <a:prstGeom prst="roundRect">
            <a:avLst>
              <a:gd name="adj" fmla="val 10667"/>
            </a:avLst>
          </a:prstGeom>
          <a:solidFill>
            <a:srgbClr val="1A1A2E"/>
          </a:solidFill>
          <a:ln w="9525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70736680-2F47-383C-0F62-87CCA75E254E}"/>
              </a:ext>
            </a:extLst>
          </p:cNvPr>
          <p:cNvSpPr/>
          <p:nvPr/>
        </p:nvSpPr>
        <p:spPr>
          <a:xfrm>
            <a:off x="3035808" y="2379726"/>
            <a:ext cx="384048" cy="384048"/>
          </a:xfrm>
          <a:prstGeom prst="ellipse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314C9277-EC05-FC71-5EA2-F4407D0C92BB}"/>
              </a:ext>
            </a:extLst>
          </p:cNvPr>
          <p:cNvSpPr/>
          <p:nvPr/>
        </p:nvSpPr>
        <p:spPr>
          <a:xfrm>
            <a:off x="3035808" y="237972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30DC768E-4FAE-A61B-FCEC-97E680516D22}"/>
              </a:ext>
            </a:extLst>
          </p:cNvPr>
          <p:cNvSpPr/>
          <p:nvPr/>
        </p:nvSpPr>
        <p:spPr>
          <a:xfrm>
            <a:off x="3584448" y="232029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95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889D4878-03AA-AC42-C788-065DCECAD681}"/>
              </a:ext>
            </a:extLst>
          </p:cNvPr>
          <p:cNvSpPr/>
          <p:nvPr/>
        </p:nvSpPr>
        <p:spPr>
          <a:xfrm>
            <a:off x="4361688" y="2375154"/>
            <a:ext cx="0" cy="393192"/>
          </a:xfrm>
          <a:prstGeom prst="line">
            <a:avLst/>
          </a:prstGeom>
          <a:noFill/>
          <a:ln w="9525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431CF177-A807-CE31-1BB2-ECA9F30B5B25}"/>
              </a:ext>
            </a:extLst>
          </p:cNvPr>
          <p:cNvSpPr/>
          <p:nvPr/>
        </p:nvSpPr>
        <p:spPr>
          <a:xfrm>
            <a:off x="4453128" y="222885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Lists</a:t>
            </a:r>
            <a:endParaRPr lang="en-US" sz="1200" dirty="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71BB9B55-CFA0-B2B9-D0D5-F9F84E14A700}"/>
              </a:ext>
            </a:extLst>
          </p:cNvPr>
          <p:cNvSpPr/>
          <p:nvPr/>
        </p:nvSpPr>
        <p:spPr>
          <a:xfrm>
            <a:off x="2834640" y="3024378"/>
            <a:ext cx="6035040" cy="685800"/>
          </a:xfrm>
          <a:prstGeom prst="roundRect">
            <a:avLst>
              <a:gd name="adj" fmla="val 10667"/>
            </a:avLst>
          </a:prstGeom>
          <a:solidFill>
            <a:srgbClr val="1A1A2E"/>
          </a:solidFill>
          <a:ln w="9525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591074AD-EEAF-CC1A-C64F-70E9EAAE6F93}"/>
              </a:ext>
            </a:extLst>
          </p:cNvPr>
          <p:cNvSpPr/>
          <p:nvPr/>
        </p:nvSpPr>
        <p:spPr>
          <a:xfrm>
            <a:off x="3035808" y="3175254"/>
            <a:ext cx="384048" cy="384048"/>
          </a:xfrm>
          <a:prstGeom prst="ellipse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72C1DB4C-7A30-FDE6-FBB2-5ED7FA0966C0}"/>
              </a:ext>
            </a:extLst>
          </p:cNvPr>
          <p:cNvSpPr/>
          <p:nvPr/>
        </p:nvSpPr>
        <p:spPr>
          <a:xfrm>
            <a:off x="3035808" y="317525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20D7429D-968C-6CC1-CB67-49328C66BFFF}"/>
              </a:ext>
            </a:extLst>
          </p:cNvPr>
          <p:cNvSpPr/>
          <p:nvPr/>
        </p:nvSpPr>
        <p:spPr>
          <a:xfrm>
            <a:off x="3584448" y="311581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950" dirty="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C00E2499-AF17-8119-3E32-ED104BE2C408}"/>
              </a:ext>
            </a:extLst>
          </p:cNvPr>
          <p:cNvSpPr/>
          <p:nvPr/>
        </p:nvSpPr>
        <p:spPr>
          <a:xfrm>
            <a:off x="4361688" y="3170682"/>
            <a:ext cx="0" cy="393192"/>
          </a:xfrm>
          <a:prstGeom prst="line">
            <a:avLst/>
          </a:prstGeom>
          <a:noFill/>
          <a:ln w="9525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5CBCAC83-FE09-B41B-A792-27B20AAC85CA}"/>
              </a:ext>
            </a:extLst>
          </p:cNvPr>
          <p:cNvSpPr/>
          <p:nvPr/>
        </p:nvSpPr>
        <p:spPr>
          <a:xfrm>
            <a:off x="4453128" y="3024378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200" dirty="0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56457514-840D-17B8-1CA3-22F36C9B7732}"/>
              </a:ext>
            </a:extLst>
          </p:cNvPr>
          <p:cNvSpPr/>
          <p:nvPr/>
        </p:nvSpPr>
        <p:spPr>
          <a:xfrm>
            <a:off x="2834640" y="3819906"/>
            <a:ext cx="6035040" cy="685800"/>
          </a:xfrm>
          <a:prstGeom prst="roundRect">
            <a:avLst>
              <a:gd name="adj" fmla="val 10667"/>
            </a:avLst>
          </a:prstGeom>
          <a:solidFill>
            <a:srgbClr val="1A1A2E"/>
          </a:solidFill>
          <a:ln w="9525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9DF37A64-ED3D-4331-0DFF-1C08C1392C97}"/>
              </a:ext>
            </a:extLst>
          </p:cNvPr>
          <p:cNvSpPr/>
          <p:nvPr/>
        </p:nvSpPr>
        <p:spPr>
          <a:xfrm>
            <a:off x="3035808" y="3970782"/>
            <a:ext cx="384048" cy="384048"/>
          </a:xfrm>
          <a:prstGeom prst="ellipse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4E4D50F2-2BDB-5D2A-D738-38A75BE73FEC}"/>
              </a:ext>
            </a:extLst>
          </p:cNvPr>
          <p:cNvSpPr/>
          <p:nvPr/>
        </p:nvSpPr>
        <p:spPr>
          <a:xfrm>
            <a:off x="3035808" y="397078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AD1F2660-4698-BAA4-6ECB-D1AD7F28A049}"/>
              </a:ext>
            </a:extLst>
          </p:cNvPr>
          <p:cNvSpPr/>
          <p:nvPr/>
        </p:nvSpPr>
        <p:spPr>
          <a:xfrm>
            <a:off x="3584448" y="391134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950" dirty="0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D73F017A-5189-2942-0DBD-BF028C8152BF}"/>
              </a:ext>
            </a:extLst>
          </p:cNvPr>
          <p:cNvSpPr/>
          <p:nvPr/>
        </p:nvSpPr>
        <p:spPr>
          <a:xfrm>
            <a:off x="4361688" y="3966210"/>
            <a:ext cx="0" cy="393192"/>
          </a:xfrm>
          <a:prstGeom prst="line">
            <a:avLst/>
          </a:prstGeom>
          <a:noFill/>
          <a:ln w="9525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6D890D9C-81A6-2603-64EC-51DA4BF1757F}"/>
              </a:ext>
            </a:extLst>
          </p:cNvPr>
          <p:cNvSpPr/>
          <p:nvPr/>
        </p:nvSpPr>
        <p:spPr>
          <a:xfrm>
            <a:off x="4453128" y="3819906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089634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313FDBC-5DDD-9D99-0C14-ACF6DD9AF588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2E06120-A5BA-0588-9AFC-314C5FEDBA69}"/>
              </a:ext>
            </a:extLst>
          </p:cNvPr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4F29B7"/>
          </a:solidFill>
          <a:ln w="12700">
            <a:solidFill>
              <a:srgbClr val="4F2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1E6587E-9A93-DCDC-751E-D59249E30628}"/>
              </a:ext>
            </a:extLst>
          </p:cNvPr>
          <p:cNvSpPr/>
          <p:nvPr/>
        </p:nvSpPr>
        <p:spPr>
          <a:xfrm>
            <a:off x="365760" y="274320"/>
            <a:ext cx="1371600" cy="868680"/>
          </a:xfrm>
          <a:prstGeom prst="rect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67D5CF5-DB10-704C-D443-9DD16F3972AE}"/>
              </a:ext>
            </a:extLst>
          </p:cNvPr>
          <p:cNvSpPr/>
          <p:nvPr/>
        </p:nvSpPr>
        <p:spPr>
          <a:xfrm>
            <a:off x="365760" y="2743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12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0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618CB18-7DD1-DE12-784E-1AD843D14FD8}"/>
              </a:ext>
            </a:extLst>
          </p:cNvPr>
          <p:cNvSpPr/>
          <p:nvPr/>
        </p:nvSpPr>
        <p:spPr>
          <a:xfrm>
            <a:off x="4846320" y="29260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Bootcamp  ·  Programming Fundamentals</a:t>
            </a:r>
            <a:endParaRPr lang="en-US" sz="1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B2A5451-C4E1-38AA-05F1-72B37457912F}"/>
              </a:ext>
            </a:extLst>
          </p:cNvPr>
          <p:cNvSpPr/>
          <p:nvPr/>
        </p:nvSpPr>
        <p:spPr>
          <a:xfrm>
            <a:off x="4846320" y="5669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 ·  Session 2</a:t>
            </a:r>
            <a:endParaRPr lang="en-US" sz="10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AD083D8-2D1F-92BE-05A6-90E9ABE83F24}"/>
              </a:ext>
            </a:extLst>
          </p:cNvPr>
          <p:cNvSpPr/>
          <p:nvPr/>
        </p:nvSpPr>
        <p:spPr>
          <a:xfrm>
            <a:off x="365760" y="1298448"/>
            <a:ext cx="8412480" cy="1463040"/>
          </a:xfrm>
          <a:prstGeom prst="rect">
            <a:avLst/>
          </a:prstGeom>
          <a:solidFill>
            <a:srgbClr val="1A1A2E"/>
          </a:solidFill>
          <a:ln w="1905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0D5704D3-3BF1-E3E5-328C-6FEE31360790}"/>
              </a:ext>
            </a:extLst>
          </p:cNvPr>
          <p:cNvSpPr/>
          <p:nvPr/>
        </p:nvSpPr>
        <p:spPr>
          <a:xfrm>
            <a:off x="365760" y="1298448"/>
            <a:ext cx="109728" cy="1463040"/>
          </a:xfrm>
          <a:prstGeom prst="rect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3858319-3A4E-91B1-C2EA-3847BFD5134B}"/>
              </a:ext>
            </a:extLst>
          </p:cNvPr>
          <p:cNvSpPr/>
          <p:nvPr/>
        </p:nvSpPr>
        <p:spPr>
          <a:xfrm>
            <a:off x="68580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Topics</a:t>
            </a:r>
            <a:endParaRPr lang="en-US" sz="13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7576970-1165-68A7-9A7D-AF857B550642}"/>
              </a:ext>
            </a:extLst>
          </p:cNvPr>
          <p:cNvSpPr/>
          <p:nvPr/>
        </p:nvSpPr>
        <p:spPr>
          <a:xfrm>
            <a:off x="685800" y="173736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Arrays</a:t>
            </a:r>
            <a:endParaRPr lang="en-US" sz="40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8F5FA2A2-3F2F-83FD-13B0-8F916BDF8B68}"/>
              </a:ext>
            </a:extLst>
          </p:cNvPr>
          <p:cNvSpPr/>
          <p:nvPr/>
        </p:nvSpPr>
        <p:spPr>
          <a:xfrm>
            <a:off x="448056" y="2971800"/>
            <a:ext cx="1965960" cy="256032"/>
          </a:xfrm>
          <a:prstGeom prst="rect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4B0681B-DD72-BBAA-CF9F-BAB2A3B94A02}"/>
              </a:ext>
            </a:extLst>
          </p:cNvPr>
          <p:cNvSpPr/>
          <p:nvPr/>
        </p:nvSpPr>
        <p:spPr>
          <a:xfrm>
            <a:off x="557784" y="299008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863F2B03-F032-249B-78BC-7A866DB649EF}"/>
              </a:ext>
            </a:extLst>
          </p:cNvPr>
          <p:cNvSpPr/>
          <p:nvPr/>
        </p:nvSpPr>
        <p:spPr>
          <a:xfrm>
            <a:off x="448056" y="3227832"/>
            <a:ext cx="1965960" cy="1435608"/>
          </a:xfrm>
          <a:prstGeom prst="rect">
            <a:avLst/>
          </a:prstGeom>
          <a:solidFill>
            <a:srgbClr val="1A1A2E"/>
          </a:solidFill>
          <a:ln w="9525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BEB099FC-10EB-F5A1-0946-B88DCE86BBD5}"/>
              </a:ext>
            </a:extLst>
          </p:cNvPr>
          <p:cNvSpPr/>
          <p:nvPr/>
        </p:nvSpPr>
        <p:spPr>
          <a:xfrm>
            <a:off x="1147572" y="3383280"/>
            <a:ext cx="566928" cy="566928"/>
          </a:xfrm>
          <a:prstGeom prst="ellipse">
            <a:avLst/>
          </a:prstGeom>
          <a:solidFill>
            <a:srgbClr val="1A1A2E"/>
          </a:solidFill>
          <a:ln w="1905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0" descr="preencoded.png">
            <a:extLst>
              <a:ext uri="{FF2B5EF4-FFF2-40B4-BE49-F238E27FC236}">
                <a16:creationId xmlns:a16="http://schemas.microsoft.com/office/drawing/2014/main" id="{2BB8682D-961A-DD53-45ED-B5032D0B87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4732" y="3520440"/>
            <a:ext cx="292608" cy="292608"/>
          </a:xfrm>
          <a:prstGeom prst="rect">
            <a:avLst/>
          </a:prstGeom>
        </p:spPr>
      </p:pic>
      <p:sp>
        <p:nvSpPr>
          <p:cNvPr id="17" name="Text 14">
            <a:extLst>
              <a:ext uri="{FF2B5EF4-FFF2-40B4-BE49-F238E27FC236}">
                <a16:creationId xmlns:a16="http://schemas.microsoft.com/office/drawing/2014/main" id="{A012E61B-F8AB-45CD-A4DE-3F1327EF0708}"/>
              </a:ext>
            </a:extLst>
          </p:cNvPr>
          <p:cNvSpPr/>
          <p:nvPr/>
        </p:nvSpPr>
        <p:spPr>
          <a:xfrm>
            <a:off x="539496" y="399592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2D Array?</a:t>
            </a:r>
            <a:endParaRPr lang="en-US" sz="125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0E81D8A6-1D5A-C81F-0678-FB64F8ADF628}"/>
              </a:ext>
            </a:extLst>
          </p:cNvPr>
          <p:cNvSpPr/>
          <p:nvPr/>
        </p:nvSpPr>
        <p:spPr>
          <a:xfrm>
            <a:off x="539496" y="42519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array of arrays — the natural structure for grids, tables, and matrices</a:t>
            </a:r>
            <a:endParaRPr lang="en-US" sz="900" dirty="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509FF1E3-7F95-BF77-7884-C3713707FFEB}"/>
              </a:ext>
            </a:extLst>
          </p:cNvPr>
          <p:cNvSpPr/>
          <p:nvPr/>
        </p:nvSpPr>
        <p:spPr>
          <a:xfrm>
            <a:off x="2542032" y="2971800"/>
            <a:ext cx="1965960" cy="256032"/>
          </a:xfrm>
          <a:prstGeom prst="rect">
            <a:avLst/>
          </a:prstGeom>
          <a:solidFill>
            <a:srgbClr val="4A8AF4"/>
          </a:solidFill>
          <a:ln w="12700">
            <a:solidFill>
              <a:srgbClr val="4A8A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D783B96E-964E-98F7-1DBA-93833A52BCDA}"/>
              </a:ext>
            </a:extLst>
          </p:cNvPr>
          <p:cNvSpPr/>
          <p:nvPr/>
        </p:nvSpPr>
        <p:spPr>
          <a:xfrm>
            <a:off x="2651760" y="299008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6FFD5674-F734-94AD-0AC9-E1FA43B9DB81}"/>
              </a:ext>
            </a:extLst>
          </p:cNvPr>
          <p:cNvSpPr/>
          <p:nvPr/>
        </p:nvSpPr>
        <p:spPr>
          <a:xfrm>
            <a:off x="2542032" y="3227832"/>
            <a:ext cx="1965960" cy="1435608"/>
          </a:xfrm>
          <a:prstGeom prst="rect">
            <a:avLst/>
          </a:prstGeom>
          <a:solidFill>
            <a:srgbClr val="1A1A2E"/>
          </a:solidFill>
          <a:ln w="9525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9D2A8F47-C25F-DCA5-15B0-45A6A6E685C0}"/>
              </a:ext>
            </a:extLst>
          </p:cNvPr>
          <p:cNvSpPr/>
          <p:nvPr/>
        </p:nvSpPr>
        <p:spPr>
          <a:xfrm>
            <a:off x="3241548" y="3383280"/>
            <a:ext cx="566928" cy="566928"/>
          </a:xfrm>
          <a:prstGeom prst="ellipse">
            <a:avLst/>
          </a:prstGeom>
          <a:solidFill>
            <a:srgbClr val="1A1A2E"/>
          </a:solidFill>
          <a:ln w="19050">
            <a:solidFill>
              <a:srgbClr val="4A8A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1" descr="preencoded.png">
            <a:extLst>
              <a:ext uri="{FF2B5EF4-FFF2-40B4-BE49-F238E27FC236}">
                <a16:creationId xmlns:a16="http://schemas.microsoft.com/office/drawing/2014/main" id="{412C1324-714A-69F6-27F7-4F9223D687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8708" y="3520440"/>
            <a:ext cx="292608" cy="292608"/>
          </a:xfrm>
          <a:prstGeom prst="rect">
            <a:avLst/>
          </a:prstGeom>
        </p:spPr>
      </p:pic>
      <p:sp>
        <p:nvSpPr>
          <p:cNvPr id="24" name="Text 20">
            <a:extLst>
              <a:ext uri="{FF2B5EF4-FFF2-40B4-BE49-F238E27FC236}">
                <a16:creationId xmlns:a16="http://schemas.microsoft.com/office/drawing/2014/main" id="{1AE054CC-788A-0238-EC96-FA57C021FC40}"/>
              </a:ext>
            </a:extLst>
          </p:cNvPr>
          <p:cNvSpPr/>
          <p:nvPr/>
        </p:nvSpPr>
        <p:spPr>
          <a:xfrm>
            <a:off x="2633472" y="399592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4A8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Rows, Columns &amp; Indices</a:t>
            </a:r>
            <a:endParaRPr lang="en-US" sz="1250" dirty="0"/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C7AFB4C8-A5F1-8E8E-6768-231160D342BA}"/>
              </a:ext>
            </a:extLst>
          </p:cNvPr>
          <p:cNvSpPr/>
          <p:nvPr/>
        </p:nvSpPr>
        <p:spPr>
          <a:xfrm>
            <a:off x="2633472" y="42519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indices instead of one — grid[row][col] reaches any cell directly</a:t>
            </a:r>
            <a:endParaRPr lang="en-US" sz="900" dirty="0"/>
          </a:p>
        </p:txBody>
      </p:sp>
      <p:sp>
        <p:nvSpPr>
          <p:cNvPr id="26" name="Shape 22">
            <a:extLst>
              <a:ext uri="{FF2B5EF4-FFF2-40B4-BE49-F238E27FC236}">
                <a16:creationId xmlns:a16="http://schemas.microsoft.com/office/drawing/2014/main" id="{9D78CCF1-008A-5CE5-AC2B-DCEF547897A9}"/>
              </a:ext>
            </a:extLst>
          </p:cNvPr>
          <p:cNvSpPr/>
          <p:nvPr/>
        </p:nvSpPr>
        <p:spPr>
          <a:xfrm>
            <a:off x="4636008" y="2971800"/>
            <a:ext cx="1965960" cy="256032"/>
          </a:xfrm>
          <a:prstGeom prst="rect">
            <a:avLst/>
          </a:prstGeom>
          <a:solidFill>
            <a:srgbClr val="E08845"/>
          </a:solidFill>
          <a:ln w="12700">
            <a:solidFill>
              <a:srgbClr val="E088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EB9130E3-8857-DC7C-907D-FE7C1B53B464}"/>
              </a:ext>
            </a:extLst>
          </p:cNvPr>
          <p:cNvSpPr/>
          <p:nvPr/>
        </p:nvSpPr>
        <p:spPr>
          <a:xfrm>
            <a:off x="4745736" y="299008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8" name="Shape 24">
            <a:extLst>
              <a:ext uri="{FF2B5EF4-FFF2-40B4-BE49-F238E27FC236}">
                <a16:creationId xmlns:a16="http://schemas.microsoft.com/office/drawing/2014/main" id="{015392AA-FAA7-FAF0-16B9-DB2D2E80ABE9}"/>
              </a:ext>
            </a:extLst>
          </p:cNvPr>
          <p:cNvSpPr/>
          <p:nvPr/>
        </p:nvSpPr>
        <p:spPr>
          <a:xfrm>
            <a:off x="4636008" y="3227832"/>
            <a:ext cx="1965960" cy="1435608"/>
          </a:xfrm>
          <a:prstGeom prst="rect">
            <a:avLst/>
          </a:prstGeom>
          <a:solidFill>
            <a:srgbClr val="1A1A2E"/>
          </a:solidFill>
          <a:ln w="9525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5">
            <a:extLst>
              <a:ext uri="{FF2B5EF4-FFF2-40B4-BE49-F238E27FC236}">
                <a16:creationId xmlns:a16="http://schemas.microsoft.com/office/drawing/2014/main" id="{35E4AB96-40B3-FFCD-7B2C-BEC27DB50F93}"/>
              </a:ext>
            </a:extLst>
          </p:cNvPr>
          <p:cNvSpPr/>
          <p:nvPr/>
        </p:nvSpPr>
        <p:spPr>
          <a:xfrm>
            <a:off x="5335524" y="3383280"/>
            <a:ext cx="566928" cy="566928"/>
          </a:xfrm>
          <a:prstGeom prst="ellipse">
            <a:avLst/>
          </a:prstGeom>
          <a:solidFill>
            <a:srgbClr val="1A1A2E"/>
          </a:solidFill>
          <a:ln w="19050">
            <a:solidFill>
              <a:srgbClr val="E088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2" descr="preencoded.png">
            <a:extLst>
              <a:ext uri="{FF2B5EF4-FFF2-40B4-BE49-F238E27FC236}">
                <a16:creationId xmlns:a16="http://schemas.microsoft.com/office/drawing/2014/main" id="{B4F08430-4DE3-A123-6DE3-E6E4102C89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2684" y="3520440"/>
            <a:ext cx="292608" cy="292608"/>
          </a:xfrm>
          <a:prstGeom prst="rect">
            <a:avLst/>
          </a:prstGeom>
        </p:spPr>
      </p:pic>
      <p:sp>
        <p:nvSpPr>
          <p:cNvPr id="31" name="Text 26">
            <a:extLst>
              <a:ext uri="{FF2B5EF4-FFF2-40B4-BE49-F238E27FC236}">
                <a16:creationId xmlns:a16="http://schemas.microsoft.com/office/drawing/2014/main" id="{C70E47AA-2F2E-EEB7-BD8B-85FCC7D175B6}"/>
              </a:ext>
            </a:extLst>
          </p:cNvPr>
          <p:cNvSpPr/>
          <p:nvPr/>
        </p:nvSpPr>
        <p:spPr>
          <a:xfrm>
            <a:off x="4727448" y="399592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E08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Operations</a:t>
            </a:r>
            <a:endParaRPr lang="en-US" sz="1250" dirty="0"/>
          </a:p>
        </p:txBody>
      </p:sp>
      <p:sp>
        <p:nvSpPr>
          <p:cNvPr id="32" name="Text 27">
            <a:extLst>
              <a:ext uri="{FF2B5EF4-FFF2-40B4-BE49-F238E27FC236}">
                <a16:creationId xmlns:a16="http://schemas.microsoft.com/office/drawing/2014/main" id="{8ECCBAFC-4FF7-E939-9F85-F5EFDC3F0AFF}"/>
              </a:ext>
            </a:extLst>
          </p:cNvPr>
          <p:cNvSpPr/>
          <p:nvPr/>
        </p:nvSpPr>
        <p:spPr>
          <a:xfrm>
            <a:off x="4727448" y="42519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Declaring, accessing, updating, and traversing — now with nested loops</a:t>
            </a:r>
            <a:endParaRPr lang="en-US" sz="900" dirty="0"/>
          </a:p>
        </p:txBody>
      </p:sp>
      <p:sp>
        <p:nvSpPr>
          <p:cNvPr id="33" name="Shape 28">
            <a:extLst>
              <a:ext uri="{FF2B5EF4-FFF2-40B4-BE49-F238E27FC236}">
                <a16:creationId xmlns:a16="http://schemas.microsoft.com/office/drawing/2014/main" id="{7610D32B-5A46-C321-DF99-3AA4DD031AF2}"/>
              </a:ext>
            </a:extLst>
          </p:cNvPr>
          <p:cNvSpPr/>
          <p:nvPr/>
        </p:nvSpPr>
        <p:spPr>
          <a:xfrm>
            <a:off x="6729984" y="2971800"/>
            <a:ext cx="1965960" cy="256032"/>
          </a:xfrm>
          <a:prstGeom prst="rect">
            <a:avLst/>
          </a:prstGeom>
          <a:solidFill>
            <a:srgbClr val="9B7EDA"/>
          </a:solidFill>
          <a:ln w="12700">
            <a:solidFill>
              <a:srgbClr val="9B7E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9">
            <a:extLst>
              <a:ext uri="{FF2B5EF4-FFF2-40B4-BE49-F238E27FC236}">
                <a16:creationId xmlns:a16="http://schemas.microsoft.com/office/drawing/2014/main" id="{B950023F-CCE1-382C-FDCF-D5C19DE609C4}"/>
              </a:ext>
            </a:extLst>
          </p:cNvPr>
          <p:cNvSpPr/>
          <p:nvPr/>
        </p:nvSpPr>
        <p:spPr>
          <a:xfrm>
            <a:off x="6839712" y="299008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5" name="Shape 30">
            <a:extLst>
              <a:ext uri="{FF2B5EF4-FFF2-40B4-BE49-F238E27FC236}">
                <a16:creationId xmlns:a16="http://schemas.microsoft.com/office/drawing/2014/main" id="{3BDC98BD-C247-517E-A975-095E85D2D3D7}"/>
              </a:ext>
            </a:extLst>
          </p:cNvPr>
          <p:cNvSpPr/>
          <p:nvPr/>
        </p:nvSpPr>
        <p:spPr>
          <a:xfrm>
            <a:off x="6729984" y="3227832"/>
            <a:ext cx="1965960" cy="1435608"/>
          </a:xfrm>
          <a:prstGeom prst="rect">
            <a:avLst/>
          </a:prstGeom>
          <a:solidFill>
            <a:srgbClr val="1A1A2E"/>
          </a:solidFill>
          <a:ln w="9525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1">
            <a:extLst>
              <a:ext uri="{FF2B5EF4-FFF2-40B4-BE49-F238E27FC236}">
                <a16:creationId xmlns:a16="http://schemas.microsoft.com/office/drawing/2014/main" id="{C4514252-80E3-795E-49A1-898709149828}"/>
              </a:ext>
            </a:extLst>
          </p:cNvPr>
          <p:cNvSpPr/>
          <p:nvPr/>
        </p:nvSpPr>
        <p:spPr>
          <a:xfrm>
            <a:off x="7429500" y="3383280"/>
            <a:ext cx="566928" cy="566928"/>
          </a:xfrm>
          <a:prstGeom prst="ellipse">
            <a:avLst/>
          </a:prstGeom>
          <a:solidFill>
            <a:srgbClr val="1A1A2E"/>
          </a:solidFill>
          <a:ln w="19050">
            <a:solidFill>
              <a:srgbClr val="9B7E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Image 3" descr="preencoded.png">
            <a:extLst>
              <a:ext uri="{FF2B5EF4-FFF2-40B4-BE49-F238E27FC236}">
                <a16:creationId xmlns:a16="http://schemas.microsoft.com/office/drawing/2014/main" id="{347FB59D-AC00-AA50-8B4C-5C338DD250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6660" y="3520440"/>
            <a:ext cx="292608" cy="292608"/>
          </a:xfrm>
          <a:prstGeom prst="rect">
            <a:avLst/>
          </a:prstGeom>
        </p:spPr>
      </p:pic>
      <p:sp>
        <p:nvSpPr>
          <p:cNvPr id="38" name="Text 32">
            <a:extLst>
              <a:ext uri="{FF2B5EF4-FFF2-40B4-BE49-F238E27FC236}">
                <a16:creationId xmlns:a16="http://schemas.microsoft.com/office/drawing/2014/main" id="{871EB010-BBA8-F194-F2DE-05B41DDB8680}"/>
              </a:ext>
            </a:extLst>
          </p:cNvPr>
          <p:cNvSpPr/>
          <p:nvPr/>
        </p:nvSpPr>
        <p:spPr>
          <a:xfrm>
            <a:off x="6821424" y="399592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9B7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Use Them</a:t>
            </a:r>
            <a:endParaRPr lang="en-US" sz="1250" dirty="0"/>
          </a:p>
        </p:txBody>
      </p:sp>
      <p:sp>
        <p:nvSpPr>
          <p:cNvPr id="39" name="Text 33">
            <a:extLst>
              <a:ext uri="{FF2B5EF4-FFF2-40B4-BE49-F238E27FC236}">
                <a16:creationId xmlns:a16="http://schemas.microsoft.com/office/drawing/2014/main" id="{B1957D08-2E17-FA5D-3577-06DB3E45697E}"/>
              </a:ext>
            </a:extLst>
          </p:cNvPr>
          <p:cNvSpPr/>
          <p:nvPr/>
        </p:nvSpPr>
        <p:spPr>
          <a:xfrm>
            <a:off x="6821424" y="42519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boards, image pixels, spreadsheets, matrices, seat assignments</a:t>
            </a:r>
            <a:endParaRPr lang="en-US" sz="900" dirty="0"/>
          </a:p>
        </p:txBody>
      </p:sp>
      <p:sp>
        <p:nvSpPr>
          <p:cNvPr id="40" name="Text 34">
            <a:extLst>
              <a:ext uri="{FF2B5EF4-FFF2-40B4-BE49-F238E27FC236}">
                <a16:creationId xmlns:a16="http://schemas.microsoft.com/office/drawing/2014/main" id="{A0849E45-C363-F4CE-04BD-BDB92DA86730}"/>
              </a:ext>
            </a:extLst>
          </p:cNvPr>
          <p:cNvSpPr/>
          <p:nvPr/>
        </p:nvSpPr>
        <p:spPr>
          <a:xfrm>
            <a:off x="0" y="47777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get started 🚀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4416587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0">
            <a:extLst>
              <a:ext uri="{FF2B5EF4-FFF2-40B4-BE49-F238E27FC236}">
                <a16:creationId xmlns:a16="http://schemas.microsoft.com/office/drawing/2014/main" id="{1B6EA25D-920F-01B3-FB70-D7432FF6B1A1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1">
            <a:extLst>
              <a:ext uri="{FF2B5EF4-FFF2-40B4-BE49-F238E27FC236}">
                <a16:creationId xmlns:a16="http://schemas.microsoft.com/office/drawing/2014/main" id="{AEA1A76F-C3F1-CC2E-D0A4-B9D7109230A5}"/>
              </a:ext>
            </a:extLst>
          </p:cNvPr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4F29B7"/>
          </a:solidFill>
          <a:ln w="12700">
            <a:solidFill>
              <a:srgbClr val="4F2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2">
            <a:extLst>
              <a:ext uri="{FF2B5EF4-FFF2-40B4-BE49-F238E27FC236}">
                <a16:creationId xmlns:a16="http://schemas.microsoft.com/office/drawing/2014/main" id="{FC4C1BC1-0746-CC9A-B8CF-995FD26AE8B3}"/>
              </a:ext>
            </a:extLst>
          </p:cNvPr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3">
            <a:extLst>
              <a:ext uri="{FF2B5EF4-FFF2-40B4-BE49-F238E27FC236}">
                <a16:creationId xmlns:a16="http://schemas.microsoft.com/office/drawing/2014/main" id="{821F3991-3C81-09DF-1A56-9976147ADD80}"/>
              </a:ext>
            </a:extLst>
          </p:cNvPr>
          <p:cNvSpPr/>
          <p:nvPr/>
        </p:nvSpPr>
        <p:spPr>
          <a:xfrm>
            <a:off x="365760" y="7315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One Dimension to Two</a:t>
            </a:r>
            <a:endParaRPr lang="en-US" sz="2000" dirty="0"/>
          </a:p>
        </p:txBody>
      </p:sp>
      <p:sp>
        <p:nvSpPr>
          <p:cNvPr id="52" name="Shape 4">
            <a:extLst>
              <a:ext uri="{FF2B5EF4-FFF2-40B4-BE49-F238E27FC236}">
                <a16:creationId xmlns:a16="http://schemas.microsoft.com/office/drawing/2014/main" id="{FC21FB84-F6AB-7665-1308-5BF721CA043C}"/>
              </a:ext>
            </a:extLst>
          </p:cNvPr>
          <p:cNvSpPr/>
          <p:nvPr/>
        </p:nvSpPr>
        <p:spPr>
          <a:xfrm>
            <a:off x="274320" y="841248"/>
            <a:ext cx="8595360" cy="4133088"/>
          </a:xfrm>
          <a:prstGeom prst="roundRect">
            <a:avLst>
              <a:gd name="adj" fmla="val 2655"/>
            </a:avLst>
          </a:prstGeom>
          <a:solidFill>
            <a:srgbClr val="1A1040"/>
          </a:solidFill>
          <a:ln w="635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">
            <a:extLst>
              <a:ext uri="{FF2B5EF4-FFF2-40B4-BE49-F238E27FC236}">
                <a16:creationId xmlns:a16="http://schemas.microsoft.com/office/drawing/2014/main" id="{5505480E-9E51-0769-FE17-12FDA406D690}"/>
              </a:ext>
            </a:extLst>
          </p:cNvPr>
          <p:cNvSpPr/>
          <p:nvPr/>
        </p:nvSpPr>
        <p:spPr>
          <a:xfrm>
            <a:off x="502920" y="914400"/>
            <a:ext cx="813816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 we learned the array — a row of slots holding values of the same type, each reachable by an index. scores[3] gives you the fourth student's grade in O(1) time. Perfect for any single list.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6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what if your data is not a list? What if it is a chess board? A photo? A spreadsheet? A class gradebook with one row per student and one column per test? Now you need a grid — and a single line of slots cannot represent a grid cleanly.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6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The trick  </a:t>
            </a: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to take what we already know — the array — and stack it. An array of arrays. The outer array holds the rows; each row is itself an array holding the columns.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6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The result  </a:t>
            </a: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2D array — a rectangular grid of cells, each addressed by two numbers: a row and a column. Everything good about 1D arrays still applies, just with one extra index.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6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1D arrays gave you the ability to store a list, 2D arrays give you the ability to store a table. The jump opens up an enormous range of problems: tic-tac-toe boards, image filters, terrain maps in games, and the spreadsheet at the heart of every business application you have ever seen.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Shape 76">
          <a:extLst>
            <a:ext uri="{FF2B5EF4-FFF2-40B4-BE49-F238E27FC236}">
              <a16:creationId xmlns:a16="http://schemas.microsoft.com/office/drawing/2014/main" id="{F938DC5C-7D51-33EF-EC2F-903B4691A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D737442-8D81-2853-880E-B42C3E57B121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C7F8120-DDCD-B00F-157A-EA938D251AAE}"/>
              </a:ext>
            </a:extLst>
          </p:cNvPr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6098926-9EDA-9F30-BFD8-DFDDAF496B5B}"/>
              </a:ext>
            </a:extLst>
          </p:cNvPr>
          <p:cNvSpPr/>
          <p:nvPr/>
        </p:nvSpPr>
        <p:spPr>
          <a:xfrm>
            <a:off x="365760" y="731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Array vs. 2D Array</a:t>
            </a:r>
            <a:endParaRPr lang="en-US" sz="2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716D937-3C6D-88A6-7F45-F226E11D57EC}"/>
              </a:ext>
            </a:extLst>
          </p:cNvPr>
          <p:cNvSpPr/>
          <p:nvPr/>
        </p:nvSpPr>
        <p:spPr>
          <a:xfrm>
            <a:off x="365760" y="484632"/>
            <a:ext cx="8412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Yesterday's structure and today's — the difference is one extra index</a:t>
            </a:r>
            <a:endParaRPr lang="en-US" sz="11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75D64EF-ED1C-72CD-B931-D7593460A20B}"/>
              </a:ext>
            </a:extLst>
          </p:cNvPr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4F29B7"/>
          </a:solidFill>
          <a:ln w="12700">
            <a:solidFill>
              <a:srgbClr val="4F2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C653463-1142-179E-88BD-AFAF6F8C8637}"/>
              </a:ext>
            </a:extLst>
          </p:cNvPr>
          <p:cNvSpPr/>
          <p:nvPr/>
        </p:nvSpPr>
        <p:spPr>
          <a:xfrm>
            <a:off x="274320" y="822960"/>
            <a:ext cx="3886200" cy="4114800"/>
          </a:xfrm>
          <a:prstGeom prst="roundRect">
            <a:avLst>
              <a:gd name="adj" fmla="val 2824"/>
            </a:avLst>
          </a:prstGeom>
          <a:solidFill>
            <a:srgbClr val="1E0F40"/>
          </a:solidFill>
          <a:ln w="12700">
            <a:solidFill>
              <a:srgbClr val="4F2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7C3DF9D-CF81-CFC2-24DE-26789DF7C566}"/>
              </a:ext>
            </a:extLst>
          </p:cNvPr>
          <p:cNvSpPr/>
          <p:nvPr/>
        </p:nvSpPr>
        <p:spPr>
          <a:xfrm>
            <a:off x="274320" y="82296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Array</a:t>
            </a:r>
            <a:endParaRPr lang="en-US" sz="20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F6E38CC-3D4A-3E0B-2BE5-A1AFFE25B54B}"/>
              </a:ext>
            </a:extLst>
          </p:cNvPr>
          <p:cNvSpPr/>
          <p:nvPr/>
        </p:nvSpPr>
        <p:spPr>
          <a:xfrm>
            <a:off x="274320" y="1188720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38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 of cells</a:t>
            </a:r>
            <a:endParaRPr lang="en-US" sz="10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F539B252-D602-88A8-A23E-D20791397C62}"/>
              </a:ext>
            </a:extLst>
          </p:cNvPr>
          <p:cNvSpPr/>
          <p:nvPr/>
        </p:nvSpPr>
        <p:spPr>
          <a:xfrm>
            <a:off x="457200" y="1536192"/>
            <a:ext cx="3520440" cy="402336"/>
          </a:xfrm>
          <a:prstGeom prst="roundRect">
            <a:avLst>
              <a:gd name="adj" fmla="val 13636"/>
            </a:avLst>
          </a:prstGeom>
          <a:solidFill>
            <a:srgbClr val="2D1A5E"/>
          </a:solidFill>
          <a:ln w="6350">
            <a:solidFill>
              <a:srgbClr val="3A2A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F22105E-A2B1-5DB5-D76C-63941344DE60}"/>
              </a:ext>
            </a:extLst>
          </p:cNvPr>
          <p:cNvSpPr/>
          <p:nvPr/>
        </p:nvSpPr>
        <p:spPr>
          <a:xfrm>
            <a:off x="502920" y="1536192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Shape:</a:t>
            </a:r>
            <a:endParaRPr lang="en-US" sz="8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FF3E5FA-C8C4-1DB7-9D76-AF20B79D4766}"/>
              </a:ext>
            </a:extLst>
          </p:cNvPr>
          <p:cNvSpPr/>
          <p:nvPr/>
        </p:nvSpPr>
        <p:spPr>
          <a:xfrm>
            <a:off x="1325880" y="1536192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dimension — a row</a:t>
            </a:r>
            <a:endParaRPr lang="en-US" sz="9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251E9839-9550-A02D-B6AA-E0AF4A750EA8}"/>
              </a:ext>
            </a:extLst>
          </p:cNvPr>
          <p:cNvSpPr/>
          <p:nvPr/>
        </p:nvSpPr>
        <p:spPr>
          <a:xfrm>
            <a:off x="457200" y="2011680"/>
            <a:ext cx="3520440" cy="402336"/>
          </a:xfrm>
          <a:prstGeom prst="roundRect">
            <a:avLst>
              <a:gd name="adj" fmla="val 13636"/>
            </a:avLst>
          </a:prstGeom>
          <a:solidFill>
            <a:srgbClr val="2D1A5E"/>
          </a:solidFill>
          <a:ln w="6350">
            <a:solidFill>
              <a:srgbClr val="3A2A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87599456-8900-62A4-86BE-14B5BFD4D0C7}"/>
              </a:ext>
            </a:extLst>
          </p:cNvPr>
          <p:cNvSpPr/>
          <p:nvPr/>
        </p:nvSpPr>
        <p:spPr>
          <a:xfrm>
            <a:off x="502920" y="2011680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Indices:</a:t>
            </a:r>
            <a:endParaRPr lang="en-US" sz="8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F359D1C-3746-BFAC-361A-B9CAFC55E886}"/>
              </a:ext>
            </a:extLst>
          </p:cNvPr>
          <p:cNvSpPr/>
          <p:nvPr/>
        </p:nvSpPr>
        <p:spPr>
          <a:xfrm>
            <a:off x="1325880" y="2011680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number: arr[i]</a:t>
            </a:r>
            <a:endParaRPr lang="en-US" sz="9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F71D1348-3AA5-3882-54A1-57A76FAC380D}"/>
              </a:ext>
            </a:extLst>
          </p:cNvPr>
          <p:cNvSpPr/>
          <p:nvPr/>
        </p:nvSpPr>
        <p:spPr>
          <a:xfrm>
            <a:off x="457200" y="2487168"/>
            <a:ext cx="3520440" cy="402336"/>
          </a:xfrm>
          <a:prstGeom prst="roundRect">
            <a:avLst>
              <a:gd name="adj" fmla="val 13636"/>
            </a:avLst>
          </a:prstGeom>
          <a:solidFill>
            <a:srgbClr val="2D1A5E"/>
          </a:solidFill>
          <a:ln w="6350">
            <a:solidFill>
              <a:srgbClr val="3A2A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CF8A9D77-12E4-A989-944B-42A32BEC703B}"/>
              </a:ext>
            </a:extLst>
          </p:cNvPr>
          <p:cNvSpPr/>
          <p:nvPr/>
        </p:nvSpPr>
        <p:spPr>
          <a:xfrm>
            <a:off x="502920" y="2487168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8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AF3EE4B-F711-A440-7FC2-F5F1CC31B724}"/>
              </a:ext>
            </a:extLst>
          </p:cNvPr>
          <p:cNvSpPr/>
          <p:nvPr/>
        </p:nvSpPr>
        <p:spPr>
          <a:xfrm>
            <a:off x="1325880" y="2487168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← [87, 92, 76, 95, 88]</a:t>
            </a:r>
            <a:endParaRPr lang="en-US" sz="9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596A5860-F2B4-C8FE-B166-FD5219F46DE7}"/>
              </a:ext>
            </a:extLst>
          </p:cNvPr>
          <p:cNvSpPr/>
          <p:nvPr/>
        </p:nvSpPr>
        <p:spPr>
          <a:xfrm>
            <a:off x="457200" y="2962656"/>
            <a:ext cx="3520440" cy="402336"/>
          </a:xfrm>
          <a:prstGeom prst="roundRect">
            <a:avLst>
              <a:gd name="adj" fmla="val 13636"/>
            </a:avLst>
          </a:prstGeom>
          <a:solidFill>
            <a:srgbClr val="2D1A5E"/>
          </a:solidFill>
          <a:ln w="6350">
            <a:solidFill>
              <a:srgbClr val="3A2A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A81CB853-7AB7-49EC-8C36-43EFC3EE9829}"/>
              </a:ext>
            </a:extLst>
          </p:cNvPr>
          <p:cNvSpPr/>
          <p:nvPr/>
        </p:nvSpPr>
        <p:spPr>
          <a:xfrm>
            <a:off x="502920" y="2962656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size:</a:t>
            </a:r>
            <a:endParaRPr lang="en-US" sz="8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01F475CF-1041-BAFD-6AA4-A1D372E0B2C7}"/>
              </a:ext>
            </a:extLst>
          </p:cNvPr>
          <p:cNvSpPr/>
          <p:nvPr/>
        </p:nvSpPr>
        <p:spPr>
          <a:xfrm>
            <a:off x="1325880" y="2962656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cells (e.g. 5)</a:t>
            </a:r>
            <a:endParaRPr lang="en-US" sz="9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03F49C8D-AD9E-60C1-F1AA-48F0627BF1EF}"/>
              </a:ext>
            </a:extLst>
          </p:cNvPr>
          <p:cNvSpPr/>
          <p:nvPr/>
        </p:nvSpPr>
        <p:spPr>
          <a:xfrm>
            <a:off x="457200" y="3438144"/>
            <a:ext cx="3520440" cy="402336"/>
          </a:xfrm>
          <a:prstGeom prst="roundRect">
            <a:avLst>
              <a:gd name="adj" fmla="val 13636"/>
            </a:avLst>
          </a:prstGeom>
          <a:solidFill>
            <a:srgbClr val="2D1A5E"/>
          </a:solidFill>
          <a:ln w="6350">
            <a:solidFill>
              <a:srgbClr val="3A2A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82834748-8E04-C1D1-F4AC-BB51AD8FF547}"/>
              </a:ext>
            </a:extLst>
          </p:cNvPr>
          <p:cNvSpPr/>
          <p:nvPr/>
        </p:nvSpPr>
        <p:spPr>
          <a:xfrm>
            <a:off x="502920" y="3438144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Loop:</a:t>
            </a:r>
            <a:endParaRPr lang="en-US" sz="8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2595A1BA-789B-D1C6-BA77-FFA46E209E26}"/>
              </a:ext>
            </a:extLst>
          </p:cNvPr>
          <p:cNvSpPr/>
          <p:nvPr/>
        </p:nvSpPr>
        <p:spPr>
          <a:xfrm>
            <a:off x="1325880" y="3438144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FOR loop</a:t>
            </a:r>
            <a:endParaRPr lang="en-US" sz="9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0CA1FABC-481F-2EA3-FA26-2D0379687B51}"/>
              </a:ext>
            </a:extLst>
          </p:cNvPr>
          <p:cNvSpPr/>
          <p:nvPr/>
        </p:nvSpPr>
        <p:spPr>
          <a:xfrm>
            <a:off x="457200" y="3913632"/>
            <a:ext cx="3520440" cy="402336"/>
          </a:xfrm>
          <a:prstGeom prst="roundRect">
            <a:avLst>
              <a:gd name="adj" fmla="val 13636"/>
            </a:avLst>
          </a:prstGeom>
          <a:solidFill>
            <a:srgbClr val="2D1A5E"/>
          </a:solidFill>
          <a:ln w="6350">
            <a:solidFill>
              <a:srgbClr val="3A2A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513F6708-4696-FCC6-0F1F-74D3C8F7F1BF}"/>
              </a:ext>
            </a:extLst>
          </p:cNvPr>
          <p:cNvSpPr/>
          <p:nvPr/>
        </p:nvSpPr>
        <p:spPr>
          <a:xfrm>
            <a:off x="502920" y="3913632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for:</a:t>
            </a:r>
            <a:endParaRPr lang="en-US" sz="8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CB8CF467-F7B2-6C94-9752-D91C4E5AD506}"/>
              </a:ext>
            </a:extLst>
          </p:cNvPr>
          <p:cNvSpPr/>
          <p:nvPr/>
        </p:nvSpPr>
        <p:spPr>
          <a:xfrm>
            <a:off x="1325880" y="3913632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Lists, sequences, single rows</a:t>
            </a:r>
            <a:endParaRPr lang="en-US" sz="9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28D0995B-6653-F79C-9F46-E12B88A13D38}"/>
              </a:ext>
            </a:extLst>
          </p:cNvPr>
          <p:cNvSpPr/>
          <p:nvPr/>
        </p:nvSpPr>
        <p:spPr>
          <a:xfrm>
            <a:off x="4416552" y="843534"/>
            <a:ext cx="310896" cy="4114800"/>
          </a:xfrm>
          <a:prstGeom prst="rect">
            <a:avLst/>
          </a:prstGeom>
          <a:solidFill>
            <a:srgbClr val="4F29B7"/>
          </a:solidFill>
          <a:ln w="12700">
            <a:solidFill>
              <a:srgbClr val="4F2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8FEE9ABE-4588-73AD-31E1-FC833708A9CC}"/>
              </a:ext>
            </a:extLst>
          </p:cNvPr>
          <p:cNvSpPr/>
          <p:nvPr/>
        </p:nvSpPr>
        <p:spPr>
          <a:xfrm>
            <a:off x="4306824" y="2718054"/>
            <a:ext cx="530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3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AEE34ACF-5233-297C-7290-F82D7391F43A}"/>
              </a:ext>
            </a:extLst>
          </p:cNvPr>
          <p:cNvSpPr/>
          <p:nvPr/>
        </p:nvSpPr>
        <p:spPr>
          <a:xfrm>
            <a:off x="4983480" y="822960"/>
            <a:ext cx="3886200" cy="4114800"/>
          </a:xfrm>
          <a:prstGeom prst="roundRect">
            <a:avLst>
              <a:gd name="adj" fmla="val 2824"/>
            </a:avLst>
          </a:prstGeom>
          <a:solidFill>
            <a:srgbClr val="0D2020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F2EF1F1A-21A0-05F7-0DAD-248D9EFC403C}"/>
              </a:ext>
            </a:extLst>
          </p:cNvPr>
          <p:cNvSpPr/>
          <p:nvPr/>
        </p:nvSpPr>
        <p:spPr>
          <a:xfrm>
            <a:off x="4983480" y="82296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Array</a:t>
            </a:r>
            <a:endParaRPr lang="en-US" sz="20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46E4A81B-148B-8CD9-9160-86527E3CF4B9}"/>
              </a:ext>
            </a:extLst>
          </p:cNvPr>
          <p:cNvSpPr/>
          <p:nvPr/>
        </p:nvSpPr>
        <p:spPr>
          <a:xfrm>
            <a:off x="4983480" y="1188720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grid of cells</a:t>
            </a:r>
            <a:endParaRPr lang="en-US" sz="100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2AA6F638-5CE6-FF35-A36A-357ACBC7A5EE}"/>
              </a:ext>
            </a:extLst>
          </p:cNvPr>
          <p:cNvSpPr/>
          <p:nvPr/>
        </p:nvSpPr>
        <p:spPr>
          <a:xfrm>
            <a:off x="5166360" y="1536192"/>
            <a:ext cx="3520440" cy="402336"/>
          </a:xfrm>
          <a:prstGeom prst="roundRect">
            <a:avLst>
              <a:gd name="adj" fmla="val 13636"/>
            </a:avLst>
          </a:prstGeom>
          <a:solidFill>
            <a:srgbClr val="0F2E2E"/>
          </a:solidFill>
          <a:ln w="6350">
            <a:solidFill>
              <a:srgbClr val="1A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40D20E3D-237B-9D65-0005-F1470DFDA85F}"/>
              </a:ext>
            </a:extLst>
          </p:cNvPr>
          <p:cNvSpPr/>
          <p:nvPr/>
        </p:nvSpPr>
        <p:spPr>
          <a:xfrm>
            <a:off x="5212080" y="1536192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Shape:</a:t>
            </a:r>
            <a:endParaRPr lang="en-US" sz="8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254710F6-A3D0-2BDA-1EDF-0B27D0168981}"/>
              </a:ext>
            </a:extLst>
          </p:cNvPr>
          <p:cNvSpPr/>
          <p:nvPr/>
        </p:nvSpPr>
        <p:spPr>
          <a:xfrm>
            <a:off x="6035040" y="1536192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dimensions — rows × cols</a:t>
            </a:r>
            <a:endParaRPr lang="en-US" sz="900" dirty="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276EF63A-0F9F-9871-090D-42662C083648}"/>
              </a:ext>
            </a:extLst>
          </p:cNvPr>
          <p:cNvSpPr/>
          <p:nvPr/>
        </p:nvSpPr>
        <p:spPr>
          <a:xfrm>
            <a:off x="5166360" y="2011680"/>
            <a:ext cx="3520440" cy="402336"/>
          </a:xfrm>
          <a:prstGeom prst="roundRect">
            <a:avLst>
              <a:gd name="adj" fmla="val 13636"/>
            </a:avLst>
          </a:prstGeom>
          <a:solidFill>
            <a:srgbClr val="0F2E2E"/>
          </a:solidFill>
          <a:ln w="6350">
            <a:solidFill>
              <a:srgbClr val="1A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50710570-BD97-07DD-973A-6E0879828529}"/>
              </a:ext>
            </a:extLst>
          </p:cNvPr>
          <p:cNvSpPr/>
          <p:nvPr/>
        </p:nvSpPr>
        <p:spPr>
          <a:xfrm>
            <a:off x="5212080" y="2011680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Indices:</a:t>
            </a:r>
            <a:endParaRPr lang="en-US" sz="800" dirty="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325466D3-0145-6B0D-2552-02E73F82500A}"/>
              </a:ext>
            </a:extLst>
          </p:cNvPr>
          <p:cNvSpPr/>
          <p:nvPr/>
        </p:nvSpPr>
        <p:spPr>
          <a:xfrm>
            <a:off x="6035040" y="2011680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numbers: grid[i][j]</a:t>
            </a:r>
            <a:endParaRPr lang="en-US" sz="900" dirty="0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6942382F-E7A3-C1F2-B83D-D6FA86B546E1}"/>
              </a:ext>
            </a:extLst>
          </p:cNvPr>
          <p:cNvSpPr/>
          <p:nvPr/>
        </p:nvSpPr>
        <p:spPr>
          <a:xfrm>
            <a:off x="5166360" y="2487168"/>
            <a:ext cx="3520440" cy="402336"/>
          </a:xfrm>
          <a:prstGeom prst="roundRect">
            <a:avLst>
              <a:gd name="adj" fmla="val 13636"/>
            </a:avLst>
          </a:prstGeom>
          <a:solidFill>
            <a:srgbClr val="0F2E2E"/>
          </a:solidFill>
          <a:ln w="6350">
            <a:solidFill>
              <a:srgbClr val="1A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E5CD63DE-A2FD-FE4E-8F62-CFED0F0E9EA7}"/>
              </a:ext>
            </a:extLst>
          </p:cNvPr>
          <p:cNvSpPr/>
          <p:nvPr/>
        </p:nvSpPr>
        <p:spPr>
          <a:xfrm>
            <a:off x="5212080" y="2487168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800" dirty="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3B5504F8-686E-BA78-2DB4-23833D5191B0}"/>
              </a:ext>
            </a:extLst>
          </p:cNvPr>
          <p:cNvSpPr/>
          <p:nvPr/>
        </p:nvSpPr>
        <p:spPr>
          <a:xfrm>
            <a:off x="6035040" y="2487168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← 3×3 grid of chars</a:t>
            </a:r>
            <a:endParaRPr lang="en-US" sz="900" dirty="0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B4BD8040-DFF5-8EB7-EFFC-2EDD0AA4C308}"/>
              </a:ext>
            </a:extLst>
          </p:cNvPr>
          <p:cNvSpPr/>
          <p:nvPr/>
        </p:nvSpPr>
        <p:spPr>
          <a:xfrm>
            <a:off x="5166360" y="2962656"/>
            <a:ext cx="3520440" cy="402336"/>
          </a:xfrm>
          <a:prstGeom prst="roundRect">
            <a:avLst>
              <a:gd name="adj" fmla="val 13636"/>
            </a:avLst>
          </a:prstGeom>
          <a:solidFill>
            <a:srgbClr val="0F2E2E"/>
          </a:solidFill>
          <a:ln w="6350">
            <a:solidFill>
              <a:srgbClr val="1A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3C3B4DAE-E3CC-8255-554E-4C338D6C2133}"/>
              </a:ext>
            </a:extLst>
          </p:cNvPr>
          <p:cNvSpPr/>
          <p:nvPr/>
        </p:nvSpPr>
        <p:spPr>
          <a:xfrm>
            <a:off x="5212080" y="2962656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size:</a:t>
            </a:r>
            <a:endParaRPr lang="en-US" sz="800" dirty="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0EA8348F-EAC9-B6A1-A0A9-981B05749E1E}"/>
              </a:ext>
            </a:extLst>
          </p:cNvPr>
          <p:cNvSpPr/>
          <p:nvPr/>
        </p:nvSpPr>
        <p:spPr>
          <a:xfrm>
            <a:off x="6035040" y="2962656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× cols (e.g. 3×3 = 9)</a:t>
            </a:r>
            <a:endParaRPr lang="en-US" sz="900" dirty="0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AF19D472-79B4-7EAD-A3A0-DB3C2232CDB5}"/>
              </a:ext>
            </a:extLst>
          </p:cNvPr>
          <p:cNvSpPr/>
          <p:nvPr/>
        </p:nvSpPr>
        <p:spPr>
          <a:xfrm>
            <a:off x="5166360" y="3438144"/>
            <a:ext cx="3520440" cy="402336"/>
          </a:xfrm>
          <a:prstGeom prst="roundRect">
            <a:avLst>
              <a:gd name="adj" fmla="val 13636"/>
            </a:avLst>
          </a:prstGeom>
          <a:solidFill>
            <a:srgbClr val="0F2E2E"/>
          </a:solidFill>
          <a:ln w="6350">
            <a:solidFill>
              <a:srgbClr val="1A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AE5764AD-FEB5-7C1D-EED5-D76C266FC016}"/>
              </a:ext>
            </a:extLst>
          </p:cNvPr>
          <p:cNvSpPr/>
          <p:nvPr/>
        </p:nvSpPr>
        <p:spPr>
          <a:xfrm>
            <a:off x="5212080" y="3438144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Loop:</a:t>
            </a:r>
            <a:endParaRPr lang="en-US" sz="800" dirty="0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C71AEF8E-A22F-ADC6-B183-DCD242EA877B}"/>
              </a:ext>
            </a:extLst>
          </p:cNvPr>
          <p:cNvSpPr/>
          <p:nvPr/>
        </p:nvSpPr>
        <p:spPr>
          <a:xfrm>
            <a:off x="6035040" y="3438144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FOR loops (one per axis)</a:t>
            </a:r>
            <a:endParaRPr lang="en-US" sz="900" dirty="0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42600777-6D46-7631-F808-A9562ACAB92E}"/>
              </a:ext>
            </a:extLst>
          </p:cNvPr>
          <p:cNvSpPr/>
          <p:nvPr/>
        </p:nvSpPr>
        <p:spPr>
          <a:xfrm>
            <a:off x="5166360" y="3913632"/>
            <a:ext cx="3520440" cy="402336"/>
          </a:xfrm>
          <a:prstGeom prst="roundRect">
            <a:avLst>
              <a:gd name="adj" fmla="val 13636"/>
            </a:avLst>
          </a:prstGeom>
          <a:solidFill>
            <a:srgbClr val="0F2E2E"/>
          </a:solidFill>
          <a:ln w="6350">
            <a:solidFill>
              <a:srgbClr val="1A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519DB8C3-055F-459B-82F6-A024731C65B5}"/>
              </a:ext>
            </a:extLst>
          </p:cNvPr>
          <p:cNvSpPr/>
          <p:nvPr/>
        </p:nvSpPr>
        <p:spPr>
          <a:xfrm>
            <a:off x="5212080" y="3913632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for:</a:t>
            </a:r>
            <a:endParaRPr lang="en-US" sz="800" dirty="0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3D362DF0-8C20-2710-479A-BDFA915F4002}"/>
              </a:ext>
            </a:extLst>
          </p:cNvPr>
          <p:cNvSpPr/>
          <p:nvPr/>
        </p:nvSpPr>
        <p:spPr>
          <a:xfrm>
            <a:off x="6035040" y="3913632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Boards, tables, images, matrices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8828588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Shape 76">
          <a:extLst>
            <a:ext uri="{FF2B5EF4-FFF2-40B4-BE49-F238E27FC236}">
              <a16:creationId xmlns:a16="http://schemas.microsoft.com/office/drawing/2014/main" id="{68E519A1-F28A-CD0E-64F7-A7210D78C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1">
            <a:extLst>
              <a:ext uri="{FF2B5EF4-FFF2-40B4-BE49-F238E27FC236}">
                <a16:creationId xmlns:a16="http://schemas.microsoft.com/office/drawing/2014/main" id="{0099FBD7-A32B-D033-BD5D-D091E47C00D1}"/>
              </a:ext>
            </a:extLst>
          </p:cNvPr>
          <p:cNvSpPr/>
          <p:nvPr/>
        </p:nvSpPr>
        <p:spPr>
          <a:xfrm>
            <a:off x="0" y="73152"/>
            <a:ext cx="9144000" cy="84124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BF6F45A1-7818-3F7E-F60C-7F708FD03E4C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EB54078-98E6-CAE0-0567-E08FA45D2C91}"/>
              </a:ext>
            </a:extLst>
          </p:cNvPr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F29B7"/>
          </a:solidFill>
          <a:ln w="12700">
            <a:solidFill>
              <a:srgbClr val="4F2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8593CDB-74C1-3A80-4B08-6F33A7ADDE9F}"/>
              </a:ext>
            </a:extLst>
          </p:cNvPr>
          <p:cNvSpPr/>
          <p:nvPr/>
        </p:nvSpPr>
        <p:spPr>
          <a:xfrm>
            <a:off x="347472" y="164592"/>
            <a:ext cx="84490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describe a 2D array</a:t>
            </a:r>
            <a:endParaRPr lang="en-US" sz="2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3CD6B20-AAA5-2647-47EF-A45F5864FAB1}"/>
              </a:ext>
            </a:extLst>
          </p:cNvPr>
          <p:cNvSpPr/>
          <p:nvPr/>
        </p:nvSpPr>
        <p:spPr>
          <a:xfrm>
            <a:off x="347472" y="621792"/>
            <a:ext cx="8449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grid — described in plain English, in pseudocode, and as a visual</a:t>
            </a:r>
            <a:endParaRPr lang="en-US" sz="13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517B760-DBCE-52BB-9F4D-84305AC19443}"/>
              </a:ext>
            </a:extLst>
          </p:cNvPr>
          <p:cNvSpPr/>
          <p:nvPr/>
        </p:nvSpPr>
        <p:spPr>
          <a:xfrm>
            <a:off x="274320" y="987552"/>
            <a:ext cx="8595360" cy="420624"/>
          </a:xfrm>
          <a:prstGeom prst="roundRect">
            <a:avLst>
              <a:gd name="adj" fmla="val 26087"/>
            </a:avLst>
          </a:prstGeom>
          <a:solidFill>
            <a:srgbClr val="1A1040"/>
          </a:solidFill>
          <a:ln w="12700">
            <a:solidFill>
              <a:srgbClr val="1A1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66EFC53-6AE3-524A-AEAD-3F7782680B35}"/>
              </a:ext>
            </a:extLst>
          </p:cNvPr>
          <p:cNvSpPr/>
          <p:nvPr/>
        </p:nvSpPr>
        <p:spPr>
          <a:xfrm>
            <a:off x="502920" y="1024128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Read all three side by side. </a:t>
            </a:r>
            <a:r>
              <a:rPr lang="en-US" sz="12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example: a 3×3 tic-tac-toe board mid-game</a:t>
            </a: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— three rows, three columns, nine cells.</a:t>
            </a:r>
            <a:endParaRPr lang="en-US" sz="12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B10692DA-084B-2BAE-A611-4B7E95E96F9A}"/>
              </a:ext>
            </a:extLst>
          </p:cNvPr>
          <p:cNvSpPr/>
          <p:nvPr/>
        </p:nvSpPr>
        <p:spPr>
          <a:xfrm>
            <a:off x="292608" y="1499616"/>
            <a:ext cx="2779776" cy="3401568"/>
          </a:xfrm>
          <a:prstGeom prst="roundRect">
            <a:avLst>
              <a:gd name="adj" fmla="val 4605"/>
            </a:avLst>
          </a:prstGeom>
          <a:solidFill>
            <a:srgbClr val="1E0F40"/>
          </a:solidFill>
          <a:ln w="19050">
            <a:solidFill>
              <a:srgbClr val="4F2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6B2DC9B-FB98-86D6-CF21-280BB1E66B52}"/>
              </a:ext>
            </a:extLst>
          </p:cNvPr>
          <p:cNvSpPr/>
          <p:nvPr/>
        </p:nvSpPr>
        <p:spPr>
          <a:xfrm>
            <a:off x="292608" y="1545336"/>
            <a:ext cx="2779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F2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English</a:t>
            </a:r>
            <a:endParaRPr lang="en-US" sz="20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0F72355-3A6B-4A6C-5A0C-BF6E7C6EF484}"/>
              </a:ext>
            </a:extLst>
          </p:cNvPr>
          <p:cNvSpPr/>
          <p:nvPr/>
        </p:nvSpPr>
        <p:spPr>
          <a:xfrm>
            <a:off x="292608" y="1975104"/>
            <a:ext cx="2779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humans · No symbols</a:t>
            </a:r>
            <a:endParaRPr lang="en-US" sz="10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6F7F312-11C7-6E2E-23D2-71C708D73857}"/>
              </a:ext>
            </a:extLst>
          </p:cNvPr>
          <p:cNvSpPr/>
          <p:nvPr/>
        </p:nvSpPr>
        <p:spPr>
          <a:xfrm>
            <a:off x="457200" y="2212848"/>
            <a:ext cx="2468880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 a grid called board with three rows and three columns. The top-left cell holds X, the top-middle holds O, the centre holds X, and the rest are empty. To read the centre cell I ask for "board at row 1, column 1" — both starting at zero.</a:t>
            </a:r>
            <a:endParaRPr lang="en-US" sz="11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B319AB59-A1E4-7495-8B8A-D8FB6939DB40}"/>
              </a:ext>
            </a:extLst>
          </p:cNvPr>
          <p:cNvSpPr/>
          <p:nvPr/>
        </p:nvSpPr>
        <p:spPr>
          <a:xfrm>
            <a:off x="3200400" y="1499616"/>
            <a:ext cx="2779776" cy="3401568"/>
          </a:xfrm>
          <a:prstGeom prst="roundRect">
            <a:avLst>
              <a:gd name="adj" fmla="val 4605"/>
            </a:avLst>
          </a:prstGeom>
          <a:solidFill>
            <a:srgbClr val="110A2E"/>
          </a:solidFill>
          <a:ln w="19050">
            <a:solidFill>
              <a:srgbClr val="A38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7B9E2542-0415-D53F-89A6-B2737BF2D2E8}"/>
              </a:ext>
            </a:extLst>
          </p:cNvPr>
          <p:cNvSpPr/>
          <p:nvPr/>
        </p:nvSpPr>
        <p:spPr>
          <a:xfrm>
            <a:off x="3200400" y="1545336"/>
            <a:ext cx="2779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38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</a:t>
            </a:r>
            <a:endParaRPr lang="en-US" sz="20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520DB52-41BD-3A9E-774F-0E90DB7F8CDE}"/>
              </a:ext>
            </a:extLst>
          </p:cNvPr>
          <p:cNvSpPr/>
          <p:nvPr/>
        </p:nvSpPr>
        <p:spPr>
          <a:xfrm>
            <a:off x="3200400" y="1975104"/>
            <a:ext cx="2779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Code-like · Language-free</a:t>
            </a:r>
            <a:endParaRPr lang="en-US" sz="10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966A8129-1A41-594C-31D7-611070D24803}"/>
              </a:ext>
            </a:extLst>
          </p:cNvPr>
          <p:cNvSpPr/>
          <p:nvPr/>
        </p:nvSpPr>
        <p:spPr>
          <a:xfrm>
            <a:off x="3364992" y="2212848"/>
            <a:ext cx="2468880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board ← new 3×3 grid   board[0][0] ← 'X'   board[0][1] ← 'O'   board[1][1] ← 'X'   PRINT board[1][1]   // outputs X   FOR r FROM 0 TO 2:     FOR c FROM 0 TO 2:       PRINT board[r][c]</a:t>
            </a:r>
            <a:endParaRPr lang="en-US" sz="11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7C1B5EBA-52EB-ABC9-D3EB-5CFA15DCA663}"/>
              </a:ext>
            </a:extLst>
          </p:cNvPr>
          <p:cNvSpPr/>
          <p:nvPr/>
        </p:nvSpPr>
        <p:spPr>
          <a:xfrm>
            <a:off x="6108192" y="1499616"/>
            <a:ext cx="2779776" cy="3401568"/>
          </a:xfrm>
          <a:prstGeom prst="roundRect">
            <a:avLst>
              <a:gd name="adj" fmla="val 4605"/>
            </a:avLst>
          </a:prstGeom>
          <a:solidFill>
            <a:srgbClr val="0A2E2E"/>
          </a:solidFill>
          <a:ln w="1905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BD01AF8F-536E-C495-E8A0-F7655F895F22}"/>
              </a:ext>
            </a:extLst>
          </p:cNvPr>
          <p:cNvSpPr/>
          <p:nvPr/>
        </p:nvSpPr>
        <p:spPr>
          <a:xfrm>
            <a:off x="6108192" y="1545336"/>
            <a:ext cx="2779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Grid</a:t>
            </a:r>
            <a:endParaRPr lang="en-US" sz="20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C4029E02-E763-B814-4C30-6D610F53CED9}"/>
              </a:ext>
            </a:extLst>
          </p:cNvPr>
          <p:cNvSpPr/>
          <p:nvPr/>
        </p:nvSpPr>
        <p:spPr>
          <a:xfrm>
            <a:off x="6108192" y="1975104"/>
            <a:ext cx="2779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· The grid itself</a:t>
            </a:r>
            <a:endParaRPr lang="en-US" sz="10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68B76B5C-86FB-DDD2-2643-011F7DA0DB57}"/>
              </a:ext>
            </a:extLst>
          </p:cNvPr>
          <p:cNvSpPr/>
          <p:nvPr/>
        </p:nvSpPr>
        <p:spPr>
          <a:xfrm>
            <a:off x="6272784" y="2212848"/>
            <a:ext cx="2468880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rows, each holding three cells, stacked top to bottom.   Row 0:  [ X | O | · ]   Row 1:  [ · | X | · ]   Row 2:  [ · | · | · ]   The centre cell — board[1][1] — holds X.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6912561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Shape 76">
          <a:extLst>
            <a:ext uri="{FF2B5EF4-FFF2-40B4-BE49-F238E27FC236}">
              <a16:creationId xmlns:a16="http://schemas.microsoft.com/office/drawing/2014/main" id="{67E7A1E3-A543-8BE6-F2F7-46DDFC0E6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1">
            <a:extLst>
              <a:ext uri="{FF2B5EF4-FFF2-40B4-BE49-F238E27FC236}">
                <a16:creationId xmlns:a16="http://schemas.microsoft.com/office/drawing/2014/main" id="{1B08139B-E6D3-F862-7147-3E3B0F5894E8}"/>
              </a:ext>
            </a:extLst>
          </p:cNvPr>
          <p:cNvSpPr/>
          <p:nvPr/>
        </p:nvSpPr>
        <p:spPr>
          <a:xfrm>
            <a:off x="0" y="73152"/>
            <a:ext cx="9144000" cy="84124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36AB523D-D286-0D36-36F4-F617E2643A46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6E2A5D1-669D-2D64-D734-7763B1DABBBF}"/>
              </a:ext>
            </a:extLst>
          </p:cNvPr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F29B7"/>
          </a:solidFill>
          <a:ln w="12700">
            <a:solidFill>
              <a:srgbClr val="4F2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4F68E73-7C67-8C4B-94D3-86BAF3646AF3}"/>
              </a:ext>
            </a:extLst>
          </p:cNvPr>
          <p:cNvSpPr/>
          <p:nvPr/>
        </p:nvSpPr>
        <p:spPr>
          <a:xfrm>
            <a:off x="347472" y="164592"/>
            <a:ext cx="84490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2D Array?</a:t>
            </a:r>
            <a:endParaRPr lang="en-US" sz="2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0544E3C-EA5C-AE66-3D74-449FAE81DEA2}"/>
              </a:ext>
            </a:extLst>
          </p:cNvPr>
          <p:cNvSpPr/>
          <p:nvPr/>
        </p:nvSpPr>
        <p:spPr>
          <a:xfrm>
            <a:off x="347472" y="621792"/>
            <a:ext cx="8449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· Properties · Anatomy</a:t>
            </a:r>
            <a:endParaRPr lang="en-US" sz="13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620B4A6-1285-10D5-B7E1-D15AEF559736}"/>
              </a:ext>
            </a:extLst>
          </p:cNvPr>
          <p:cNvSpPr/>
          <p:nvPr/>
        </p:nvSpPr>
        <p:spPr>
          <a:xfrm>
            <a:off x="256032" y="987552"/>
            <a:ext cx="2779776" cy="4041648"/>
          </a:xfrm>
          <a:prstGeom prst="roundRect">
            <a:avLst>
              <a:gd name="adj" fmla="val 4605"/>
            </a:avLst>
          </a:prstGeom>
          <a:solidFill>
            <a:srgbClr val="1E0F40"/>
          </a:solidFill>
          <a:ln w="19050">
            <a:solidFill>
              <a:srgbClr val="4F2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9026CF8-B1DC-8B2E-83F5-9A0B426D2580}"/>
              </a:ext>
            </a:extLst>
          </p:cNvPr>
          <p:cNvSpPr/>
          <p:nvPr/>
        </p:nvSpPr>
        <p:spPr>
          <a:xfrm>
            <a:off x="256032" y="1033272"/>
            <a:ext cx="2779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F2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20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D3D41A9-4F3D-397F-A9C4-61A6A930AF77}"/>
              </a:ext>
            </a:extLst>
          </p:cNvPr>
          <p:cNvSpPr/>
          <p:nvPr/>
        </p:nvSpPr>
        <p:spPr>
          <a:xfrm>
            <a:off x="256032" y="1463040"/>
            <a:ext cx="2779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array, but in two dimensions</a:t>
            </a:r>
            <a:endParaRPr lang="en-US" sz="10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6F286425-02A2-36F1-AD2F-8D132EFF3265}"/>
              </a:ext>
            </a:extLst>
          </p:cNvPr>
          <p:cNvSpPr/>
          <p:nvPr/>
        </p:nvSpPr>
        <p:spPr>
          <a:xfrm>
            <a:off x="384048" y="1901952"/>
            <a:ext cx="2523744" cy="512064"/>
          </a:xfrm>
          <a:prstGeom prst="roundRect">
            <a:avLst>
              <a:gd name="adj" fmla="val 12500"/>
            </a:avLst>
          </a:prstGeom>
          <a:solidFill>
            <a:srgbClr val="1E1040"/>
          </a:solidFill>
          <a:ln w="12700">
            <a:solidFill>
              <a:srgbClr val="1E1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3CCCA66-CDB9-37CF-7D8A-7918BF601DCD}"/>
              </a:ext>
            </a:extLst>
          </p:cNvPr>
          <p:cNvSpPr/>
          <p:nvPr/>
        </p:nvSpPr>
        <p:spPr>
          <a:xfrm>
            <a:off x="457200" y="19385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F2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8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DBA05D7-435E-9CC8-C1F8-1F4D7C558FB6}"/>
              </a:ext>
            </a:extLst>
          </p:cNvPr>
          <p:cNvSpPr/>
          <p:nvPr/>
        </p:nvSpPr>
        <p:spPr>
          <a:xfrm>
            <a:off x="457200" y="215798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array of arrays — a grid</a:t>
            </a:r>
            <a:endParaRPr lang="en-US" sz="10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6D9A7D8D-F20F-F17A-CA44-E30DA6E443DE}"/>
              </a:ext>
            </a:extLst>
          </p:cNvPr>
          <p:cNvSpPr/>
          <p:nvPr/>
        </p:nvSpPr>
        <p:spPr>
          <a:xfrm>
            <a:off x="384048" y="2505456"/>
            <a:ext cx="2523744" cy="512064"/>
          </a:xfrm>
          <a:prstGeom prst="roundRect">
            <a:avLst>
              <a:gd name="adj" fmla="val 12500"/>
            </a:avLst>
          </a:prstGeom>
          <a:solidFill>
            <a:srgbClr val="250F50"/>
          </a:solidFill>
          <a:ln w="12700">
            <a:solidFill>
              <a:srgbClr val="250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18D6611-CA0F-6B2E-017D-756FEF7CEFD5}"/>
              </a:ext>
            </a:extLst>
          </p:cNvPr>
          <p:cNvSpPr/>
          <p:nvPr/>
        </p:nvSpPr>
        <p:spPr>
          <a:xfrm>
            <a:off x="457200" y="254203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F2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</a:t>
            </a:r>
            <a:endParaRPr lang="en-US" sz="8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77B5AAC-9204-5CA5-F374-0C161542F61F}"/>
              </a:ext>
            </a:extLst>
          </p:cNvPr>
          <p:cNvSpPr/>
          <p:nvPr/>
        </p:nvSpPr>
        <p:spPr>
          <a:xfrm>
            <a:off x="457200" y="27614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arranged in rows and cols</a:t>
            </a:r>
            <a:endParaRPr lang="en-US" sz="10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C41D8654-471B-E1B5-2246-47BEE515918D}"/>
              </a:ext>
            </a:extLst>
          </p:cNvPr>
          <p:cNvSpPr/>
          <p:nvPr/>
        </p:nvSpPr>
        <p:spPr>
          <a:xfrm>
            <a:off x="384048" y="3108960"/>
            <a:ext cx="2523744" cy="512064"/>
          </a:xfrm>
          <a:prstGeom prst="roundRect">
            <a:avLst>
              <a:gd name="adj" fmla="val 12500"/>
            </a:avLst>
          </a:prstGeom>
          <a:solidFill>
            <a:srgbClr val="1E1040"/>
          </a:solidFill>
          <a:ln w="12700">
            <a:solidFill>
              <a:srgbClr val="1E1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5BFDBB1E-9225-A8E1-1205-7B7E0637227B}"/>
              </a:ext>
            </a:extLst>
          </p:cNvPr>
          <p:cNvSpPr/>
          <p:nvPr/>
        </p:nvSpPr>
        <p:spPr>
          <a:xfrm>
            <a:off x="457200" y="314553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F2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type</a:t>
            </a:r>
            <a:endParaRPr lang="en-US" sz="8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BE4CBAA0-1DD8-C300-54C8-98269928DCB6}"/>
              </a:ext>
            </a:extLst>
          </p:cNvPr>
          <p:cNvSpPr/>
          <p:nvPr/>
        </p:nvSpPr>
        <p:spPr>
          <a:xfrm>
            <a:off x="457200" y="336499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cell holds the same data type</a:t>
            </a: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2F063973-CA98-3791-04FD-D91B4BFEBE96}"/>
              </a:ext>
            </a:extLst>
          </p:cNvPr>
          <p:cNvSpPr/>
          <p:nvPr/>
        </p:nvSpPr>
        <p:spPr>
          <a:xfrm>
            <a:off x="384048" y="3712464"/>
            <a:ext cx="2523744" cy="512064"/>
          </a:xfrm>
          <a:prstGeom prst="roundRect">
            <a:avLst>
              <a:gd name="adj" fmla="val 12500"/>
            </a:avLst>
          </a:prstGeom>
          <a:solidFill>
            <a:srgbClr val="250F50"/>
          </a:solidFill>
          <a:ln w="12700">
            <a:solidFill>
              <a:srgbClr val="250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4A354414-8980-435D-357F-D4B467A84BCA}"/>
              </a:ext>
            </a:extLst>
          </p:cNvPr>
          <p:cNvSpPr/>
          <p:nvPr/>
        </p:nvSpPr>
        <p:spPr>
          <a:xfrm>
            <a:off x="457200" y="37490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F2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by</a:t>
            </a:r>
            <a:endParaRPr lang="en-US" sz="8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10988D5E-7783-F62D-3D58-985154F9F681}"/>
              </a:ext>
            </a:extLst>
          </p:cNvPr>
          <p:cNvSpPr/>
          <p:nvPr/>
        </p:nvSpPr>
        <p:spPr>
          <a:xfrm>
            <a:off x="457200" y="396849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indices: grid[row][col]</a:t>
            </a:r>
            <a:endParaRPr lang="en-US" sz="10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6B229D71-6A56-AE58-3983-D7ECD4AE715E}"/>
              </a:ext>
            </a:extLst>
          </p:cNvPr>
          <p:cNvSpPr/>
          <p:nvPr/>
        </p:nvSpPr>
        <p:spPr>
          <a:xfrm>
            <a:off x="384048" y="4315968"/>
            <a:ext cx="2523744" cy="512064"/>
          </a:xfrm>
          <a:prstGeom prst="roundRect">
            <a:avLst>
              <a:gd name="adj" fmla="val 12500"/>
            </a:avLst>
          </a:prstGeom>
          <a:solidFill>
            <a:srgbClr val="1E1040"/>
          </a:solidFill>
          <a:ln w="12700">
            <a:solidFill>
              <a:srgbClr val="1E1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45F3FB27-EDB2-C24A-106E-053C8980AE8E}"/>
              </a:ext>
            </a:extLst>
          </p:cNvPr>
          <p:cNvSpPr/>
          <p:nvPr/>
        </p:nvSpPr>
        <p:spPr>
          <a:xfrm>
            <a:off x="457200" y="435254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F2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called</a:t>
            </a:r>
            <a:endParaRPr lang="en-US" sz="8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5CA971F4-B0DF-8B96-0DC6-6F777F3A889A}"/>
              </a:ext>
            </a:extLst>
          </p:cNvPr>
          <p:cNvSpPr/>
          <p:nvPr/>
        </p:nvSpPr>
        <p:spPr>
          <a:xfrm>
            <a:off x="457200" y="45720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· Grid · Table</a:t>
            </a:r>
            <a:endParaRPr lang="en-US" sz="10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BD48AD9D-5621-E7F3-EC42-8BA9A0AFAFB7}"/>
              </a:ext>
            </a:extLst>
          </p:cNvPr>
          <p:cNvSpPr/>
          <p:nvPr/>
        </p:nvSpPr>
        <p:spPr>
          <a:xfrm>
            <a:off x="3163824" y="987552"/>
            <a:ext cx="2779776" cy="4041648"/>
          </a:xfrm>
          <a:prstGeom prst="roundRect">
            <a:avLst>
              <a:gd name="adj" fmla="val 4605"/>
            </a:avLst>
          </a:prstGeom>
          <a:solidFill>
            <a:srgbClr val="110A2E"/>
          </a:solidFill>
          <a:ln w="19050">
            <a:solidFill>
              <a:srgbClr val="A38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2A2AE263-E84F-29F5-59D7-0A4B5C3EDF8B}"/>
              </a:ext>
            </a:extLst>
          </p:cNvPr>
          <p:cNvSpPr/>
          <p:nvPr/>
        </p:nvSpPr>
        <p:spPr>
          <a:xfrm>
            <a:off x="3163824" y="1033272"/>
            <a:ext cx="2779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38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</a:t>
            </a:r>
            <a:endParaRPr lang="en-US" sz="20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F014DDB2-FE98-268C-10BC-7AFC14ECC9A2}"/>
              </a:ext>
            </a:extLst>
          </p:cNvPr>
          <p:cNvSpPr/>
          <p:nvPr/>
        </p:nvSpPr>
        <p:spPr>
          <a:xfrm>
            <a:off x="3163824" y="1463040"/>
            <a:ext cx="2779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facts to remember</a:t>
            </a:r>
            <a:endParaRPr lang="en-US" sz="100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A05F0EF5-72AD-AB9A-BBF5-81CE3F4341A6}"/>
              </a:ext>
            </a:extLst>
          </p:cNvPr>
          <p:cNvSpPr/>
          <p:nvPr/>
        </p:nvSpPr>
        <p:spPr>
          <a:xfrm>
            <a:off x="3291840" y="1901952"/>
            <a:ext cx="2523744" cy="512064"/>
          </a:xfrm>
          <a:prstGeom prst="roundRect">
            <a:avLst>
              <a:gd name="adj" fmla="val 12500"/>
            </a:avLst>
          </a:prstGeom>
          <a:solidFill>
            <a:srgbClr val="1E1040"/>
          </a:solidFill>
          <a:ln w="12700">
            <a:solidFill>
              <a:srgbClr val="1E1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083A298E-36BD-B8BD-C903-2E6D89F08F9D}"/>
              </a:ext>
            </a:extLst>
          </p:cNvPr>
          <p:cNvSpPr/>
          <p:nvPr/>
        </p:nvSpPr>
        <p:spPr>
          <a:xfrm>
            <a:off x="3364992" y="19385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A38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Rectangular</a:t>
            </a:r>
            <a:endParaRPr lang="en-US" sz="8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B10E638F-8073-CA1D-CF8D-6A0034C827F0}"/>
              </a:ext>
            </a:extLst>
          </p:cNvPr>
          <p:cNvSpPr/>
          <p:nvPr/>
        </p:nvSpPr>
        <p:spPr>
          <a:xfrm>
            <a:off x="3364992" y="215798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 has the same length</a:t>
            </a:r>
            <a:endParaRPr lang="en-US" sz="10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1115F7D5-AB59-4793-3017-56977D651FA9}"/>
              </a:ext>
            </a:extLst>
          </p:cNvPr>
          <p:cNvSpPr/>
          <p:nvPr/>
        </p:nvSpPr>
        <p:spPr>
          <a:xfrm>
            <a:off x="3291840" y="2505456"/>
            <a:ext cx="2523744" cy="512064"/>
          </a:xfrm>
          <a:prstGeom prst="roundRect">
            <a:avLst>
              <a:gd name="adj" fmla="val 12500"/>
            </a:avLst>
          </a:prstGeom>
          <a:solidFill>
            <a:srgbClr val="250F50"/>
          </a:solidFill>
          <a:ln w="12700">
            <a:solidFill>
              <a:srgbClr val="250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6073D696-90F9-5831-A9FA-CEB3FFD55143}"/>
              </a:ext>
            </a:extLst>
          </p:cNvPr>
          <p:cNvSpPr/>
          <p:nvPr/>
        </p:nvSpPr>
        <p:spPr>
          <a:xfrm>
            <a:off x="3364992" y="254203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A38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indices</a:t>
            </a:r>
            <a:endParaRPr lang="en-US" sz="8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338F6E8F-D4EE-58E6-AB3E-E676EB6B9BC9}"/>
              </a:ext>
            </a:extLst>
          </p:cNvPr>
          <p:cNvSpPr/>
          <p:nvPr/>
        </p:nvSpPr>
        <p:spPr>
          <a:xfrm>
            <a:off x="3364992" y="27614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start at 0, like 1D arrays</a:t>
            </a:r>
            <a:endParaRPr lang="en-US" sz="100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90BAC11F-E1A8-35E9-18F1-62E05E2CCAC8}"/>
              </a:ext>
            </a:extLst>
          </p:cNvPr>
          <p:cNvSpPr/>
          <p:nvPr/>
        </p:nvSpPr>
        <p:spPr>
          <a:xfrm>
            <a:off x="3291840" y="3108960"/>
            <a:ext cx="2523744" cy="512064"/>
          </a:xfrm>
          <a:prstGeom prst="roundRect">
            <a:avLst>
              <a:gd name="adj" fmla="val 12500"/>
            </a:avLst>
          </a:prstGeom>
          <a:solidFill>
            <a:srgbClr val="1E1040"/>
          </a:solidFill>
          <a:ln w="12700">
            <a:solidFill>
              <a:srgbClr val="1E104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C0F462FF-7F1E-5DB8-413D-E855FFD315EE}"/>
              </a:ext>
            </a:extLst>
          </p:cNvPr>
          <p:cNvSpPr/>
          <p:nvPr/>
        </p:nvSpPr>
        <p:spPr>
          <a:xfrm>
            <a:off x="3364992" y="314553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A38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dimensions</a:t>
            </a:r>
            <a:endParaRPr lang="en-US" sz="8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431CD1D4-728D-D439-8C9C-8F258123E6FF}"/>
              </a:ext>
            </a:extLst>
          </p:cNvPr>
          <p:cNvSpPr/>
          <p:nvPr/>
        </p:nvSpPr>
        <p:spPr>
          <a:xfrm>
            <a:off x="3364992" y="336499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and cols set when created</a:t>
            </a:r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1CB16C89-C1B7-CE23-A8E7-A5BD72507E34}"/>
              </a:ext>
            </a:extLst>
          </p:cNvPr>
          <p:cNvSpPr/>
          <p:nvPr/>
        </p:nvSpPr>
        <p:spPr>
          <a:xfrm>
            <a:off x="3291840" y="3712464"/>
            <a:ext cx="2523744" cy="512064"/>
          </a:xfrm>
          <a:prstGeom prst="roundRect">
            <a:avLst>
              <a:gd name="adj" fmla="val 12500"/>
            </a:avLst>
          </a:prstGeom>
          <a:solidFill>
            <a:srgbClr val="250F50"/>
          </a:solidFill>
          <a:ln w="12700">
            <a:solidFill>
              <a:srgbClr val="250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CAAECD9B-B974-69AF-96E1-1ED6A15A2AC6}"/>
              </a:ext>
            </a:extLst>
          </p:cNvPr>
          <p:cNvSpPr/>
          <p:nvPr/>
        </p:nvSpPr>
        <p:spPr>
          <a:xfrm>
            <a:off x="3364992" y="37490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A38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access</a:t>
            </a:r>
            <a:endParaRPr lang="en-US" sz="800" dirty="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C69C938C-3E85-8060-A306-4D527DF6A6C0}"/>
              </a:ext>
            </a:extLst>
          </p:cNvPr>
          <p:cNvSpPr/>
          <p:nvPr/>
        </p:nvSpPr>
        <p:spPr>
          <a:xfrm>
            <a:off x="3364992" y="396849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cell reachable in O(1)</a:t>
            </a:r>
            <a:endParaRPr lang="en-US" sz="1000" dirty="0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3DF86B9F-C390-852B-54F8-32B4EAAF6A7E}"/>
              </a:ext>
            </a:extLst>
          </p:cNvPr>
          <p:cNvSpPr/>
          <p:nvPr/>
        </p:nvSpPr>
        <p:spPr>
          <a:xfrm>
            <a:off x="3291840" y="4315968"/>
            <a:ext cx="2523744" cy="512064"/>
          </a:xfrm>
          <a:prstGeom prst="roundRect">
            <a:avLst>
              <a:gd name="adj" fmla="val 12500"/>
            </a:avLst>
          </a:prstGeom>
          <a:solidFill>
            <a:srgbClr val="1E1040"/>
          </a:solidFill>
          <a:ln w="12700">
            <a:solidFill>
              <a:srgbClr val="1E1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A66CDEBF-5B8A-A325-4EDA-D77297C625E7}"/>
              </a:ext>
            </a:extLst>
          </p:cNvPr>
          <p:cNvSpPr/>
          <p:nvPr/>
        </p:nvSpPr>
        <p:spPr>
          <a:xfrm>
            <a:off x="3364992" y="435254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A38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cells</a:t>
            </a:r>
            <a:endParaRPr lang="en-US" sz="800" dirty="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70C90110-7151-0F5E-7B75-4281C7115836}"/>
              </a:ext>
            </a:extLst>
          </p:cNvPr>
          <p:cNvSpPr/>
          <p:nvPr/>
        </p:nvSpPr>
        <p:spPr>
          <a:xfrm>
            <a:off x="3364992" y="45720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× cols (e.g. 8×8 = 64)</a:t>
            </a:r>
            <a:endParaRPr lang="en-US" sz="1000" dirty="0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23D47241-34CE-835E-D9B3-5DF3E9C86A4D}"/>
              </a:ext>
            </a:extLst>
          </p:cNvPr>
          <p:cNvSpPr/>
          <p:nvPr/>
        </p:nvSpPr>
        <p:spPr>
          <a:xfrm>
            <a:off x="6071616" y="987552"/>
            <a:ext cx="2779776" cy="4041648"/>
          </a:xfrm>
          <a:prstGeom prst="roundRect">
            <a:avLst>
              <a:gd name="adj" fmla="val 4605"/>
            </a:avLst>
          </a:prstGeom>
          <a:solidFill>
            <a:srgbClr val="0A2E2E"/>
          </a:solidFill>
          <a:ln w="1905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160F8E2C-8366-D789-0BA3-8DA4032B4304}"/>
              </a:ext>
            </a:extLst>
          </p:cNvPr>
          <p:cNvSpPr/>
          <p:nvPr/>
        </p:nvSpPr>
        <p:spPr>
          <a:xfrm>
            <a:off x="6071616" y="1033272"/>
            <a:ext cx="2779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</a:t>
            </a:r>
            <a:endParaRPr lang="en-US" sz="2000" dirty="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400A9794-536B-5ED1-EAE6-B302049B104A}"/>
              </a:ext>
            </a:extLst>
          </p:cNvPr>
          <p:cNvSpPr/>
          <p:nvPr/>
        </p:nvSpPr>
        <p:spPr>
          <a:xfrm>
            <a:off x="6071616" y="1463040"/>
            <a:ext cx="2779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parts to know</a:t>
            </a:r>
            <a:endParaRPr lang="en-US" sz="1000" dirty="0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17BB9C3C-FBE9-5806-C1E4-F9F0239F94FD}"/>
              </a:ext>
            </a:extLst>
          </p:cNvPr>
          <p:cNvSpPr/>
          <p:nvPr/>
        </p:nvSpPr>
        <p:spPr>
          <a:xfrm>
            <a:off x="6199632" y="1901952"/>
            <a:ext cx="2523744" cy="512064"/>
          </a:xfrm>
          <a:prstGeom prst="roundRect">
            <a:avLst>
              <a:gd name="adj" fmla="val 12500"/>
            </a:avLst>
          </a:prstGeom>
          <a:solidFill>
            <a:srgbClr val="1E1040"/>
          </a:solidFill>
          <a:ln w="12700">
            <a:solidFill>
              <a:srgbClr val="1E1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1934E9C9-C2E5-4054-607E-4F78E6D73CD6}"/>
              </a:ext>
            </a:extLst>
          </p:cNvPr>
          <p:cNvSpPr/>
          <p:nvPr/>
        </p:nvSpPr>
        <p:spPr>
          <a:xfrm>
            <a:off x="6272784" y="19385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</a:t>
            </a:r>
            <a:endParaRPr lang="en-US" sz="800" dirty="0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BC2E8DD9-F45B-A649-12EE-B4F1127DA68F}"/>
              </a:ext>
            </a:extLst>
          </p:cNvPr>
          <p:cNvSpPr/>
          <p:nvPr/>
        </p:nvSpPr>
        <p:spPr>
          <a:xfrm>
            <a:off x="6272784" y="215798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horizontal line of cells</a:t>
            </a:r>
            <a:endParaRPr lang="en-US" sz="1000" dirty="0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CD98D845-A5B7-CD8A-6A17-A786BC952BFB}"/>
              </a:ext>
            </a:extLst>
          </p:cNvPr>
          <p:cNvSpPr/>
          <p:nvPr/>
        </p:nvSpPr>
        <p:spPr>
          <a:xfrm>
            <a:off x="6199632" y="2505456"/>
            <a:ext cx="2523744" cy="512064"/>
          </a:xfrm>
          <a:prstGeom prst="roundRect">
            <a:avLst>
              <a:gd name="adj" fmla="val 12500"/>
            </a:avLst>
          </a:prstGeom>
          <a:solidFill>
            <a:srgbClr val="250F50"/>
          </a:solidFill>
          <a:ln w="12700">
            <a:solidFill>
              <a:srgbClr val="250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E4E004CF-D99A-D43E-DEBD-62A9A585E8BC}"/>
              </a:ext>
            </a:extLst>
          </p:cNvPr>
          <p:cNvSpPr/>
          <p:nvPr/>
        </p:nvSpPr>
        <p:spPr>
          <a:xfrm>
            <a:off x="6272784" y="254203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endParaRPr lang="en-US" sz="800" dirty="0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E1C58A4B-FE46-1795-D7D0-944949F52C8B}"/>
              </a:ext>
            </a:extLst>
          </p:cNvPr>
          <p:cNvSpPr/>
          <p:nvPr/>
        </p:nvSpPr>
        <p:spPr>
          <a:xfrm>
            <a:off x="6272784" y="27614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vertical line of cells</a:t>
            </a:r>
            <a:endParaRPr lang="en-US" sz="1000" dirty="0"/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A4F5B864-A547-85E2-687E-468DA9810227}"/>
              </a:ext>
            </a:extLst>
          </p:cNvPr>
          <p:cNvSpPr/>
          <p:nvPr/>
        </p:nvSpPr>
        <p:spPr>
          <a:xfrm>
            <a:off x="6199632" y="3108960"/>
            <a:ext cx="2523744" cy="512064"/>
          </a:xfrm>
          <a:prstGeom prst="roundRect">
            <a:avLst>
              <a:gd name="adj" fmla="val 12500"/>
            </a:avLst>
          </a:prstGeom>
          <a:solidFill>
            <a:srgbClr val="1E1040"/>
          </a:solidFill>
          <a:ln w="12700">
            <a:solidFill>
              <a:srgbClr val="1E1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47875D30-CA79-24B3-8B55-3CA6B7546DD1}"/>
              </a:ext>
            </a:extLst>
          </p:cNvPr>
          <p:cNvSpPr/>
          <p:nvPr/>
        </p:nvSpPr>
        <p:spPr>
          <a:xfrm>
            <a:off x="6272784" y="314553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</a:t>
            </a:r>
            <a:endParaRPr lang="en-US" sz="800" dirty="0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15E016C0-85D1-360B-6E43-07A7D50C7823}"/>
              </a:ext>
            </a:extLst>
          </p:cNvPr>
          <p:cNvSpPr/>
          <p:nvPr/>
        </p:nvSpPr>
        <p:spPr>
          <a:xfrm>
            <a:off x="6272784" y="336499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intersection — one value</a:t>
            </a:r>
            <a:endParaRPr lang="en-US" sz="1000" dirty="0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4180C4C0-6012-AC85-4B17-3AFA774A2271}"/>
              </a:ext>
            </a:extLst>
          </p:cNvPr>
          <p:cNvSpPr/>
          <p:nvPr/>
        </p:nvSpPr>
        <p:spPr>
          <a:xfrm>
            <a:off x="6199632" y="3712464"/>
            <a:ext cx="2523744" cy="512064"/>
          </a:xfrm>
          <a:prstGeom prst="roundRect">
            <a:avLst>
              <a:gd name="adj" fmla="val 12500"/>
            </a:avLst>
          </a:prstGeom>
          <a:solidFill>
            <a:srgbClr val="250F50"/>
          </a:solidFill>
          <a:ln w="12700">
            <a:solidFill>
              <a:srgbClr val="250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6F0CCA05-6F6B-73EB-BB3E-40FF49D41D8D}"/>
              </a:ext>
            </a:extLst>
          </p:cNvPr>
          <p:cNvSpPr/>
          <p:nvPr/>
        </p:nvSpPr>
        <p:spPr>
          <a:xfrm>
            <a:off x="6272784" y="37490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grid[i][j]</a:t>
            </a:r>
            <a:endParaRPr lang="en-US" sz="800" dirty="0"/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1B5A695C-4E1C-1D37-4C84-4CC97C0EF229}"/>
              </a:ext>
            </a:extLst>
          </p:cNvPr>
          <p:cNvSpPr/>
          <p:nvPr/>
        </p:nvSpPr>
        <p:spPr>
          <a:xfrm>
            <a:off x="6272784" y="396849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at row i, column j</a:t>
            </a:r>
            <a:endParaRPr lang="en-US" sz="1000" dirty="0"/>
          </a:p>
        </p:txBody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9479889D-FE47-827C-03B8-A090B2C69810}"/>
              </a:ext>
            </a:extLst>
          </p:cNvPr>
          <p:cNvSpPr/>
          <p:nvPr/>
        </p:nvSpPr>
        <p:spPr>
          <a:xfrm>
            <a:off x="6199632" y="4315968"/>
            <a:ext cx="2523744" cy="512064"/>
          </a:xfrm>
          <a:prstGeom prst="roundRect">
            <a:avLst>
              <a:gd name="adj" fmla="val 12500"/>
            </a:avLst>
          </a:prstGeom>
          <a:solidFill>
            <a:srgbClr val="1E1040"/>
          </a:solidFill>
          <a:ln w="12700">
            <a:solidFill>
              <a:srgbClr val="1E1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30B55CAD-3273-8860-07F1-9A86A45AE431}"/>
              </a:ext>
            </a:extLst>
          </p:cNvPr>
          <p:cNvSpPr/>
          <p:nvPr/>
        </p:nvSpPr>
        <p:spPr>
          <a:xfrm>
            <a:off x="6272784" y="435254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Bounds</a:t>
            </a:r>
            <a:endParaRPr lang="en-US" sz="800" dirty="0"/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0270D8ED-165B-1400-E041-17FA430DE5B7}"/>
              </a:ext>
            </a:extLst>
          </p:cNvPr>
          <p:cNvSpPr/>
          <p:nvPr/>
        </p:nvSpPr>
        <p:spPr>
          <a:xfrm>
            <a:off x="6272784" y="45720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Rows: 0 to R-1, Cols: 0 to C-1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8345557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FD9C4"/>
          </a:solidFill>
          <a:ln w="12700">
            <a:solidFill>
              <a:srgbClr val="3FD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8046720" cy="3657600"/>
          </a:xfrm>
          <a:prstGeom prst="rect">
            <a:avLst/>
          </a:prstGeom>
          <a:solidFill>
            <a:srgbClr val="161B26"/>
          </a:solidFill>
          <a:ln w="19050">
            <a:solidFill>
              <a:srgbClr val="3FD9C4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914400"/>
            <a:ext cx="822960" cy="594360"/>
          </a:xfrm>
          <a:prstGeom prst="rect">
            <a:avLst/>
          </a:prstGeom>
          <a:solidFill>
            <a:srgbClr val="3FD9C4">
              <a:alpha val="12000"/>
            </a:srgbClr>
          </a:solidFill>
          <a:ln w="12700">
            <a:solidFill>
              <a:srgbClr val="3FD9C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0" y="786384"/>
            <a:ext cx="329184" cy="164592"/>
          </a:xfrm>
          <a:prstGeom prst="rect">
            <a:avLst/>
          </a:prstGeom>
          <a:solidFill>
            <a:srgbClr val="3FD9C4">
              <a:alpha val="20000"/>
            </a:srgbClr>
          </a:solidFill>
          <a:ln w="12700">
            <a:solidFill>
              <a:srgbClr val="3FD9C4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011680" y="777240"/>
            <a:ext cx="822960" cy="594360"/>
          </a:xfrm>
          <a:prstGeom prst="rect">
            <a:avLst/>
          </a:prstGeom>
          <a:solidFill>
            <a:srgbClr val="3FD9C4">
              <a:alpha val="12000"/>
            </a:srgbClr>
          </a:solidFill>
          <a:ln w="12700">
            <a:solidFill>
              <a:srgbClr val="3FD9C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011680" y="649224"/>
            <a:ext cx="329184" cy="164592"/>
          </a:xfrm>
          <a:prstGeom prst="rect">
            <a:avLst/>
          </a:prstGeom>
          <a:solidFill>
            <a:srgbClr val="3FD9C4">
              <a:alpha val="20000"/>
            </a:srgbClr>
          </a:solidFill>
          <a:ln w="12700">
            <a:solidFill>
              <a:srgbClr val="3FD9C4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91840" y="1005840"/>
            <a:ext cx="822960" cy="594360"/>
          </a:xfrm>
          <a:prstGeom prst="rect">
            <a:avLst/>
          </a:prstGeom>
          <a:solidFill>
            <a:srgbClr val="3FD9C4">
              <a:alpha val="12000"/>
            </a:srgbClr>
          </a:solidFill>
          <a:ln w="12700">
            <a:solidFill>
              <a:srgbClr val="3FD9C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91840" y="877824"/>
            <a:ext cx="329184" cy="164592"/>
          </a:xfrm>
          <a:prstGeom prst="rect">
            <a:avLst/>
          </a:prstGeom>
          <a:solidFill>
            <a:srgbClr val="3FD9C4">
              <a:alpha val="20000"/>
            </a:srgbClr>
          </a:solidFill>
          <a:ln w="12700">
            <a:solidFill>
              <a:srgbClr val="3FD9C4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0" y="822960"/>
            <a:ext cx="822960" cy="594360"/>
          </a:xfrm>
          <a:prstGeom prst="rect">
            <a:avLst/>
          </a:prstGeom>
          <a:solidFill>
            <a:srgbClr val="3FD9C4">
              <a:alpha val="12000"/>
            </a:srgbClr>
          </a:solidFill>
          <a:ln w="12700">
            <a:solidFill>
              <a:srgbClr val="3FD9C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0" y="694944"/>
            <a:ext cx="329184" cy="164592"/>
          </a:xfrm>
          <a:prstGeom prst="rect">
            <a:avLst/>
          </a:prstGeom>
          <a:solidFill>
            <a:srgbClr val="3FD9C4">
              <a:alpha val="20000"/>
            </a:srgbClr>
          </a:solidFill>
          <a:ln w="12700">
            <a:solidFill>
              <a:srgbClr val="3FD9C4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852160" y="914400"/>
            <a:ext cx="822960" cy="594360"/>
          </a:xfrm>
          <a:prstGeom prst="rect">
            <a:avLst/>
          </a:prstGeom>
          <a:solidFill>
            <a:srgbClr val="3FD9C4">
              <a:alpha val="12000"/>
            </a:srgbClr>
          </a:solidFill>
          <a:ln w="12700">
            <a:solidFill>
              <a:srgbClr val="3FD9C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852160" y="786384"/>
            <a:ext cx="329184" cy="164592"/>
          </a:xfrm>
          <a:prstGeom prst="rect">
            <a:avLst/>
          </a:prstGeom>
          <a:solidFill>
            <a:srgbClr val="3FD9C4">
              <a:alpha val="20000"/>
            </a:srgbClr>
          </a:solidFill>
          <a:ln w="12700">
            <a:solidFill>
              <a:srgbClr val="3FD9C4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949440" y="777240"/>
            <a:ext cx="822960" cy="594360"/>
          </a:xfrm>
          <a:prstGeom prst="rect">
            <a:avLst/>
          </a:prstGeom>
          <a:solidFill>
            <a:srgbClr val="3FD9C4">
              <a:alpha val="12000"/>
            </a:srgbClr>
          </a:solidFill>
          <a:ln w="12700">
            <a:solidFill>
              <a:srgbClr val="3FD9C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949440" y="649224"/>
            <a:ext cx="329184" cy="164592"/>
          </a:xfrm>
          <a:prstGeom prst="rect">
            <a:avLst/>
          </a:prstGeom>
          <a:solidFill>
            <a:srgbClr val="3FD9C4">
              <a:alpha val="20000"/>
            </a:srgbClr>
          </a:solidFill>
          <a:ln w="12700">
            <a:solidFill>
              <a:srgbClr val="3FD9C4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1417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of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548640" y="212140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3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</a:t>
            </a:r>
            <a:endParaRPr lang="en-US" sz="5200" dirty="0"/>
          </a:p>
        </p:txBody>
      </p:sp>
      <p:sp>
        <p:nvSpPr>
          <p:cNvPr id="19" name="Text 17"/>
          <p:cNvSpPr/>
          <p:nvPr/>
        </p:nvSpPr>
        <p:spPr>
          <a:xfrm>
            <a:off x="548640" y="2944368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· Columns · Two Indices · Nested Loops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2468880" y="3401568"/>
            <a:ext cx="274320" cy="274320"/>
          </a:xfrm>
          <a:prstGeom prst="ellipse">
            <a:avLst/>
          </a:prstGeom>
          <a:solidFill>
            <a:srgbClr val="3FD9C4"/>
          </a:solidFill>
          <a:ln w="12700">
            <a:solidFill>
              <a:srgbClr val="3FD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090672" y="3401568"/>
            <a:ext cx="274320" cy="274320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712464" y="3401568"/>
            <a:ext cx="274320" cy="274320"/>
          </a:xfrm>
          <a:prstGeom prst="ellipse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334256" y="3401568"/>
            <a:ext cx="274320" cy="274320"/>
          </a:xfrm>
          <a:prstGeom prst="ellipse">
            <a:avLst/>
          </a:prstGeom>
          <a:solidFill>
            <a:srgbClr val="FFA657"/>
          </a:solidFill>
          <a:ln w="12700">
            <a:solidFill>
              <a:srgbClr val="FFA6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956048" y="3401568"/>
            <a:ext cx="274320" cy="274320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577840" y="3401568"/>
            <a:ext cx="274320" cy="274320"/>
          </a:xfrm>
          <a:prstGeom prst="ellipse">
            <a:avLst/>
          </a:prstGeom>
          <a:solidFill>
            <a:srgbClr val="F778BA"/>
          </a:solidFill>
          <a:ln w="12700">
            <a:solidFill>
              <a:srgbClr val="F778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0" y="45262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4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Bootcamp · Programming Fundamentals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FD9C4"/>
          </a:solidFill>
          <a:ln w="12700">
            <a:solidFill>
              <a:srgbClr val="3FD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FD9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EVERYWHERE GRIDS LIVE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Arrays Are Everywhere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 data has both rows and columns, you almost certainly want a 2D array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170432"/>
            <a:ext cx="8321040" cy="914400"/>
          </a:xfrm>
          <a:prstGeom prst="rect">
            <a:avLst/>
          </a:prstGeom>
          <a:solidFill>
            <a:srgbClr val="161B26"/>
          </a:solidFill>
          <a:ln w="15240">
            <a:solidFill>
              <a:srgbClr val="3FD9C4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243584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 2D array  </a:t>
            </a: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is a rectangular grid of </a:t>
            </a:r>
            <a:r>
              <a:rPr lang="en-US" sz="13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cells </a:t>
            </a: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laid out in rows and columns. Each cell is reached by two numbers: a row index and a column index — </a:t>
            </a: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access is still O(1) just like a regular array.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2212848"/>
            <a:ext cx="1993392" cy="2148840"/>
          </a:xfrm>
          <a:prstGeom prst="rect">
            <a:avLst/>
          </a:prstGeom>
          <a:solidFill>
            <a:srgbClr val="161B26"/>
          </a:solidFill>
          <a:ln w="15240">
            <a:solidFill>
              <a:srgbClr val="3FD9C4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11480" y="2212848"/>
            <a:ext cx="1993392" cy="329184"/>
          </a:xfrm>
          <a:prstGeom prst="rect">
            <a:avLst/>
          </a:prstGeom>
          <a:solidFill>
            <a:srgbClr val="3FD9C4">
              <a:alpha val="78000"/>
            </a:srgbClr>
          </a:solidFill>
          <a:ln w="12700">
            <a:solidFill>
              <a:srgbClr val="3FD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21208" y="2249424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♟️  Game Boards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21208" y="2578608"/>
            <a:ext cx="1773936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Chess, tic-tac-toe,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Sudoku, Minesweeper —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grid-based game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 2D array.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32888" y="2212848"/>
            <a:ext cx="1993392" cy="2148840"/>
          </a:xfrm>
          <a:prstGeom prst="rect">
            <a:avLst/>
          </a:prstGeom>
          <a:solidFill>
            <a:srgbClr val="161B26"/>
          </a:solidFill>
          <a:ln w="15240">
            <a:solidFill>
              <a:srgbClr val="58A6FF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532888" y="2212848"/>
            <a:ext cx="1993392" cy="329184"/>
          </a:xfrm>
          <a:prstGeom prst="rect">
            <a:avLst/>
          </a:prstGeom>
          <a:solidFill>
            <a:srgbClr val="58A6FF">
              <a:alpha val="78000"/>
            </a:srgbClr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642616" y="2249424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Spreadsheets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42616" y="2578608"/>
            <a:ext cx="1773936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Excel, Google Sheets —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and columns of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cells. Cell B3 is just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sheet[2][1] internally.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54296" y="2212848"/>
            <a:ext cx="1993392" cy="2148840"/>
          </a:xfrm>
          <a:prstGeom prst="rect">
            <a:avLst/>
          </a:prstGeom>
          <a:solidFill>
            <a:srgbClr val="161B26"/>
          </a:solidFill>
          <a:ln w="15240">
            <a:solidFill>
              <a:srgbClr val="BC8CFF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54296" y="2212848"/>
            <a:ext cx="1993392" cy="329184"/>
          </a:xfrm>
          <a:prstGeom prst="rect">
            <a:avLst/>
          </a:prstGeom>
          <a:solidFill>
            <a:srgbClr val="BC8CFF">
              <a:alpha val="78000"/>
            </a:srgbClr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64024" y="2249424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🖼️  Images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64024" y="2578608"/>
            <a:ext cx="1773936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photo is a 2D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of pixels — height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width. Filters and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edits are 2D operations.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75704" y="2212848"/>
            <a:ext cx="1993392" cy="2148840"/>
          </a:xfrm>
          <a:prstGeom prst="rect">
            <a:avLst/>
          </a:prstGeom>
          <a:solidFill>
            <a:srgbClr val="161B26"/>
          </a:solidFill>
          <a:ln w="15240">
            <a:solidFill>
              <a:srgbClr val="FFA657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775704" y="2212848"/>
            <a:ext cx="1993392" cy="329184"/>
          </a:xfrm>
          <a:prstGeom prst="rect">
            <a:avLst/>
          </a:prstGeom>
          <a:solidFill>
            <a:srgbClr val="FFA657">
              <a:alpha val="78000"/>
            </a:srgbClr>
          </a:solidFill>
          <a:ln w="12700">
            <a:solidFill>
              <a:srgbClr val="FFA6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885432" y="2249424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Matrices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85432" y="2578608"/>
            <a:ext cx="1773936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Engineering, physics,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machine learning all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 matrices — and a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is exactly a 2D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of numbers.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572000"/>
            <a:ext cx="8412480" cy="384048"/>
          </a:xfrm>
          <a:prstGeom prst="rect">
            <a:avLst/>
          </a:prstGeom>
          <a:solidFill>
            <a:srgbClr val="0A1020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" y="459943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Why this is huge:  </a:t>
            </a: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you can store a grid, you can model almost any structured data. Photos become images. Game worlds become navigable maps. The 2D array is the workhorse behind a huge fraction of real software.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FD9C4"/>
          </a:solidFill>
          <a:ln w="12700">
            <a:solidFill>
              <a:srgbClr val="3FD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FD9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MEMORY LAYOUT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Indices &amp; Memory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indices, one block of memory — and a clever formula that keeps cell access instant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170432"/>
            <a:ext cx="3931920" cy="3246120"/>
          </a:xfrm>
          <a:prstGeom prst="rect">
            <a:avLst/>
          </a:prstGeom>
          <a:solidFill>
            <a:srgbClr val="161B26"/>
          </a:solidFill>
          <a:ln w="15240">
            <a:solidFill>
              <a:srgbClr val="58A6FF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170432"/>
            <a:ext cx="3931920" cy="329184"/>
          </a:xfrm>
          <a:prstGeom prst="rect">
            <a:avLst/>
          </a:prstGeom>
          <a:solidFill>
            <a:srgbClr val="58A6FF">
              <a:alpha val="78000"/>
            </a:srgbClr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2161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The Parts of a 2D Array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600200"/>
            <a:ext cx="777240" cy="329184"/>
          </a:xfrm>
          <a:prstGeom prst="rect">
            <a:avLst/>
          </a:prstGeom>
          <a:solidFill>
            <a:srgbClr val="3FD9C4">
              <a:alpha val="30000"/>
            </a:srgbClr>
          </a:solidFill>
          <a:ln w="12700">
            <a:solidFill>
              <a:srgbClr val="3FD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160020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FD9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389888" y="16184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389888" y="180136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variable, e.g. board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2057400"/>
            <a:ext cx="777240" cy="329184"/>
          </a:xfrm>
          <a:prstGeom prst="rect">
            <a:avLst/>
          </a:prstGeom>
          <a:solidFill>
            <a:srgbClr val="58A6FF">
              <a:alpha val="30000"/>
            </a:srgbClr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205740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389888" y="20756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HEIGHT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89888" y="225856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horizontal lines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2514600"/>
            <a:ext cx="777240" cy="329184"/>
          </a:xfrm>
          <a:prstGeom prst="rect">
            <a:avLst/>
          </a:prstGeom>
          <a:solidFill>
            <a:srgbClr val="BC8CFF">
              <a:alpha val="30000"/>
            </a:srgbClr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251460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389888" y="25328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WIDTH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389888" y="271576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vertical lines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2971800"/>
            <a:ext cx="777240" cy="329184"/>
          </a:xfrm>
          <a:prstGeom prst="rect">
            <a:avLst/>
          </a:prstGeom>
          <a:solidFill>
            <a:srgbClr val="FFA657">
              <a:alpha val="30000"/>
            </a:srgbClr>
          </a:solidFill>
          <a:ln w="12700">
            <a:solidFill>
              <a:srgbClr val="FFA6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8640" y="297180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389888" y="29900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 INDEX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389888" y="317296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 1, ... up to rows-1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8640" y="3429000"/>
            <a:ext cx="777240" cy="329184"/>
          </a:xfrm>
          <a:prstGeom prst="rect">
            <a:avLst/>
          </a:prstGeom>
          <a:solidFill>
            <a:srgbClr val="E3B341">
              <a:alpha val="30000"/>
            </a:srgbClr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48640" y="342900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389888" y="34472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 INDEX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389888" y="363016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 1, ... up to cols-1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8640" y="3886200"/>
            <a:ext cx="777240" cy="329184"/>
          </a:xfrm>
          <a:prstGeom prst="rect">
            <a:avLst/>
          </a:prstGeom>
          <a:solidFill>
            <a:srgbClr val="3FB950">
              <a:alpha val="30000"/>
            </a:srgbClr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48640" y="388620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grid[i][j]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389888" y="39044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CELL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389888" y="408736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at row i, col j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480560" y="1170432"/>
            <a:ext cx="4251960" cy="1536192"/>
          </a:xfrm>
          <a:prstGeom prst="rect">
            <a:avLst/>
          </a:prstGeom>
          <a:solidFill>
            <a:srgbClr val="161B26"/>
          </a:solidFill>
          <a:ln w="15240">
            <a:solidFill>
              <a:srgbClr val="3FD9C4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480560" y="1170432"/>
            <a:ext cx="4251960" cy="329184"/>
          </a:xfrm>
          <a:prstGeom prst="rect">
            <a:avLst/>
          </a:prstGeom>
          <a:solidFill>
            <a:srgbClr val="3FD9C4">
              <a:alpha val="78000"/>
            </a:srgbClr>
          </a:solidFill>
          <a:ln w="12700">
            <a:solidFill>
              <a:srgbClr val="3FD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617720" y="121615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How a 2D array sits in memory (row-major)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617720" y="157276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address(grid[i][j]) = base + (i·cols + j)·size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617720" y="1819656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 0, then row 1, then row 2 — packed in order: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617720" y="2139696"/>
            <a:ext cx="457200" cy="274320"/>
          </a:xfrm>
          <a:prstGeom prst="rect">
            <a:avLst/>
          </a:prstGeom>
          <a:solidFill>
            <a:srgbClr val="3FD9C4">
              <a:alpha val="22000"/>
            </a:srgbClr>
          </a:solidFill>
          <a:ln w="12700">
            <a:solidFill>
              <a:srgbClr val="3FD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617720" y="21396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FD9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148072" y="2139696"/>
            <a:ext cx="457200" cy="274320"/>
          </a:xfrm>
          <a:prstGeom prst="rect">
            <a:avLst/>
          </a:prstGeom>
          <a:solidFill>
            <a:srgbClr val="3FD9C4">
              <a:alpha val="22000"/>
            </a:srgbClr>
          </a:solidFill>
          <a:ln w="12700">
            <a:solidFill>
              <a:srgbClr val="3FD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148072" y="21396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FD9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678424" y="2139696"/>
            <a:ext cx="457200" cy="274320"/>
          </a:xfrm>
          <a:prstGeom prst="rect">
            <a:avLst/>
          </a:prstGeom>
          <a:solidFill>
            <a:srgbClr val="58A6FF">
              <a:alpha val="22000"/>
            </a:srgbClr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678424" y="21396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208776" y="2139696"/>
            <a:ext cx="457200" cy="274320"/>
          </a:xfrm>
          <a:prstGeom prst="rect">
            <a:avLst/>
          </a:prstGeom>
          <a:solidFill>
            <a:srgbClr val="58A6FF">
              <a:alpha val="22000"/>
            </a:srgbClr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208776" y="21396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739128" y="2139696"/>
            <a:ext cx="457200" cy="274320"/>
          </a:xfrm>
          <a:prstGeom prst="rect">
            <a:avLst/>
          </a:prstGeom>
          <a:solidFill>
            <a:srgbClr val="58A6FF">
              <a:alpha val="22000"/>
            </a:srgbClr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739128" y="21396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7269480" y="2139696"/>
            <a:ext cx="457200" cy="274320"/>
          </a:xfrm>
          <a:prstGeom prst="rect">
            <a:avLst/>
          </a:prstGeom>
          <a:solidFill>
            <a:srgbClr val="58A6FF">
              <a:alpha val="22000"/>
            </a:srgbClr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7269480" y="21396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7799832" y="2139696"/>
            <a:ext cx="457200" cy="274320"/>
          </a:xfrm>
          <a:prstGeom prst="rect">
            <a:avLst/>
          </a:prstGeom>
          <a:solidFill>
            <a:srgbClr val="58A6FF">
              <a:alpha val="22000"/>
            </a:srgbClr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7799832" y="21396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8330184" y="2139696"/>
            <a:ext cx="457200" cy="274320"/>
          </a:xfrm>
          <a:prstGeom prst="rect">
            <a:avLst/>
          </a:prstGeom>
          <a:solidFill>
            <a:srgbClr val="58A6FF">
              <a:alpha val="22000"/>
            </a:srgbClr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8330184" y="21396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617720" y="245059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[0][0]    [0][1]    [0][2]    [1][0]    [1][1]    [1][2]    [2][0]    [2][1]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480560" y="2834640"/>
            <a:ext cx="4251960" cy="1581912"/>
          </a:xfrm>
          <a:prstGeom prst="rect">
            <a:avLst/>
          </a:prstGeom>
          <a:solidFill>
            <a:srgbClr val="161B26"/>
          </a:solidFill>
          <a:ln w="15240">
            <a:solidFill>
              <a:srgbClr val="BC8CFF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4480560" y="2834640"/>
            <a:ext cx="4251960" cy="329184"/>
          </a:xfrm>
          <a:prstGeom prst="rect">
            <a:avLst/>
          </a:prstGeom>
          <a:solidFill>
            <a:srgbClr val="BC8CFF">
              <a:alpha val="78000"/>
            </a:srgbClr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4617720" y="288036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Why this matters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4617720" y="3977640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though we think of grid[i][j] as 2D, the computer still stores it as a single line of memory. The formula above turns any (row, column) pair into the right address — instantly. That is why O(1) access still works in two dimensions.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FD9C4"/>
          </a:solidFill>
          <a:ln w="12700">
            <a:solidFill>
              <a:srgbClr val="3FD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FD9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COMMON OPERATIONS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Things You Do With 2D Arrays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operations as a 1D array, plus the nested traversal that visits every cell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170432"/>
            <a:ext cx="4206240" cy="1097280"/>
          </a:xfrm>
          <a:prstGeom prst="rect">
            <a:avLst/>
          </a:prstGeom>
          <a:solidFill>
            <a:srgbClr val="161B26"/>
          </a:solidFill>
          <a:ln w="15240">
            <a:solidFill>
              <a:srgbClr val="3FD9C4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170432"/>
            <a:ext cx="4206240" cy="329184"/>
          </a:xfrm>
          <a:prstGeom prst="rect">
            <a:avLst/>
          </a:prstGeom>
          <a:solidFill>
            <a:srgbClr val="3FD9C4">
              <a:alpha val="78000"/>
            </a:srgbClr>
          </a:solidFill>
          <a:ln w="12700">
            <a:solidFill>
              <a:srgbClr val="3FD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21208" y="1207008"/>
            <a:ext cx="347472" cy="347472"/>
          </a:xfrm>
          <a:prstGeom prst="ellipse">
            <a:avLst/>
          </a:prstGeom>
          <a:solidFill>
            <a:srgbClr val="3FD9C4">
              <a:alpha val="80000"/>
            </a:srgbClr>
          </a:solidFill>
          <a:ln w="19050">
            <a:solidFill>
              <a:srgbClr val="3FD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21208" y="1207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960120" y="1225296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Declare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1517904"/>
            <a:ext cx="3931920" cy="0"/>
          </a:xfrm>
          <a:prstGeom prst="line">
            <a:avLst/>
          </a:prstGeom>
          <a:noFill/>
          <a:ln w="7620">
            <a:solidFill>
              <a:srgbClr val="3D44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1572768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grid. Pick a name,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count, col count, and type.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board ← new 3×3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of characters.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2386584"/>
            <a:ext cx="4206240" cy="1097280"/>
          </a:xfrm>
          <a:prstGeom prst="rect">
            <a:avLst/>
          </a:prstGeom>
          <a:solidFill>
            <a:srgbClr val="161B26"/>
          </a:solidFill>
          <a:ln w="15240">
            <a:solidFill>
              <a:srgbClr val="58A6FF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11480" y="2386584"/>
            <a:ext cx="4206240" cy="329184"/>
          </a:xfrm>
          <a:prstGeom prst="rect">
            <a:avLst/>
          </a:prstGeom>
          <a:solidFill>
            <a:srgbClr val="58A6FF">
              <a:alpha val="78000"/>
            </a:srgbClr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21208" y="2423160"/>
            <a:ext cx="347472" cy="347472"/>
          </a:xfrm>
          <a:prstGeom prst="ellipse">
            <a:avLst/>
          </a:prstGeom>
          <a:solidFill>
            <a:srgbClr val="58A6FF">
              <a:alpha val="80000"/>
            </a:srgbClr>
          </a:solidFill>
          <a:ln w="1905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21208" y="2423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960120" y="2441448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Access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2734056"/>
            <a:ext cx="3931920" cy="0"/>
          </a:xfrm>
          <a:prstGeom prst="line">
            <a:avLst/>
          </a:prstGeom>
          <a:noFill/>
          <a:ln w="7620">
            <a:solidFill>
              <a:srgbClr val="3D44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2788920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cell using row and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column. Two square brackets: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board[1][2]. Always O(1) —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like a 1D array.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1480" y="3602736"/>
            <a:ext cx="4206240" cy="1097280"/>
          </a:xfrm>
          <a:prstGeom prst="rect">
            <a:avLst/>
          </a:prstGeom>
          <a:solidFill>
            <a:srgbClr val="161B26"/>
          </a:solidFill>
          <a:ln w="15240">
            <a:solidFill>
              <a:srgbClr val="BC8CFF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11480" y="3602736"/>
            <a:ext cx="4206240" cy="329184"/>
          </a:xfrm>
          <a:prstGeom prst="rect">
            <a:avLst/>
          </a:prstGeom>
          <a:solidFill>
            <a:srgbClr val="BC8CFF">
              <a:alpha val="78000"/>
            </a:srgbClr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21208" y="3639312"/>
            <a:ext cx="347472" cy="347472"/>
          </a:xfrm>
          <a:prstGeom prst="ellipse">
            <a:avLst/>
          </a:prstGeom>
          <a:solidFill>
            <a:srgbClr val="BC8CFF">
              <a:alpha val="80000"/>
            </a:srgbClr>
          </a:solidFill>
          <a:ln w="1905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21208" y="36393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960120" y="3657600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Update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3950208"/>
            <a:ext cx="3931920" cy="0"/>
          </a:xfrm>
          <a:prstGeom prst="line">
            <a:avLst/>
          </a:prstGeom>
          <a:noFill/>
          <a:ln w="7620">
            <a:solidFill>
              <a:srgbClr val="3D44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48640" y="4005072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value at one cell.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with both indices: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board[1][1] ← 'X'. Old value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overwritten. Also O(1).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00600" y="1170432"/>
            <a:ext cx="4206240" cy="1097280"/>
          </a:xfrm>
          <a:prstGeom prst="rect">
            <a:avLst/>
          </a:prstGeom>
          <a:solidFill>
            <a:srgbClr val="161B26"/>
          </a:solidFill>
          <a:ln w="15240">
            <a:solidFill>
              <a:srgbClr val="FFA657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800600" y="1170432"/>
            <a:ext cx="4206240" cy="329184"/>
          </a:xfrm>
          <a:prstGeom prst="rect">
            <a:avLst/>
          </a:prstGeom>
          <a:solidFill>
            <a:srgbClr val="FFA657">
              <a:alpha val="78000"/>
            </a:srgbClr>
          </a:solidFill>
          <a:ln w="12700">
            <a:solidFill>
              <a:srgbClr val="FFA6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910328" y="1207008"/>
            <a:ext cx="347472" cy="347472"/>
          </a:xfrm>
          <a:prstGeom prst="ellipse">
            <a:avLst/>
          </a:prstGeom>
          <a:solidFill>
            <a:srgbClr val="FFA657">
              <a:alpha val="80000"/>
            </a:srgbClr>
          </a:solidFill>
          <a:ln w="19050">
            <a:solidFill>
              <a:srgbClr val="FFA6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910328" y="1207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2" name="Text 30"/>
          <p:cNvSpPr/>
          <p:nvPr/>
        </p:nvSpPr>
        <p:spPr>
          <a:xfrm>
            <a:off x="5349240" y="1225296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🚶  Traverse Rows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937760" y="1517904"/>
            <a:ext cx="3931920" cy="0"/>
          </a:xfrm>
          <a:prstGeom prst="line">
            <a:avLst/>
          </a:prstGeom>
          <a:noFill/>
          <a:ln w="7620">
            <a:solidFill>
              <a:srgbClr val="3D44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937760" y="1572768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every cell with two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loops. Outer = row,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= column. Reads cells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by row, left to right.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800600" y="2386584"/>
            <a:ext cx="4206240" cy="1097280"/>
          </a:xfrm>
          <a:prstGeom prst="rect">
            <a:avLst/>
          </a:prstGeom>
          <a:solidFill>
            <a:srgbClr val="161B26"/>
          </a:solidFill>
          <a:ln w="15240">
            <a:solidFill>
              <a:srgbClr val="E3B341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800600" y="2386584"/>
            <a:ext cx="4206240" cy="329184"/>
          </a:xfrm>
          <a:prstGeom prst="rect">
            <a:avLst/>
          </a:prstGeom>
          <a:solidFill>
            <a:srgbClr val="E3B341">
              <a:alpha val="78000"/>
            </a:srgbClr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910328" y="2423160"/>
            <a:ext cx="347472" cy="347472"/>
          </a:xfrm>
          <a:prstGeom prst="ellipse">
            <a:avLst/>
          </a:prstGeom>
          <a:solidFill>
            <a:srgbClr val="E3B341">
              <a:alpha val="80000"/>
            </a:srgbClr>
          </a:solidFill>
          <a:ln w="1905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910328" y="2423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9" name="Text 37"/>
          <p:cNvSpPr/>
          <p:nvPr/>
        </p:nvSpPr>
        <p:spPr>
          <a:xfrm>
            <a:off x="5349240" y="2441448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🪜  Traverse Columns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937760" y="2734056"/>
            <a:ext cx="3931920" cy="0"/>
          </a:xfrm>
          <a:prstGeom prst="line">
            <a:avLst/>
          </a:prstGeom>
          <a:noFill/>
          <a:ln w="7620">
            <a:solidFill>
              <a:srgbClr val="3D44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937760" y="2788920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nested loops, swap the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order. Outer = column,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= row. Reads cells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by column, top down.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800600" y="3602736"/>
            <a:ext cx="4206240" cy="1097280"/>
          </a:xfrm>
          <a:prstGeom prst="rect">
            <a:avLst/>
          </a:prstGeom>
          <a:solidFill>
            <a:srgbClr val="161B26"/>
          </a:solidFill>
          <a:ln w="15240">
            <a:solidFill>
              <a:srgbClr val="3FB950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800600" y="3602736"/>
            <a:ext cx="4206240" cy="329184"/>
          </a:xfrm>
          <a:prstGeom prst="rect">
            <a:avLst/>
          </a:prstGeom>
          <a:solidFill>
            <a:srgbClr val="3FB950">
              <a:alpha val="78000"/>
            </a:srgbClr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910328" y="3639312"/>
            <a:ext cx="347472" cy="347472"/>
          </a:xfrm>
          <a:prstGeom prst="ellipse">
            <a:avLst/>
          </a:prstGeom>
          <a:solidFill>
            <a:srgbClr val="3FB950">
              <a:alpha val="80000"/>
            </a:srgbClr>
          </a:solidFill>
          <a:ln w="1905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910328" y="36393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6" name="Text 44"/>
          <p:cNvSpPr/>
          <p:nvPr/>
        </p:nvSpPr>
        <p:spPr>
          <a:xfrm>
            <a:off x="5349240" y="3657600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📏  Dimensions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937760" y="3950208"/>
            <a:ext cx="3931920" cy="0"/>
          </a:xfrm>
          <a:prstGeom prst="line">
            <a:avLst/>
          </a:prstGeom>
          <a:noFill/>
          <a:ln w="7620">
            <a:solidFill>
              <a:srgbClr val="3D44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937760" y="4005072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how many rows and how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columns. Stored with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array, so reading both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instant — O(1).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FD9C4"/>
          </a:solidFill>
          <a:ln w="12700">
            <a:solidFill>
              <a:srgbClr val="3FD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FD9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WORKED EXAMPLE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— A Class Gradebook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students × 4 tests — declaring, filling, accessing, updating, and computing each student's average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170432"/>
            <a:ext cx="8321040" cy="1371600"/>
          </a:xfrm>
          <a:prstGeom prst="rect">
            <a:avLst/>
          </a:prstGeom>
          <a:solidFill>
            <a:srgbClr val="161B26"/>
          </a:solidFill>
          <a:ln w="15240">
            <a:solidFill>
              <a:srgbClr val="3FD9C4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170432"/>
            <a:ext cx="8321040" cy="329184"/>
          </a:xfrm>
          <a:prstGeom prst="rect">
            <a:avLst/>
          </a:prstGeom>
          <a:solidFill>
            <a:srgbClr val="3FD9C4">
              <a:alpha val="78000"/>
            </a:srgbClr>
          </a:solidFill>
          <a:ln w="12700">
            <a:solidFill>
              <a:srgbClr val="3FD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21615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The Operations Pipeline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591056"/>
            <a:ext cx="1261872" cy="658368"/>
          </a:xfrm>
          <a:prstGeom prst="rect">
            <a:avLst/>
          </a:prstGeom>
          <a:solidFill>
            <a:srgbClr val="3FD9C4">
              <a:alpha val="28000"/>
            </a:srgbClr>
          </a:solidFill>
          <a:ln w="15240">
            <a:solidFill>
              <a:srgbClr val="3FD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1591056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3×4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810512" y="1847088"/>
            <a:ext cx="128016" cy="146304"/>
          </a:xfrm>
          <a:prstGeom prst="rect">
            <a:avLst/>
          </a:prstGeom>
          <a:solidFill>
            <a:srgbClr val="F0F6FC">
              <a:alpha val="60000"/>
            </a:srgbClr>
          </a:solidFill>
          <a:ln w="12700">
            <a:solidFill>
              <a:srgbClr val="F0F6F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938528" y="1591056"/>
            <a:ext cx="1261872" cy="658368"/>
          </a:xfrm>
          <a:prstGeom prst="rect">
            <a:avLst/>
          </a:prstGeom>
          <a:solidFill>
            <a:srgbClr val="58A6FF">
              <a:alpha val="28000"/>
            </a:srgbClr>
          </a:solidFill>
          <a:ln w="1524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938528" y="1591056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grades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0" y="1847088"/>
            <a:ext cx="128016" cy="146304"/>
          </a:xfrm>
          <a:prstGeom prst="rect">
            <a:avLst/>
          </a:prstGeom>
          <a:solidFill>
            <a:srgbClr val="F0F6FC">
              <a:alpha val="60000"/>
            </a:srgbClr>
          </a:solidFill>
          <a:ln w="12700">
            <a:solidFill>
              <a:srgbClr val="F0F6F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328416" y="1591056"/>
            <a:ext cx="1261872" cy="658368"/>
          </a:xfrm>
          <a:prstGeom prst="rect">
            <a:avLst/>
          </a:prstGeom>
          <a:solidFill>
            <a:srgbClr val="BC8CFF">
              <a:alpha val="28000"/>
            </a:srgbClr>
          </a:solidFill>
          <a:ln w="1524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28416" y="1591056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[1][2]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90288" y="1847088"/>
            <a:ext cx="128016" cy="146304"/>
          </a:xfrm>
          <a:prstGeom prst="rect">
            <a:avLst/>
          </a:prstGeom>
          <a:solidFill>
            <a:srgbClr val="F0F6FC">
              <a:alpha val="60000"/>
            </a:srgbClr>
          </a:solidFill>
          <a:ln w="12700">
            <a:solidFill>
              <a:srgbClr val="F0F6F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18304" y="1591056"/>
            <a:ext cx="1261872" cy="658368"/>
          </a:xfrm>
          <a:prstGeom prst="rect">
            <a:avLst/>
          </a:prstGeom>
          <a:solidFill>
            <a:srgbClr val="FFA657">
              <a:alpha val="28000"/>
            </a:srgbClr>
          </a:solidFill>
          <a:ln w="15240">
            <a:solidFill>
              <a:srgbClr val="FFA6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18304" y="1591056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[0][3]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980176" y="1847088"/>
            <a:ext cx="128016" cy="146304"/>
          </a:xfrm>
          <a:prstGeom prst="rect">
            <a:avLst/>
          </a:prstGeom>
          <a:solidFill>
            <a:srgbClr val="F0F6FC">
              <a:alpha val="60000"/>
            </a:srgbClr>
          </a:solidFill>
          <a:ln w="12700">
            <a:solidFill>
              <a:srgbClr val="F0F6F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108192" y="1591056"/>
            <a:ext cx="1261872" cy="658368"/>
          </a:xfrm>
          <a:prstGeom prst="rect">
            <a:avLst/>
          </a:prstGeom>
          <a:solidFill>
            <a:srgbClr val="E3B341">
              <a:alpha val="28000"/>
            </a:srgbClr>
          </a:solidFill>
          <a:ln w="1524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108192" y="1591056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rows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370064" y="1847088"/>
            <a:ext cx="128016" cy="146304"/>
          </a:xfrm>
          <a:prstGeom prst="rect">
            <a:avLst/>
          </a:prstGeom>
          <a:solidFill>
            <a:srgbClr val="F0F6FC">
              <a:alpha val="60000"/>
            </a:srgbClr>
          </a:solidFill>
          <a:ln w="12700">
            <a:solidFill>
              <a:srgbClr val="F0F6F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498080" y="1591056"/>
            <a:ext cx="1261872" cy="658368"/>
          </a:xfrm>
          <a:prstGeom prst="rect">
            <a:avLst/>
          </a:prstGeom>
          <a:solidFill>
            <a:srgbClr val="3FB950">
              <a:alpha val="28000"/>
            </a:srgbClr>
          </a:solidFill>
          <a:ln w="1524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498080" y="1591056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avg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11480" y="2670048"/>
            <a:ext cx="4160520" cy="1755648"/>
          </a:xfrm>
          <a:prstGeom prst="rect">
            <a:avLst/>
          </a:prstGeom>
          <a:solidFill>
            <a:srgbClr val="161B26"/>
          </a:solidFill>
          <a:ln w="15240">
            <a:solidFill>
              <a:srgbClr val="58A6FF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11480" y="2670048"/>
            <a:ext cx="4160520" cy="329184"/>
          </a:xfrm>
          <a:prstGeom prst="rect">
            <a:avLst/>
          </a:prstGeom>
          <a:solidFill>
            <a:srgbClr val="58A6FF">
              <a:alpha val="78000"/>
            </a:srgbClr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48640" y="2715768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Step-by-Step Trace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3017520"/>
            <a:ext cx="3895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SET grades ← new 3×4 grid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48640" y="3223260"/>
            <a:ext cx="3895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grades[0] ← [85, 90, 78, 92]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48640" y="3429000"/>
            <a:ext cx="3895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grades[1] ← [70, 75, 80, 72]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48640" y="3634740"/>
            <a:ext cx="3895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grades[2] ← [95, 88, 91, 100]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48640" y="3840480"/>
            <a:ext cx="3895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PRINT grades[1][2]   // outputs 80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48640" y="4046220"/>
            <a:ext cx="3895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SET grades[0][3] ← 100   // retook test 3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48640" y="4251960"/>
            <a:ext cx="3895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FD9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 FOR r = 0..2: avg = sum(grades[r]) / 4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663440" y="2670048"/>
            <a:ext cx="4069080" cy="1755648"/>
          </a:xfrm>
          <a:prstGeom prst="rect">
            <a:avLst/>
          </a:prstGeom>
          <a:solidFill>
            <a:srgbClr val="161B26"/>
          </a:solidFill>
          <a:ln w="15240">
            <a:solidFill>
              <a:srgbClr val="FFA657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663440" y="2670048"/>
            <a:ext cx="4069080" cy="329184"/>
          </a:xfrm>
          <a:prstGeom prst="rect">
            <a:avLst/>
          </a:prstGeom>
          <a:solidFill>
            <a:srgbClr val="FFA657">
              <a:alpha val="78000"/>
            </a:srgbClr>
          </a:solidFill>
          <a:ln w="12700">
            <a:solidFill>
              <a:srgbClr val="FFA6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800600" y="2715768"/>
            <a:ext cx="3803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Counting the Work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00600" y="3017520"/>
            <a:ext cx="3803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Access &amp; update:  </a:t>
            </a: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(read) and step 6 (write) are both O(1) — instant. The address formula maps (1, 2) and (0, 3) to exact memory locations.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800600" y="3566160"/>
            <a:ext cx="38039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Traversal:  </a:t>
            </a: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visits every cell exactly once → O(R × C) work. For 3 students × 4 tests that is 12 reads. For 100 students × 10 tests it would be 1,000 reads.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800600" y="4206240"/>
            <a:ext cx="3803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Final grades: 3 rows of 4  ·  </a:t>
            </a:r>
            <a:r>
              <a:rPr lang="en-US" sz="1000" dirty="0">
                <a:solidFill>
                  <a:srgbClr val="3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Cells: 12  ·  </a:t>
            </a:r>
            <a:r>
              <a:rPr lang="en-US" sz="10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averages computed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65760" y="4572000"/>
            <a:ext cx="8412480" cy="384048"/>
          </a:xfrm>
          <a:prstGeom prst="rect">
            <a:avLst/>
          </a:prstGeom>
          <a:solidFill>
            <a:srgbClr val="0A1020"/>
          </a:solidFill>
          <a:ln w="12700">
            <a:solidFill>
              <a:srgbClr val="3FD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02920" y="459943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The pattern:  </a:t>
            </a: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Anywhere data has both rows and columns, you reach for a 2D array. Inner loop walks one row; outer loop moves to the next row. The same pattern works for game boards, image filters, and report tables — every time.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FD9C4"/>
          </a:solidFill>
          <a:ln w="12700">
            <a:solidFill>
              <a:srgbClr val="3FD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FD9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PROS &amp; CONS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 &amp; Limits of 2D Arrays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2D arrays excel at, where they struggle, and when to choose them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170432"/>
            <a:ext cx="2048256" cy="1783080"/>
          </a:xfrm>
          <a:prstGeom prst="rect">
            <a:avLst/>
          </a:prstGeom>
          <a:solidFill>
            <a:srgbClr val="161B26"/>
          </a:solidFill>
          <a:ln w="15240">
            <a:solidFill>
              <a:srgbClr val="3FD9C4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170432"/>
            <a:ext cx="2048256" cy="329184"/>
          </a:xfrm>
          <a:prstGeom prst="rect">
            <a:avLst/>
          </a:prstGeom>
          <a:solidFill>
            <a:srgbClr val="3FD9C4">
              <a:alpha val="78000"/>
            </a:srgbClr>
          </a:solidFill>
          <a:ln w="12700">
            <a:solidFill>
              <a:srgbClr val="3FD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21208" y="12161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Fast Access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21208" y="1517904"/>
            <a:ext cx="18288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 strength.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grid[i][j] reaches any cell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O(1) — exact same speed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1D array.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87752" y="1170432"/>
            <a:ext cx="2048256" cy="1783080"/>
          </a:xfrm>
          <a:prstGeom prst="rect">
            <a:avLst/>
          </a:prstGeom>
          <a:solidFill>
            <a:srgbClr val="161B26"/>
          </a:solidFill>
          <a:ln w="15240">
            <a:solidFill>
              <a:srgbClr val="58A6FF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587752" y="1170432"/>
            <a:ext cx="2048256" cy="329184"/>
          </a:xfrm>
          <a:prstGeom prst="rect">
            <a:avLst/>
          </a:prstGeom>
          <a:solidFill>
            <a:srgbClr val="58A6FF">
              <a:alpha val="78000"/>
            </a:srgbClr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697480" y="12161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Natural Fit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97480" y="1517904"/>
            <a:ext cx="18288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for grid data.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boards, images, tables,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matrices — the structure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the data shape.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64024" y="1170432"/>
            <a:ext cx="2048256" cy="1783080"/>
          </a:xfrm>
          <a:prstGeom prst="rect">
            <a:avLst/>
          </a:prstGeom>
          <a:solidFill>
            <a:srgbClr val="161B26"/>
          </a:solidFill>
          <a:ln w="15240">
            <a:solidFill>
              <a:srgbClr val="BC8CFF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64024" y="1170432"/>
            <a:ext cx="2048256" cy="329184"/>
          </a:xfrm>
          <a:prstGeom prst="rect">
            <a:avLst/>
          </a:prstGeom>
          <a:solidFill>
            <a:srgbClr val="BC8CFF">
              <a:alpha val="78000"/>
            </a:srgbClr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73752" y="12161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Cache-Friendly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73752" y="1517904"/>
            <a:ext cx="18288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Row-by-row is fastest.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in a row sit next to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other in memory.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rows, not columns.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40296" y="1170432"/>
            <a:ext cx="2048256" cy="1783080"/>
          </a:xfrm>
          <a:prstGeom prst="rect">
            <a:avLst/>
          </a:prstGeom>
          <a:solidFill>
            <a:srgbClr val="161B26"/>
          </a:solidFill>
          <a:ln w="15240">
            <a:solidFill>
              <a:srgbClr val="FFA657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940296" y="1170432"/>
            <a:ext cx="2048256" cy="329184"/>
          </a:xfrm>
          <a:prstGeom prst="rect">
            <a:avLst/>
          </a:prstGeom>
          <a:solidFill>
            <a:srgbClr val="FFA657">
              <a:alpha val="78000"/>
            </a:srgbClr>
          </a:solidFill>
          <a:ln w="12700">
            <a:solidFill>
              <a:srgbClr val="FFA6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050024" y="12161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Easy to Iterate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050024" y="1517904"/>
            <a:ext cx="18288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Two-line traversal.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 = 0..rows-1: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FOR c = 0..cols-1: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 process grid[r][c]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3072384"/>
            <a:ext cx="2048256" cy="1783080"/>
          </a:xfrm>
          <a:prstGeom prst="rect">
            <a:avLst/>
          </a:prstGeom>
          <a:solidFill>
            <a:srgbClr val="161B26"/>
          </a:solidFill>
          <a:ln w="15240">
            <a:solidFill>
              <a:srgbClr val="E3B341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11480" y="3072384"/>
            <a:ext cx="2048256" cy="329184"/>
          </a:xfrm>
          <a:prstGeom prst="rect">
            <a:avLst/>
          </a:prstGeom>
          <a:solidFill>
            <a:srgbClr val="E3B341">
              <a:alpha val="78000"/>
            </a:srgbClr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21208" y="311810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Fixed Dimensions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1208" y="3419856"/>
            <a:ext cx="18288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at creation.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rows and cols are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when you declare it.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bigger? Make a new one.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87752" y="3072384"/>
            <a:ext cx="2048256" cy="1783080"/>
          </a:xfrm>
          <a:prstGeom prst="rect">
            <a:avLst/>
          </a:prstGeom>
          <a:solidFill>
            <a:srgbClr val="161B26"/>
          </a:solidFill>
          <a:ln w="15240">
            <a:solidFill>
              <a:srgbClr val="F85149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587752" y="3072384"/>
            <a:ext cx="2048256" cy="329184"/>
          </a:xfrm>
          <a:prstGeom prst="rect">
            <a:avLst/>
          </a:prstGeom>
          <a:solidFill>
            <a:srgbClr val="F85149">
              <a:alpha val="78000"/>
            </a:srgbClr>
          </a:solidFill>
          <a:ln w="1270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697480" y="311810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Memory Grows Fast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697480" y="3419856"/>
            <a:ext cx="18288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Multiplied, not added.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1000×1000 grid = 1 million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cells. Doubling each side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quadruples total memory.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64024" y="3072384"/>
            <a:ext cx="2048256" cy="1783080"/>
          </a:xfrm>
          <a:prstGeom prst="rect">
            <a:avLst/>
          </a:prstGeom>
          <a:solidFill>
            <a:srgbClr val="161B26"/>
          </a:solidFill>
          <a:ln w="15240">
            <a:solidFill>
              <a:srgbClr val="3FB950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764024" y="3072384"/>
            <a:ext cx="2048256" cy="329184"/>
          </a:xfrm>
          <a:prstGeom prst="rect">
            <a:avLst/>
          </a:prstGeom>
          <a:solidFill>
            <a:srgbClr val="3FB950">
              <a:alpha val="78000"/>
            </a:srgbClr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73752" y="311810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🕳️  Sparse Data?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73752" y="3419856"/>
            <a:ext cx="18288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 for empty cells.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most cells are unused,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2D array still allocates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for all of them.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940296" y="3072384"/>
            <a:ext cx="2048256" cy="1783080"/>
          </a:xfrm>
          <a:prstGeom prst="rect">
            <a:avLst/>
          </a:prstGeom>
          <a:solidFill>
            <a:srgbClr val="161B26"/>
          </a:solidFill>
          <a:ln w="15240">
            <a:solidFill>
              <a:srgbClr val="F778BA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940296" y="3072384"/>
            <a:ext cx="2048256" cy="329184"/>
          </a:xfrm>
          <a:prstGeom prst="rect">
            <a:avLst/>
          </a:prstGeom>
          <a:solidFill>
            <a:srgbClr val="F778BA">
              <a:alpha val="78000"/>
            </a:srgbClr>
          </a:solidFill>
          <a:ln w="12700">
            <a:solidFill>
              <a:srgbClr val="F778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050024" y="311810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Use 2D Arrays When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050024" y="3419856"/>
            <a:ext cx="18288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tool when: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naturally a grid,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 are known up front,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most cells will be used.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FD9C4"/>
          </a:solidFill>
          <a:ln w="12700">
            <a:solidFill>
              <a:srgbClr val="3FD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8046720" cy="3657600"/>
          </a:xfrm>
          <a:prstGeom prst="rect">
            <a:avLst/>
          </a:prstGeom>
          <a:solidFill>
            <a:srgbClr val="161B26"/>
          </a:solidFill>
          <a:ln w="19050">
            <a:solidFill>
              <a:srgbClr val="3FD9C4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8412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97864" y="8412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81328" y="8412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D44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64792" y="8412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FD9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048256" y="8412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FD9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331720" y="8412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FD9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615184" y="8412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FD9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898648" y="8412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FD9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182112" y="8412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D44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65576" y="8412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749040" y="8412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032504" y="8412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315968" y="8412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99432" y="8412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82896" y="8412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D44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166360" y="8412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49824" y="8412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733288" y="8412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16752" y="8412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00216" y="8412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D44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583680" y="8412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67144" y="8412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150608" y="8412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434072" y="8412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717536" y="8412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001000" y="8412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284464" y="8412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48640" y="1417320"/>
            <a:ext cx="8046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Next:</a:t>
            </a:r>
            <a:endParaRPr lang="en-US" sz="5200" dirty="0"/>
          </a:p>
        </p:txBody>
      </p:sp>
      <p:sp>
        <p:nvSpPr>
          <p:cNvPr id="33" name="Text 31"/>
          <p:cNvSpPr/>
          <p:nvPr/>
        </p:nvSpPr>
        <p:spPr>
          <a:xfrm>
            <a:off x="548640" y="2148840"/>
            <a:ext cx="8046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3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Lists</a:t>
            </a:r>
            <a:endParaRPr lang="en-US" sz="5200" dirty="0"/>
          </a:p>
        </p:txBody>
      </p:sp>
      <p:sp>
        <p:nvSpPr>
          <p:cNvPr id="34" name="Text 32"/>
          <p:cNvSpPr/>
          <p:nvPr/>
        </p:nvSpPr>
        <p:spPr>
          <a:xfrm>
            <a:off x="548640" y="299923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we trade fast access for flexible size — a different kind of list entirely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2468880" y="3401568"/>
            <a:ext cx="274320" cy="274320"/>
          </a:xfrm>
          <a:prstGeom prst="ellipse">
            <a:avLst/>
          </a:prstGeom>
          <a:solidFill>
            <a:srgbClr val="3FD9C4"/>
          </a:solidFill>
          <a:ln w="12700">
            <a:solidFill>
              <a:srgbClr val="3FD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090672" y="3401568"/>
            <a:ext cx="274320" cy="274320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3712464" y="3401568"/>
            <a:ext cx="274320" cy="274320"/>
          </a:xfrm>
          <a:prstGeom prst="ellipse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334256" y="3401568"/>
            <a:ext cx="274320" cy="274320"/>
          </a:xfrm>
          <a:prstGeom prst="ellipse">
            <a:avLst/>
          </a:prstGeom>
          <a:solidFill>
            <a:srgbClr val="FFA657"/>
          </a:solidFill>
          <a:ln w="12700">
            <a:solidFill>
              <a:srgbClr val="FFA6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956048" y="3401568"/>
            <a:ext cx="274320" cy="274320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5577840" y="3401568"/>
            <a:ext cx="274320" cy="274320"/>
          </a:xfrm>
          <a:prstGeom prst="ellipse">
            <a:avLst/>
          </a:prstGeom>
          <a:solidFill>
            <a:srgbClr val="F778BA"/>
          </a:solidFill>
          <a:ln w="12700">
            <a:solidFill>
              <a:srgbClr val="F778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0" y="45262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4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Bootcamp · Programming Fundamentals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FD9C4"/>
          </a:solidFill>
          <a:ln w="12700">
            <a:solidFill>
              <a:srgbClr val="3FD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FD9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VISUAL DEMO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 × 8 Grid in Action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8778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game map stored as a 2D array — each row is a horizontal line of tiles, each column a vertical line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170432"/>
            <a:ext cx="2048256" cy="3749040"/>
          </a:xfrm>
          <a:prstGeom prst="rect">
            <a:avLst/>
          </a:prstGeom>
          <a:solidFill>
            <a:srgbClr val="161B26"/>
          </a:solidFill>
          <a:ln w="15240">
            <a:solidFill>
              <a:srgbClr val="58A6FF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170432"/>
            <a:ext cx="2048256" cy="329184"/>
          </a:xfrm>
          <a:prstGeom prst="rect">
            <a:avLst/>
          </a:prstGeom>
          <a:solidFill>
            <a:srgbClr val="58A6FF">
              <a:alpha val="78000"/>
            </a:srgbClr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207008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▶️  Row 0 — top row of the map (the "sky" line)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1572768"/>
            <a:ext cx="457200" cy="256032"/>
          </a:xfrm>
          <a:prstGeom prst="rect">
            <a:avLst/>
          </a:prstGeom>
          <a:solidFill>
            <a:srgbClr val="58A6FF">
              <a:alpha val="28000"/>
            </a:srgbClr>
          </a:solidFill>
          <a:ln w="1016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157276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14984" y="16002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[0][0] grass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1965960"/>
            <a:ext cx="457200" cy="256032"/>
          </a:xfrm>
          <a:prstGeom prst="rect">
            <a:avLst/>
          </a:prstGeom>
          <a:solidFill>
            <a:srgbClr val="58A6FF">
              <a:alpha val="28000"/>
            </a:srgbClr>
          </a:solidFill>
          <a:ln w="1016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1965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14984" y="19933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[0][1] grass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2359152"/>
            <a:ext cx="457200" cy="256032"/>
          </a:xfrm>
          <a:prstGeom prst="rect">
            <a:avLst/>
          </a:prstGeom>
          <a:solidFill>
            <a:srgbClr val="58A6FF">
              <a:alpha val="28000"/>
            </a:srgbClr>
          </a:solidFill>
          <a:ln w="1016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23591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14984" y="23865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[0][2] tree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" y="2752344"/>
            <a:ext cx="457200" cy="256032"/>
          </a:xfrm>
          <a:prstGeom prst="rect">
            <a:avLst/>
          </a:prstGeom>
          <a:solidFill>
            <a:srgbClr val="58A6FF">
              <a:alpha val="28000"/>
            </a:srgbClr>
          </a:solidFill>
          <a:ln w="1016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" y="275234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14984" y="27797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[0][3] grass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" y="3145536"/>
            <a:ext cx="457200" cy="256032"/>
          </a:xfrm>
          <a:prstGeom prst="rect">
            <a:avLst/>
          </a:prstGeom>
          <a:solidFill>
            <a:srgbClr val="58A6FF">
              <a:alpha val="28000"/>
            </a:srgbClr>
          </a:solidFill>
          <a:ln w="1016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" y="314553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14984" y="31729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[0][4] grass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2920" y="3538728"/>
            <a:ext cx="457200" cy="256032"/>
          </a:xfrm>
          <a:prstGeom prst="rect">
            <a:avLst/>
          </a:prstGeom>
          <a:solidFill>
            <a:srgbClr val="58A6FF">
              <a:alpha val="28000"/>
            </a:srgbClr>
          </a:solidFill>
          <a:ln w="1016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" y="35387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14984" y="35661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[0][5] grass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02920" y="3931920"/>
            <a:ext cx="457200" cy="256032"/>
          </a:xfrm>
          <a:prstGeom prst="rect">
            <a:avLst/>
          </a:prstGeom>
          <a:solidFill>
            <a:srgbClr val="58A6FF">
              <a:alpha val="28000"/>
            </a:srgbClr>
          </a:solidFill>
          <a:ln w="1016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02920" y="39319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14984" y="39593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[0][6] grass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02920" y="4325112"/>
            <a:ext cx="457200" cy="256032"/>
          </a:xfrm>
          <a:prstGeom prst="rect">
            <a:avLst/>
          </a:prstGeom>
          <a:solidFill>
            <a:srgbClr val="58A6FF">
              <a:alpha val="28000"/>
            </a:srgbClr>
          </a:solidFill>
          <a:ln w="1016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02920" y="43251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14984" y="43525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[0][7] water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587752" y="1170432"/>
            <a:ext cx="2048256" cy="3749040"/>
          </a:xfrm>
          <a:prstGeom prst="rect">
            <a:avLst/>
          </a:prstGeom>
          <a:solidFill>
            <a:srgbClr val="161B26"/>
          </a:solidFill>
          <a:ln w="15240">
            <a:solidFill>
              <a:srgbClr val="BC8CFF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587752" y="1170432"/>
            <a:ext cx="2048256" cy="329184"/>
          </a:xfrm>
          <a:prstGeom prst="rect">
            <a:avLst/>
          </a:prstGeom>
          <a:solidFill>
            <a:srgbClr val="BC8CFF">
              <a:alpha val="78000"/>
            </a:srgbClr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679192" y="1207008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1️⃣  Row 1 — second row, scattered trees, water on the right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679192" y="1572768"/>
            <a:ext cx="457200" cy="256032"/>
          </a:xfrm>
          <a:prstGeom prst="rect">
            <a:avLst/>
          </a:prstGeom>
          <a:solidFill>
            <a:srgbClr val="BC8CFF">
              <a:alpha val="28000"/>
            </a:srgbClr>
          </a:solidFill>
          <a:ln w="1016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679192" y="157276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191256" y="16002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[1][0]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679192" y="1965960"/>
            <a:ext cx="457200" cy="256032"/>
          </a:xfrm>
          <a:prstGeom prst="rect">
            <a:avLst/>
          </a:prstGeom>
          <a:solidFill>
            <a:srgbClr val="BC8CFF">
              <a:alpha val="28000"/>
            </a:srgbClr>
          </a:solidFill>
          <a:ln w="1016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2679192" y="1965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191256" y="19933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[1][1]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679192" y="2359152"/>
            <a:ext cx="457200" cy="256032"/>
          </a:xfrm>
          <a:prstGeom prst="rect">
            <a:avLst/>
          </a:prstGeom>
          <a:solidFill>
            <a:srgbClr val="BC8CFF">
              <a:alpha val="28000"/>
            </a:srgbClr>
          </a:solidFill>
          <a:ln w="1016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2679192" y="23591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191256" y="23865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[1][2] tree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679192" y="2752344"/>
            <a:ext cx="457200" cy="256032"/>
          </a:xfrm>
          <a:prstGeom prst="rect">
            <a:avLst/>
          </a:prstGeom>
          <a:solidFill>
            <a:srgbClr val="BC8CFF">
              <a:alpha val="28000"/>
            </a:srgbClr>
          </a:solidFill>
          <a:ln w="1016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2679192" y="275234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191256" y="27797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[1][3]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679192" y="3145536"/>
            <a:ext cx="457200" cy="256032"/>
          </a:xfrm>
          <a:prstGeom prst="rect">
            <a:avLst/>
          </a:prstGeom>
          <a:solidFill>
            <a:srgbClr val="BC8CFF">
              <a:alpha val="28000"/>
            </a:srgbClr>
          </a:solidFill>
          <a:ln w="1016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2679192" y="314553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3191256" y="31729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[1][4]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2679192" y="3538728"/>
            <a:ext cx="457200" cy="256032"/>
          </a:xfrm>
          <a:prstGeom prst="rect">
            <a:avLst/>
          </a:prstGeom>
          <a:solidFill>
            <a:srgbClr val="BC8CFF">
              <a:alpha val="28000"/>
            </a:srgbClr>
          </a:solidFill>
          <a:ln w="1016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2679192" y="35387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191256" y="35661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[1][5] tree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2679192" y="3931920"/>
            <a:ext cx="457200" cy="256032"/>
          </a:xfrm>
          <a:prstGeom prst="rect">
            <a:avLst/>
          </a:prstGeom>
          <a:solidFill>
            <a:srgbClr val="BC8CFF">
              <a:alpha val="28000"/>
            </a:srgbClr>
          </a:solidFill>
          <a:ln w="1016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2679192" y="39319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3191256" y="39593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[1][6]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2679192" y="4325112"/>
            <a:ext cx="457200" cy="256032"/>
          </a:xfrm>
          <a:prstGeom prst="rect">
            <a:avLst/>
          </a:prstGeom>
          <a:solidFill>
            <a:srgbClr val="BC8CFF">
              <a:alpha val="28000"/>
            </a:srgbClr>
          </a:solidFill>
          <a:ln w="1016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2679192" y="43251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3191256" y="43525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[1][7] water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4764024" y="1170432"/>
            <a:ext cx="2048256" cy="3749040"/>
          </a:xfrm>
          <a:prstGeom prst="rect">
            <a:avLst/>
          </a:prstGeom>
          <a:solidFill>
            <a:srgbClr val="161B26"/>
          </a:solidFill>
          <a:ln w="15240">
            <a:solidFill>
              <a:srgbClr val="FFA657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4764024" y="1170432"/>
            <a:ext cx="2048256" cy="329184"/>
          </a:xfrm>
          <a:prstGeom prst="rect">
            <a:avLst/>
          </a:prstGeom>
          <a:solidFill>
            <a:srgbClr val="FFA657">
              <a:alpha val="78000"/>
            </a:srgbClr>
          </a:solidFill>
          <a:ln w="12700">
            <a:solidFill>
              <a:srgbClr val="FFA6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4855464" y="1207008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2️⃣  Row 2 — the player "P" lives at grid[2][0]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855464" y="1572768"/>
            <a:ext cx="457200" cy="256032"/>
          </a:xfrm>
          <a:prstGeom prst="rect">
            <a:avLst/>
          </a:prstGeom>
          <a:solidFill>
            <a:srgbClr val="FFA657">
              <a:alpha val="28000"/>
            </a:srgbClr>
          </a:solidFill>
          <a:ln w="10160">
            <a:solidFill>
              <a:srgbClr val="FFA6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4855464" y="157276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367528" y="16002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[2][0] PLAYER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4855464" y="1965960"/>
            <a:ext cx="457200" cy="256032"/>
          </a:xfrm>
          <a:prstGeom prst="rect">
            <a:avLst/>
          </a:prstGeom>
          <a:solidFill>
            <a:srgbClr val="FFA657">
              <a:alpha val="28000"/>
            </a:srgbClr>
          </a:solidFill>
          <a:ln w="10160">
            <a:solidFill>
              <a:srgbClr val="FFA6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4855464" y="1965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5367528" y="19933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[2][1]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4855464" y="2359152"/>
            <a:ext cx="457200" cy="256032"/>
          </a:xfrm>
          <a:prstGeom prst="rect">
            <a:avLst/>
          </a:prstGeom>
          <a:solidFill>
            <a:srgbClr val="FFA657">
              <a:alpha val="28000"/>
            </a:srgbClr>
          </a:solidFill>
          <a:ln w="10160">
            <a:solidFill>
              <a:srgbClr val="FFA6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4855464" y="23591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5367528" y="23865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[2][2]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4855464" y="2752344"/>
            <a:ext cx="457200" cy="256032"/>
          </a:xfrm>
          <a:prstGeom prst="rect">
            <a:avLst/>
          </a:prstGeom>
          <a:solidFill>
            <a:srgbClr val="FFA657">
              <a:alpha val="28000"/>
            </a:srgbClr>
          </a:solidFill>
          <a:ln w="10160">
            <a:solidFill>
              <a:srgbClr val="FFA6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4855464" y="275234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5367528" y="27797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[2][3]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4855464" y="3145536"/>
            <a:ext cx="457200" cy="256032"/>
          </a:xfrm>
          <a:prstGeom prst="rect">
            <a:avLst/>
          </a:prstGeom>
          <a:solidFill>
            <a:srgbClr val="FFA657">
              <a:alpha val="28000"/>
            </a:srgbClr>
          </a:solidFill>
          <a:ln w="10160">
            <a:solidFill>
              <a:srgbClr val="FFA6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4855464" y="314553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5367528" y="31729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[2][4]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4855464" y="3538728"/>
            <a:ext cx="457200" cy="256032"/>
          </a:xfrm>
          <a:prstGeom prst="rect">
            <a:avLst/>
          </a:prstGeom>
          <a:solidFill>
            <a:srgbClr val="FFA657">
              <a:alpha val="28000"/>
            </a:srgbClr>
          </a:solidFill>
          <a:ln w="10160">
            <a:solidFill>
              <a:srgbClr val="FFA6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4855464" y="35387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5367528" y="35661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[2][5]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4855464" y="3931920"/>
            <a:ext cx="457200" cy="256032"/>
          </a:xfrm>
          <a:prstGeom prst="rect">
            <a:avLst/>
          </a:prstGeom>
          <a:solidFill>
            <a:srgbClr val="FFA657">
              <a:alpha val="28000"/>
            </a:srgbClr>
          </a:solidFill>
          <a:ln w="10160">
            <a:solidFill>
              <a:srgbClr val="FFA6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4855464" y="39319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5367528" y="39593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[2][6]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4855464" y="4325112"/>
            <a:ext cx="457200" cy="256032"/>
          </a:xfrm>
          <a:prstGeom prst="rect">
            <a:avLst/>
          </a:prstGeom>
          <a:solidFill>
            <a:srgbClr val="FFA657">
              <a:alpha val="28000"/>
            </a:srgbClr>
          </a:solidFill>
          <a:ln w="10160">
            <a:solidFill>
              <a:srgbClr val="FFA6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4855464" y="43251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5367528" y="43525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[2][7] water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6940296" y="1170432"/>
            <a:ext cx="2048256" cy="3749040"/>
          </a:xfrm>
          <a:prstGeom prst="rect">
            <a:avLst/>
          </a:prstGeom>
          <a:solidFill>
            <a:srgbClr val="161B26"/>
          </a:solidFill>
          <a:ln w="15240">
            <a:solidFill>
              <a:srgbClr val="3FB950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6940296" y="1170432"/>
            <a:ext cx="2048256" cy="329184"/>
          </a:xfrm>
          <a:prstGeom prst="rect">
            <a:avLst/>
          </a:prstGeom>
          <a:solidFill>
            <a:srgbClr val="3FB950">
              <a:alpha val="78000"/>
            </a:srgbClr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7031736" y="1207008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3️⃣  Row 3 — bottom row, a rock "R" sits at grid[3][5]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7031736" y="1572768"/>
            <a:ext cx="457200" cy="256032"/>
          </a:xfrm>
          <a:prstGeom prst="rect">
            <a:avLst/>
          </a:prstGeom>
          <a:solidFill>
            <a:srgbClr val="3FB950">
              <a:alpha val="28000"/>
            </a:srgbClr>
          </a:solidFill>
          <a:ln w="1016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7031736" y="157276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7543800" y="16002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[3][0]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7031736" y="1965960"/>
            <a:ext cx="457200" cy="256032"/>
          </a:xfrm>
          <a:prstGeom prst="rect">
            <a:avLst/>
          </a:prstGeom>
          <a:solidFill>
            <a:srgbClr val="3FB950">
              <a:alpha val="28000"/>
            </a:srgbClr>
          </a:solidFill>
          <a:ln w="1016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7031736" y="1965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</a:t>
            </a:r>
            <a:endParaRPr lang="en-US" sz="900" dirty="0"/>
          </a:p>
        </p:txBody>
      </p:sp>
      <p:sp>
        <p:nvSpPr>
          <p:cNvPr id="96" name="Text 94"/>
          <p:cNvSpPr/>
          <p:nvPr/>
        </p:nvSpPr>
        <p:spPr>
          <a:xfrm>
            <a:off x="7543800" y="19933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[3][1]</a:t>
            </a:r>
            <a:endParaRPr lang="en-US" sz="950" dirty="0"/>
          </a:p>
        </p:txBody>
      </p:sp>
      <p:sp>
        <p:nvSpPr>
          <p:cNvPr id="97" name="Shape 95"/>
          <p:cNvSpPr/>
          <p:nvPr/>
        </p:nvSpPr>
        <p:spPr>
          <a:xfrm>
            <a:off x="7031736" y="2359152"/>
            <a:ext cx="457200" cy="256032"/>
          </a:xfrm>
          <a:prstGeom prst="rect">
            <a:avLst/>
          </a:prstGeom>
          <a:solidFill>
            <a:srgbClr val="3FB950">
              <a:alpha val="28000"/>
            </a:srgbClr>
          </a:solidFill>
          <a:ln w="1016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96"/>
          <p:cNvSpPr/>
          <p:nvPr/>
        </p:nvSpPr>
        <p:spPr>
          <a:xfrm>
            <a:off x="7031736" y="23591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</a:t>
            </a:r>
            <a:endParaRPr lang="en-US" sz="900" dirty="0"/>
          </a:p>
        </p:txBody>
      </p:sp>
      <p:sp>
        <p:nvSpPr>
          <p:cNvPr id="99" name="Text 97"/>
          <p:cNvSpPr/>
          <p:nvPr/>
        </p:nvSpPr>
        <p:spPr>
          <a:xfrm>
            <a:off x="7543800" y="23865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[3][2]</a:t>
            </a:r>
            <a:endParaRPr lang="en-US" sz="950" dirty="0"/>
          </a:p>
        </p:txBody>
      </p:sp>
      <p:sp>
        <p:nvSpPr>
          <p:cNvPr id="100" name="Shape 98"/>
          <p:cNvSpPr/>
          <p:nvPr/>
        </p:nvSpPr>
        <p:spPr>
          <a:xfrm>
            <a:off x="7031736" y="2752344"/>
            <a:ext cx="457200" cy="256032"/>
          </a:xfrm>
          <a:prstGeom prst="rect">
            <a:avLst/>
          </a:prstGeom>
          <a:solidFill>
            <a:srgbClr val="3FB950">
              <a:alpha val="28000"/>
            </a:srgbClr>
          </a:solidFill>
          <a:ln w="1016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99"/>
          <p:cNvSpPr/>
          <p:nvPr/>
        </p:nvSpPr>
        <p:spPr>
          <a:xfrm>
            <a:off x="7031736" y="275234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</a:t>
            </a:r>
            <a:endParaRPr lang="en-US" sz="900" dirty="0"/>
          </a:p>
        </p:txBody>
      </p:sp>
      <p:sp>
        <p:nvSpPr>
          <p:cNvPr id="102" name="Text 100"/>
          <p:cNvSpPr/>
          <p:nvPr/>
        </p:nvSpPr>
        <p:spPr>
          <a:xfrm>
            <a:off x="7543800" y="27797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[3][3]</a:t>
            </a:r>
            <a:endParaRPr lang="en-US" sz="950" dirty="0"/>
          </a:p>
        </p:txBody>
      </p:sp>
      <p:sp>
        <p:nvSpPr>
          <p:cNvPr id="103" name="Shape 101"/>
          <p:cNvSpPr/>
          <p:nvPr/>
        </p:nvSpPr>
        <p:spPr>
          <a:xfrm>
            <a:off x="7031736" y="3145536"/>
            <a:ext cx="457200" cy="256032"/>
          </a:xfrm>
          <a:prstGeom prst="rect">
            <a:avLst/>
          </a:prstGeom>
          <a:solidFill>
            <a:srgbClr val="3FB950">
              <a:alpha val="28000"/>
            </a:srgbClr>
          </a:solidFill>
          <a:ln w="1016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 102"/>
          <p:cNvSpPr/>
          <p:nvPr/>
        </p:nvSpPr>
        <p:spPr>
          <a:xfrm>
            <a:off x="7031736" y="314553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</a:t>
            </a:r>
            <a:endParaRPr lang="en-US" sz="900" dirty="0"/>
          </a:p>
        </p:txBody>
      </p:sp>
      <p:sp>
        <p:nvSpPr>
          <p:cNvPr id="105" name="Text 103"/>
          <p:cNvSpPr/>
          <p:nvPr/>
        </p:nvSpPr>
        <p:spPr>
          <a:xfrm>
            <a:off x="7543800" y="31729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[3][4]</a:t>
            </a:r>
            <a:endParaRPr lang="en-US" sz="950" dirty="0"/>
          </a:p>
        </p:txBody>
      </p:sp>
      <p:sp>
        <p:nvSpPr>
          <p:cNvPr id="106" name="Shape 104"/>
          <p:cNvSpPr/>
          <p:nvPr/>
        </p:nvSpPr>
        <p:spPr>
          <a:xfrm>
            <a:off x="7031736" y="3538728"/>
            <a:ext cx="457200" cy="256032"/>
          </a:xfrm>
          <a:prstGeom prst="rect">
            <a:avLst/>
          </a:prstGeom>
          <a:solidFill>
            <a:srgbClr val="3FB950">
              <a:alpha val="28000"/>
            </a:srgbClr>
          </a:solidFill>
          <a:ln w="1016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 105"/>
          <p:cNvSpPr/>
          <p:nvPr/>
        </p:nvSpPr>
        <p:spPr>
          <a:xfrm>
            <a:off x="7031736" y="35387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900" dirty="0"/>
          </a:p>
        </p:txBody>
      </p:sp>
      <p:sp>
        <p:nvSpPr>
          <p:cNvPr id="108" name="Text 106"/>
          <p:cNvSpPr/>
          <p:nvPr/>
        </p:nvSpPr>
        <p:spPr>
          <a:xfrm>
            <a:off x="7543800" y="35661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[3][5] ROCK</a:t>
            </a:r>
            <a:endParaRPr lang="en-US" sz="950" dirty="0"/>
          </a:p>
        </p:txBody>
      </p:sp>
      <p:sp>
        <p:nvSpPr>
          <p:cNvPr id="109" name="Shape 107"/>
          <p:cNvSpPr/>
          <p:nvPr/>
        </p:nvSpPr>
        <p:spPr>
          <a:xfrm>
            <a:off x="7031736" y="3931920"/>
            <a:ext cx="457200" cy="256032"/>
          </a:xfrm>
          <a:prstGeom prst="rect">
            <a:avLst/>
          </a:prstGeom>
          <a:solidFill>
            <a:srgbClr val="3FB950">
              <a:alpha val="28000"/>
            </a:srgbClr>
          </a:solidFill>
          <a:ln w="1016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Text 108"/>
          <p:cNvSpPr/>
          <p:nvPr/>
        </p:nvSpPr>
        <p:spPr>
          <a:xfrm>
            <a:off x="7031736" y="39319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</a:t>
            </a:r>
            <a:endParaRPr lang="en-US" sz="900" dirty="0"/>
          </a:p>
        </p:txBody>
      </p:sp>
      <p:sp>
        <p:nvSpPr>
          <p:cNvPr id="111" name="Text 109"/>
          <p:cNvSpPr/>
          <p:nvPr/>
        </p:nvSpPr>
        <p:spPr>
          <a:xfrm>
            <a:off x="7543800" y="39593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[3][6]</a:t>
            </a:r>
            <a:endParaRPr lang="en-US" sz="950" dirty="0"/>
          </a:p>
        </p:txBody>
      </p:sp>
      <p:sp>
        <p:nvSpPr>
          <p:cNvPr id="112" name="Shape 110"/>
          <p:cNvSpPr/>
          <p:nvPr/>
        </p:nvSpPr>
        <p:spPr>
          <a:xfrm>
            <a:off x="7031736" y="4325112"/>
            <a:ext cx="457200" cy="256032"/>
          </a:xfrm>
          <a:prstGeom prst="rect">
            <a:avLst/>
          </a:prstGeom>
          <a:solidFill>
            <a:srgbClr val="3FB950">
              <a:alpha val="28000"/>
            </a:srgbClr>
          </a:solidFill>
          <a:ln w="1016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Text 111"/>
          <p:cNvSpPr/>
          <p:nvPr/>
        </p:nvSpPr>
        <p:spPr>
          <a:xfrm>
            <a:off x="7031736" y="43251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</a:t>
            </a:r>
            <a:endParaRPr lang="en-US" sz="900" dirty="0"/>
          </a:p>
        </p:txBody>
      </p:sp>
      <p:sp>
        <p:nvSpPr>
          <p:cNvPr id="114" name="Text 112"/>
          <p:cNvSpPr/>
          <p:nvPr/>
        </p:nvSpPr>
        <p:spPr>
          <a:xfrm>
            <a:off x="7543800" y="43525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[3][7]</a:t>
            </a:r>
            <a:endParaRPr lang="en-US" sz="9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38"/>
          <p:cNvSpPr txBox="1">
            <a:spLocks noGrp="1"/>
          </p:cNvSpPr>
          <p:nvPr>
            <p:ph type="title"/>
          </p:nvPr>
        </p:nvSpPr>
        <p:spPr>
          <a:xfrm>
            <a:off x="5548225" y="2230950"/>
            <a:ext cx="3062100" cy="68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شــــــكــــرًا لكــــــم</a:t>
            </a:r>
            <a:endParaRPr sz="4000" b="1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580" name="Google Shape;580;p38"/>
          <p:cNvSpPr txBox="1">
            <a:spLocks noGrp="1"/>
          </p:cNvSpPr>
          <p:nvPr>
            <p:ph type="ctrTitle" idx="4294967295"/>
          </p:nvPr>
        </p:nvSpPr>
        <p:spPr>
          <a:xfrm>
            <a:off x="4166050" y="2870075"/>
            <a:ext cx="4444200" cy="57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900" b="1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THANK YOU</a:t>
            </a:r>
            <a:endParaRPr sz="2900" b="1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31173</TotalTime>
  <Words>6497</Words>
  <Application>Microsoft Office PowerPoint</Application>
  <PresentationFormat>On-screen Show (16:9)</PresentationFormat>
  <Paragraphs>1230</Paragraphs>
  <Slides>42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0" baseType="lpstr">
      <vt:lpstr>Tajawal</vt:lpstr>
      <vt:lpstr>Calibri</vt:lpstr>
      <vt:lpstr>IBM Plex Sans Arabic</vt:lpstr>
      <vt:lpstr>IBM Plex Sans Arabic Medium</vt:lpstr>
      <vt:lpstr>Consolas</vt:lpstr>
      <vt:lpstr>Arial</vt:lpstr>
      <vt:lpstr>IBM Plex Sans Arabic SemiBold</vt:lpstr>
      <vt:lpstr>Simple Light</vt:lpstr>
      <vt:lpstr>أكـــــاديميــــة طــــويـــق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شــــــكــــرًا لكــــــم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Ahmed Al-Hadari</dc:creator>
  <cp:lastModifiedBy>Ahmed Alhussein</cp:lastModifiedBy>
  <cp:revision>257</cp:revision>
  <dcterms:modified xsi:type="dcterms:W3CDTF">2026-04-17T17:20:07Z</dcterms:modified>
</cp:coreProperties>
</file>