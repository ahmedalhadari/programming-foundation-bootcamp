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541" r:id="rId3"/>
    <p:sldId id="542" r:id="rId4"/>
    <p:sldId id="258" r:id="rId5"/>
    <p:sldId id="519" r:id="rId6"/>
    <p:sldId id="257" r:id="rId7"/>
    <p:sldId id="509" r:id="rId8"/>
    <p:sldId id="502" r:id="rId9"/>
    <p:sldId id="521" r:id="rId10"/>
    <p:sldId id="508" r:id="rId11"/>
    <p:sldId id="520" r:id="rId12"/>
    <p:sldId id="531" r:id="rId13"/>
    <p:sldId id="522" r:id="rId14"/>
    <p:sldId id="528" r:id="rId15"/>
    <p:sldId id="281" r:id="rId16"/>
  </p:sldIdLst>
  <p:sldSz cx="9144000" cy="5143500" type="screen16x9"/>
  <p:notesSz cx="6858000" cy="9144000"/>
  <p:embeddedFontLst>
    <p:embeddedFont>
      <p:font typeface="Consolas" panose="020B0609020204030204" pitchFamily="49" charset="0"/>
      <p:regular r:id="rId18"/>
      <p:bold r:id="rId19"/>
      <p:italic r:id="rId20"/>
      <p:boldItalic r:id="rId21"/>
    </p:embeddedFont>
    <p:embeddedFont>
      <p:font typeface="IBM Plex Sans Arabic" panose="020B0604020202020204" charset="-78"/>
      <p:regular r:id="rId22"/>
      <p:bold r:id="rId23"/>
    </p:embeddedFont>
    <p:embeddedFont>
      <p:font typeface="IBM Plex Sans Arabic Medium" panose="020B0604020202020204" charset="-78"/>
      <p:regular r:id="rId24"/>
      <p:bold r:id="rId25"/>
    </p:embeddedFont>
    <p:embeddedFont>
      <p:font typeface="IBM Plex Sans Arabic SemiBold" panose="020B0604020202020204" charset="-78"/>
      <p:regular r:id="rId26"/>
      <p:bold r:id="rId27"/>
    </p:embeddedFont>
    <p:embeddedFont>
      <p:font typeface="Tajawal" panose="020B0604020202020204" charset="-78"/>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2E0367-EB9C-4807-88CA-1A682D9BA7E9}">
  <a:tblStyle styleId="{922E0367-EB9C-4807-88CA-1A682D9BA7E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8"/>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a09276e83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01729062-C001-1BC3-21F3-013B25C79AB2}"/>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A4925C8B-74A4-6D0E-A1F6-3ED5AFE79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40070772-E495-65C8-BB68-C028467C2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7672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5C67915C-273D-DB22-68F9-4062B5581949}"/>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706FDF88-2753-8D55-AD1A-6D580D9CEA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B56EB0F5-1310-85DC-E000-8F4BA8E56A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263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5ACD813-A344-EA14-2585-22D87E60A06E}"/>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9AE6DE2A-13CA-F834-C6C6-D9FFB6543A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56AAAFB3-7192-6462-847D-721D6FC67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7988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a09276e835_1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a09276e835_1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300"/>
              <a:buFont typeface="Tajawal"/>
              <a:buNone/>
              <a:defRPr sz="4300" b="1">
                <a:latin typeface="Tajawal"/>
                <a:ea typeface="Tajawal"/>
                <a:cs typeface="Tajawal"/>
                <a:sym typeface="Tajawal"/>
              </a:defRPr>
            </a:lvl1pPr>
            <a:lvl2pPr lvl="1" algn="ctr">
              <a:spcBef>
                <a:spcPts val="0"/>
              </a:spcBef>
              <a:spcAft>
                <a:spcPts val="0"/>
              </a:spcAft>
              <a:buSzPts val="4900"/>
              <a:buFont typeface="Tajawal"/>
              <a:buNone/>
              <a:defRPr sz="4900">
                <a:latin typeface="Tajawal"/>
                <a:ea typeface="Tajawal"/>
                <a:cs typeface="Tajawal"/>
                <a:sym typeface="Tajawal"/>
              </a:defRPr>
            </a:lvl2pPr>
            <a:lvl3pPr lvl="2" algn="ctr">
              <a:spcBef>
                <a:spcPts val="0"/>
              </a:spcBef>
              <a:spcAft>
                <a:spcPts val="0"/>
              </a:spcAft>
              <a:buSzPts val="4900"/>
              <a:buFont typeface="Tajawal"/>
              <a:buNone/>
              <a:defRPr sz="4900">
                <a:latin typeface="Tajawal"/>
                <a:ea typeface="Tajawal"/>
                <a:cs typeface="Tajawal"/>
                <a:sym typeface="Tajawal"/>
              </a:defRPr>
            </a:lvl3pPr>
            <a:lvl4pPr lvl="3" algn="ctr">
              <a:spcBef>
                <a:spcPts val="0"/>
              </a:spcBef>
              <a:spcAft>
                <a:spcPts val="0"/>
              </a:spcAft>
              <a:buSzPts val="4900"/>
              <a:buFont typeface="Tajawal"/>
              <a:buNone/>
              <a:defRPr sz="4900">
                <a:latin typeface="Tajawal"/>
                <a:ea typeface="Tajawal"/>
                <a:cs typeface="Tajawal"/>
                <a:sym typeface="Tajawal"/>
              </a:defRPr>
            </a:lvl4pPr>
            <a:lvl5pPr lvl="4" algn="ctr">
              <a:spcBef>
                <a:spcPts val="0"/>
              </a:spcBef>
              <a:spcAft>
                <a:spcPts val="0"/>
              </a:spcAft>
              <a:buSzPts val="4900"/>
              <a:buFont typeface="Tajawal"/>
              <a:buNone/>
              <a:defRPr sz="4900">
                <a:latin typeface="Tajawal"/>
                <a:ea typeface="Tajawal"/>
                <a:cs typeface="Tajawal"/>
                <a:sym typeface="Tajawal"/>
              </a:defRPr>
            </a:lvl5pPr>
            <a:lvl6pPr lvl="5" algn="ctr">
              <a:spcBef>
                <a:spcPts val="0"/>
              </a:spcBef>
              <a:spcAft>
                <a:spcPts val="0"/>
              </a:spcAft>
              <a:buSzPts val="4900"/>
              <a:buFont typeface="Tajawal"/>
              <a:buNone/>
              <a:defRPr sz="4900">
                <a:latin typeface="Tajawal"/>
                <a:ea typeface="Tajawal"/>
                <a:cs typeface="Tajawal"/>
                <a:sym typeface="Tajawal"/>
              </a:defRPr>
            </a:lvl6pPr>
            <a:lvl7pPr lvl="6" algn="ctr">
              <a:spcBef>
                <a:spcPts val="0"/>
              </a:spcBef>
              <a:spcAft>
                <a:spcPts val="0"/>
              </a:spcAft>
              <a:buSzPts val="4900"/>
              <a:buFont typeface="Tajawal"/>
              <a:buNone/>
              <a:defRPr sz="4900">
                <a:latin typeface="Tajawal"/>
                <a:ea typeface="Tajawal"/>
                <a:cs typeface="Tajawal"/>
                <a:sym typeface="Tajawal"/>
              </a:defRPr>
            </a:lvl7pPr>
            <a:lvl8pPr lvl="7" algn="ctr">
              <a:spcBef>
                <a:spcPts val="0"/>
              </a:spcBef>
              <a:spcAft>
                <a:spcPts val="0"/>
              </a:spcAft>
              <a:buSzPts val="4900"/>
              <a:buFont typeface="Tajawal"/>
              <a:buNone/>
              <a:defRPr sz="4900">
                <a:latin typeface="Tajawal"/>
                <a:ea typeface="Tajawal"/>
                <a:cs typeface="Tajawal"/>
                <a:sym typeface="Tajawal"/>
              </a:defRPr>
            </a:lvl8pPr>
            <a:lvl9pPr lvl="8" algn="ctr">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500"/>
              <a:buFont typeface="Tajawal"/>
              <a:buNone/>
              <a:defRPr sz="2500">
                <a:latin typeface="Tajawal"/>
                <a:ea typeface="Tajawal"/>
                <a:cs typeface="Tajawal"/>
                <a:sym typeface="Tajawal"/>
              </a:defRPr>
            </a:lvl1pPr>
            <a:lvl2pPr lv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algn="ctr">
              <a:lnSpc>
                <a:spcPct val="100000"/>
              </a:lnSpc>
              <a:spcBef>
                <a:spcPts val="0"/>
              </a:spcBef>
              <a:spcAft>
                <a:spcPts val="0"/>
              </a:spcAft>
              <a:buSzPts val="2500"/>
              <a:buFont typeface="Tajawal"/>
              <a:buNone/>
              <a:defRPr sz="2500">
                <a:latin typeface="Tajawal"/>
                <a:ea typeface="Tajawal"/>
                <a:cs typeface="Tajawal"/>
                <a:sym typeface="Tajawal"/>
              </a:defRPr>
            </a:lvl3pPr>
            <a:lvl4pPr lvl="3" algn="ctr">
              <a:lnSpc>
                <a:spcPct val="100000"/>
              </a:lnSpc>
              <a:spcBef>
                <a:spcPts val="0"/>
              </a:spcBef>
              <a:spcAft>
                <a:spcPts val="0"/>
              </a:spcAft>
              <a:buSzPts val="2500"/>
              <a:buFont typeface="Tajawal"/>
              <a:buNone/>
              <a:defRPr sz="2500">
                <a:latin typeface="Tajawal"/>
                <a:ea typeface="Tajawal"/>
                <a:cs typeface="Tajawal"/>
                <a:sym typeface="Tajawal"/>
              </a:defRPr>
            </a:lvl4pPr>
            <a:lvl5pPr lvl="4" algn="ctr">
              <a:lnSpc>
                <a:spcPct val="100000"/>
              </a:lnSpc>
              <a:spcBef>
                <a:spcPts val="0"/>
              </a:spcBef>
              <a:spcAft>
                <a:spcPts val="0"/>
              </a:spcAft>
              <a:buSzPts val="2500"/>
              <a:buFont typeface="Tajawal"/>
              <a:buNone/>
              <a:defRPr sz="2500">
                <a:latin typeface="Tajawal"/>
                <a:ea typeface="Tajawal"/>
                <a:cs typeface="Tajawal"/>
                <a:sym typeface="Tajawal"/>
              </a:defRPr>
            </a:lvl5pPr>
            <a:lvl6pPr lvl="5" algn="ctr">
              <a:lnSpc>
                <a:spcPct val="100000"/>
              </a:lnSpc>
              <a:spcBef>
                <a:spcPts val="0"/>
              </a:spcBef>
              <a:spcAft>
                <a:spcPts val="0"/>
              </a:spcAft>
              <a:buSzPts val="2500"/>
              <a:buFont typeface="Tajawal"/>
              <a:buNone/>
              <a:defRPr sz="2500">
                <a:latin typeface="Tajawal"/>
                <a:ea typeface="Tajawal"/>
                <a:cs typeface="Tajawal"/>
                <a:sym typeface="Tajawal"/>
              </a:defRPr>
            </a:lvl6pPr>
            <a:lvl7pPr lvl="6" algn="ctr">
              <a:lnSpc>
                <a:spcPct val="100000"/>
              </a:lnSpc>
              <a:spcBef>
                <a:spcPts val="0"/>
              </a:spcBef>
              <a:spcAft>
                <a:spcPts val="0"/>
              </a:spcAft>
              <a:buSzPts val="2500"/>
              <a:buFont typeface="Tajawal"/>
              <a:buNone/>
              <a:defRPr sz="2500">
                <a:latin typeface="Tajawal"/>
                <a:ea typeface="Tajawal"/>
                <a:cs typeface="Tajawal"/>
                <a:sym typeface="Tajawal"/>
              </a:defRPr>
            </a:lvl7pPr>
            <a:lvl8pPr lvl="7" algn="ctr">
              <a:lnSpc>
                <a:spcPct val="100000"/>
              </a:lnSpc>
              <a:spcBef>
                <a:spcPts val="0"/>
              </a:spcBef>
              <a:spcAft>
                <a:spcPts val="0"/>
              </a:spcAft>
              <a:buSzPts val="2500"/>
              <a:buFont typeface="Tajawal"/>
              <a:buNone/>
              <a:defRPr sz="2500">
                <a:latin typeface="Tajawal"/>
                <a:ea typeface="Tajawal"/>
                <a:cs typeface="Tajawal"/>
                <a:sym typeface="Tajawal"/>
              </a:defRPr>
            </a:lvl8pPr>
            <a:lvl9pPr lvl="8" algn="ctr">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1">
              <a:spcBef>
                <a:spcPts val="0"/>
              </a:spcBef>
              <a:spcAft>
                <a:spcPts val="0"/>
              </a:spcAft>
              <a:buSzPts val="3600"/>
              <a:buFont typeface="Tajawal"/>
              <a:buNone/>
              <a:defRPr sz="3600">
                <a:latin typeface="Tajawal"/>
                <a:ea typeface="Tajawal"/>
                <a:cs typeface="Tajawal"/>
                <a:sym typeface="Tajawal"/>
              </a:defRPr>
            </a:lvl1pPr>
            <a:lvl2pPr lvl="1" algn="ctr">
              <a:spcBef>
                <a:spcPts val="0"/>
              </a:spcBef>
              <a:spcAft>
                <a:spcPts val="0"/>
              </a:spcAft>
              <a:buSzPts val="3600"/>
              <a:buFont typeface="Tajawal"/>
              <a:buNone/>
              <a:defRPr sz="3600">
                <a:latin typeface="Tajawal"/>
                <a:ea typeface="Tajawal"/>
                <a:cs typeface="Tajawal"/>
                <a:sym typeface="Tajawal"/>
              </a:defRPr>
            </a:lvl2pPr>
            <a:lvl3pPr lvl="2" algn="ctr">
              <a:spcBef>
                <a:spcPts val="0"/>
              </a:spcBef>
              <a:spcAft>
                <a:spcPts val="0"/>
              </a:spcAft>
              <a:buSzPts val="3600"/>
              <a:buFont typeface="Tajawal"/>
              <a:buNone/>
              <a:defRPr sz="3600">
                <a:latin typeface="Tajawal"/>
                <a:ea typeface="Tajawal"/>
                <a:cs typeface="Tajawal"/>
                <a:sym typeface="Tajawal"/>
              </a:defRPr>
            </a:lvl3pPr>
            <a:lvl4pPr lvl="3" algn="ctr">
              <a:spcBef>
                <a:spcPts val="0"/>
              </a:spcBef>
              <a:spcAft>
                <a:spcPts val="0"/>
              </a:spcAft>
              <a:buSzPts val="3600"/>
              <a:buFont typeface="Tajawal"/>
              <a:buNone/>
              <a:defRPr sz="3600">
                <a:latin typeface="Tajawal"/>
                <a:ea typeface="Tajawal"/>
                <a:cs typeface="Tajawal"/>
                <a:sym typeface="Tajawal"/>
              </a:defRPr>
            </a:lvl4pPr>
            <a:lvl5pPr lvl="4" algn="ctr">
              <a:spcBef>
                <a:spcPts val="0"/>
              </a:spcBef>
              <a:spcAft>
                <a:spcPts val="0"/>
              </a:spcAft>
              <a:buSzPts val="3600"/>
              <a:buFont typeface="Tajawal"/>
              <a:buNone/>
              <a:defRPr sz="3600">
                <a:latin typeface="Tajawal"/>
                <a:ea typeface="Tajawal"/>
                <a:cs typeface="Tajawal"/>
                <a:sym typeface="Tajawal"/>
              </a:defRPr>
            </a:lvl5pPr>
            <a:lvl6pPr lvl="5" algn="ctr">
              <a:spcBef>
                <a:spcPts val="0"/>
              </a:spcBef>
              <a:spcAft>
                <a:spcPts val="0"/>
              </a:spcAft>
              <a:buSzPts val="3600"/>
              <a:buFont typeface="Tajawal"/>
              <a:buNone/>
              <a:defRPr sz="3600">
                <a:latin typeface="Tajawal"/>
                <a:ea typeface="Tajawal"/>
                <a:cs typeface="Tajawal"/>
                <a:sym typeface="Tajawal"/>
              </a:defRPr>
            </a:lvl6pPr>
            <a:lvl7pPr lvl="6" algn="ctr">
              <a:spcBef>
                <a:spcPts val="0"/>
              </a:spcBef>
              <a:spcAft>
                <a:spcPts val="0"/>
              </a:spcAft>
              <a:buSzPts val="3600"/>
              <a:buFont typeface="Tajawal"/>
              <a:buNone/>
              <a:defRPr sz="3600">
                <a:latin typeface="Tajawal"/>
                <a:ea typeface="Tajawal"/>
                <a:cs typeface="Tajawal"/>
                <a:sym typeface="Tajawal"/>
              </a:defRPr>
            </a:lvl7pPr>
            <a:lvl8pPr lvl="7" algn="ctr">
              <a:spcBef>
                <a:spcPts val="0"/>
              </a:spcBef>
              <a:spcAft>
                <a:spcPts val="0"/>
              </a:spcAft>
              <a:buSzPts val="3600"/>
              <a:buFont typeface="Tajawal"/>
              <a:buNone/>
              <a:defRPr sz="3600">
                <a:latin typeface="Tajawal"/>
                <a:ea typeface="Tajawal"/>
                <a:cs typeface="Tajawal"/>
                <a:sym typeface="Tajawal"/>
              </a:defRPr>
            </a:lvl8pPr>
            <a:lvl9pPr lvl="8" algn="ctr">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5"/>
          <p:cNvSpPr txBox="1">
            <a:spLocks noGrp="1"/>
          </p:cNvSpPr>
          <p:nvPr>
            <p:ph type="title"/>
          </p:nvPr>
        </p:nvSpPr>
        <p:spPr>
          <a:xfrm>
            <a:off x="2079450" y="714175"/>
            <a:ext cx="6707400" cy="777300"/>
          </a:xfrm>
          <a:prstGeom prst="rect">
            <a:avLst/>
          </a:prstGeom>
        </p:spPr>
        <p:txBody>
          <a:bodyPr spcFirstLastPara="1" wrap="square" lIns="91425" tIns="91425" rIns="91425" bIns="91425" anchor="t" anchorCtr="0">
            <a:normAutofit/>
          </a:bodyPr>
          <a:lstStyle>
            <a:lvl1pPr lvl="0" rtl="1">
              <a:spcBef>
                <a:spcPts val="0"/>
              </a:spcBef>
              <a:spcAft>
                <a:spcPts val="0"/>
              </a:spcAft>
              <a:buClr>
                <a:srgbClr val="543198"/>
              </a:buClr>
              <a:buSzPts val="2500"/>
              <a:buNone/>
              <a:defRPr b="1">
                <a:solidFill>
                  <a:srgbClr val="543198"/>
                </a:solidFill>
              </a:defRPr>
            </a:lvl1pPr>
            <a:lvl2pPr lvl="1" rtl="0">
              <a:spcBef>
                <a:spcPts val="0"/>
              </a:spcBef>
              <a:spcAft>
                <a:spcPts val="0"/>
              </a:spcAft>
              <a:buClr>
                <a:srgbClr val="543198"/>
              </a:buClr>
              <a:buSzPts val="2800"/>
              <a:buNone/>
              <a:defRPr b="1">
                <a:solidFill>
                  <a:srgbClr val="543198"/>
                </a:solidFill>
              </a:defRPr>
            </a:lvl2pPr>
            <a:lvl3pPr lvl="2" rtl="0">
              <a:spcBef>
                <a:spcPts val="0"/>
              </a:spcBef>
              <a:spcAft>
                <a:spcPts val="0"/>
              </a:spcAft>
              <a:buClr>
                <a:srgbClr val="543198"/>
              </a:buClr>
              <a:buSzPts val="2800"/>
              <a:buNone/>
              <a:defRPr b="1">
                <a:solidFill>
                  <a:srgbClr val="543198"/>
                </a:solidFill>
              </a:defRPr>
            </a:lvl3pPr>
            <a:lvl4pPr lvl="3" rtl="0">
              <a:spcBef>
                <a:spcPts val="0"/>
              </a:spcBef>
              <a:spcAft>
                <a:spcPts val="0"/>
              </a:spcAft>
              <a:buClr>
                <a:srgbClr val="543198"/>
              </a:buClr>
              <a:buSzPts val="2800"/>
              <a:buNone/>
              <a:defRPr b="1">
                <a:solidFill>
                  <a:srgbClr val="543198"/>
                </a:solidFill>
              </a:defRPr>
            </a:lvl4pPr>
            <a:lvl5pPr lvl="4" rtl="0">
              <a:spcBef>
                <a:spcPts val="0"/>
              </a:spcBef>
              <a:spcAft>
                <a:spcPts val="0"/>
              </a:spcAft>
              <a:buClr>
                <a:srgbClr val="543198"/>
              </a:buClr>
              <a:buSzPts val="2800"/>
              <a:buNone/>
              <a:defRPr b="1">
                <a:solidFill>
                  <a:srgbClr val="543198"/>
                </a:solidFill>
              </a:defRPr>
            </a:lvl5pPr>
            <a:lvl6pPr lvl="5" rtl="0">
              <a:spcBef>
                <a:spcPts val="0"/>
              </a:spcBef>
              <a:spcAft>
                <a:spcPts val="0"/>
              </a:spcAft>
              <a:buClr>
                <a:srgbClr val="543198"/>
              </a:buClr>
              <a:buSzPts val="2800"/>
              <a:buNone/>
              <a:defRPr b="1">
                <a:solidFill>
                  <a:srgbClr val="543198"/>
                </a:solidFill>
              </a:defRPr>
            </a:lvl6pPr>
            <a:lvl7pPr lvl="6" rtl="0">
              <a:spcBef>
                <a:spcPts val="0"/>
              </a:spcBef>
              <a:spcAft>
                <a:spcPts val="0"/>
              </a:spcAft>
              <a:buClr>
                <a:srgbClr val="543198"/>
              </a:buClr>
              <a:buSzPts val="2800"/>
              <a:buNone/>
              <a:defRPr b="1">
                <a:solidFill>
                  <a:srgbClr val="543198"/>
                </a:solidFill>
              </a:defRPr>
            </a:lvl7pPr>
            <a:lvl8pPr lvl="7" rtl="0">
              <a:spcBef>
                <a:spcPts val="0"/>
              </a:spcBef>
              <a:spcAft>
                <a:spcPts val="0"/>
              </a:spcAft>
              <a:buClr>
                <a:srgbClr val="543198"/>
              </a:buClr>
              <a:buSzPts val="2800"/>
              <a:buNone/>
              <a:defRPr b="1">
                <a:solidFill>
                  <a:srgbClr val="543198"/>
                </a:solidFill>
              </a:defRPr>
            </a:lvl8pPr>
            <a:lvl9pPr lvl="8" rtl="0">
              <a:spcBef>
                <a:spcPts val="0"/>
              </a:spcBef>
              <a:spcAft>
                <a:spcPts val="0"/>
              </a:spcAft>
              <a:buClr>
                <a:srgbClr val="543198"/>
              </a:buClr>
              <a:buSzPts val="2800"/>
              <a:buNone/>
              <a:defRPr b="1">
                <a:solidFill>
                  <a:srgbClr val="543198"/>
                </a:solidFill>
              </a:defRPr>
            </a:lvl9pPr>
          </a:lstStyle>
          <a:p>
            <a:endParaRPr/>
          </a:p>
        </p:txBody>
      </p:sp>
      <p:sp>
        <p:nvSpPr>
          <p:cNvPr id="23" name="Google Shape;23;p5"/>
          <p:cNvSpPr txBox="1">
            <a:spLocks noGrp="1"/>
          </p:cNvSpPr>
          <p:nvPr>
            <p:ph type="body" idx="1"/>
          </p:nvPr>
        </p:nvSpPr>
        <p:spPr>
          <a:xfrm>
            <a:off x="2758650" y="1526325"/>
            <a:ext cx="6028200" cy="1757400"/>
          </a:xfrm>
          <a:prstGeom prst="rect">
            <a:avLst/>
          </a:prstGeom>
        </p:spPr>
        <p:txBody>
          <a:bodyPr spcFirstLastPara="1" wrap="square" lIns="91425" tIns="91425" rIns="91425" bIns="91425" anchor="t" anchorCtr="0">
            <a:normAutofit/>
          </a:bodyPr>
          <a:lstStyle>
            <a:lvl1pPr marL="457200" lvl="0" indent="-342900" rtl="1">
              <a:spcBef>
                <a:spcPts val="0"/>
              </a:spcBef>
              <a:spcAft>
                <a:spcPts val="0"/>
              </a:spcAft>
              <a:buClr>
                <a:srgbClr val="424242"/>
              </a:buClr>
              <a:buSzPts val="1800"/>
              <a:buChar char="●"/>
              <a:defRPr>
                <a:solidFill>
                  <a:srgbClr val="424242"/>
                </a:solidFill>
              </a:defRPr>
            </a:lvl1pPr>
            <a:lvl2pPr marL="914400" lvl="1" indent="-317500" rtl="1">
              <a:spcBef>
                <a:spcPts val="0"/>
              </a:spcBef>
              <a:spcAft>
                <a:spcPts val="0"/>
              </a:spcAft>
              <a:buClr>
                <a:srgbClr val="424242"/>
              </a:buClr>
              <a:buSzPts val="1400"/>
              <a:buChar char="○"/>
              <a:defRPr>
                <a:solidFill>
                  <a:srgbClr val="424242"/>
                </a:solidFill>
              </a:defRPr>
            </a:lvl2pPr>
            <a:lvl3pPr marL="1371600" lvl="2" indent="-317500" rtl="1">
              <a:spcBef>
                <a:spcPts val="0"/>
              </a:spcBef>
              <a:spcAft>
                <a:spcPts val="0"/>
              </a:spcAft>
              <a:buClr>
                <a:srgbClr val="424242"/>
              </a:buClr>
              <a:buSzPts val="1400"/>
              <a:buChar char="■"/>
              <a:defRPr>
                <a:solidFill>
                  <a:srgbClr val="424242"/>
                </a:solidFill>
              </a:defRPr>
            </a:lvl3pPr>
            <a:lvl4pPr marL="1828800" lvl="3" indent="-317500" rtl="1">
              <a:spcBef>
                <a:spcPts val="0"/>
              </a:spcBef>
              <a:spcAft>
                <a:spcPts val="0"/>
              </a:spcAft>
              <a:buClr>
                <a:srgbClr val="424242"/>
              </a:buClr>
              <a:buSzPts val="1400"/>
              <a:buChar char="●"/>
              <a:defRPr>
                <a:solidFill>
                  <a:srgbClr val="424242"/>
                </a:solidFill>
              </a:defRPr>
            </a:lvl4pPr>
            <a:lvl5pPr marL="2286000" lvl="4" indent="-317500" rtl="1">
              <a:spcBef>
                <a:spcPts val="0"/>
              </a:spcBef>
              <a:spcAft>
                <a:spcPts val="0"/>
              </a:spcAft>
              <a:buClr>
                <a:srgbClr val="424242"/>
              </a:buClr>
              <a:buSzPts val="1400"/>
              <a:buChar char="○"/>
              <a:defRPr>
                <a:solidFill>
                  <a:srgbClr val="424242"/>
                </a:solidFill>
              </a:defRPr>
            </a:lvl5pPr>
            <a:lvl6pPr marL="2743200" lvl="5" indent="-317500" rtl="1">
              <a:spcBef>
                <a:spcPts val="0"/>
              </a:spcBef>
              <a:spcAft>
                <a:spcPts val="0"/>
              </a:spcAft>
              <a:buClr>
                <a:srgbClr val="424242"/>
              </a:buClr>
              <a:buSzPts val="1400"/>
              <a:buChar char="■"/>
              <a:defRPr>
                <a:solidFill>
                  <a:srgbClr val="424242"/>
                </a:solidFill>
              </a:defRPr>
            </a:lvl6pPr>
            <a:lvl7pPr marL="3200400" lvl="6" indent="-317500" rtl="1">
              <a:spcBef>
                <a:spcPts val="0"/>
              </a:spcBef>
              <a:spcAft>
                <a:spcPts val="0"/>
              </a:spcAft>
              <a:buClr>
                <a:srgbClr val="424242"/>
              </a:buClr>
              <a:buSzPts val="1400"/>
              <a:buChar char="●"/>
              <a:defRPr>
                <a:solidFill>
                  <a:srgbClr val="424242"/>
                </a:solidFill>
              </a:defRPr>
            </a:lvl7pPr>
            <a:lvl8pPr marL="3657600" lvl="7" indent="-317500" rtl="1">
              <a:spcBef>
                <a:spcPts val="0"/>
              </a:spcBef>
              <a:spcAft>
                <a:spcPts val="0"/>
              </a:spcAft>
              <a:buClr>
                <a:srgbClr val="424242"/>
              </a:buClr>
              <a:buSzPts val="1400"/>
              <a:buChar char="○"/>
              <a:defRPr>
                <a:solidFill>
                  <a:srgbClr val="424242"/>
                </a:solidFill>
              </a:defRPr>
            </a:lvl8pPr>
            <a:lvl9pPr marL="4114800" lvl="8" indent="-317500" rtl="1">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82450"/>
            <a:ext cx="8520600" cy="572700"/>
          </a:xfrm>
          <a:prstGeom prst="rect">
            <a:avLst/>
          </a:prstGeom>
        </p:spPr>
        <p:txBody>
          <a:bodyPr spcFirstLastPara="1" wrap="square" lIns="91425" tIns="91425" rIns="91425" bIns="91425" anchor="t" anchorCtr="0">
            <a:normAutofit/>
          </a:bodyPr>
          <a:lstStyle>
            <a:lvl1pPr lvl="0" rtl="1">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7" name="Google Shape;27;p6"/>
          <p:cNvPicPr preferRelativeResize="0"/>
          <p:nvPr/>
        </p:nvPicPr>
        <p:blipFill>
          <a:blip r:embed="rId2">
            <a:alphaModFix/>
          </a:blip>
          <a:stretch>
            <a:fillRect/>
          </a:stretch>
        </p:blipFill>
        <p:spPr>
          <a:xfrm>
            <a:off x="7959271" y="4703039"/>
            <a:ext cx="946580" cy="21398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4200"/>
              <a:buNone/>
              <a:defRPr sz="4200"/>
            </a:lvl1pPr>
            <a:lvl2pPr lvl="1" algn="ctr" rtl="1">
              <a:spcBef>
                <a:spcPts val="0"/>
              </a:spcBef>
              <a:spcAft>
                <a:spcPts val="0"/>
              </a:spcAft>
              <a:buSzPts val="4200"/>
              <a:buNone/>
              <a:defRPr sz="4200"/>
            </a:lvl2pPr>
            <a:lvl3pPr lvl="2" algn="ctr" rtl="1">
              <a:spcBef>
                <a:spcPts val="0"/>
              </a:spcBef>
              <a:spcAft>
                <a:spcPts val="0"/>
              </a:spcAft>
              <a:buSzPts val="4200"/>
              <a:buNone/>
              <a:defRPr sz="4200"/>
            </a:lvl3pPr>
            <a:lvl4pPr lvl="3" algn="ctr" rtl="1">
              <a:spcBef>
                <a:spcPts val="0"/>
              </a:spcBef>
              <a:spcAft>
                <a:spcPts val="0"/>
              </a:spcAft>
              <a:buSzPts val="4200"/>
              <a:buNone/>
              <a:defRPr sz="4200"/>
            </a:lvl4pPr>
            <a:lvl5pPr lvl="4" algn="ctr" rtl="1">
              <a:spcBef>
                <a:spcPts val="0"/>
              </a:spcBef>
              <a:spcAft>
                <a:spcPts val="0"/>
              </a:spcAft>
              <a:buSzPts val="4200"/>
              <a:buNone/>
              <a:defRPr sz="4200"/>
            </a:lvl5pPr>
            <a:lvl6pPr lvl="5" algn="ctr" rtl="1">
              <a:spcBef>
                <a:spcPts val="0"/>
              </a:spcBef>
              <a:spcAft>
                <a:spcPts val="0"/>
              </a:spcAft>
              <a:buSzPts val="4200"/>
              <a:buNone/>
              <a:defRPr sz="4200"/>
            </a:lvl6pPr>
            <a:lvl7pPr lvl="6" algn="ctr" rtl="1">
              <a:spcBef>
                <a:spcPts val="0"/>
              </a:spcBef>
              <a:spcAft>
                <a:spcPts val="0"/>
              </a:spcAft>
              <a:buSzPts val="4200"/>
              <a:buNone/>
              <a:defRPr sz="4200"/>
            </a:lvl7pPr>
            <a:lvl8pPr lvl="7" algn="ctr" rtl="1">
              <a:spcBef>
                <a:spcPts val="0"/>
              </a:spcBef>
              <a:spcAft>
                <a:spcPts val="0"/>
              </a:spcAft>
              <a:buSzPts val="4200"/>
              <a:buNone/>
              <a:defRPr sz="4200"/>
            </a:lvl8pPr>
            <a:lvl9pPr lvl="8" algn="ctr" rtl="1">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12000"/>
              <a:buNone/>
              <a:defRPr sz="12000"/>
            </a:lvl1pPr>
            <a:lvl2pPr lvl="1" algn="ctr" rtl="1">
              <a:spcBef>
                <a:spcPts val="0"/>
              </a:spcBef>
              <a:spcAft>
                <a:spcPts val="0"/>
              </a:spcAft>
              <a:buSzPts val="12000"/>
              <a:buNone/>
              <a:defRPr sz="12000"/>
            </a:lvl2pPr>
            <a:lvl3pPr lvl="2" algn="ctr" rtl="1">
              <a:spcBef>
                <a:spcPts val="0"/>
              </a:spcBef>
              <a:spcAft>
                <a:spcPts val="0"/>
              </a:spcAft>
              <a:buSzPts val="12000"/>
              <a:buNone/>
              <a:defRPr sz="12000"/>
            </a:lvl3pPr>
            <a:lvl4pPr lvl="3" algn="ctr" rtl="1">
              <a:spcBef>
                <a:spcPts val="0"/>
              </a:spcBef>
              <a:spcAft>
                <a:spcPts val="0"/>
              </a:spcAft>
              <a:buSzPts val="12000"/>
              <a:buNone/>
              <a:defRPr sz="12000"/>
            </a:lvl4pPr>
            <a:lvl5pPr lvl="4" algn="ctr" rtl="1">
              <a:spcBef>
                <a:spcPts val="0"/>
              </a:spcBef>
              <a:spcAft>
                <a:spcPts val="0"/>
              </a:spcAft>
              <a:buSzPts val="12000"/>
              <a:buNone/>
              <a:defRPr sz="12000"/>
            </a:lvl5pPr>
            <a:lvl6pPr lvl="5" algn="ctr" rtl="1">
              <a:spcBef>
                <a:spcPts val="0"/>
              </a:spcBef>
              <a:spcAft>
                <a:spcPts val="0"/>
              </a:spcAft>
              <a:buSzPts val="12000"/>
              <a:buNone/>
              <a:defRPr sz="12000"/>
            </a:lvl6pPr>
            <a:lvl7pPr lvl="6" algn="ctr" rtl="1">
              <a:spcBef>
                <a:spcPts val="0"/>
              </a:spcBef>
              <a:spcAft>
                <a:spcPts val="0"/>
              </a:spcAft>
              <a:buSzPts val="12000"/>
              <a:buNone/>
              <a:defRPr sz="12000"/>
            </a:lvl7pPr>
            <a:lvl8pPr lvl="7" algn="ctr" rtl="1">
              <a:spcBef>
                <a:spcPts val="0"/>
              </a:spcBef>
              <a:spcAft>
                <a:spcPts val="0"/>
              </a:spcAft>
              <a:buSzPts val="12000"/>
              <a:buNone/>
              <a:defRPr sz="12000"/>
            </a:lvl8pPr>
            <a:lvl9pPr lvl="8" algn="ctr" rtl="1">
              <a:spcBef>
                <a:spcPts val="0"/>
              </a:spcBef>
              <a:spcAft>
                <a:spcPts val="0"/>
              </a:spcAft>
              <a:buSzPts val="12000"/>
              <a:buNone/>
              <a:defRPr sz="12000"/>
            </a:lvl9pPr>
          </a:lstStyle>
          <a:p>
            <a:r>
              <a:t>xx%</a:t>
            </a:r>
          </a:p>
        </p:txBody>
      </p:sp>
      <p:pic>
        <p:nvPicPr>
          <p:cNvPr id="43" name="Google Shape;43;p11" title="twq white-20.png"/>
          <p:cNvPicPr preferRelativeResize="0"/>
          <p:nvPr/>
        </p:nvPicPr>
        <p:blipFill>
          <a:blip r:embed="rId3">
            <a:alphaModFix/>
          </a:blip>
          <a:stretch>
            <a:fillRect/>
          </a:stretch>
        </p:blipFill>
        <p:spPr>
          <a:xfrm>
            <a:off x="7443975" y="84975"/>
            <a:ext cx="1388326" cy="599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78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rtl="1">
              <a:spcBef>
                <a:spcPts val="0"/>
              </a:spcBef>
              <a:spcAft>
                <a:spcPts val="0"/>
              </a:spcAft>
              <a:buClr>
                <a:srgbClr val="4F29B7"/>
              </a:buClr>
              <a:buSzPts val="2500"/>
              <a:buFont typeface="IBM Plex Sans Arabic Medium"/>
              <a:buNone/>
              <a:defRPr sz="2500">
                <a:solidFill>
                  <a:srgbClr val="4F29B7"/>
                </a:solidFill>
                <a:latin typeface="IBM Plex Sans Arabic Medium"/>
                <a:ea typeface="IBM Plex Sans Arabic Medium"/>
                <a:cs typeface="IBM Plex Sans Arabic Medium"/>
                <a:sym typeface="IBM Plex Sans Arabic Medium"/>
              </a:defRPr>
            </a:lvl1pPr>
            <a:lvl2pPr lvl="1"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2pPr>
            <a:lvl3pPr lvl="2"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3pPr>
            <a:lvl4pPr lvl="3"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4pPr>
            <a:lvl5pPr lvl="4"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5pPr>
            <a:lvl6pPr lvl="5"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6pPr>
            <a:lvl7pPr lvl="6"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7pPr>
            <a:lvl8pPr lvl="7"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8pPr>
            <a:lvl9pPr lvl="8"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1">
              <a:lnSpc>
                <a:spcPct val="115000"/>
              </a:lnSpc>
              <a:spcBef>
                <a:spcPts val="0"/>
              </a:spcBef>
              <a:spcAft>
                <a:spcPts val="0"/>
              </a:spcAft>
              <a:buClr>
                <a:srgbClr val="252526"/>
              </a:buClr>
              <a:buSzPts val="1800"/>
              <a:buFont typeface="IBM Plex Sans Arabic"/>
              <a:buChar char="●"/>
              <a:defRPr sz="1800">
                <a:solidFill>
                  <a:srgbClr val="252526"/>
                </a:solidFill>
                <a:latin typeface="IBM Plex Sans Arabic"/>
                <a:ea typeface="IBM Plex Sans Arabic"/>
                <a:cs typeface="IBM Plex Sans Arabic"/>
                <a:sym typeface="IBM Plex Sans Arabic"/>
              </a:defRPr>
            </a:lvl1pPr>
            <a:lvl2pPr marL="914400" lvl="1"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2pPr>
            <a:lvl3pPr marL="1371600" lvl="2"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3pPr>
            <a:lvl4pPr marL="1828800" lvl="3"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4pPr>
            <a:lvl5pPr marL="2286000" lvl="4"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5pPr>
            <a:lvl6pPr marL="2743200" lvl="5"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6pPr>
            <a:lvl7pPr marL="3200400" lvl="6"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7pPr>
            <a:lvl8pPr marL="3657600" lvl="7"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8pPr>
            <a:lvl9pPr marL="4114800" lvl="8"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7" r:id="rId6"/>
    <p:sldLayoutId id="2147483658"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5435226" y="867625"/>
            <a:ext cx="2974200" cy="2262000"/>
          </a:xfrm>
          <a:prstGeom prst="rect">
            <a:avLst/>
          </a:prstGeom>
        </p:spPr>
        <p:txBody>
          <a:bodyPr spcFirstLastPara="1" wrap="square" lIns="91425" tIns="91425" rIns="91425" bIns="91425" anchor="b" anchorCtr="0">
            <a:normAutofit/>
          </a:bodyPr>
          <a:lstStyle/>
          <a:p>
            <a:pPr marL="0" lvl="0" indent="0" algn="r" rtl="0">
              <a:spcBef>
                <a:spcPts val="0"/>
              </a:spcBef>
              <a:spcAft>
                <a:spcPts val="0"/>
              </a:spcAft>
              <a:buNone/>
            </a:pPr>
            <a:r>
              <a:rPr lang="en" sz="4800" dirty="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dirty="0">
              <a:solidFill>
                <a:srgbClr val="58E3D8"/>
              </a:solidFill>
              <a:latin typeface="IBM Plex Sans Arabic SemiBold"/>
              <a:ea typeface="IBM Plex Sans Arabic SemiBold"/>
              <a:cs typeface="IBM Plex Sans Arabic SemiBold"/>
              <a:sym typeface="IBM Plex Sans Arabic SemiBold"/>
            </a:endParaRPr>
          </a:p>
        </p:txBody>
      </p:sp>
      <p:sp>
        <p:nvSpPr>
          <p:cNvPr id="51" name="Google Shape;51;p13"/>
          <p:cNvSpPr txBox="1">
            <a:spLocks noGrp="1"/>
          </p:cNvSpPr>
          <p:nvPr>
            <p:ph type="body" idx="4294967295"/>
          </p:nvPr>
        </p:nvSpPr>
        <p:spPr>
          <a:xfrm>
            <a:off x="3902100" y="3253272"/>
            <a:ext cx="4447500" cy="403200"/>
          </a:xfrm>
          <a:prstGeom prst="rect">
            <a:avLst/>
          </a:prstGeom>
        </p:spPr>
        <p:txBody>
          <a:bodyPr spcFirstLastPara="1" wrap="square" lIns="91425" tIns="91425" rIns="91425" bIns="91425" anchor="t" anchorCtr="0">
            <a:noAutofit/>
          </a:bodyPr>
          <a:lstStyle/>
          <a:p>
            <a:pPr marL="114300" indent="0" algn="r">
              <a:buNone/>
            </a:pPr>
            <a:r>
              <a:rPr lang="ar-SA" sz="2000" b="1" dirty="0">
                <a:solidFill>
                  <a:schemeClr val="bg1"/>
                </a:solidFill>
              </a:rPr>
              <a:t>المعسكر التأسيسي - مسار البرمجة</a:t>
            </a:r>
          </a:p>
          <a:p>
            <a:pPr marL="114300" indent="0">
              <a:buNone/>
            </a:pPr>
            <a:br>
              <a:rPr lang="ar-SA" sz="2000" dirty="0"/>
            </a:br>
            <a:endParaRPr lang="ar-SA"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67E406D-77C5-64FC-1384-3ED885662E43}"/>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A58AB1B6-4F13-B6F1-65C4-FDEAF2A7575E}"/>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FF820E8F-A391-AC62-D54D-317374F62C88}"/>
              </a:ext>
            </a:extLst>
          </p:cNvPr>
          <p:cNvSpPr/>
          <p:nvPr/>
        </p:nvSpPr>
        <p:spPr>
          <a:xfrm>
            <a:off x="0" y="64008"/>
            <a:ext cx="2560320" cy="5015484"/>
          </a:xfrm>
          <a:prstGeom prst="rect">
            <a:avLst/>
          </a:prstGeom>
          <a:solidFill>
            <a:srgbClr val="0A2020"/>
          </a:solidFill>
          <a:ln w="12700">
            <a:solidFill>
              <a:srgbClr val="0A2020"/>
            </a:solidFill>
            <a:prstDash val="solid"/>
          </a:ln>
        </p:spPr>
        <p:txBody>
          <a:bodyPr/>
          <a:lstStyle/>
          <a:p>
            <a:endParaRPr lang="en-US"/>
          </a:p>
        </p:txBody>
      </p:sp>
      <p:sp>
        <p:nvSpPr>
          <p:cNvPr id="5" name="Shape 3">
            <a:extLst>
              <a:ext uri="{FF2B5EF4-FFF2-40B4-BE49-F238E27FC236}">
                <a16:creationId xmlns:a16="http://schemas.microsoft.com/office/drawing/2014/main" id="{244B5C98-FBD3-E2CD-5772-833C4D8DBE51}"/>
              </a:ext>
            </a:extLst>
          </p:cNvPr>
          <p:cNvSpPr/>
          <p:nvPr/>
        </p:nvSpPr>
        <p:spPr>
          <a:xfrm>
            <a:off x="2560320" y="64008"/>
            <a:ext cx="0" cy="5015484"/>
          </a:xfrm>
          <a:prstGeom prst="line">
            <a:avLst/>
          </a:prstGeom>
          <a:noFill/>
          <a:ln w="25400">
            <a:solidFill>
              <a:srgbClr val="57E3D8"/>
            </a:solidFill>
            <a:prstDash val="solid"/>
          </a:ln>
        </p:spPr>
        <p:txBody>
          <a:bodyPr/>
          <a:lstStyle/>
          <a:p>
            <a:endParaRPr lang="en-US"/>
          </a:p>
        </p:txBody>
      </p:sp>
      <p:sp>
        <p:nvSpPr>
          <p:cNvPr id="6" name="Text 4">
            <a:extLst>
              <a:ext uri="{FF2B5EF4-FFF2-40B4-BE49-F238E27FC236}">
                <a16:creationId xmlns:a16="http://schemas.microsoft.com/office/drawing/2014/main" id="{70A0054A-5F93-C0F8-68C3-1CAD4846EE0E}"/>
              </a:ext>
            </a:extLst>
          </p:cNvPr>
          <p:cNvSpPr/>
          <p:nvPr/>
        </p:nvSpPr>
        <p:spPr>
          <a:xfrm>
            <a:off x="0" y="320040"/>
            <a:ext cx="2560320" cy="1463040"/>
          </a:xfrm>
          <a:prstGeom prst="rect">
            <a:avLst/>
          </a:prstGeom>
          <a:noFill/>
          <a:ln/>
        </p:spPr>
        <p:txBody>
          <a:bodyPr wrap="square" lIns="0" tIns="0" rIns="0" bIns="0" rtlCol="0" anchor="ctr"/>
          <a:lstStyle/>
          <a:p>
            <a:pPr marL="0" indent="0" algn="ctr">
              <a:buNone/>
            </a:pPr>
            <a:r>
              <a:rPr lang="en-US" sz="8000" b="1" dirty="0">
                <a:solidFill>
                  <a:schemeClr val="bg1"/>
                </a:solidFill>
                <a:latin typeface="Calibri" pitchFamily="34" charset="0"/>
                <a:ea typeface="Calibri" pitchFamily="34" charset="-122"/>
                <a:cs typeface="Calibri" pitchFamily="34" charset="-120"/>
              </a:rPr>
              <a:t>04</a:t>
            </a:r>
            <a:endParaRPr lang="en-US" sz="8000" dirty="0">
              <a:solidFill>
                <a:schemeClr val="bg1"/>
              </a:solidFill>
            </a:endParaRPr>
          </a:p>
        </p:txBody>
      </p:sp>
      <p:sp>
        <p:nvSpPr>
          <p:cNvPr id="7" name="Shape 5">
            <a:extLst>
              <a:ext uri="{FF2B5EF4-FFF2-40B4-BE49-F238E27FC236}">
                <a16:creationId xmlns:a16="http://schemas.microsoft.com/office/drawing/2014/main" id="{2D400CA1-A6FF-D2ED-B42E-71359923989F}"/>
              </a:ext>
            </a:extLst>
          </p:cNvPr>
          <p:cNvSpPr/>
          <p:nvPr/>
        </p:nvSpPr>
        <p:spPr>
          <a:xfrm>
            <a:off x="228600" y="384048"/>
            <a:ext cx="822960" cy="256032"/>
          </a:xfrm>
          <a:prstGeom prst="roundRect">
            <a:avLst>
              <a:gd name="adj" fmla="val 42857"/>
            </a:avLst>
          </a:prstGeom>
          <a:solidFill>
            <a:srgbClr val="57E3D8"/>
          </a:solidFill>
          <a:ln w="12700">
            <a:solidFill>
              <a:srgbClr val="57E3D8"/>
            </a:solidFill>
            <a:prstDash val="solid"/>
          </a:ln>
        </p:spPr>
        <p:txBody>
          <a:bodyPr/>
          <a:lstStyle/>
          <a:p>
            <a:endParaRPr lang="en-US"/>
          </a:p>
        </p:txBody>
      </p:sp>
      <p:sp>
        <p:nvSpPr>
          <p:cNvPr id="8" name="Text 6">
            <a:extLst>
              <a:ext uri="{FF2B5EF4-FFF2-40B4-BE49-F238E27FC236}">
                <a16:creationId xmlns:a16="http://schemas.microsoft.com/office/drawing/2014/main" id="{F273ADA2-B102-4B1E-6AF9-898A94FBDFA6}"/>
              </a:ext>
            </a:extLst>
          </p:cNvPr>
          <p:cNvSpPr/>
          <p:nvPr/>
        </p:nvSpPr>
        <p:spPr>
          <a:xfrm>
            <a:off x="228600" y="384048"/>
            <a:ext cx="822960" cy="256032"/>
          </a:xfrm>
          <a:prstGeom prst="rect">
            <a:avLst/>
          </a:prstGeom>
          <a:noFill/>
          <a:ln/>
        </p:spPr>
        <p:txBody>
          <a:bodyPr wrap="square" lIns="0" tIns="0" rIns="0" bIns="0" rtlCol="0" anchor="ctr"/>
          <a:lstStyle/>
          <a:p>
            <a:pPr marL="0" indent="0" algn="ctr">
              <a:buNone/>
            </a:pPr>
            <a:r>
              <a:rPr lang="en-US" sz="1100" b="1" dirty="0">
                <a:solidFill>
                  <a:srgbClr val="0A2020"/>
                </a:solidFill>
                <a:latin typeface="Calibri" pitchFamily="34" charset="0"/>
                <a:ea typeface="Calibri" pitchFamily="34" charset="-122"/>
                <a:cs typeface="Calibri" pitchFamily="34" charset="-120"/>
              </a:rPr>
              <a:t>Week 4</a:t>
            </a:r>
            <a:endParaRPr lang="en-US" sz="1100" dirty="0"/>
          </a:p>
        </p:txBody>
      </p:sp>
      <p:sp>
        <p:nvSpPr>
          <p:cNvPr id="9" name="Text 7">
            <a:extLst>
              <a:ext uri="{FF2B5EF4-FFF2-40B4-BE49-F238E27FC236}">
                <a16:creationId xmlns:a16="http://schemas.microsoft.com/office/drawing/2014/main" id="{C09B99FC-C479-8C2D-E6D2-881A32388889}"/>
              </a:ext>
            </a:extLst>
          </p:cNvPr>
          <p:cNvSpPr/>
          <p:nvPr/>
        </p:nvSpPr>
        <p:spPr>
          <a:xfrm>
            <a:off x="137160" y="1417320"/>
            <a:ext cx="228600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Data Structures</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0" name="Shape 8">
            <a:extLst>
              <a:ext uri="{FF2B5EF4-FFF2-40B4-BE49-F238E27FC236}">
                <a16:creationId xmlns:a16="http://schemas.microsoft.com/office/drawing/2014/main" id="{38A5CAEB-8102-DF38-E1B7-6B194D394D41}"/>
              </a:ext>
            </a:extLst>
          </p:cNvPr>
          <p:cNvSpPr/>
          <p:nvPr/>
        </p:nvSpPr>
        <p:spPr>
          <a:xfrm>
            <a:off x="320040" y="4069080"/>
            <a:ext cx="1920240" cy="0"/>
          </a:xfrm>
          <a:prstGeom prst="line">
            <a:avLst/>
          </a:prstGeom>
          <a:noFill/>
          <a:ln w="9525">
            <a:solidFill>
              <a:srgbClr val="333355"/>
            </a:solidFill>
            <a:prstDash val="solid"/>
          </a:ln>
        </p:spPr>
        <p:txBody>
          <a:bodyPr/>
          <a:lstStyle/>
          <a:p>
            <a:endParaRPr lang="en-US"/>
          </a:p>
        </p:txBody>
      </p:sp>
      <p:sp>
        <p:nvSpPr>
          <p:cNvPr id="11" name="Text 9">
            <a:extLst>
              <a:ext uri="{FF2B5EF4-FFF2-40B4-BE49-F238E27FC236}">
                <a16:creationId xmlns:a16="http://schemas.microsoft.com/office/drawing/2014/main" id="{92B591E3-3AA6-686E-4CAC-AF218B233E00}"/>
              </a:ext>
            </a:extLst>
          </p:cNvPr>
          <p:cNvSpPr/>
          <p:nvPr/>
        </p:nvSpPr>
        <p:spPr>
          <a:xfrm>
            <a:off x="137160" y="4160520"/>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Foundation Bootcamp</a:t>
            </a:r>
            <a:endParaRPr lang="en-US" sz="1000" dirty="0"/>
          </a:p>
        </p:txBody>
      </p:sp>
      <p:sp>
        <p:nvSpPr>
          <p:cNvPr id="12" name="Text 10">
            <a:extLst>
              <a:ext uri="{FF2B5EF4-FFF2-40B4-BE49-F238E27FC236}">
                <a16:creationId xmlns:a16="http://schemas.microsoft.com/office/drawing/2014/main" id="{5599767D-CE61-3911-E941-102809D30A60}"/>
              </a:ext>
            </a:extLst>
          </p:cNvPr>
          <p:cNvSpPr/>
          <p:nvPr/>
        </p:nvSpPr>
        <p:spPr>
          <a:xfrm>
            <a:off x="137160" y="4407408"/>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مسار البرمجة</a:t>
            </a:r>
            <a:endParaRPr lang="en-US" sz="1000" dirty="0"/>
          </a:p>
        </p:txBody>
      </p:sp>
      <p:sp>
        <p:nvSpPr>
          <p:cNvPr id="13" name="Shape 11">
            <a:extLst>
              <a:ext uri="{FF2B5EF4-FFF2-40B4-BE49-F238E27FC236}">
                <a16:creationId xmlns:a16="http://schemas.microsoft.com/office/drawing/2014/main" id="{55F4100E-9CB8-5B37-C0F2-CBEC90D9766C}"/>
              </a:ext>
            </a:extLst>
          </p:cNvPr>
          <p:cNvSpPr/>
          <p:nvPr/>
        </p:nvSpPr>
        <p:spPr>
          <a:xfrm>
            <a:off x="2834640" y="637794"/>
            <a:ext cx="6035040" cy="685800"/>
          </a:xfrm>
          <a:prstGeom prst="roundRect">
            <a:avLst>
              <a:gd name="adj" fmla="val 10667"/>
            </a:avLst>
          </a:prstGeom>
          <a:solidFill>
            <a:srgbClr val="16243A"/>
          </a:solidFill>
          <a:ln w="22225">
            <a:solidFill>
              <a:srgbClr val="57E3D8"/>
            </a:solidFill>
            <a:prstDash val="solid"/>
          </a:ln>
        </p:spPr>
        <p:txBody>
          <a:bodyPr/>
          <a:lstStyle/>
          <a:p>
            <a:endParaRPr lang="en-US"/>
          </a:p>
        </p:txBody>
      </p:sp>
      <p:sp>
        <p:nvSpPr>
          <p:cNvPr id="14" name="Shape 12">
            <a:extLst>
              <a:ext uri="{FF2B5EF4-FFF2-40B4-BE49-F238E27FC236}">
                <a16:creationId xmlns:a16="http://schemas.microsoft.com/office/drawing/2014/main" id="{5C0B6CAB-0687-131B-B1A3-5DC2E6225321}"/>
              </a:ext>
            </a:extLst>
          </p:cNvPr>
          <p:cNvSpPr/>
          <p:nvPr/>
        </p:nvSpPr>
        <p:spPr>
          <a:xfrm>
            <a:off x="3035808" y="788670"/>
            <a:ext cx="384048" cy="384048"/>
          </a:xfrm>
          <a:prstGeom prst="ellipse">
            <a:avLst/>
          </a:prstGeom>
          <a:solidFill>
            <a:srgbClr val="57E3D8"/>
          </a:solidFill>
          <a:ln w="12700">
            <a:solidFill>
              <a:srgbClr val="57E3D8"/>
            </a:solidFill>
            <a:prstDash val="solid"/>
          </a:ln>
        </p:spPr>
        <p:txBody>
          <a:bodyPr/>
          <a:lstStyle/>
          <a:p>
            <a:endParaRPr lang="en-US"/>
          </a:p>
        </p:txBody>
      </p:sp>
      <p:sp>
        <p:nvSpPr>
          <p:cNvPr id="15" name="Text 13">
            <a:extLst>
              <a:ext uri="{FF2B5EF4-FFF2-40B4-BE49-F238E27FC236}">
                <a16:creationId xmlns:a16="http://schemas.microsoft.com/office/drawing/2014/main" id="{AC7BC44D-1FC9-9F64-5CC7-E434D27250A8}"/>
              </a:ext>
            </a:extLst>
          </p:cNvPr>
          <p:cNvSpPr/>
          <p:nvPr/>
        </p:nvSpPr>
        <p:spPr>
          <a:xfrm>
            <a:off x="3035808" y="788670"/>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1</a:t>
            </a:r>
            <a:endParaRPr lang="en-US" sz="1200" dirty="0"/>
          </a:p>
        </p:txBody>
      </p:sp>
      <p:sp>
        <p:nvSpPr>
          <p:cNvPr id="16" name="Text 14">
            <a:extLst>
              <a:ext uri="{FF2B5EF4-FFF2-40B4-BE49-F238E27FC236}">
                <a16:creationId xmlns:a16="http://schemas.microsoft.com/office/drawing/2014/main" id="{C3F1AAB6-AEF6-43A8-6A84-7CBE0EB54EF6}"/>
              </a:ext>
            </a:extLst>
          </p:cNvPr>
          <p:cNvSpPr/>
          <p:nvPr/>
        </p:nvSpPr>
        <p:spPr>
          <a:xfrm>
            <a:off x="3584448" y="729234"/>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1</a:t>
            </a:r>
            <a:endParaRPr lang="en-US" sz="950" dirty="0"/>
          </a:p>
        </p:txBody>
      </p:sp>
      <p:sp>
        <p:nvSpPr>
          <p:cNvPr id="17" name="Shape 15">
            <a:extLst>
              <a:ext uri="{FF2B5EF4-FFF2-40B4-BE49-F238E27FC236}">
                <a16:creationId xmlns:a16="http://schemas.microsoft.com/office/drawing/2014/main" id="{648B9736-5271-3F10-9283-6A47244C9274}"/>
              </a:ext>
            </a:extLst>
          </p:cNvPr>
          <p:cNvSpPr/>
          <p:nvPr/>
        </p:nvSpPr>
        <p:spPr>
          <a:xfrm>
            <a:off x="4361688" y="784098"/>
            <a:ext cx="0" cy="393192"/>
          </a:xfrm>
          <a:prstGeom prst="line">
            <a:avLst/>
          </a:prstGeom>
          <a:noFill/>
          <a:ln w="9525">
            <a:solidFill>
              <a:srgbClr val="333355"/>
            </a:solidFill>
            <a:prstDash val="solid"/>
          </a:ln>
        </p:spPr>
        <p:txBody>
          <a:bodyPr/>
          <a:lstStyle/>
          <a:p>
            <a:endParaRPr lang="en-US"/>
          </a:p>
        </p:txBody>
      </p:sp>
      <p:sp>
        <p:nvSpPr>
          <p:cNvPr id="18" name="Text 16">
            <a:extLst>
              <a:ext uri="{FF2B5EF4-FFF2-40B4-BE49-F238E27FC236}">
                <a16:creationId xmlns:a16="http://schemas.microsoft.com/office/drawing/2014/main" id="{07A12A8A-1C6B-110F-8997-E7E5477EA5F8}"/>
              </a:ext>
            </a:extLst>
          </p:cNvPr>
          <p:cNvSpPr/>
          <p:nvPr/>
        </p:nvSpPr>
        <p:spPr>
          <a:xfrm>
            <a:off x="4453128" y="637794"/>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Arrays</a:t>
            </a:r>
            <a:endParaRPr lang="en-US" sz="1200" dirty="0"/>
          </a:p>
        </p:txBody>
      </p:sp>
      <p:sp>
        <p:nvSpPr>
          <p:cNvPr id="19" name="Shape 17">
            <a:extLst>
              <a:ext uri="{FF2B5EF4-FFF2-40B4-BE49-F238E27FC236}">
                <a16:creationId xmlns:a16="http://schemas.microsoft.com/office/drawing/2014/main" id="{63889319-52E7-F6EA-214C-6FB5D81E6B30}"/>
              </a:ext>
            </a:extLst>
          </p:cNvPr>
          <p:cNvSpPr/>
          <p:nvPr/>
        </p:nvSpPr>
        <p:spPr>
          <a:xfrm>
            <a:off x="2834640" y="1433322"/>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0" name="Shape 18">
            <a:extLst>
              <a:ext uri="{FF2B5EF4-FFF2-40B4-BE49-F238E27FC236}">
                <a16:creationId xmlns:a16="http://schemas.microsoft.com/office/drawing/2014/main" id="{06C2D083-16B0-081D-EC91-9BC5FB3A7C31}"/>
              </a:ext>
            </a:extLst>
          </p:cNvPr>
          <p:cNvSpPr/>
          <p:nvPr/>
        </p:nvSpPr>
        <p:spPr>
          <a:xfrm>
            <a:off x="3035808" y="1584198"/>
            <a:ext cx="384048" cy="384048"/>
          </a:xfrm>
          <a:prstGeom prst="ellipse">
            <a:avLst/>
          </a:prstGeom>
          <a:solidFill>
            <a:srgbClr val="57E3D8"/>
          </a:solidFill>
          <a:ln w="12700">
            <a:solidFill>
              <a:srgbClr val="57E3D8"/>
            </a:solidFill>
            <a:prstDash val="solid"/>
          </a:ln>
        </p:spPr>
        <p:txBody>
          <a:bodyPr/>
          <a:lstStyle/>
          <a:p>
            <a:endParaRPr lang="en-US"/>
          </a:p>
        </p:txBody>
      </p:sp>
      <p:sp>
        <p:nvSpPr>
          <p:cNvPr id="21" name="Text 19">
            <a:extLst>
              <a:ext uri="{FF2B5EF4-FFF2-40B4-BE49-F238E27FC236}">
                <a16:creationId xmlns:a16="http://schemas.microsoft.com/office/drawing/2014/main" id="{BAFCCA92-7DB9-D2AC-FF94-D4A25331D56E}"/>
              </a:ext>
            </a:extLst>
          </p:cNvPr>
          <p:cNvSpPr/>
          <p:nvPr/>
        </p:nvSpPr>
        <p:spPr>
          <a:xfrm>
            <a:off x="3035808" y="1584198"/>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2</a:t>
            </a:r>
            <a:endParaRPr lang="en-US" sz="1200" dirty="0"/>
          </a:p>
        </p:txBody>
      </p:sp>
      <p:sp>
        <p:nvSpPr>
          <p:cNvPr id="22" name="Text 20">
            <a:extLst>
              <a:ext uri="{FF2B5EF4-FFF2-40B4-BE49-F238E27FC236}">
                <a16:creationId xmlns:a16="http://schemas.microsoft.com/office/drawing/2014/main" id="{0C22C430-4049-84D0-C905-1AECAADE9A85}"/>
              </a:ext>
            </a:extLst>
          </p:cNvPr>
          <p:cNvSpPr/>
          <p:nvPr/>
        </p:nvSpPr>
        <p:spPr>
          <a:xfrm>
            <a:off x="3584448" y="1524762"/>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2</a:t>
            </a:r>
            <a:endParaRPr lang="en-US" sz="950" dirty="0"/>
          </a:p>
        </p:txBody>
      </p:sp>
      <p:sp>
        <p:nvSpPr>
          <p:cNvPr id="23" name="Shape 21">
            <a:extLst>
              <a:ext uri="{FF2B5EF4-FFF2-40B4-BE49-F238E27FC236}">
                <a16:creationId xmlns:a16="http://schemas.microsoft.com/office/drawing/2014/main" id="{82A72DA3-1CC8-C226-C2AB-67A0BD33B796}"/>
              </a:ext>
            </a:extLst>
          </p:cNvPr>
          <p:cNvSpPr/>
          <p:nvPr/>
        </p:nvSpPr>
        <p:spPr>
          <a:xfrm>
            <a:off x="4361688" y="1579626"/>
            <a:ext cx="0" cy="393192"/>
          </a:xfrm>
          <a:prstGeom prst="line">
            <a:avLst/>
          </a:prstGeom>
          <a:noFill/>
          <a:ln w="9525">
            <a:solidFill>
              <a:srgbClr val="333355"/>
            </a:solidFill>
            <a:prstDash val="solid"/>
          </a:ln>
        </p:spPr>
        <p:txBody>
          <a:bodyPr/>
          <a:lstStyle/>
          <a:p>
            <a:endParaRPr lang="en-US"/>
          </a:p>
        </p:txBody>
      </p:sp>
      <p:sp>
        <p:nvSpPr>
          <p:cNvPr id="24" name="Text 22">
            <a:extLst>
              <a:ext uri="{FF2B5EF4-FFF2-40B4-BE49-F238E27FC236}">
                <a16:creationId xmlns:a16="http://schemas.microsoft.com/office/drawing/2014/main" id="{F2904907-D386-E744-B0D6-2A064A9BA7D6}"/>
              </a:ext>
            </a:extLst>
          </p:cNvPr>
          <p:cNvSpPr/>
          <p:nvPr/>
        </p:nvSpPr>
        <p:spPr>
          <a:xfrm>
            <a:off x="4453128" y="1433322"/>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2D Arrays</a:t>
            </a:r>
            <a:endParaRPr lang="en-US" sz="1200" dirty="0"/>
          </a:p>
        </p:txBody>
      </p:sp>
      <p:sp>
        <p:nvSpPr>
          <p:cNvPr id="25" name="Shape 23">
            <a:extLst>
              <a:ext uri="{FF2B5EF4-FFF2-40B4-BE49-F238E27FC236}">
                <a16:creationId xmlns:a16="http://schemas.microsoft.com/office/drawing/2014/main" id="{8D5DB58C-C19C-BF82-38F2-3520D1D40072}"/>
              </a:ext>
            </a:extLst>
          </p:cNvPr>
          <p:cNvSpPr/>
          <p:nvPr/>
        </p:nvSpPr>
        <p:spPr>
          <a:xfrm>
            <a:off x="2834640" y="2228850"/>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6" name="Shape 24">
            <a:extLst>
              <a:ext uri="{FF2B5EF4-FFF2-40B4-BE49-F238E27FC236}">
                <a16:creationId xmlns:a16="http://schemas.microsoft.com/office/drawing/2014/main" id="{70736680-2F47-383C-0F62-87CCA75E254E}"/>
              </a:ext>
            </a:extLst>
          </p:cNvPr>
          <p:cNvSpPr/>
          <p:nvPr/>
        </p:nvSpPr>
        <p:spPr>
          <a:xfrm>
            <a:off x="3035808" y="2379726"/>
            <a:ext cx="384048" cy="384048"/>
          </a:xfrm>
          <a:prstGeom prst="ellipse">
            <a:avLst/>
          </a:prstGeom>
          <a:solidFill>
            <a:srgbClr val="57E3D8"/>
          </a:solidFill>
          <a:ln w="12700">
            <a:solidFill>
              <a:srgbClr val="57E3D8"/>
            </a:solidFill>
            <a:prstDash val="solid"/>
          </a:ln>
        </p:spPr>
        <p:txBody>
          <a:bodyPr/>
          <a:lstStyle/>
          <a:p>
            <a:endParaRPr lang="en-US"/>
          </a:p>
        </p:txBody>
      </p:sp>
      <p:sp>
        <p:nvSpPr>
          <p:cNvPr id="27" name="Text 25">
            <a:extLst>
              <a:ext uri="{FF2B5EF4-FFF2-40B4-BE49-F238E27FC236}">
                <a16:creationId xmlns:a16="http://schemas.microsoft.com/office/drawing/2014/main" id="{314C9277-EC05-FC71-5EA2-F4407D0C92BB}"/>
              </a:ext>
            </a:extLst>
          </p:cNvPr>
          <p:cNvSpPr/>
          <p:nvPr/>
        </p:nvSpPr>
        <p:spPr>
          <a:xfrm>
            <a:off x="3035808" y="2379726"/>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3</a:t>
            </a:r>
            <a:endParaRPr lang="en-US" sz="1200" dirty="0"/>
          </a:p>
        </p:txBody>
      </p:sp>
      <p:sp>
        <p:nvSpPr>
          <p:cNvPr id="28" name="Text 26">
            <a:extLst>
              <a:ext uri="{FF2B5EF4-FFF2-40B4-BE49-F238E27FC236}">
                <a16:creationId xmlns:a16="http://schemas.microsoft.com/office/drawing/2014/main" id="{30DC768E-4FAE-A61B-FCEC-97E680516D22}"/>
              </a:ext>
            </a:extLst>
          </p:cNvPr>
          <p:cNvSpPr/>
          <p:nvPr/>
        </p:nvSpPr>
        <p:spPr>
          <a:xfrm>
            <a:off x="3584448" y="2320290"/>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3</a:t>
            </a:r>
            <a:endParaRPr lang="en-US" sz="950" dirty="0"/>
          </a:p>
        </p:txBody>
      </p:sp>
      <p:sp>
        <p:nvSpPr>
          <p:cNvPr id="29" name="Shape 27">
            <a:extLst>
              <a:ext uri="{FF2B5EF4-FFF2-40B4-BE49-F238E27FC236}">
                <a16:creationId xmlns:a16="http://schemas.microsoft.com/office/drawing/2014/main" id="{889D4878-03AA-AC42-C788-065DCECAD681}"/>
              </a:ext>
            </a:extLst>
          </p:cNvPr>
          <p:cNvSpPr/>
          <p:nvPr/>
        </p:nvSpPr>
        <p:spPr>
          <a:xfrm>
            <a:off x="4361688" y="2375154"/>
            <a:ext cx="0" cy="393192"/>
          </a:xfrm>
          <a:prstGeom prst="line">
            <a:avLst/>
          </a:prstGeom>
          <a:noFill/>
          <a:ln w="9525">
            <a:solidFill>
              <a:srgbClr val="333355"/>
            </a:solidFill>
            <a:prstDash val="solid"/>
          </a:ln>
        </p:spPr>
        <p:txBody>
          <a:bodyPr/>
          <a:lstStyle/>
          <a:p>
            <a:endParaRPr lang="en-US"/>
          </a:p>
        </p:txBody>
      </p:sp>
      <p:sp>
        <p:nvSpPr>
          <p:cNvPr id="30" name="Text 28">
            <a:extLst>
              <a:ext uri="{FF2B5EF4-FFF2-40B4-BE49-F238E27FC236}">
                <a16:creationId xmlns:a16="http://schemas.microsoft.com/office/drawing/2014/main" id="{431CF177-A807-CE31-1BB2-ECA9F30B5B25}"/>
              </a:ext>
            </a:extLst>
          </p:cNvPr>
          <p:cNvSpPr/>
          <p:nvPr/>
        </p:nvSpPr>
        <p:spPr>
          <a:xfrm>
            <a:off x="4453128" y="2228850"/>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Linked Lists</a:t>
            </a:r>
            <a:endParaRPr lang="en-US" sz="1200" dirty="0"/>
          </a:p>
        </p:txBody>
      </p:sp>
      <p:sp>
        <p:nvSpPr>
          <p:cNvPr id="31" name="Shape 29">
            <a:extLst>
              <a:ext uri="{FF2B5EF4-FFF2-40B4-BE49-F238E27FC236}">
                <a16:creationId xmlns:a16="http://schemas.microsoft.com/office/drawing/2014/main" id="{71BB9B55-CFA0-B2B9-D0D5-F9F84E14A700}"/>
              </a:ext>
            </a:extLst>
          </p:cNvPr>
          <p:cNvSpPr/>
          <p:nvPr/>
        </p:nvSpPr>
        <p:spPr>
          <a:xfrm>
            <a:off x="2834640" y="3024378"/>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2" name="Shape 30">
            <a:extLst>
              <a:ext uri="{FF2B5EF4-FFF2-40B4-BE49-F238E27FC236}">
                <a16:creationId xmlns:a16="http://schemas.microsoft.com/office/drawing/2014/main" id="{591074AD-EEAF-CC1A-C64F-70E9EAAE6F93}"/>
              </a:ext>
            </a:extLst>
          </p:cNvPr>
          <p:cNvSpPr/>
          <p:nvPr/>
        </p:nvSpPr>
        <p:spPr>
          <a:xfrm>
            <a:off x="3035808" y="3175254"/>
            <a:ext cx="384048" cy="384048"/>
          </a:xfrm>
          <a:prstGeom prst="ellipse">
            <a:avLst/>
          </a:prstGeom>
          <a:solidFill>
            <a:srgbClr val="57E3D8"/>
          </a:solidFill>
          <a:ln w="12700">
            <a:solidFill>
              <a:srgbClr val="57E3D8"/>
            </a:solidFill>
            <a:prstDash val="solid"/>
          </a:ln>
        </p:spPr>
        <p:txBody>
          <a:bodyPr/>
          <a:lstStyle/>
          <a:p>
            <a:endParaRPr lang="en-US"/>
          </a:p>
        </p:txBody>
      </p:sp>
      <p:sp>
        <p:nvSpPr>
          <p:cNvPr id="33" name="Text 31">
            <a:extLst>
              <a:ext uri="{FF2B5EF4-FFF2-40B4-BE49-F238E27FC236}">
                <a16:creationId xmlns:a16="http://schemas.microsoft.com/office/drawing/2014/main" id="{72C1DB4C-7A30-FDE6-FBB2-5ED7FA0966C0}"/>
              </a:ext>
            </a:extLst>
          </p:cNvPr>
          <p:cNvSpPr/>
          <p:nvPr/>
        </p:nvSpPr>
        <p:spPr>
          <a:xfrm>
            <a:off x="3035808" y="3175254"/>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4</a:t>
            </a:r>
            <a:endParaRPr lang="en-US" sz="1200" dirty="0"/>
          </a:p>
        </p:txBody>
      </p:sp>
      <p:sp>
        <p:nvSpPr>
          <p:cNvPr id="34" name="Text 32">
            <a:extLst>
              <a:ext uri="{FF2B5EF4-FFF2-40B4-BE49-F238E27FC236}">
                <a16:creationId xmlns:a16="http://schemas.microsoft.com/office/drawing/2014/main" id="{20D7429D-968C-6CC1-CB67-49328C66BFFF}"/>
              </a:ext>
            </a:extLst>
          </p:cNvPr>
          <p:cNvSpPr/>
          <p:nvPr/>
        </p:nvSpPr>
        <p:spPr>
          <a:xfrm>
            <a:off x="3584448" y="3115818"/>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4</a:t>
            </a:r>
            <a:endParaRPr lang="en-US" sz="950" dirty="0"/>
          </a:p>
        </p:txBody>
      </p:sp>
      <p:sp>
        <p:nvSpPr>
          <p:cNvPr id="35" name="Shape 33">
            <a:extLst>
              <a:ext uri="{FF2B5EF4-FFF2-40B4-BE49-F238E27FC236}">
                <a16:creationId xmlns:a16="http://schemas.microsoft.com/office/drawing/2014/main" id="{C00E2499-AF17-8119-3E32-ED104BE2C408}"/>
              </a:ext>
            </a:extLst>
          </p:cNvPr>
          <p:cNvSpPr/>
          <p:nvPr/>
        </p:nvSpPr>
        <p:spPr>
          <a:xfrm>
            <a:off x="4361688" y="3170682"/>
            <a:ext cx="0" cy="393192"/>
          </a:xfrm>
          <a:prstGeom prst="line">
            <a:avLst/>
          </a:prstGeom>
          <a:noFill/>
          <a:ln w="9525">
            <a:solidFill>
              <a:srgbClr val="333355"/>
            </a:solidFill>
            <a:prstDash val="solid"/>
          </a:ln>
        </p:spPr>
        <p:txBody>
          <a:bodyPr/>
          <a:lstStyle/>
          <a:p>
            <a:endParaRPr lang="en-US"/>
          </a:p>
        </p:txBody>
      </p:sp>
      <p:sp>
        <p:nvSpPr>
          <p:cNvPr id="36" name="Text 34">
            <a:extLst>
              <a:ext uri="{FF2B5EF4-FFF2-40B4-BE49-F238E27FC236}">
                <a16:creationId xmlns:a16="http://schemas.microsoft.com/office/drawing/2014/main" id="{5CBCAC83-FE09-B41B-A792-27B20AAC85CA}"/>
              </a:ext>
            </a:extLst>
          </p:cNvPr>
          <p:cNvSpPr/>
          <p:nvPr/>
        </p:nvSpPr>
        <p:spPr>
          <a:xfrm>
            <a:off x="4453128" y="3024378"/>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Stack</a:t>
            </a:r>
            <a:endParaRPr lang="en-US" sz="1200" dirty="0"/>
          </a:p>
        </p:txBody>
      </p:sp>
      <p:sp>
        <p:nvSpPr>
          <p:cNvPr id="37" name="Shape 35">
            <a:extLst>
              <a:ext uri="{FF2B5EF4-FFF2-40B4-BE49-F238E27FC236}">
                <a16:creationId xmlns:a16="http://schemas.microsoft.com/office/drawing/2014/main" id="{56457514-840D-17B8-1CA3-22F36C9B7732}"/>
              </a:ext>
            </a:extLst>
          </p:cNvPr>
          <p:cNvSpPr/>
          <p:nvPr/>
        </p:nvSpPr>
        <p:spPr>
          <a:xfrm>
            <a:off x="2834640" y="3819906"/>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8" name="Shape 36">
            <a:extLst>
              <a:ext uri="{FF2B5EF4-FFF2-40B4-BE49-F238E27FC236}">
                <a16:creationId xmlns:a16="http://schemas.microsoft.com/office/drawing/2014/main" id="{9DF37A64-ED3D-4331-0DFF-1C08C1392C97}"/>
              </a:ext>
            </a:extLst>
          </p:cNvPr>
          <p:cNvSpPr/>
          <p:nvPr/>
        </p:nvSpPr>
        <p:spPr>
          <a:xfrm>
            <a:off x="3035808" y="3970782"/>
            <a:ext cx="384048" cy="384048"/>
          </a:xfrm>
          <a:prstGeom prst="ellipse">
            <a:avLst/>
          </a:prstGeom>
          <a:solidFill>
            <a:srgbClr val="57E3D8"/>
          </a:solidFill>
          <a:ln w="12700">
            <a:solidFill>
              <a:srgbClr val="57E3D8"/>
            </a:solidFill>
            <a:prstDash val="solid"/>
          </a:ln>
        </p:spPr>
        <p:txBody>
          <a:bodyPr/>
          <a:lstStyle/>
          <a:p>
            <a:endParaRPr lang="en-US"/>
          </a:p>
        </p:txBody>
      </p:sp>
      <p:sp>
        <p:nvSpPr>
          <p:cNvPr id="39" name="Text 37">
            <a:extLst>
              <a:ext uri="{FF2B5EF4-FFF2-40B4-BE49-F238E27FC236}">
                <a16:creationId xmlns:a16="http://schemas.microsoft.com/office/drawing/2014/main" id="{4E4D50F2-2BDB-5D2A-D738-38A75BE73FEC}"/>
              </a:ext>
            </a:extLst>
          </p:cNvPr>
          <p:cNvSpPr/>
          <p:nvPr/>
        </p:nvSpPr>
        <p:spPr>
          <a:xfrm>
            <a:off x="3035808" y="3970782"/>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5</a:t>
            </a:r>
            <a:endParaRPr lang="en-US" sz="1200" dirty="0"/>
          </a:p>
        </p:txBody>
      </p:sp>
      <p:sp>
        <p:nvSpPr>
          <p:cNvPr id="40" name="Text 38">
            <a:extLst>
              <a:ext uri="{FF2B5EF4-FFF2-40B4-BE49-F238E27FC236}">
                <a16:creationId xmlns:a16="http://schemas.microsoft.com/office/drawing/2014/main" id="{AD1F2660-4698-BAA4-6ECB-D1AD7F28A049}"/>
              </a:ext>
            </a:extLst>
          </p:cNvPr>
          <p:cNvSpPr/>
          <p:nvPr/>
        </p:nvSpPr>
        <p:spPr>
          <a:xfrm>
            <a:off x="3584448" y="3911346"/>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5</a:t>
            </a:r>
            <a:endParaRPr lang="en-US" sz="950" dirty="0"/>
          </a:p>
        </p:txBody>
      </p:sp>
      <p:sp>
        <p:nvSpPr>
          <p:cNvPr id="41" name="Shape 39">
            <a:extLst>
              <a:ext uri="{FF2B5EF4-FFF2-40B4-BE49-F238E27FC236}">
                <a16:creationId xmlns:a16="http://schemas.microsoft.com/office/drawing/2014/main" id="{D73F017A-5189-2942-0DBD-BF028C8152BF}"/>
              </a:ext>
            </a:extLst>
          </p:cNvPr>
          <p:cNvSpPr/>
          <p:nvPr/>
        </p:nvSpPr>
        <p:spPr>
          <a:xfrm>
            <a:off x="4361688" y="3966210"/>
            <a:ext cx="0" cy="393192"/>
          </a:xfrm>
          <a:prstGeom prst="line">
            <a:avLst/>
          </a:prstGeom>
          <a:noFill/>
          <a:ln w="9525">
            <a:solidFill>
              <a:srgbClr val="333355"/>
            </a:solidFill>
            <a:prstDash val="solid"/>
          </a:ln>
        </p:spPr>
        <p:txBody>
          <a:bodyPr/>
          <a:lstStyle/>
          <a:p>
            <a:endParaRPr lang="en-US"/>
          </a:p>
        </p:txBody>
      </p:sp>
      <p:sp>
        <p:nvSpPr>
          <p:cNvPr id="42" name="Text 40">
            <a:extLst>
              <a:ext uri="{FF2B5EF4-FFF2-40B4-BE49-F238E27FC236}">
                <a16:creationId xmlns:a16="http://schemas.microsoft.com/office/drawing/2014/main" id="{6D890D9C-81A6-2603-64EC-51DA4BF1757F}"/>
              </a:ext>
            </a:extLst>
          </p:cNvPr>
          <p:cNvSpPr/>
          <p:nvPr/>
        </p:nvSpPr>
        <p:spPr>
          <a:xfrm>
            <a:off x="4453128" y="3819906"/>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Queue</a:t>
            </a:r>
            <a:endParaRPr lang="en-US" sz="1200" dirty="0"/>
          </a:p>
        </p:txBody>
      </p:sp>
    </p:spTree>
    <p:extLst>
      <p:ext uri="{BB962C8B-B14F-4D97-AF65-F5344CB8AC3E}">
        <p14:creationId xmlns:p14="http://schemas.microsoft.com/office/powerpoint/2010/main" val="4089634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13FDBC-5DDD-9D99-0C14-ACF6DD9AF588}"/>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42E06120-A5BA-0588-9AFC-314C5FEDBA69}"/>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31E6587E-9A93-DCDC-751E-D59249E30628}"/>
              </a:ext>
            </a:extLst>
          </p:cNvPr>
          <p:cNvSpPr/>
          <p:nvPr/>
        </p:nvSpPr>
        <p:spPr>
          <a:xfrm>
            <a:off x="365760" y="274320"/>
            <a:ext cx="1371600" cy="868680"/>
          </a:xfrm>
          <a:prstGeom prst="rect">
            <a:avLst/>
          </a:prstGeom>
          <a:solidFill>
            <a:srgbClr val="57E3D8"/>
          </a:solidFill>
          <a:ln w="12700">
            <a:solidFill>
              <a:srgbClr val="57E3D8"/>
            </a:solidFill>
            <a:prstDash val="solid"/>
          </a:ln>
        </p:spPr>
        <p:txBody>
          <a:bodyPr/>
          <a:lstStyle/>
          <a:p>
            <a:endParaRPr lang="en-US"/>
          </a:p>
        </p:txBody>
      </p:sp>
      <p:sp>
        <p:nvSpPr>
          <p:cNvPr id="5" name="Text 3">
            <a:extLst>
              <a:ext uri="{FF2B5EF4-FFF2-40B4-BE49-F238E27FC236}">
                <a16:creationId xmlns:a16="http://schemas.microsoft.com/office/drawing/2014/main" id="{C67D5CF5-DB10-704C-D443-9DD16F3972AE}"/>
              </a:ext>
            </a:extLst>
          </p:cNvPr>
          <p:cNvSpPr/>
          <p:nvPr/>
        </p:nvSpPr>
        <p:spPr>
          <a:xfrm>
            <a:off x="365760" y="274320"/>
            <a:ext cx="1371600" cy="868680"/>
          </a:xfrm>
          <a:prstGeom prst="rect">
            <a:avLst/>
          </a:prstGeom>
          <a:noFill/>
          <a:ln/>
        </p:spPr>
        <p:txBody>
          <a:bodyPr wrap="square" lIns="0" tIns="0" rIns="0" bIns="0" rtlCol="0" anchor="ctr"/>
          <a:lstStyle/>
          <a:p>
            <a:pPr marL="0" indent="0" algn="ctr">
              <a:buNone/>
            </a:pPr>
            <a:r>
              <a:rPr lang="en-US" sz="1200" b="1" dirty="0">
                <a:solidFill>
                  <a:srgbClr val="0A2020"/>
                </a:solidFill>
                <a:latin typeface="Calibri" pitchFamily="34" charset="0"/>
                <a:ea typeface="Calibri" pitchFamily="34" charset="-122"/>
                <a:cs typeface="Calibri" pitchFamily="34" charset="-120"/>
              </a:rPr>
              <a:t>DAY</a:t>
            </a:r>
            <a:endParaRPr lang="en-US" sz="1200" dirty="0"/>
          </a:p>
          <a:p>
            <a:pPr marL="0" indent="0" algn="ctr">
              <a:buNone/>
            </a:pPr>
            <a:r>
              <a:rPr lang="en-US" sz="3200" b="1" dirty="0">
                <a:solidFill>
                  <a:srgbClr val="0A2020"/>
                </a:solidFill>
                <a:latin typeface="Calibri" pitchFamily="34" charset="0"/>
                <a:ea typeface="Calibri" pitchFamily="34" charset="-122"/>
                <a:cs typeface="Calibri" pitchFamily="34" charset="-120"/>
              </a:rPr>
              <a:t>1</a:t>
            </a:r>
            <a:endParaRPr lang="en-US" sz="1200" dirty="0"/>
          </a:p>
        </p:txBody>
      </p:sp>
      <p:sp>
        <p:nvSpPr>
          <p:cNvPr id="6" name="Text 4">
            <a:extLst>
              <a:ext uri="{FF2B5EF4-FFF2-40B4-BE49-F238E27FC236}">
                <a16:creationId xmlns:a16="http://schemas.microsoft.com/office/drawing/2014/main" id="{2618CB18-7DD1-DE12-784E-1AD843D14FD8}"/>
              </a:ext>
            </a:extLst>
          </p:cNvPr>
          <p:cNvSpPr/>
          <p:nvPr/>
        </p:nvSpPr>
        <p:spPr>
          <a:xfrm>
            <a:off x="4846320" y="292608"/>
            <a:ext cx="4023360" cy="256032"/>
          </a:xfrm>
          <a:prstGeom prst="rect">
            <a:avLst/>
          </a:prstGeom>
          <a:noFill/>
          <a:ln/>
        </p:spPr>
        <p:txBody>
          <a:bodyPr wrap="square" lIns="0" tIns="0" rIns="0" bIns="0" rtlCol="0" anchor="ctr"/>
          <a:lstStyle/>
          <a:p>
            <a:pPr marL="0" indent="0" algn="r">
              <a:buNone/>
            </a:pPr>
            <a:r>
              <a:rPr lang="en-US" sz="1000" dirty="0">
                <a:solidFill>
                  <a:srgbClr val="9AA4B2"/>
                </a:solidFill>
                <a:latin typeface="Calibri" pitchFamily="34" charset="0"/>
                <a:ea typeface="Calibri" pitchFamily="34" charset="-122"/>
                <a:cs typeface="Calibri" pitchFamily="34" charset="-120"/>
              </a:rPr>
              <a:t>Foundation Bootcamp  ·  Programming Fundamentals</a:t>
            </a:r>
            <a:endParaRPr lang="en-US" sz="1000" dirty="0"/>
          </a:p>
        </p:txBody>
      </p:sp>
      <p:sp>
        <p:nvSpPr>
          <p:cNvPr id="7" name="Text 5">
            <a:extLst>
              <a:ext uri="{FF2B5EF4-FFF2-40B4-BE49-F238E27FC236}">
                <a16:creationId xmlns:a16="http://schemas.microsoft.com/office/drawing/2014/main" id="{AB2A5451-C4E1-38AA-05F1-72B37457912F}"/>
              </a:ext>
            </a:extLst>
          </p:cNvPr>
          <p:cNvSpPr/>
          <p:nvPr/>
        </p:nvSpPr>
        <p:spPr>
          <a:xfrm>
            <a:off x="4846320" y="566928"/>
            <a:ext cx="4023360" cy="256032"/>
          </a:xfrm>
          <a:prstGeom prst="rect">
            <a:avLst/>
          </a:prstGeom>
          <a:noFill/>
          <a:ln/>
        </p:spPr>
        <p:txBody>
          <a:bodyPr wrap="square" lIns="0" tIns="0" rIns="0" bIns="0" rtlCol="0" anchor="ctr"/>
          <a:lstStyle/>
          <a:p>
            <a:pPr marL="0" indent="0" algn="r">
              <a:buNone/>
            </a:pPr>
            <a:r>
              <a:rPr lang="en-US" sz="1000" b="1" dirty="0">
                <a:solidFill>
                  <a:srgbClr val="57E3D8"/>
                </a:solidFill>
                <a:latin typeface="Calibri" pitchFamily="34" charset="0"/>
                <a:ea typeface="Calibri" pitchFamily="34" charset="-122"/>
                <a:cs typeface="Calibri" pitchFamily="34" charset="-120"/>
              </a:rPr>
              <a:t>Week 4  ·  Session 1</a:t>
            </a:r>
            <a:endParaRPr lang="en-US" sz="1000" dirty="0"/>
          </a:p>
        </p:txBody>
      </p:sp>
      <p:sp>
        <p:nvSpPr>
          <p:cNvPr id="8" name="Shape 6">
            <a:extLst>
              <a:ext uri="{FF2B5EF4-FFF2-40B4-BE49-F238E27FC236}">
                <a16:creationId xmlns:a16="http://schemas.microsoft.com/office/drawing/2014/main" id="{FAD083D8-2D1F-92BE-05A6-90E9ABE83F24}"/>
              </a:ext>
            </a:extLst>
          </p:cNvPr>
          <p:cNvSpPr/>
          <p:nvPr/>
        </p:nvSpPr>
        <p:spPr>
          <a:xfrm>
            <a:off x="365760" y="1298448"/>
            <a:ext cx="8412480" cy="1463040"/>
          </a:xfrm>
          <a:prstGeom prst="rect">
            <a:avLst/>
          </a:prstGeom>
          <a:solidFill>
            <a:srgbClr val="1A1A2E"/>
          </a:solidFill>
          <a:ln w="19050">
            <a:solidFill>
              <a:srgbClr val="57E3D8"/>
            </a:solidFill>
            <a:prstDash val="solid"/>
          </a:ln>
        </p:spPr>
        <p:txBody>
          <a:bodyPr/>
          <a:lstStyle/>
          <a:p>
            <a:endParaRPr lang="en-US"/>
          </a:p>
        </p:txBody>
      </p:sp>
      <p:sp>
        <p:nvSpPr>
          <p:cNvPr id="9" name="Shape 7">
            <a:extLst>
              <a:ext uri="{FF2B5EF4-FFF2-40B4-BE49-F238E27FC236}">
                <a16:creationId xmlns:a16="http://schemas.microsoft.com/office/drawing/2014/main" id="{0D5704D3-3BF1-E3E5-328C-6FEE31360790}"/>
              </a:ext>
            </a:extLst>
          </p:cNvPr>
          <p:cNvSpPr/>
          <p:nvPr/>
        </p:nvSpPr>
        <p:spPr>
          <a:xfrm>
            <a:off x="365760" y="1298448"/>
            <a:ext cx="109728" cy="1463040"/>
          </a:xfrm>
          <a:prstGeom prst="rect">
            <a:avLst/>
          </a:prstGeom>
          <a:solidFill>
            <a:srgbClr val="57E3D8"/>
          </a:solidFill>
          <a:ln w="12700">
            <a:solidFill>
              <a:srgbClr val="57E3D8"/>
            </a:solidFill>
            <a:prstDash val="solid"/>
          </a:ln>
        </p:spPr>
        <p:txBody>
          <a:bodyPr/>
          <a:lstStyle/>
          <a:p>
            <a:endParaRPr lang="en-US"/>
          </a:p>
        </p:txBody>
      </p:sp>
      <p:sp>
        <p:nvSpPr>
          <p:cNvPr id="10" name="Text 8">
            <a:extLst>
              <a:ext uri="{FF2B5EF4-FFF2-40B4-BE49-F238E27FC236}">
                <a16:creationId xmlns:a16="http://schemas.microsoft.com/office/drawing/2014/main" id="{D3858319-3A4E-91B1-C2EA-3847BFD5134B}"/>
              </a:ext>
            </a:extLst>
          </p:cNvPr>
          <p:cNvSpPr/>
          <p:nvPr/>
        </p:nvSpPr>
        <p:spPr>
          <a:xfrm>
            <a:off x="685800" y="1417320"/>
            <a:ext cx="3657600" cy="274320"/>
          </a:xfrm>
          <a:prstGeom prst="rect">
            <a:avLst/>
          </a:prstGeom>
          <a:noFill/>
          <a:ln/>
        </p:spPr>
        <p:txBody>
          <a:bodyPr wrap="square" lIns="0" tIns="0" rIns="0" bIns="0" rtlCol="0" anchor="ctr"/>
          <a:lstStyle/>
          <a:p>
            <a:pPr marL="0" indent="0" algn="l">
              <a:buNone/>
            </a:pPr>
            <a:r>
              <a:rPr lang="en-US" sz="1300" i="1" dirty="0">
                <a:solidFill>
                  <a:srgbClr val="9AA4B2"/>
                </a:solidFill>
                <a:latin typeface="Calibri" pitchFamily="34" charset="0"/>
                <a:ea typeface="Calibri" pitchFamily="34" charset="-122"/>
                <a:cs typeface="Calibri" pitchFamily="34" charset="-120"/>
              </a:rPr>
              <a:t>Today's Topics</a:t>
            </a:r>
            <a:endParaRPr lang="en-US" sz="1300" dirty="0"/>
          </a:p>
        </p:txBody>
      </p:sp>
      <p:sp>
        <p:nvSpPr>
          <p:cNvPr id="11" name="Text 9">
            <a:extLst>
              <a:ext uri="{FF2B5EF4-FFF2-40B4-BE49-F238E27FC236}">
                <a16:creationId xmlns:a16="http://schemas.microsoft.com/office/drawing/2014/main" id="{F7576970-1165-68A7-9A7D-AF857B550642}"/>
              </a:ext>
            </a:extLst>
          </p:cNvPr>
          <p:cNvSpPr/>
          <p:nvPr/>
        </p:nvSpPr>
        <p:spPr>
          <a:xfrm>
            <a:off x="685800" y="1737360"/>
            <a:ext cx="795528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Arrays</a:t>
            </a:r>
            <a:endParaRPr lang="en-US" sz="4000" dirty="0"/>
          </a:p>
        </p:txBody>
      </p:sp>
      <p:sp>
        <p:nvSpPr>
          <p:cNvPr id="12" name="Shape 10">
            <a:extLst>
              <a:ext uri="{FF2B5EF4-FFF2-40B4-BE49-F238E27FC236}">
                <a16:creationId xmlns:a16="http://schemas.microsoft.com/office/drawing/2014/main" id="{8F5FA2A2-3F2F-83FD-13B0-8F916BDF8B68}"/>
              </a:ext>
            </a:extLst>
          </p:cNvPr>
          <p:cNvSpPr/>
          <p:nvPr/>
        </p:nvSpPr>
        <p:spPr>
          <a:xfrm>
            <a:off x="448056" y="2971800"/>
            <a:ext cx="1965960" cy="256032"/>
          </a:xfrm>
          <a:prstGeom prst="rect">
            <a:avLst/>
          </a:prstGeom>
          <a:solidFill>
            <a:srgbClr val="57E3D8"/>
          </a:solidFill>
          <a:ln w="12700">
            <a:solidFill>
              <a:srgbClr val="57E3D8"/>
            </a:solidFill>
            <a:prstDash val="solid"/>
          </a:ln>
        </p:spPr>
        <p:txBody>
          <a:bodyPr/>
          <a:lstStyle/>
          <a:p>
            <a:endParaRPr lang="en-US"/>
          </a:p>
        </p:txBody>
      </p:sp>
      <p:sp>
        <p:nvSpPr>
          <p:cNvPr id="13" name="Text 11">
            <a:extLst>
              <a:ext uri="{FF2B5EF4-FFF2-40B4-BE49-F238E27FC236}">
                <a16:creationId xmlns:a16="http://schemas.microsoft.com/office/drawing/2014/main" id="{44B0681B-DD72-BBAA-CF9F-BAB2A3B94A02}"/>
              </a:ext>
            </a:extLst>
          </p:cNvPr>
          <p:cNvSpPr/>
          <p:nvPr/>
        </p:nvSpPr>
        <p:spPr>
          <a:xfrm>
            <a:off x="557784"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01</a:t>
            </a:r>
            <a:endParaRPr lang="en-US" sz="1000" dirty="0"/>
          </a:p>
        </p:txBody>
      </p:sp>
      <p:sp>
        <p:nvSpPr>
          <p:cNvPr id="14" name="Shape 12">
            <a:extLst>
              <a:ext uri="{FF2B5EF4-FFF2-40B4-BE49-F238E27FC236}">
                <a16:creationId xmlns:a16="http://schemas.microsoft.com/office/drawing/2014/main" id="{863F2B03-F032-249B-78BC-7A866DB649EF}"/>
              </a:ext>
            </a:extLst>
          </p:cNvPr>
          <p:cNvSpPr/>
          <p:nvPr/>
        </p:nvSpPr>
        <p:spPr>
          <a:xfrm>
            <a:off x="448056"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15" name="Shape 13">
            <a:extLst>
              <a:ext uri="{FF2B5EF4-FFF2-40B4-BE49-F238E27FC236}">
                <a16:creationId xmlns:a16="http://schemas.microsoft.com/office/drawing/2014/main" id="{BEB099FC-10EB-F5A1-0946-B88DCE86BBD5}"/>
              </a:ext>
            </a:extLst>
          </p:cNvPr>
          <p:cNvSpPr/>
          <p:nvPr/>
        </p:nvSpPr>
        <p:spPr>
          <a:xfrm>
            <a:off x="1147572" y="3383280"/>
            <a:ext cx="566928" cy="566928"/>
          </a:xfrm>
          <a:prstGeom prst="ellipse">
            <a:avLst/>
          </a:prstGeom>
          <a:solidFill>
            <a:srgbClr val="1A1A2E"/>
          </a:solidFill>
          <a:ln w="19050">
            <a:solidFill>
              <a:srgbClr val="57E3D8"/>
            </a:solidFill>
            <a:prstDash val="solid"/>
          </a:ln>
        </p:spPr>
        <p:txBody>
          <a:bodyPr/>
          <a:lstStyle/>
          <a:p>
            <a:endParaRPr lang="en-US"/>
          </a:p>
        </p:txBody>
      </p:sp>
      <p:pic>
        <p:nvPicPr>
          <p:cNvPr id="16" name="Image 0" descr="preencoded.png">
            <a:extLst>
              <a:ext uri="{FF2B5EF4-FFF2-40B4-BE49-F238E27FC236}">
                <a16:creationId xmlns:a16="http://schemas.microsoft.com/office/drawing/2014/main" id="{2BB8682D-961A-DD53-45ED-B5032D0B87E6}"/>
              </a:ext>
            </a:extLst>
          </p:cNvPr>
          <p:cNvPicPr>
            <a:picLocks noChangeAspect="1"/>
          </p:cNvPicPr>
          <p:nvPr/>
        </p:nvPicPr>
        <p:blipFill>
          <a:blip r:embed="rId2"/>
          <a:stretch>
            <a:fillRect/>
          </a:stretch>
        </p:blipFill>
        <p:spPr>
          <a:xfrm>
            <a:off x="1284732" y="3520440"/>
            <a:ext cx="292608" cy="292608"/>
          </a:xfrm>
          <a:prstGeom prst="rect">
            <a:avLst/>
          </a:prstGeom>
        </p:spPr>
      </p:pic>
      <p:sp>
        <p:nvSpPr>
          <p:cNvPr id="17" name="Text 14">
            <a:extLst>
              <a:ext uri="{FF2B5EF4-FFF2-40B4-BE49-F238E27FC236}">
                <a16:creationId xmlns:a16="http://schemas.microsoft.com/office/drawing/2014/main" id="{A012E61B-F8AB-45CD-A4DE-3F1327EF0708}"/>
              </a:ext>
            </a:extLst>
          </p:cNvPr>
          <p:cNvSpPr/>
          <p:nvPr/>
        </p:nvSpPr>
        <p:spPr>
          <a:xfrm>
            <a:off x="539496" y="3995928"/>
            <a:ext cx="1783080" cy="256032"/>
          </a:xfrm>
          <a:prstGeom prst="rect">
            <a:avLst/>
          </a:prstGeom>
          <a:noFill/>
          <a:ln/>
        </p:spPr>
        <p:txBody>
          <a:bodyPr wrap="square" lIns="0" tIns="0" rIns="0" bIns="0" rtlCol="0" anchor="ctr"/>
          <a:lstStyle/>
          <a:p>
            <a:pPr marL="0" indent="0" algn="l">
              <a:buNone/>
            </a:pPr>
            <a:r>
              <a:rPr lang="en-US" sz="1250" b="1" dirty="0">
                <a:solidFill>
                  <a:srgbClr val="57E3D8"/>
                </a:solidFill>
                <a:latin typeface="Calibri" pitchFamily="34" charset="0"/>
                <a:ea typeface="Calibri" pitchFamily="34" charset="-122"/>
                <a:cs typeface="Calibri" pitchFamily="34" charset="-120"/>
              </a:rPr>
              <a:t>What is an Array?</a:t>
            </a:r>
            <a:endParaRPr lang="en-US" sz="1250" dirty="0"/>
          </a:p>
        </p:txBody>
      </p:sp>
      <p:sp>
        <p:nvSpPr>
          <p:cNvPr id="18" name="Text 15">
            <a:extLst>
              <a:ext uri="{FF2B5EF4-FFF2-40B4-BE49-F238E27FC236}">
                <a16:creationId xmlns:a16="http://schemas.microsoft.com/office/drawing/2014/main" id="{0E81D8A6-1D5A-C81F-0678-FB64F8ADF628}"/>
              </a:ext>
            </a:extLst>
          </p:cNvPr>
          <p:cNvSpPr/>
          <p:nvPr/>
        </p:nvSpPr>
        <p:spPr>
          <a:xfrm>
            <a:off x="539496"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The simplest, oldest, and most-used way to store a collection of values in a computer</a:t>
            </a:r>
            <a:endParaRPr lang="en-US" sz="900" dirty="0"/>
          </a:p>
        </p:txBody>
      </p:sp>
      <p:sp>
        <p:nvSpPr>
          <p:cNvPr id="19" name="Shape 16">
            <a:extLst>
              <a:ext uri="{FF2B5EF4-FFF2-40B4-BE49-F238E27FC236}">
                <a16:creationId xmlns:a16="http://schemas.microsoft.com/office/drawing/2014/main" id="{509FF1E3-7F95-BF77-7884-C3713707FFEB}"/>
              </a:ext>
            </a:extLst>
          </p:cNvPr>
          <p:cNvSpPr/>
          <p:nvPr/>
        </p:nvSpPr>
        <p:spPr>
          <a:xfrm>
            <a:off x="2542032" y="2971800"/>
            <a:ext cx="1965960" cy="256032"/>
          </a:xfrm>
          <a:prstGeom prst="rect">
            <a:avLst/>
          </a:prstGeom>
          <a:solidFill>
            <a:srgbClr val="4A8AF4"/>
          </a:solidFill>
          <a:ln w="12700">
            <a:solidFill>
              <a:srgbClr val="4A8AF4"/>
            </a:solidFill>
            <a:prstDash val="solid"/>
          </a:ln>
        </p:spPr>
        <p:txBody>
          <a:bodyPr/>
          <a:lstStyle/>
          <a:p>
            <a:endParaRPr lang="en-US"/>
          </a:p>
        </p:txBody>
      </p:sp>
      <p:sp>
        <p:nvSpPr>
          <p:cNvPr id="20" name="Text 17">
            <a:extLst>
              <a:ext uri="{FF2B5EF4-FFF2-40B4-BE49-F238E27FC236}">
                <a16:creationId xmlns:a16="http://schemas.microsoft.com/office/drawing/2014/main" id="{D783B96E-964E-98F7-1DBA-93833A52BCDA}"/>
              </a:ext>
            </a:extLst>
          </p:cNvPr>
          <p:cNvSpPr/>
          <p:nvPr/>
        </p:nvSpPr>
        <p:spPr>
          <a:xfrm>
            <a:off x="2651760"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02</a:t>
            </a:r>
            <a:endParaRPr lang="en-US" sz="1000" dirty="0"/>
          </a:p>
        </p:txBody>
      </p:sp>
      <p:sp>
        <p:nvSpPr>
          <p:cNvPr id="21" name="Shape 18">
            <a:extLst>
              <a:ext uri="{FF2B5EF4-FFF2-40B4-BE49-F238E27FC236}">
                <a16:creationId xmlns:a16="http://schemas.microsoft.com/office/drawing/2014/main" id="{6FFD5674-F734-94AD-0AC9-E1FA43B9DB81}"/>
              </a:ext>
            </a:extLst>
          </p:cNvPr>
          <p:cNvSpPr/>
          <p:nvPr/>
        </p:nvSpPr>
        <p:spPr>
          <a:xfrm>
            <a:off x="2542032"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2" name="Shape 19">
            <a:extLst>
              <a:ext uri="{FF2B5EF4-FFF2-40B4-BE49-F238E27FC236}">
                <a16:creationId xmlns:a16="http://schemas.microsoft.com/office/drawing/2014/main" id="{9D2A8F47-C25F-DCA5-15B0-45A6A6E685C0}"/>
              </a:ext>
            </a:extLst>
          </p:cNvPr>
          <p:cNvSpPr/>
          <p:nvPr/>
        </p:nvSpPr>
        <p:spPr>
          <a:xfrm>
            <a:off x="3241548" y="3383280"/>
            <a:ext cx="566928" cy="566928"/>
          </a:xfrm>
          <a:prstGeom prst="ellipse">
            <a:avLst/>
          </a:prstGeom>
          <a:solidFill>
            <a:srgbClr val="1A1A2E"/>
          </a:solidFill>
          <a:ln w="19050">
            <a:solidFill>
              <a:srgbClr val="4A8AF4"/>
            </a:solidFill>
            <a:prstDash val="solid"/>
          </a:ln>
        </p:spPr>
        <p:txBody>
          <a:bodyPr/>
          <a:lstStyle/>
          <a:p>
            <a:endParaRPr lang="en-US"/>
          </a:p>
        </p:txBody>
      </p:sp>
      <p:pic>
        <p:nvPicPr>
          <p:cNvPr id="23" name="Image 1" descr="preencoded.png">
            <a:extLst>
              <a:ext uri="{FF2B5EF4-FFF2-40B4-BE49-F238E27FC236}">
                <a16:creationId xmlns:a16="http://schemas.microsoft.com/office/drawing/2014/main" id="{412C1324-714A-69F6-27F7-4F9223D687B9}"/>
              </a:ext>
            </a:extLst>
          </p:cNvPr>
          <p:cNvPicPr>
            <a:picLocks noChangeAspect="1"/>
          </p:cNvPicPr>
          <p:nvPr/>
        </p:nvPicPr>
        <p:blipFill>
          <a:blip r:embed="rId3"/>
          <a:stretch>
            <a:fillRect/>
          </a:stretch>
        </p:blipFill>
        <p:spPr>
          <a:xfrm>
            <a:off x="3378708" y="3520440"/>
            <a:ext cx="292608" cy="292608"/>
          </a:xfrm>
          <a:prstGeom prst="rect">
            <a:avLst/>
          </a:prstGeom>
        </p:spPr>
      </p:pic>
      <p:sp>
        <p:nvSpPr>
          <p:cNvPr id="24" name="Text 20">
            <a:extLst>
              <a:ext uri="{FF2B5EF4-FFF2-40B4-BE49-F238E27FC236}">
                <a16:creationId xmlns:a16="http://schemas.microsoft.com/office/drawing/2014/main" id="{1AE054CC-788A-0238-EC96-FA57C021FC40}"/>
              </a:ext>
            </a:extLst>
          </p:cNvPr>
          <p:cNvSpPr/>
          <p:nvPr/>
        </p:nvSpPr>
        <p:spPr>
          <a:xfrm>
            <a:off x="2633472" y="3995928"/>
            <a:ext cx="1783080" cy="256032"/>
          </a:xfrm>
          <a:prstGeom prst="rect">
            <a:avLst/>
          </a:prstGeom>
          <a:noFill/>
          <a:ln/>
        </p:spPr>
        <p:txBody>
          <a:bodyPr wrap="square" lIns="0" tIns="0" rIns="0" bIns="0" rtlCol="0" anchor="ctr"/>
          <a:lstStyle/>
          <a:p>
            <a:pPr marL="0" indent="0" algn="l">
              <a:buNone/>
            </a:pPr>
            <a:r>
              <a:rPr lang="en-US" sz="1250" b="1" dirty="0">
                <a:solidFill>
                  <a:srgbClr val="4A8AF4"/>
                </a:solidFill>
                <a:latin typeface="Calibri" pitchFamily="34" charset="0"/>
                <a:ea typeface="Calibri" pitchFamily="34" charset="-122"/>
                <a:cs typeface="Calibri" pitchFamily="34" charset="-120"/>
              </a:rPr>
              <a:t>Indices &amp; Access</a:t>
            </a:r>
            <a:endParaRPr lang="en-US" sz="1250" dirty="0"/>
          </a:p>
        </p:txBody>
      </p:sp>
      <p:sp>
        <p:nvSpPr>
          <p:cNvPr id="25" name="Text 21">
            <a:extLst>
              <a:ext uri="{FF2B5EF4-FFF2-40B4-BE49-F238E27FC236}">
                <a16:creationId xmlns:a16="http://schemas.microsoft.com/office/drawing/2014/main" id="{C7AFB4C8-A5F1-8E8E-6768-231160D342BA}"/>
              </a:ext>
            </a:extLst>
          </p:cNvPr>
          <p:cNvSpPr/>
          <p:nvPr/>
        </p:nvSpPr>
        <p:spPr>
          <a:xfrm>
            <a:off x="2633472"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How to read and update any item using its index — and why arrays count from zero</a:t>
            </a:r>
            <a:endParaRPr lang="en-US" sz="900" dirty="0"/>
          </a:p>
        </p:txBody>
      </p:sp>
      <p:sp>
        <p:nvSpPr>
          <p:cNvPr id="26" name="Shape 22">
            <a:extLst>
              <a:ext uri="{FF2B5EF4-FFF2-40B4-BE49-F238E27FC236}">
                <a16:creationId xmlns:a16="http://schemas.microsoft.com/office/drawing/2014/main" id="{9D78CCF1-008A-5CE5-AC2B-DCEF547897A9}"/>
              </a:ext>
            </a:extLst>
          </p:cNvPr>
          <p:cNvSpPr/>
          <p:nvPr/>
        </p:nvSpPr>
        <p:spPr>
          <a:xfrm>
            <a:off x="4636008" y="2971800"/>
            <a:ext cx="1965960" cy="256032"/>
          </a:xfrm>
          <a:prstGeom prst="rect">
            <a:avLst/>
          </a:prstGeom>
          <a:solidFill>
            <a:srgbClr val="E08845"/>
          </a:solidFill>
          <a:ln w="12700">
            <a:solidFill>
              <a:srgbClr val="E08845"/>
            </a:solidFill>
            <a:prstDash val="solid"/>
          </a:ln>
        </p:spPr>
        <p:txBody>
          <a:bodyPr/>
          <a:lstStyle/>
          <a:p>
            <a:endParaRPr lang="en-US"/>
          </a:p>
        </p:txBody>
      </p:sp>
      <p:sp>
        <p:nvSpPr>
          <p:cNvPr id="27" name="Text 23">
            <a:extLst>
              <a:ext uri="{FF2B5EF4-FFF2-40B4-BE49-F238E27FC236}">
                <a16:creationId xmlns:a16="http://schemas.microsoft.com/office/drawing/2014/main" id="{EB9130E3-8857-DC7C-907D-FE7C1B53B464}"/>
              </a:ext>
            </a:extLst>
          </p:cNvPr>
          <p:cNvSpPr/>
          <p:nvPr/>
        </p:nvSpPr>
        <p:spPr>
          <a:xfrm>
            <a:off x="4745736"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03</a:t>
            </a:r>
            <a:endParaRPr lang="en-US" sz="1000" dirty="0"/>
          </a:p>
        </p:txBody>
      </p:sp>
      <p:sp>
        <p:nvSpPr>
          <p:cNvPr id="28" name="Shape 24">
            <a:extLst>
              <a:ext uri="{FF2B5EF4-FFF2-40B4-BE49-F238E27FC236}">
                <a16:creationId xmlns:a16="http://schemas.microsoft.com/office/drawing/2014/main" id="{015392AA-FAA7-FAF0-16B9-DB2D2E80ABE9}"/>
              </a:ext>
            </a:extLst>
          </p:cNvPr>
          <p:cNvSpPr/>
          <p:nvPr/>
        </p:nvSpPr>
        <p:spPr>
          <a:xfrm>
            <a:off x="4636008"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9" name="Shape 25">
            <a:extLst>
              <a:ext uri="{FF2B5EF4-FFF2-40B4-BE49-F238E27FC236}">
                <a16:creationId xmlns:a16="http://schemas.microsoft.com/office/drawing/2014/main" id="{35E4AB96-40B3-FFCD-7B2C-BEC27DB50F93}"/>
              </a:ext>
            </a:extLst>
          </p:cNvPr>
          <p:cNvSpPr/>
          <p:nvPr/>
        </p:nvSpPr>
        <p:spPr>
          <a:xfrm>
            <a:off x="5335524" y="3383280"/>
            <a:ext cx="566928" cy="566928"/>
          </a:xfrm>
          <a:prstGeom prst="ellipse">
            <a:avLst/>
          </a:prstGeom>
          <a:solidFill>
            <a:srgbClr val="1A1A2E"/>
          </a:solidFill>
          <a:ln w="19050">
            <a:solidFill>
              <a:srgbClr val="E08845"/>
            </a:solidFill>
            <a:prstDash val="solid"/>
          </a:ln>
        </p:spPr>
        <p:txBody>
          <a:bodyPr/>
          <a:lstStyle/>
          <a:p>
            <a:endParaRPr lang="en-US"/>
          </a:p>
        </p:txBody>
      </p:sp>
      <p:pic>
        <p:nvPicPr>
          <p:cNvPr id="30" name="Image 2" descr="preencoded.png">
            <a:extLst>
              <a:ext uri="{FF2B5EF4-FFF2-40B4-BE49-F238E27FC236}">
                <a16:creationId xmlns:a16="http://schemas.microsoft.com/office/drawing/2014/main" id="{B4F08430-4DE3-A123-6DE3-E6E4102C890A}"/>
              </a:ext>
            </a:extLst>
          </p:cNvPr>
          <p:cNvPicPr>
            <a:picLocks noChangeAspect="1"/>
          </p:cNvPicPr>
          <p:nvPr/>
        </p:nvPicPr>
        <p:blipFill>
          <a:blip r:embed="rId4"/>
          <a:stretch>
            <a:fillRect/>
          </a:stretch>
        </p:blipFill>
        <p:spPr>
          <a:xfrm>
            <a:off x="5472684" y="3520440"/>
            <a:ext cx="292608" cy="292608"/>
          </a:xfrm>
          <a:prstGeom prst="rect">
            <a:avLst/>
          </a:prstGeom>
        </p:spPr>
      </p:pic>
      <p:sp>
        <p:nvSpPr>
          <p:cNvPr id="31" name="Text 26">
            <a:extLst>
              <a:ext uri="{FF2B5EF4-FFF2-40B4-BE49-F238E27FC236}">
                <a16:creationId xmlns:a16="http://schemas.microsoft.com/office/drawing/2014/main" id="{C70E47AA-2F2E-EEB7-BD8B-85FCC7D175B6}"/>
              </a:ext>
            </a:extLst>
          </p:cNvPr>
          <p:cNvSpPr/>
          <p:nvPr/>
        </p:nvSpPr>
        <p:spPr>
          <a:xfrm>
            <a:off x="4727448" y="3995928"/>
            <a:ext cx="1783080" cy="256032"/>
          </a:xfrm>
          <a:prstGeom prst="rect">
            <a:avLst/>
          </a:prstGeom>
          <a:noFill/>
          <a:ln/>
        </p:spPr>
        <p:txBody>
          <a:bodyPr wrap="square" lIns="0" tIns="0" rIns="0" bIns="0" rtlCol="0" anchor="ctr"/>
          <a:lstStyle/>
          <a:p>
            <a:pPr marL="0" indent="0" algn="l">
              <a:buNone/>
            </a:pPr>
            <a:r>
              <a:rPr lang="en-US" sz="1250" b="1" dirty="0">
                <a:solidFill>
                  <a:srgbClr val="E08845"/>
                </a:solidFill>
                <a:latin typeface="Calibri" pitchFamily="34" charset="0"/>
                <a:ea typeface="Calibri" pitchFamily="34" charset="-122"/>
                <a:cs typeface="Calibri" pitchFamily="34" charset="-120"/>
              </a:rPr>
              <a:t>Common Operations</a:t>
            </a:r>
            <a:endParaRPr lang="en-US" sz="1250" dirty="0"/>
          </a:p>
        </p:txBody>
      </p:sp>
      <p:sp>
        <p:nvSpPr>
          <p:cNvPr id="32" name="Text 27">
            <a:extLst>
              <a:ext uri="{FF2B5EF4-FFF2-40B4-BE49-F238E27FC236}">
                <a16:creationId xmlns:a16="http://schemas.microsoft.com/office/drawing/2014/main" id="{8ECCBAFC-4FF7-E939-9F85-F5EFDC3F0AFF}"/>
              </a:ext>
            </a:extLst>
          </p:cNvPr>
          <p:cNvSpPr/>
          <p:nvPr/>
        </p:nvSpPr>
        <p:spPr>
          <a:xfrm>
            <a:off x="4727448"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Declaring, accessing, updating, traversing, and finding the length of an array</a:t>
            </a:r>
            <a:endParaRPr lang="en-US" sz="900" dirty="0"/>
          </a:p>
        </p:txBody>
      </p:sp>
      <p:sp>
        <p:nvSpPr>
          <p:cNvPr id="33" name="Shape 28">
            <a:extLst>
              <a:ext uri="{FF2B5EF4-FFF2-40B4-BE49-F238E27FC236}">
                <a16:creationId xmlns:a16="http://schemas.microsoft.com/office/drawing/2014/main" id="{7610D32B-5A46-C321-DF99-3AA4DD031AF2}"/>
              </a:ext>
            </a:extLst>
          </p:cNvPr>
          <p:cNvSpPr/>
          <p:nvPr/>
        </p:nvSpPr>
        <p:spPr>
          <a:xfrm>
            <a:off x="6729984" y="2971800"/>
            <a:ext cx="1965960" cy="256032"/>
          </a:xfrm>
          <a:prstGeom prst="rect">
            <a:avLst/>
          </a:prstGeom>
          <a:solidFill>
            <a:srgbClr val="9B7EDA"/>
          </a:solidFill>
          <a:ln w="12700">
            <a:solidFill>
              <a:srgbClr val="9B7EDA"/>
            </a:solidFill>
            <a:prstDash val="solid"/>
          </a:ln>
        </p:spPr>
        <p:txBody>
          <a:bodyPr/>
          <a:lstStyle/>
          <a:p>
            <a:endParaRPr lang="en-US"/>
          </a:p>
        </p:txBody>
      </p:sp>
      <p:sp>
        <p:nvSpPr>
          <p:cNvPr id="34" name="Text 29">
            <a:extLst>
              <a:ext uri="{FF2B5EF4-FFF2-40B4-BE49-F238E27FC236}">
                <a16:creationId xmlns:a16="http://schemas.microsoft.com/office/drawing/2014/main" id="{B950023F-CCE1-382C-FDCF-D5C19DE609C4}"/>
              </a:ext>
            </a:extLst>
          </p:cNvPr>
          <p:cNvSpPr/>
          <p:nvPr/>
        </p:nvSpPr>
        <p:spPr>
          <a:xfrm>
            <a:off x="6839712"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04</a:t>
            </a:r>
            <a:endParaRPr lang="en-US" sz="1000" dirty="0"/>
          </a:p>
        </p:txBody>
      </p:sp>
      <p:sp>
        <p:nvSpPr>
          <p:cNvPr id="35" name="Shape 30">
            <a:extLst>
              <a:ext uri="{FF2B5EF4-FFF2-40B4-BE49-F238E27FC236}">
                <a16:creationId xmlns:a16="http://schemas.microsoft.com/office/drawing/2014/main" id="{3BDC98BD-C247-517E-A975-095E85D2D3D7}"/>
              </a:ext>
            </a:extLst>
          </p:cNvPr>
          <p:cNvSpPr/>
          <p:nvPr/>
        </p:nvSpPr>
        <p:spPr>
          <a:xfrm>
            <a:off x="6729984"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36" name="Shape 31">
            <a:extLst>
              <a:ext uri="{FF2B5EF4-FFF2-40B4-BE49-F238E27FC236}">
                <a16:creationId xmlns:a16="http://schemas.microsoft.com/office/drawing/2014/main" id="{C4514252-80E3-795E-49A1-898709149828}"/>
              </a:ext>
            </a:extLst>
          </p:cNvPr>
          <p:cNvSpPr/>
          <p:nvPr/>
        </p:nvSpPr>
        <p:spPr>
          <a:xfrm>
            <a:off x="7429500" y="3383280"/>
            <a:ext cx="566928" cy="566928"/>
          </a:xfrm>
          <a:prstGeom prst="ellipse">
            <a:avLst/>
          </a:prstGeom>
          <a:solidFill>
            <a:srgbClr val="1A1A2E"/>
          </a:solidFill>
          <a:ln w="19050">
            <a:solidFill>
              <a:srgbClr val="9B7EDA"/>
            </a:solidFill>
            <a:prstDash val="solid"/>
          </a:ln>
        </p:spPr>
        <p:txBody>
          <a:bodyPr/>
          <a:lstStyle/>
          <a:p>
            <a:endParaRPr lang="en-US"/>
          </a:p>
        </p:txBody>
      </p:sp>
      <p:pic>
        <p:nvPicPr>
          <p:cNvPr id="37" name="Image 3" descr="preencoded.png">
            <a:extLst>
              <a:ext uri="{FF2B5EF4-FFF2-40B4-BE49-F238E27FC236}">
                <a16:creationId xmlns:a16="http://schemas.microsoft.com/office/drawing/2014/main" id="{347FB59D-AC00-AA50-8B4C-5C338DD2508F}"/>
              </a:ext>
            </a:extLst>
          </p:cNvPr>
          <p:cNvPicPr>
            <a:picLocks noChangeAspect="1"/>
          </p:cNvPicPr>
          <p:nvPr/>
        </p:nvPicPr>
        <p:blipFill>
          <a:blip r:embed="rId5"/>
          <a:stretch>
            <a:fillRect/>
          </a:stretch>
        </p:blipFill>
        <p:spPr>
          <a:xfrm>
            <a:off x="7566660" y="3520440"/>
            <a:ext cx="292608" cy="292608"/>
          </a:xfrm>
          <a:prstGeom prst="rect">
            <a:avLst/>
          </a:prstGeom>
        </p:spPr>
      </p:pic>
      <p:sp>
        <p:nvSpPr>
          <p:cNvPr id="38" name="Text 32">
            <a:extLst>
              <a:ext uri="{FF2B5EF4-FFF2-40B4-BE49-F238E27FC236}">
                <a16:creationId xmlns:a16="http://schemas.microsoft.com/office/drawing/2014/main" id="{871EB010-BBA8-F194-F2DE-05B41DDB8680}"/>
              </a:ext>
            </a:extLst>
          </p:cNvPr>
          <p:cNvSpPr/>
          <p:nvPr/>
        </p:nvSpPr>
        <p:spPr>
          <a:xfrm>
            <a:off x="6821424" y="3995928"/>
            <a:ext cx="1783080" cy="256032"/>
          </a:xfrm>
          <a:prstGeom prst="rect">
            <a:avLst/>
          </a:prstGeom>
          <a:noFill/>
          <a:ln/>
        </p:spPr>
        <p:txBody>
          <a:bodyPr wrap="square" lIns="0" tIns="0" rIns="0" bIns="0" rtlCol="0" anchor="ctr"/>
          <a:lstStyle/>
          <a:p>
            <a:pPr marL="0" indent="0" algn="l">
              <a:buNone/>
            </a:pPr>
            <a:r>
              <a:rPr lang="en-US" sz="1250" b="1" dirty="0">
                <a:solidFill>
                  <a:srgbClr val="9B7EDA"/>
                </a:solidFill>
                <a:latin typeface="Calibri" pitchFamily="34" charset="0"/>
                <a:ea typeface="Calibri" pitchFamily="34" charset="-122"/>
                <a:cs typeface="Calibri" pitchFamily="34" charset="-120"/>
              </a:rPr>
              <a:t>Strengths &amp; Limits</a:t>
            </a:r>
            <a:endParaRPr lang="en-US" sz="1250" dirty="0"/>
          </a:p>
        </p:txBody>
      </p:sp>
      <p:sp>
        <p:nvSpPr>
          <p:cNvPr id="39" name="Text 33">
            <a:extLst>
              <a:ext uri="{FF2B5EF4-FFF2-40B4-BE49-F238E27FC236}">
                <a16:creationId xmlns:a16="http://schemas.microsoft.com/office/drawing/2014/main" id="{B1957D08-2E17-FA5D-3577-06DB3E45697E}"/>
              </a:ext>
            </a:extLst>
          </p:cNvPr>
          <p:cNvSpPr/>
          <p:nvPr/>
        </p:nvSpPr>
        <p:spPr>
          <a:xfrm>
            <a:off x="6821424"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What arrays are great at, what they cannot do, and when to reach for something else</a:t>
            </a:r>
            <a:endParaRPr lang="en-US" sz="900" dirty="0"/>
          </a:p>
        </p:txBody>
      </p:sp>
      <p:sp>
        <p:nvSpPr>
          <p:cNvPr id="40" name="Text 34">
            <a:extLst>
              <a:ext uri="{FF2B5EF4-FFF2-40B4-BE49-F238E27FC236}">
                <a16:creationId xmlns:a16="http://schemas.microsoft.com/office/drawing/2014/main" id="{A0849E45-C363-F4CE-04BD-BDB92DA86730}"/>
              </a:ext>
            </a:extLst>
          </p:cNvPr>
          <p:cNvSpPr/>
          <p:nvPr/>
        </p:nvSpPr>
        <p:spPr>
          <a:xfrm>
            <a:off x="0" y="4777740"/>
            <a:ext cx="9144000" cy="274320"/>
          </a:xfrm>
          <a:prstGeom prst="rect">
            <a:avLst/>
          </a:prstGeom>
          <a:noFill/>
          <a:ln/>
        </p:spPr>
        <p:txBody>
          <a:bodyPr wrap="square" lIns="0" tIns="0" rIns="0" bIns="0" rtlCol="0" anchor="ctr"/>
          <a:lstStyle/>
          <a:p>
            <a:pPr marL="0" indent="0" algn="ctr">
              <a:buNone/>
            </a:pPr>
            <a:r>
              <a:rPr lang="en-US" sz="1100" i="1" dirty="0">
                <a:solidFill>
                  <a:srgbClr val="9AA4B2"/>
                </a:solidFill>
                <a:latin typeface="Calibri" pitchFamily="34" charset="0"/>
                <a:ea typeface="Calibri" pitchFamily="34" charset="-122"/>
                <a:cs typeface="Calibri" pitchFamily="34" charset="-120"/>
              </a:rPr>
              <a:t>Let's get started 🚀</a:t>
            </a:r>
            <a:endParaRPr lang="en-US" sz="1100" dirty="0"/>
          </a:p>
        </p:txBody>
      </p:sp>
    </p:spTree>
    <p:extLst>
      <p:ext uri="{BB962C8B-B14F-4D97-AF65-F5344CB8AC3E}">
        <p14:creationId xmlns:p14="http://schemas.microsoft.com/office/powerpoint/2010/main" val="144165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p:cNvGrpSpPr/>
        <p:nvPr/>
      </p:nvGrpSpPr>
      <p:grpSpPr>
        <a:xfrm>
          <a:off x="0" y="0"/>
          <a:ext cx="0" cy="0"/>
          <a:chOff x="0" y="0"/>
          <a:chExt cx="0" cy="0"/>
        </a:xfrm>
      </p:grpSpPr>
      <p:sp>
        <p:nvSpPr>
          <p:cNvPr id="48" name="Shape 0">
            <a:extLst>
              <a:ext uri="{FF2B5EF4-FFF2-40B4-BE49-F238E27FC236}">
                <a16:creationId xmlns:a16="http://schemas.microsoft.com/office/drawing/2014/main" id="{1B6EA25D-920F-01B3-FB70-D7432FF6B1A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49" name="Shape 1">
            <a:extLst>
              <a:ext uri="{FF2B5EF4-FFF2-40B4-BE49-F238E27FC236}">
                <a16:creationId xmlns:a16="http://schemas.microsoft.com/office/drawing/2014/main" id="{AEA1A76F-C3F1-CC2E-D0A4-B9D7109230A5}"/>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50" name="Shape 2">
            <a:extLst>
              <a:ext uri="{FF2B5EF4-FFF2-40B4-BE49-F238E27FC236}">
                <a16:creationId xmlns:a16="http://schemas.microsoft.com/office/drawing/2014/main" id="{FC4C1BC1-0746-CC9A-B8CF-995FD26AE8B3}"/>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51" name="Text 3">
            <a:extLst>
              <a:ext uri="{FF2B5EF4-FFF2-40B4-BE49-F238E27FC236}">
                <a16:creationId xmlns:a16="http://schemas.microsoft.com/office/drawing/2014/main" id="{821F3991-3C81-09DF-1A56-9976147ADD80}"/>
              </a:ext>
            </a:extLst>
          </p:cNvPr>
          <p:cNvSpPr/>
          <p:nvPr/>
        </p:nvSpPr>
        <p:spPr>
          <a:xfrm>
            <a:off x="365760" y="73152"/>
            <a:ext cx="8412480" cy="658368"/>
          </a:xfrm>
          <a:prstGeom prst="rect">
            <a:avLst/>
          </a:prstGeom>
          <a:noFill/>
          <a:ln/>
        </p:spPr>
        <p:txBody>
          <a:bodyPr wrap="square" lIns="0" tIns="0" rIns="0" bIns="0" rtlCol="0" anchor="ctr"/>
          <a:lstStyle/>
          <a:p>
            <a:pPr marL="0" indent="0">
              <a:buNone/>
            </a:pPr>
            <a:r>
              <a:rPr lang="en-US" sz="2000" b="1" dirty="0">
                <a:solidFill>
                  <a:srgbClr val="57E3D8"/>
                </a:solidFill>
                <a:latin typeface="Calibri" pitchFamily="34" charset="0"/>
                <a:ea typeface="Calibri" pitchFamily="34" charset="-122"/>
                <a:cs typeface="Calibri" pitchFamily="34" charset="-120"/>
              </a:rPr>
              <a:t>From Algorithms to Data Structures</a:t>
            </a:r>
            <a:endParaRPr lang="en-US" sz="2000" dirty="0"/>
          </a:p>
        </p:txBody>
      </p:sp>
      <p:sp>
        <p:nvSpPr>
          <p:cNvPr id="52" name="Shape 4">
            <a:extLst>
              <a:ext uri="{FF2B5EF4-FFF2-40B4-BE49-F238E27FC236}">
                <a16:creationId xmlns:a16="http://schemas.microsoft.com/office/drawing/2014/main" id="{FC21FB84-F6AB-7665-1308-5BF721CA043C}"/>
              </a:ext>
            </a:extLst>
          </p:cNvPr>
          <p:cNvSpPr/>
          <p:nvPr/>
        </p:nvSpPr>
        <p:spPr>
          <a:xfrm>
            <a:off x="274320" y="841248"/>
            <a:ext cx="8595360" cy="4133088"/>
          </a:xfrm>
          <a:prstGeom prst="roundRect">
            <a:avLst>
              <a:gd name="adj" fmla="val 2655"/>
            </a:avLst>
          </a:prstGeom>
          <a:solidFill>
            <a:srgbClr val="1A1040"/>
          </a:solidFill>
          <a:ln w="6350">
            <a:solidFill>
              <a:srgbClr val="333366"/>
            </a:solidFill>
            <a:prstDash val="solid"/>
          </a:ln>
        </p:spPr>
        <p:txBody>
          <a:bodyPr/>
          <a:lstStyle/>
          <a:p>
            <a:endParaRPr lang="en-US"/>
          </a:p>
        </p:txBody>
      </p:sp>
      <p:sp>
        <p:nvSpPr>
          <p:cNvPr id="53" name="Text 5">
            <a:extLst>
              <a:ext uri="{FF2B5EF4-FFF2-40B4-BE49-F238E27FC236}">
                <a16:creationId xmlns:a16="http://schemas.microsoft.com/office/drawing/2014/main" id="{5505480E-9E51-0769-FE17-12FDA406D690}"/>
              </a:ext>
            </a:extLst>
          </p:cNvPr>
          <p:cNvSpPr/>
          <p:nvPr/>
        </p:nvSpPr>
        <p:spPr>
          <a:xfrm>
            <a:off x="502920" y="914400"/>
            <a:ext cx="8138160" cy="3977640"/>
          </a:xfrm>
          <a:prstGeom prst="rect">
            <a:avLst/>
          </a:prstGeom>
          <a:noFill/>
          <a:ln/>
        </p:spPr>
        <p:txBody>
          <a:bodyPr wrap="square" rtlCol="0" anchor="t"/>
          <a:lstStyle/>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Last week we built algorithms — recipes for solving problems. Linear Search walked through a list. Bubble Sort rearranged a list. Binary Search halved a sorted list. Every single one of these algorithms had something in common: they all worked on a list.</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This week we zoom in on that "list". What is it really? How does the computer store many values together? How do we read item number 5, or replace item number 2? The answers are called data structures, and the most fundamental one is the array.</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An algorithm  </a:t>
            </a:r>
            <a:r>
              <a:rPr lang="en-US" sz="1200" dirty="0">
                <a:solidFill>
                  <a:srgbClr val="EDEDED"/>
                </a:solidFill>
                <a:latin typeface="Calibri" pitchFamily="34" charset="0"/>
                <a:ea typeface="Calibri" pitchFamily="34" charset="-122"/>
                <a:cs typeface="Calibri" pitchFamily="34" charset="-120"/>
              </a:rPr>
              <a:t>is the recipe — the sequence of steps that solves a problem.</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A data structure  </a:t>
            </a:r>
            <a:r>
              <a:rPr lang="en-US" sz="1200" dirty="0">
                <a:solidFill>
                  <a:srgbClr val="EDEDED"/>
                </a:solidFill>
                <a:latin typeface="Calibri" pitchFamily="34" charset="0"/>
                <a:ea typeface="Calibri" pitchFamily="34" charset="-122"/>
                <a:cs typeface="Calibri" pitchFamily="34" charset="-120"/>
              </a:rPr>
              <a:t>is the way the data is laid out so the recipe can work efficiently. Each data structure has its own strengths, and choosing the right one is half of writing fast code.</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This week we will meet five data structures: arrays (today), 2D arrays, linked lists, stacks, and queues. Each one solves a different problem. By Friday you will recognise which structure to use the moment you see a problem — and that is one of the most valuable skills a developer can have.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Shape 2"/>
          <p:cNvSpPr/>
          <p:nvPr/>
        </p:nvSpPr>
        <p:spPr>
          <a:xfrm>
            <a:off x="548640" y="548640"/>
            <a:ext cx="8046720" cy="3657600"/>
          </a:xfrm>
          <a:prstGeom prst="rect">
            <a:avLst/>
          </a:prstGeom>
          <a:solidFill>
            <a:srgbClr val="161B26"/>
          </a:solidFill>
          <a:ln w="1905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5" name="Shape 3"/>
          <p:cNvSpPr/>
          <p:nvPr/>
        </p:nvSpPr>
        <p:spPr>
          <a:xfrm>
            <a:off x="91440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6" name="Shape 4"/>
          <p:cNvSpPr/>
          <p:nvPr/>
        </p:nvSpPr>
        <p:spPr>
          <a:xfrm>
            <a:off x="91440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7" name="Shape 5"/>
          <p:cNvSpPr/>
          <p:nvPr/>
        </p:nvSpPr>
        <p:spPr>
          <a:xfrm>
            <a:off x="201168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8" name="Shape 6"/>
          <p:cNvSpPr/>
          <p:nvPr/>
        </p:nvSpPr>
        <p:spPr>
          <a:xfrm>
            <a:off x="201168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9" name="Shape 7"/>
          <p:cNvSpPr/>
          <p:nvPr/>
        </p:nvSpPr>
        <p:spPr>
          <a:xfrm>
            <a:off x="3291840" y="10058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0" name="Shape 8"/>
          <p:cNvSpPr/>
          <p:nvPr/>
        </p:nvSpPr>
        <p:spPr>
          <a:xfrm>
            <a:off x="3291840" y="8778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1" name="Shape 9"/>
          <p:cNvSpPr/>
          <p:nvPr/>
        </p:nvSpPr>
        <p:spPr>
          <a:xfrm>
            <a:off x="4572000" y="82296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2" name="Shape 10"/>
          <p:cNvSpPr/>
          <p:nvPr/>
        </p:nvSpPr>
        <p:spPr>
          <a:xfrm>
            <a:off x="4572000" y="69494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3" name="Shape 11"/>
          <p:cNvSpPr/>
          <p:nvPr/>
        </p:nvSpPr>
        <p:spPr>
          <a:xfrm>
            <a:off x="585216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4" name="Shape 12"/>
          <p:cNvSpPr/>
          <p:nvPr/>
        </p:nvSpPr>
        <p:spPr>
          <a:xfrm>
            <a:off x="585216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5" name="Shape 13"/>
          <p:cNvSpPr/>
          <p:nvPr/>
        </p:nvSpPr>
        <p:spPr>
          <a:xfrm>
            <a:off x="694944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6" name="Shape 14"/>
          <p:cNvSpPr/>
          <p:nvPr/>
        </p:nvSpPr>
        <p:spPr>
          <a:xfrm>
            <a:off x="694944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7" name="Text 15"/>
          <p:cNvSpPr/>
          <p:nvPr/>
        </p:nvSpPr>
        <p:spPr>
          <a:xfrm>
            <a:off x="548640" y="1417320"/>
            <a:ext cx="8046720" cy="777240"/>
          </a:xfrm>
          <a:prstGeom prst="rect">
            <a:avLst/>
          </a:prstGeom>
          <a:noFill/>
          <a:ln/>
        </p:spPr>
        <p:txBody>
          <a:bodyPr wrap="square" lIns="0" tIns="0" rIns="0" bIns="0" rtlCol="0" anchor="ctr"/>
          <a:lstStyle/>
          <a:p>
            <a:pPr marL="0" indent="0" algn="ctr">
              <a:buNone/>
            </a:pPr>
            <a:r>
              <a:rPr lang="en-US" sz="5200" b="1" dirty="0">
                <a:solidFill>
                  <a:srgbClr val="F0F6FC"/>
                </a:solidFill>
                <a:latin typeface="Calibri" pitchFamily="34" charset="0"/>
                <a:ea typeface="Calibri" pitchFamily="34" charset="-122"/>
                <a:cs typeface="Calibri" pitchFamily="34" charset="-120"/>
              </a:rPr>
              <a:t>The Most</a:t>
            </a:r>
            <a:endParaRPr lang="en-US" sz="5200" dirty="0"/>
          </a:p>
        </p:txBody>
      </p:sp>
      <p:sp>
        <p:nvSpPr>
          <p:cNvPr id="18" name="Text 16"/>
          <p:cNvSpPr/>
          <p:nvPr/>
        </p:nvSpPr>
        <p:spPr>
          <a:xfrm>
            <a:off x="548640" y="2121408"/>
            <a:ext cx="8046720" cy="777240"/>
          </a:xfrm>
          <a:prstGeom prst="rect">
            <a:avLst/>
          </a:prstGeom>
          <a:noFill/>
          <a:ln/>
        </p:spPr>
        <p:txBody>
          <a:bodyPr wrap="square" lIns="0" tIns="0" rIns="0" bIns="0" rtlCol="0" anchor="ctr"/>
          <a:lstStyle/>
          <a:p>
            <a:pPr marL="0" indent="0" algn="ctr">
              <a:buNone/>
            </a:pPr>
            <a:r>
              <a:rPr lang="en-US" sz="5200" b="1" dirty="0">
                <a:solidFill>
                  <a:srgbClr val="3FD9C4"/>
                </a:solidFill>
                <a:latin typeface="Calibri" pitchFamily="34" charset="0"/>
                <a:ea typeface="Calibri" pitchFamily="34" charset="-122"/>
                <a:cs typeface="Calibri" pitchFamily="34" charset="-120"/>
              </a:rPr>
              <a:t>Fundamental</a:t>
            </a:r>
            <a:endParaRPr lang="en-US" sz="5200" dirty="0"/>
          </a:p>
        </p:txBody>
      </p:sp>
      <p:sp>
        <p:nvSpPr>
          <p:cNvPr id="19" name="Text 17"/>
          <p:cNvSpPr/>
          <p:nvPr/>
        </p:nvSpPr>
        <p:spPr>
          <a:xfrm>
            <a:off x="548640" y="2944368"/>
            <a:ext cx="8046720" cy="329184"/>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Definition · Indices · Operations · Performance</a:t>
            </a:r>
            <a:endParaRPr lang="en-US" sz="1500" dirty="0"/>
          </a:p>
        </p:txBody>
      </p:sp>
      <p:sp>
        <p:nvSpPr>
          <p:cNvPr id="20" name="Shape 18"/>
          <p:cNvSpPr/>
          <p:nvPr/>
        </p:nvSpPr>
        <p:spPr>
          <a:xfrm>
            <a:off x="2468880" y="3401568"/>
            <a:ext cx="274320" cy="274320"/>
          </a:xfrm>
          <a:prstGeom prst="ellipse">
            <a:avLst/>
          </a:prstGeom>
          <a:solidFill>
            <a:srgbClr val="3FD9C4"/>
          </a:solidFill>
          <a:ln w="12700">
            <a:solidFill>
              <a:srgbClr val="3FD9C4"/>
            </a:solidFill>
            <a:prstDash val="solid"/>
          </a:ln>
        </p:spPr>
        <p:txBody>
          <a:bodyPr/>
          <a:lstStyle/>
          <a:p>
            <a:endParaRPr lang="en-US"/>
          </a:p>
        </p:txBody>
      </p:sp>
      <p:sp>
        <p:nvSpPr>
          <p:cNvPr id="21" name="Shape 19"/>
          <p:cNvSpPr/>
          <p:nvPr/>
        </p:nvSpPr>
        <p:spPr>
          <a:xfrm>
            <a:off x="3090672" y="3401568"/>
            <a:ext cx="274320" cy="274320"/>
          </a:xfrm>
          <a:prstGeom prst="ellipse">
            <a:avLst/>
          </a:prstGeom>
          <a:solidFill>
            <a:srgbClr val="58A6FF"/>
          </a:solidFill>
          <a:ln w="12700">
            <a:solidFill>
              <a:srgbClr val="58A6FF"/>
            </a:solidFill>
            <a:prstDash val="solid"/>
          </a:ln>
        </p:spPr>
        <p:txBody>
          <a:bodyPr/>
          <a:lstStyle/>
          <a:p>
            <a:endParaRPr lang="en-US"/>
          </a:p>
        </p:txBody>
      </p:sp>
      <p:sp>
        <p:nvSpPr>
          <p:cNvPr id="22" name="Shape 20"/>
          <p:cNvSpPr/>
          <p:nvPr/>
        </p:nvSpPr>
        <p:spPr>
          <a:xfrm>
            <a:off x="3712464" y="3401568"/>
            <a:ext cx="274320" cy="274320"/>
          </a:xfrm>
          <a:prstGeom prst="ellipse">
            <a:avLst/>
          </a:prstGeom>
          <a:solidFill>
            <a:srgbClr val="BC8CFF"/>
          </a:solidFill>
          <a:ln w="12700">
            <a:solidFill>
              <a:srgbClr val="BC8CFF"/>
            </a:solidFill>
            <a:prstDash val="solid"/>
          </a:ln>
        </p:spPr>
        <p:txBody>
          <a:bodyPr/>
          <a:lstStyle/>
          <a:p>
            <a:endParaRPr lang="en-US"/>
          </a:p>
        </p:txBody>
      </p:sp>
      <p:sp>
        <p:nvSpPr>
          <p:cNvPr id="23" name="Shape 21"/>
          <p:cNvSpPr/>
          <p:nvPr/>
        </p:nvSpPr>
        <p:spPr>
          <a:xfrm>
            <a:off x="4334256" y="3401568"/>
            <a:ext cx="274320" cy="274320"/>
          </a:xfrm>
          <a:prstGeom prst="ellipse">
            <a:avLst/>
          </a:prstGeom>
          <a:solidFill>
            <a:srgbClr val="FFA657"/>
          </a:solidFill>
          <a:ln w="12700">
            <a:solidFill>
              <a:srgbClr val="FFA657"/>
            </a:solidFill>
            <a:prstDash val="solid"/>
          </a:ln>
        </p:spPr>
        <p:txBody>
          <a:bodyPr/>
          <a:lstStyle/>
          <a:p>
            <a:endParaRPr lang="en-US"/>
          </a:p>
        </p:txBody>
      </p:sp>
      <p:sp>
        <p:nvSpPr>
          <p:cNvPr id="24" name="Shape 22"/>
          <p:cNvSpPr/>
          <p:nvPr/>
        </p:nvSpPr>
        <p:spPr>
          <a:xfrm>
            <a:off x="4956048" y="3401568"/>
            <a:ext cx="274320" cy="274320"/>
          </a:xfrm>
          <a:prstGeom prst="ellipse">
            <a:avLst/>
          </a:prstGeom>
          <a:solidFill>
            <a:srgbClr val="3FB950"/>
          </a:solidFill>
          <a:ln w="12700">
            <a:solidFill>
              <a:srgbClr val="3FB950"/>
            </a:solidFill>
            <a:prstDash val="solid"/>
          </a:ln>
        </p:spPr>
        <p:txBody>
          <a:bodyPr/>
          <a:lstStyle/>
          <a:p>
            <a:endParaRPr lang="en-US"/>
          </a:p>
        </p:txBody>
      </p:sp>
      <p:sp>
        <p:nvSpPr>
          <p:cNvPr id="25" name="Shape 23"/>
          <p:cNvSpPr/>
          <p:nvPr/>
        </p:nvSpPr>
        <p:spPr>
          <a:xfrm>
            <a:off x="5577840" y="3401568"/>
            <a:ext cx="274320" cy="274320"/>
          </a:xfrm>
          <a:prstGeom prst="ellipse">
            <a:avLst/>
          </a:prstGeom>
          <a:solidFill>
            <a:srgbClr val="F778BA"/>
          </a:solidFill>
          <a:ln w="12700">
            <a:solidFill>
              <a:srgbClr val="F778BA"/>
            </a:solidFill>
            <a:prstDash val="solid"/>
          </a:ln>
        </p:spPr>
        <p:txBody>
          <a:bodyPr/>
          <a:lstStyle/>
          <a:p>
            <a:endParaRPr lang="en-US"/>
          </a:p>
        </p:txBody>
      </p:sp>
      <p:sp>
        <p:nvSpPr>
          <p:cNvPr id="26" name="Text 24"/>
          <p:cNvSpPr/>
          <p:nvPr/>
        </p:nvSpPr>
        <p:spPr>
          <a:xfrm>
            <a:off x="0" y="4526280"/>
            <a:ext cx="9144000" cy="292608"/>
          </a:xfrm>
          <a:prstGeom prst="rect">
            <a:avLst/>
          </a:prstGeom>
          <a:noFill/>
          <a:ln/>
        </p:spPr>
        <p:txBody>
          <a:bodyPr wrap="square" lIns="0" tIns="0" rIns="0" bIns="0" rtlCol="0" anchor="ctr"/>
          <a:lstStyle/>
          <a:p>
            <a:pPr marL="0" indent="0" algn="ctr">
              <a:buNone/>
            </a:pPr>
            <a:r>
              <a:rPr lang="en-US" sz="1000" dirty="0">
                <a:solidFill>
                  <a:srgbClr val="3D444D"/>
                </a:solidFill>
                <a:latin typeface="Calibri" pitchFamily="34" charset="0"/>
                <a:ea typeface="Calibri" pitchFamily="34" charset="-122"/>
                <a:cs typeface="Calibri" pitchFamily="34" charset="-120"/>
              </a:rPr>
              <a:t>Foundation Bootcamp · Programming Fundamentals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EVERYWHERE YOU LOOK</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Arrays Are Everywhere</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moment you have more than one of something, you almost certainly have an array</a:t>
            </a:r>
            <a:endParaRPr lang="en-US" sz="1300" dirty="0"/>
          </a:p>
        </p:txBody>
      </p:sp>
      <p:sp>
        <p:nvSpPr>
          <p:cNvPr id="7" name="Shape 5"/>
          <p:cNvSpPr/>
          <p:nvPr/>
        </p:nvSpPr>
        <p:spPr>
          <a:xfrm>
            <a:off x="411480" y="1170432"/>
            <a:ext cx="8321040" cy="9144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43584"/>
            <a:ext cx="7955280" cy="749808"/>
          </a:xfrm>
          <a:prstGeom prst="rect">
            <a:avLst/>
          </a:prstGeom>
          <a:noFill/>
          <a:ln/>
        </p:spPr>
        <p:txBody>
          <a:bodyPr wrap="square" lIns="0" tIns="0" rIns="0" bIns="0" rtlCol="0" anchor="ctr"/>
          <a:lstStyle/>
          <a:p>
            <a:pPr marL="0" indent="0">
              <a:buNone/>
            </a:pPr>
            <a:r>
              <a:rPr lang="en-US" sz="1300" b="1" dirty="0">
                <a:solidFill>
                  <a:srgbClr val="3FD9C4"/>
                </a:solidFill>
                <a:latin typeface="Calibri" pitchFamily="34" charset="0"/>
                <a:ea typeface="Calibri" pitchFamily="34" charset="-122"/>
                <a:cs typeface="Calibri" pitchFamily="34" charset="-120"/>
              </a:rPr>
              <a:t>An array  </a:t>
            </a:r>
            <a:r>
              <a:rPr lang="en-US" sz="1300" dirty="0">
                <a:solidFill>
                  <a:srgbClr val="F0F6FC"/>
                </a:solidFill>
                <a:latin typeface="Calibri" pitchFamily="34" charset="0"/>
                <a:ea typeface="Calibri" pitchFamily="34" charset="-122"/>
                <a:cs typeface="Calibri" pitchFamily="34" charset="-120"/>
              </a:rPr>
              <a:t>stores a fixed number of </a:t>
            </a:r>
            <a:r>
              <a:rPr lang="en-US" sz="1300" b="1" dirty="0">
                <a:solidFill>
                  <a:srgbClr val="E3B341"/>
                </a:solidFill>
                <a:latin typeface="Calibri" pitchFamily="34" charset="0"/>
                <a:ea typeface="Calibri" pitchFamily="34" charset="-122"/>
                <a:cs typeface="Calibri" pitchFamily="34" charset="-120"/>
              </a:rPr>
              <a:t>values </a:t>
            </a:r>
            <a:r>
              <a:rPr lang="en-US" sz="1300" dirty="0">
                <a:solidFill>
                  <a:srgbClr val="F0F6FC"/>
                </a:solidFill>
                <a:latin typeface="Calibri" pitchFamily="34" charset="0"/>
                <a:ea typeface="Calibri" pitchFamily="34" charset="-122"/>
                <a:cs typeface="Calibri" pitchFamily="34" charset="-120"/>
              </a:rPr>
              <a:t>of the same type, side by side, in a single block of memory. Each value gets a number — its index — </a:t>
            </a:r>
            <a:r>
              <a:rPr lang="en-US" sz="1300" dirty="0">
                <a:solidFill>
                  <a:srgbClr val="8B949E"/>
                </a:solidFill>
                <a:latin typeface="Calibri" pitchFamily="34" charset="0"/>
                <a:ea typeface="Calibri" pitchFamily="34" charset="-122"/>
                <a:cs typeface="Calibri" pitchFamily="34" charset="-120"/>
              </a:rPr>
              <a:t>and you use that index to read or update it instantly.</a:t>
            </a:r>
            <a:endParaRPr lang="en-US" sz="1300" dirty="0"/>
          </a:p>
        </p:txBody>
      </p:sp>
      <p:sp>
        <p:nvSpPr>
          <p:cNvPr id="9" name="Shape 7"/>
          <p:cNvSpPr/>
          <p:nvPr/>
        </p:nvSpPr>
        <p:spPr>
          <a:xfrm>
            <a:off x="411480" y="2212848"/>
            <a:ext cx="1993392" cy="214884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2212848"/>
            <a:ext cx="1993392"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11" name="Text 9"/>
          <p:cNvSpPr/>
          <p:nvPr/>
        </p:nvSpPr>
        <p:spPr>
          <a:xfrm>
            <a:off x="521208"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Game Scores</a:t>
            </a:r>
            <a:endParaRPr lang="en-US" sz="1100" dirty="0"/>
          </a:p>
        </p:txBody>
      </p:sp>
      <p:sp>
        <p:nvSpPr>
          <p:cNvPr id="12" name="Text 10"/>
          <p:cNvSpPr/>
          <p:nvPr/>
        </p:nvSpPr>
        <p:spPr>
          <a:xfrm>
            <a:off x="521208"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The high-score table in</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any game is an array</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of integers — one slot</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per top-10 player.</a:t>
            </a:r>
            <a:endParaRPr lang="en-US" sz="1100" dirty="0"/>
          </a:p>
        </p:txBody>
      </p:sp>
      <p:sp>
        <p:nvSpPr>
          <p:cNvPr id="13" name="Shape 11"/>
          <p:cNvSpPr/>
          <p:nvPr/>
        </p:nvSpPr>
        <p:spPr>
          <a:xfrm>
            <a:off x="2532888" y="2212848"/>
            <a:ext cx="1993392" cy="21488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4" name="Shape 12"/>
          <p:cNvSpPr/>
          <p:nvPr/>
        </p:nvSpPr>
        <p:spPr>
          <a:xfrm>
            <a:off x="2532888" y="2212848"/>
            <a:ext cx="1993392"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5" name="Text 13"/>
          <p:cNvSpPr/>
          <p:nvPr/>
        </p:nvSpPr>
        <p:spPr>
          <a:xfrm>
            <a:off x="2642616"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Image Pixels</a:t>
            </a:r>
            <a:endParaRPr lang="en-US" sz="1100" dirty="0"/>
          </a:p>
        </p:txBody>
      </p:sp>
      <p:sp>
        <p:nvSpPr>
          <p:cNvPr id="16" name="Text 14"/>
          <p:cNvSpPr/>
          <p:nvPr/>
        </p:nvSpPr>
        <p:spPr>
          <a:xfrm>
            <a:off x="2642616"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Every photo on your</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phone is an array of</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colour values — millions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of pixels in a row.</a:t>
            </a:r>
            <a:endParaRPr lang="en-US" sz="1100" dirty="0"/>
          </a:p>
        </p:txBody>
      </p:sp>
      <p:sp>
        <p:nvSpPr>
          <p:cNvPr id="17" name="Shape 15"/>
          <p:cNvSpPr/>
          <p:nvPr/>
        </p:nvSpPr>
        <p:spPr>
          <a:xfrm>
            <a:off x="4654296" y="2212848"/>
            <a:ext cx="1993392" cy="21488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8" name="Shape 16"/>
          <p:cNvSpPr/>
          <p:nvPr/>
        </p:nvSpPr>
        <p:spPr>
          <a:xfrm>
            <a:off x="4654296" y="2212848"/>
            <a:ext cx="1993392"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9" name="Text 17"/>
          <p:cNvSpPr/>
          <p:nvPr/>
        </p:nvSpPr>
        <p:spPr>
          <a:xfrm>
            <a:off x="4764024"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Sensor Data</a:t>
            </a:r>
            <a:endParaRPr lang="en-US" sz="1100" dirty="0"/>
          </a:p>
        </p:txBody>
      </p:sp>
      <p:sp>
        <p:nvSpPr>
          <p:cNvPr id="20" name="Text 18"/>
          <p:cNvSpPr/>
          <p:nvPr/>
        </p:nvSpPr>
        <p:spPr>
          <a:xfrm>
            <a:off x="4764024"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Heart-rate samples,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weather measurements,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stock prices over time —</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all stored in arrays.</a:t>
            </a:r>
            <a:endParaRPr lang="en-US" sz="1100" dirty="0"/>
          </a:p>
        </p:txBody>
      </p:sp>
      <p:sp>
        <p:nvSpPr>
          <p:cNvPr id="21" name="Shape 19"/>
          <p:cNvSpPr/>
          <p:nvPr/>
        </p:nvSpPr>
        <p:spPr>
          <a:xfrm>
            <a:off x="6775704" y="2212848"/>
            <a:ext cx="1993392" cy="21488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6775704" y="2212848"/>
            <a:ext cx="1993392"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3" name="Text 21"/>
          <p:cNvSpPr/>
          <p:nvPr/>
        </p:nvSpPr>
        <p:spPr>
          <a:xfrm>
            <a:off x="6885432"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Names List</a:t>
            </a:r>
            <a:endParaRPr lang="en-US" sz="1100" dirty="0"/>
          </a:p>
        </p:txBody>
      </p:sp>
      <p:sp>
        <p:nvSpPr>
          <p:cNvPr id="24" name="Text 22"/>
          <p:cNvSpPr/>
          <p:nvPr/>
        </p:nvSpPr>
        <p:spPr>
          <a:xfrm>
            <a:off x="6885432"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The students in a class,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the players on a team,</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the contacts in your</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phone — every list of</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strings is an array.</a:t>
            </a:r>
            <a:endParaRPr lang="en-US" sz="1100" dirty="0"/>
          </a:p>
        </p:txBody>
      </p:sp>
      <p:sp>
        <p:nvSpPr>
          <p:cNvPr id="25" name="Shape 23"/>
          <p:cNvSpPr/>
          <p:nvPr/>
        </p:nvSpPr>
        <p:spPr>
          <a:xfrm>
            <a:off x="365760" y="4572000"/>
            <a:ext cx="8412480" cy="384048"/>
          </a:xfrm>
          <a:prstGeom prst="rect">
            <a:avLst/>
          </a:prstGeom>
          <a:solidFill>
            <a:srgbClr val="0A1020"/>
          </a:solidFill>
          <a:ln w="12700">
            <a:solidFill>
              <a:srgbClr val="E3B341"/>
            </a:solidFill>
            <a:prstDash val="solid"/>
          </a:ln>
        </p:spPr>
        <p:txBody>
          <a:bodyPr/>
          <a:lstStyle/>
          <a:p>
            <a:endParaRPr lang="en-US"/>
          </a:p>
        </p:txBody>
      </p:sp>
      <p:sp>
        <p:nvSpPr>
          <p:cNvPr id="26" name="Text 24"/>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Why arrays first:  </a:t>
            </a:r>
            <a:r>
              <a:rPr lang="en-US" sz="1100" dirty="0">
                <a:solidFill>
                  <a:srgbClr val="F0F6FC"/>
                </a:solidFill>
                <a:latin typeface="Calibri" pitchFamily="34" charset="0"/>
                <a:ea typeface="Calibri" pitchFamily="34" charset="-122"/>
                <a:cs typeface="Calibri" pitchFamily="34" charset="-120"/>
              </a:rPr>
              <a:t>Arrays are the bedrock of every other data structure this week. 2D arrays are arrays of arrays. Stacks and queues are built on arrays. Master the array first, and the rest becomes easier.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7E7A1E3-A543-8BE6-F2F7-46DDFC0E611F}"/>
            </a:ext>
          </a:extLst>
        </p:cNvPr>
        <p:cNvGrpSpPr/>
        <p:nvPr/>
      </p:nvGrpSpPr>
      <p:grpSpPr>
        <a:xfrm>
          <a:off x="0" y="0"/>
          <a:ext cx="0" cy="0"/>
          <a:chOff x="0" y="0"/>
          <a:chExt cx="0" cy="0"/>
        </a:xfrm>
      </p:grpSpPr>
      <p:sp>
        <p:nvSpPr>
          <p:cNvPr id="60" name="Shape 1">
            <a:extLst>
              <a:ext uri="{FF2B5EF4-FFF2-40B4-BE49-F238E27FC236}">
                <a16:creationId xmlns:a16="http://schemas.microsoft.com/office/drawing/2014/main" id="{1B08139B-E6D3-F862-7147-3E3B0F5894E8}"/>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36AB523D-D286-0D36-36F4-F617E2643A46}"/>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96E2A5D1-669D-2D64-D734-7763B1DABBBF}"/>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94F68E73-7C67-8C4B-94D3-86BAF3646AF3}"/>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What is an Array?</a:t>
            </a:r>
            <a:endParaRPr lang="en-US" sz="2800" dirty="0"/>
          </a:p>
        </p:txBody>
      </p:sp>
      <p:sp>
        <p:nvSpPr>
          <p:cNvPr id="5" name="Text 3">
            <a:extLst>
              <a:ext uri="{FF2B5EF4-FFF2-40B4-BE49-F238E27FC236}">
                <a16:creationId xmlns:a16="http://schemas.microsoft.com/office/drawing/2014/main" id="{B0544E3C-EA5C-AE66-3D74-449FAE81DEA2}"/>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Definition · Properties · Anatomy</a:t>
            </a:r>
            <a:endParaRPr lang="en-US" sz="1300" dirty="0"/>
          </a:p>
        </p:txBody>
      </p:sp>
      <p:sp>
        <p:nvSpPr>
          <p:cNvPr id="6" name="Shape 4">
            <a:extLst>
              <a:ext uri="{FF2B5EF4-FFF2-40B4-BE49-F238E27FC236}">
                <a16:creationId xmlns:a16="http://schemas.microsoft.com/office/drawing/2014/main" id="{0620B4A6-1285-10D5-B7E1-D15AEF559736}"/>
              </a:ext>
            </a:extLst>
          </p:cNvPr>
          <p:cNvSpPr/>
          <p:nvPr/>
        </p:nvSpPr>
        <p:spPr>
          <a:xfrm>
            <a:off x="256032" y="987552"/>
            <a:ext cx="2779776" cy="404164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7" name="Text 5">
            <a:extLst>
              <a:ext uri="{FF2B5EF4-FFF2-40B4-BE49-F238E27FC236}">
                <a16:creationId xmlns:a16="http://schemas.microsoft.com/office/drawing/2014/main" id="{09026CF8-B1DC-8B2E-83F5-9A0B426D2580}"/>
              </a:ext>
            </a:extLst>
          </p:cNvPr>
          <p:cNvSpPr/>
          <p:nvPr/>
        </p:nvSpPr>
        <p:spPr>
          <a:xfrm>
            <a:off x="256032" y="1033272"/>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Definition</a:t>
            </a:r>
            <a:endParaRPr lang="en-US" sz="2000" dirty="0"/>
          </a:p>
        </p:txBody>
      </p:sp>
      <p:sp>
        <p:nvSpPr>
          <p:cNvPr id="8" name="Text 6">
            <a:extLst>
              <a:ext uri="{FF2B5EF4-FFF2-40B4-BE49-F238E27FC236}">
                <a16:creationId xmlns:a16="http://schemas.microsoft.com/office/drawing/2014/main" id="{4D3D41A9-4F3D-397F-A9C4-61A6A930AF77}"/>
              </a:ext>
            </a:extLst>
          </p:cNvPr>
          <p:cNvSpPr/>
          <p:nvPr/>
        </p:nvSpPr>
        <p:spPr>
          <a:xfrm>
            <a:off x="256032"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classic data structure</a:t>
            </a:r>
            <a:endParaRPr lang="en-US" sz="1000" dirty="0"/>
          </a:p>
        </p:txBody>
      </p:sp>
      <p:sp>
        <p:nvSpPr>
          <p:cNvPr id="9" name="Shape 7">
            <a:extLst>
              <a:ext uri="{FF2B5EF4-FFF2-40B4-BE49-F238E27FC236}">
                <a16:creationId xmlns:a16="http://schemas.microsoft.com/office/drawing/2014/main" id="{6F286425-02A2-36F1-AD2F-8D132EFF3265}"/>
              </a:ext>
            </a:extLst>
          </p:cNvPr>
          <p:cNvSpPr/>
          <p:nvPr/>
        </p:nvSpPr>
        <p:spPr>
          <a:xfrm>
            <a:off x="384048"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0" name="Text 8">
            <a:extLst>
              <a:ext uri="{FF2B5EF4-FFF2-40B4-BE49-F238E27FC236}">
                <a16:creationId xmlns:a16="http://schemas.microsoft.com/office/drawing/2014/main" id="{E3CCCA66-CDB9-37CF-7D8A-7918BF601DCD}"/>
              </a:ext>
            </a:extLst>
          </p:cNvPr>
          <p:cNvSpPr/>
          <p:nvPr/>
        </p:nvSpPr>
        <p:spPr>
          <a:xfrm>
            <a:off x="457200" y="1938528"/>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What it is</a:t>
            </a:r>
            <a:endParaRPr lang="en-US" sz="800" dirty="0"/>
          </a:p>
        </p:txBody>
      </p:sp>
      <p:sp>
        <p:nvSpPr>
          <p:cNvPr id="11" name="Text 9">
            <a:extLst>
              <a:ext uri="{FF2B5EF4-FFF2-40B4-BE49-F238E27FC236}">
                <a16:creationId xmlns:a16="http://schemas.microsoft.com/office/drawing/2014/main" id="{5DBA05D7-435E-9CC8-C1F8-1F4D7C558FB6}"/>
              </a:ext>
            </a:extLst>
          </p:cNvPr>
          <p:cNvSpPr/>
          <p:nvPr/>
        </p:nvSpPr>
        <p:spPr>
          <a:xfrm>
            <a:off x="457200"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An ordered collection of values</a:t>
            </a:r>
            <a:endParaRPr lang="en-US" sz="1000" dirty="0"/>
          </a:p>
        </p:txBody>
      </p:sp>
      <p:sp>
        <p:nvSpPr>
          <p:cNvPr id="12" name="Shape 10">
            <a:extLst>
              <a:ext uri="{FF2B5EF4-FFF2-40B4-BE49-F238E27FC236}">
                <a16:creationId xmlns:a16="http://schemas.microsoft.com/office/drawing/2014/main" id="{6D9A7D8D-F20F-F17A-CA44-E30DA6E443DE}"/>
              </a:ext>
            </a:extLst>
          </p:cNvPr>
          <p:cNvSpPr/>
          <p:nvPr/>
        </p:nvSpPr>
        <p:spPr>
          <a:xfrm>
            <a:off x="384048"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3" name="Text 11">
            <a:extLst>
              <a:ext uri="{FF2B5EF4-FFF2-40B4-BE49-F238E27FC236}">
                <a16:creationId xmlns:a16="http://schemas.microsoft.com/office/drawing/2014/main" id="{F18D6611-CA0F-6B2E-017D-756FEF7CEFD5}"/>
              </a:ext>
            </a:extLst>
          </p:cNvPr>
          <p:cNvSpPr/>
          <p:nvPr/>
        </p:nvSpPr>
        <p:spPr>
          <a:xfrm>
            <a:off x="457200" y="2542032"/>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Same type</a:t>
            </a:r>
            <a:endParaRPr lang="en-US" sz="800" dirty="0"/>
          </a:p>
        </p:txBody>
      </p:sp>
      <p:sp>
        <p:nvSpPr>
          <p:cNvPr id="14" name="Text 12">
            <a:extLst>
              <a:ext uri="{FF2B5EF4-FFF2-40B4-BE49-F238E27FC236}">
                <a16:creationId xmlns:a16="http://schemas.microsoft.com/office/drawing/2014/main" id="{D77B5AAC-9204-5CA5-F374-0C161542F61F}"/>
              </a:ext>
            </a:extLst>
          </p:cNvPr>
          <p:cNvSpPr/>
          <p:nvPr/>
        </p:nvSpPr>
        <p:spPr>
          <a:xfrm>
            <a:off x="457200"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All items must match (e.g. all int)</a:t>
            </a:r>
            <a:endParaRPr lang="en-US" sz="1000" dirty="0"/>
          </a:p>
        </p:txBody>
      </p:sp>
      <p:sp>
        <p:nvSpPr>
          <p:cNvPr id="15" name="Shape 13">
            <a:extLst>
              <a:ext uri="{FF2B5EF4-FFF2-40B4-BE49-F238E27FC236}">
                <a16:creationId xmlns:a16="http://schemas.microsoft.com/office/drawing/2014/main" id="{C41D8654-471B-E1B5-2246-47BEE515918D}"/>
              </a:ext>
            </a:extLst>
          </p:cNvPr>
          <p:cNvSpPr/>
          <p:nvPr/>
        </p:nvSpPr>
        <p:spPr>
          <a:xfrm>
            <a:off x="384048"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6" name="Text 14">
            <a:extLst>
              <a:ext uri="{FF2B5EF4-FFF2-40B4-BE49-F238E27FC236}">
                <a16:creationId xmlns:a16="http://schemas.microsoft.com/office/drawing/2014/main" id="{5BFDBB1E-9225-A8E1-1205-7B7E0637227B}"/>
              </a:ext>
            </a:extLst>
          </p:cNvPr>
          <p:cNvSpPr/>
          <p:nvPr/>
        </p:nvSpPr>
        <p:spPr>
          <a:xfrm>
            <a:off x="457200" y="3145536"/>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Stored together</a:t>
            </a:r>
            <a:endParaRPr lang="en-US" sz="800" dirty="0"/>
          </a:p>
        </p:txBody>
      </p:sp>
      <p:sp>
        <p:nvSpPr>
          <p:cNvPr id="17" name="Text 15">
            <a:extLst>
              <a:ext uri="{FF2B5EF4-FFF2-40B4-BE49-F238E27FC236}">
                <a16:creationId xmlns:a16="http://schemas.microsoft.com/office/drawing/2014/main" id="{BE4CBAA0-1DD8-C300-54C8-98269928DCB6}"/>
              </a:ext>
            </a:extLst>
          </p:cNvPr>
          <p:cNvSpPr/>
          <p:nvPr/>
        </p:nvSpPr>
        <p:spPr>
          <a:xfrm>
            <a:off x="457200"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One contiguous block of memory</a:t>
            </a:r>
          </a:p>
        </p:txBody>
      </p:sp>
      <p:sp>
        <p:nvSpPr>
          <p:cNvPr id="18" name="Shape 16">
            <a:extLst>
              <a:ext uri="{FF2B5EF4-FFF2-40B4-BE49-F238E27FC236}">
                <a16:creationId xmlns:a16="http://schemas.microsoft.com/office/drawing/2014/main" id="{2F063973-CA98-3791-04FD-D91B4BFEBE96}"/>
              </a:ext>
            </a:extLst>
          </p:cNvPr>
          <p:cNvSpPr/>
          <p:nvPr/>
        </p:nvSpPr>
        <p:spPr>
          <a:xfrm>
            <a:off x="384048"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9" name="Text 17">
            <a:extLst>
              <a:ext uri="{FF2B5EF4-FFF2-40B4-BE49-F238E27FC236}">
                <a16:creationId xmlns:a16="http://schemas.microsoft.com/office/drawing/2014/main" id="{4A354414-8980-435D-357F-D4B467A84BCA}"/>
              </a:ext>
            </a:extLst>
          </p:cNvPr>
          <p:cNvSpPr/>
          <p:nvPr/>
        </p:nvSpPr>
        <p:spPr>
          <a:xfrm>
            <a:off x="457200" y="3749040"/>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Identified by</a:t>
            </a:r>
            <a:endParaRPr lang="en-US" sz="800" dirty="0"/>
          </a:p>
        </p:txBody>
      </p:sp>
      <p:sp>
        <p:nvSpPr>
          <p:cNvPr id="20" name="Text 18">
            <a:extLst>
              <a:ext uri="{FF2B5EF4-FFF2-40B4-BE49-F238E27FC236}">
                <a16:creationId xmlns:a16="http://schemas.microsoft.com/office/drawing/2014/main" id="{10988D5E-7783-F62D-3D58-985154F9F681}"/>
              </a:ext>
            </a:extLst>
          </p:cNvPr>
          <p:cNvSpPr/>
          <p:nvPr/>
        </p:nvSpPr>
        <p:spPr>
          <a:xfrm>
            <a:off x="457200"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 name (the variable) plus an index</a:t>
            </a:r>
            <a:endParaRPr lang="en-US" sz="1000" dirty="0"/>
          </a:p>
        </p:txBody>
      </p:sp>
      <p:sp>
        <p:nvSpPr>
          <p:cNvPr id="21" name="Shape 19">
            <a:extLst>
              <a:ext uri="{FF2B5EF4-FFF2-40B4-BE49-F238E27FC236}">
                <a16:creationId xmlns:a16="http://schemas.microsoft.com/office/drawing/2014/main" id="{6B229D71-6A56-AE58-3983-D7ECD4AE715E}"/>
              </a:ext>
            </a:extLst>
          </p:cNvPr>
          <p:cNvSpPr/>
          <p:nvPr/>
        </p:nvSpPr>
        <p:spPr>
          <a:xfrm>
            <a:off x="384048"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2" name="Text 20">
            <a:extLst>
              <a:ext uri="{FF2B5EF4-FFF2-40B4-BE49-F238E27FC236}">
                <a16:creationId xmlns:a16="http://schemas.microsoft.com/office/drawing/2014/main" id="{45F3FB27-EDB2-C24A-106E-053C8980AE8E}"/>
              </a:ext>
            </a:extLst>
          </p:cNvPr>
          <p:cNvSpPr/>
          <p:nvPr/>
        </p:nvSpPr>
        <p:spPr>
          <a:xfrm>
            <a:off x="457200" y="4352544"/>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Also called</a:t>
            </a:r>
            <a:endParaRPr lang="en-US" sz="800" dirty="0"/>
          </a:p>
        </p:txBody>
      </p:sp>
      <p:sp>
        <p:nvSpPr>
          <p:cNvPr id="23" name="Text 21">
            <a:extLst>
              <a:ext uri="{FF2B5EF4-FFF2-40B4-BE49-F238E27FC236}">
                <a16:creationId xmlns:a16="http://schemas.microsoft.com/office/drawing/2014/main" id="{5CA971F4-B0DF-8B96-0DC6-6F777F3A889A}"/>
              </a:ext>
            </a:extLst>
          </p:cNvPr>
          <p:cNvSpPr/>
          <p:nvPr/>
        </p:nvSpPr>
        <p:spPr>
          <a:xfrm>
            <a:off x="457200"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List · Vector · Sequence</a:t>
            </a:r>
            <a:endParaRPr lang="en-US" sz="1000" dirty="0"/>
          </a:p>
        </p:txBody>
      </p:sp>
      <p:sp>
        <p:nvSpPr>
          <p:cNvPr id="24" name="Shape 22">
            <a:extLst>
              <a:ext uri="{FF2B5EF4-FFF2-40B4-BE49-F238E27FC236}">
                <a16:creationId xmlns:a16="http://schemas.microsoft.com/office/drawing/2014/main" id="{BD48AD9D-5621-E7F3-EC42-8BA9A0AFAFB7}"/>
              </a:ext>
            </a:extLst>
          </p:cNvPr>
          <p:cNvSpPr/>
          <p:nvPr/>
        </p:nvSpPr>
        <p:spPr>
          <a:xfrm>
            <a:off x="3163824" y="987552"/>
            <a:ext cx="2779776" cy="404164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25" name="Text 23">
            <a:extLst>
              <a:ext uri="{FF2B5EF4-FFF2-40B4-BE49-F238E27FC236}">
                <a16:creationId xmlns:a16="http://schemas.microsoft.com/office/drawing/2014/main" id="{2A2AE263-E84F-29F5-59D7-0A4B5C3EDF8B}"/>
              </a:ext>
            </a:extLst>
          </p:cNvPr>
          <p:cNvSpPr/>
          <p:nvPr/>
        </p:nvSpPr>
        <p:spPr>
          <a:xfrm>
            <a:off x="3163824" y="1033272"/>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Properties</a:t>
            </a:r>
            <a:endParaRPr lang="en-US" sz="2000" dirty="0"/>
          </a:p>
        </p:txBody>
      </p:sp>
      <p:sp>
        <p:nvSpPr>
          <p:cNvPr id="26" name="Text 24">
            <a:extLst>
              <a:ext uri="{FF2B5EF4-FFF2-40B4-BE49-F238E27FC236}">
                <a16:creationId xmlns:a16="http://schemas.microsoft.com/office/drawing/2014/main" id="{F014DDB2-FE98-268C-10BC-7AFC14ECC9A2}"/>
              </a:ext>
            </a:extLst>
          </p:cNvPr>
          <p:cNvSpPr/>
          <p:nvPr/>
        </p:nvSpPr>
        <p:spPr>
          <a:xfrm>
            <a:off x="3163824"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Five facts that define an array</a:t>
            </a:r>
            <a:endParaRPr lang="en-US" sz="1000" dirty="0"/>
          </a:p>
        </p:txBody>
      </p:sp>
      <p:sp>
        <p:nvSpPr>
          <p:cNvPr id="27" name="Shape 25">
            <a:extLst>
              <a:ext uri="{FF2B5EF4-FFF2-40B4-BE49-F238E27FC236}">
                <a16:creationId xmlns:a16="http://schemas.microsoft.com/office/drawing/2014/main" id="{A05F0EF5-72AD-AB9A-BBF5-81CE3F4341A6}"/>
              </a:ext>
            </a:extLst>
          </p:cNvPr>
          <p:cNvSpPr/>
          <p:nvPr/>
        </p:nvSpPr>
        <p:spPr>
          <a:xfrm>
            <a:off x="3291840"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8" name="Text 26">
            <a:extLst>
              <a:ext uri="{FF2B5EF4-FFF2-40B4-BE49-F238E27FC236}">
                <a16:creationId xmlns:a16="http://schemas.microsoft.com/office/drawing/2014/main" id="{083A298E-36BD-B8BD-C903-2E6D89F08F9D}"/>
              </a:ext>
            </a:extLst>
          </p:cNvPr>
          <p:cNvSpPr/>
          <p:nvPr/>
        </p:nvSpPr>
        <p:spPr>
          <a:xfrm>
            <a:off x="3364992" y="1938528"/>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Ordered</a:t>
            </a:r>
            <a:endParaRPr lang="en-US" sz="800" dirty="0"/>
          </a:p>
        </p:txBody>
      </p:sp>
      <p:sp>
        <p:nvSpPr>
          <p:cNvPr id="29" name="Text 27">
            <a:extLst>
              <a:ext uri="{FF2B5EF4-FFF2-40B4-BE49-F238E27FC236}">
                <a16:creationId xmlns:a16="http://schemas.microsoft.com/office/drawing/2014/main" id="{B10E638F-8073-CA1D-CF8D-6A0034C827F0}"/>
              </a:ext>
            </a:extLst>
          </p:cNvPr>
          <p:cNvSpPr/>
          <p:nvPr/>
        </p:nvSpPr>
        <p:spPr>
          <a:xfrm>
            <a:off x="3364992"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Position matters: A[0], A[1], A[2]</a:t>
            </a:r>
            <a:endParaRPr lang="en-US" sz="1000" dirty="0"/>
          </a:p>
        </p:txBody>
      </p:sp>
      <p:sp>
        <p:nvSpPr>
          <p:cNvPr id="30" name="Shape 28">
            <a:extLst>
              <a:ext uri="{FF2B5EF4-FFF2-40B4-BE49-F238E27FC236}">
                <a16:creationId xmlns:a16="http://schemas.microsoft.com/office/drawing/2014/main" id="{1115F7D5-AB59-4793-3017-56977D651FA9}"/>
              </a:ext>
            </a:extLst>
          </p:cNvPr>
          <p:cNvSpPr/>
          <p:nvPr/>
        </p:nvSpPr>
        <p:spPr>
          <a:xfrm>
            <a:off x="3291840"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1" name="Text 29">
            <a:extLst>
              <a:ext uri="{FF2B5EF4-FFF2-40B4-BE49-F238E27FC236}">
                <a16:creationId xmlns:a16="http://schemas.microsoft.com/office/drawing/2014/main" id="{6073D696-90F9-5831-A9FA-CEB3FFD55143}"/>
              </a:ext>
            </a:extLst>
          </p:cNvPr>
          <p:cNvSpPr/>
          <p:nvPr/>
        </p:nvSpPr>
        <p:spPr>
          <a:xfrm>
            <a:off x="3364992" y="2542032"/>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Indexed</a:t>
            </a:r>
            <a:endParaRPr lang="en-US" sz="800" dirty="0"/>
          </a:p>
        </p:txBody>
      </p:sp>
      <p:sp>
        <p:nvSpPr>
          <p:cNvPr id="32" name="Text 30">
            <a:extLst>
              <a:ext uri="{FF2B5EF4-FFF2-40B4-BE49-F238E27FC236}">
                <a16:creationId xmlns:a16="http://schemas.microsoft.com/office/drawing/2014/main" id="{338F6E8F-D4EE-58E6-AB3E-E676EB6B9BC9}"/>
              </a:ext>
            </a:extLst>
          </p:cNvPr>
          <p:cNvSpPr/>
          <p:nvPr/>
        </p:nvSpPr>
        <p:spPr>
          <a:xfrm>
            <a:off x="3364992"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Each slot has a number, starting 0</a:t>
            </a:r>
            <a:endParaRPr lang="en-US" sz="1000" dirty="0"/>
          </a:p>
        </p:txBody>
      </p:sp>
      <p:sp>
        <p:nvSpPr>
          <p:cNvPr id="33" name="Shape 31">
            <a:extLst>
              <a:ext uri="{FF2B5EF4-FFF2-40B4-BE49-F238E27FC236}">
                <a16:creationId xmlns:a16="http://schemas.microsoft.com/office/drawing/2014/main" id="{90BAC11F-E1A8-35E9-18F1-62E05E2CCAC8}"/>
              </a:ext>
            </a:extLst>
          </p:cNvPr>
          <p:cNvSpPr/>
          <p:nvPr/>
        </p:nvSpPr>
        <p:spPr>
          <a:xfrm>
            <a:off x="3291840"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dirty="0"/>
          </a:p>
        </p:txBody>
      </p:sp>
      <p:sp>
        <p:nvSpPr>
          <p:cNvPr id="34" name="Text 32">
            <a:extLst>
              <a:ext uri="{FF2B5EF4-FFF2-40B4-BE49-F238E27FC236}">
                <a16:creationId xmlns:a16="http://schemas.microsoft.com/office/drawing/2014/main" id="{C0F462FF-7F1E-5DB8-413D-E855FFD315EE}"/>
              </a:ext>
            </a:extLst>
          </p:cNvPr>
          <p:cNvSpPr/>
          <p:nvPr/>
        </p:nvSpPr>
        <p:spPr>
          <a:xfrm>
            <a:off x="3364992" y="3145536"/>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Fixed size</a:t>
            </a:r>
            <a:endParaRPr lang="en-US" sz="800" dirty="0"/>
          </a:p>
        </p:txBody>
      </p:sp>
      <p:sp>
        <p:nvSpPr>
          <p:cNvPr id="35" name="Text 33">
            <a:extLst>
              <a:ext uri="{FF2B5EF4-FFF2-40B4-BE49-F238E27FC236}">
                <a16:creationId xmlns:a16="http://schemas.microsoft.com/office/drawing/2014/main" id="{431CD1D4-728D-D439-8C9C-8F258123E6FF}"/>
              </a:ext>
            </a:extLst>
          </p:cNvPr>
          <p:cNvSpPr/>
          <p:nvPr/>
        </p:nvSpPr>
        <p:spPr>
          <a:xfrm>
            <a:off x="3364992"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Length is set when created</a:t>
            </a:r>
          </a:p>
        </p:txBody>
      </p:sp>
      <p:sp>
        <p:nvSpPr>
          <p:cNvPr id="36" name="Shape 34">
            <a:extLst>
              <a:ext uri="{FF2B5EF4-FFF2-40B4-BE49-F238E27FC236}">
                <a16:creationId xmlns:a16="http://schemas.microsoft.com/office/drawing/2014/main" id="{1CB16C89-C1B7-CE23-A8E7-A5BD72507E34}"/>
              </a:ext>
            </a:extLst>
          </p:cNvPr>
          <p:cNvSpPr/>
          <p:nvPr/>
        </p:nvSpPr>
        <p:spPr>
          <a:xfrm>
            <a:off x="3291840"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7" name="Text 35">
            <a:extLst>
              <a:ext uri="{FF2B5EF4-FFF2-40B4-BE49-F238E27FC236}">
                <a16:creationId xmlns:a16="http://schemas.microsoft.com/office/drawing/2014/main" id="{CAAECD9B-B974-69AF-96E1-1ED6A15A2AC6}"/>
              </a:ext>
            </a:extLst>
          </p:cNvPr>
          <p:cNvSpPr/>
          <p:nvPr/>
        </p:nvSpPr>
        <p:spPr>
          <a:xfrm>
            <a:off x="3364992" y="3749040"/>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Same type</a:t>
            </a:r>
            <a:endParaRPr lang="en-US" sz="800" dirty="0"/>
          </a:p>
        </p:txBody>
      </p:sp>
      <p:sp>
        <p:nvSpPr>
          <p:cNvPr id="38" name="Text 36">
            <a:extLst>
              <a:ext uri="{FF2B5EF4-FFF2-40B4-BE49-F238E27FC236}">
                <a16:creationId xmlns:a16="http://schemas.microsoft.com/office/drawing/2014/main" id="{C69C938C-3E85-8060-A306-4D527DF6A6C0}"/>
              </a:ext>
            </a:extLst>
          </p:cNvPr>
          <p:cNvSpPr/>
          <p:nvPr/>
        </p:nvSpPr>
        <p:spPr>
          <a:xfrm>
            <a:off x="3364992"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All elements share one data type</a:t>
            </a:r>
            <a:endParaRPr lang="en-US" sz="1000" dirty="0"/>
          </a:p>
        </p:txBody>
      </p:sp>
      <p:sp>
        <p:nvSpPr>
          <p:cNvPr id="39" name="Shape 37">
            <a:extLst>
              <a:ext uri="{FF2B5EF4-FFF2-40B4-BE49-F238E27FC236}">
                <a16:creationId xmlns:a16="http://schemas.microsoft.com/office/drawing/2014/main" id="{3DF86B9F-C390-852B-54F8-32B4EAAF6A7E}"/>
              </a:ext>
            </a:extLst>
          </p:cNvPr>
          <p:cNvSpPr/>
          <p:nvPr/>
        </p:nvSpPr>
        <p:spPr>
          <a:xfrm>
            <a:off x="3291840"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0" name="Text 38">
            <a:extLst>
              <a:ext uri="{FF2B5EF4-FFF2-40B4-BE49-F238E27FC236}">
                <a16:creationId xmlns:a16="http://schemas.microsoft.com/office/drawing/2014/main" id="{A66CDEBF-5B8A-A325-4EDA-D77297C625E7}"/>
              </a:ext>
            </a:extLst>
          </p:cNvPr>
          <p:cNvSpPr/>
          <p:nvPr/>
        </p:nvSpPr>
        <p:spPr>
          <a:xfrm>
            <a:off x="3364992" y="4352544"/>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Direct access</a:t>
            </a:r>
            <a:endParaRPr lang="en-US" sz="800" dirty="0"/>
          </a:p>
        </p:txBody>
      </p:sp>
      <p:sp>
        <p:nvSpPr>
          <p:cNvPr id="41" name="Text 39">
            <a:extLst>
              <a:ext uri="{FF2B5EF4-FFF2-40B4-BE49-F238E27FC236}">
                <a16:creationId xmlns:a16="http://schemas.microsoft.com/office/drawing/2014/main" id="{70C90110-7151-0F5E-7B75-4281C7115836}"/>
              </a:ext>
            </a:extLst>
          </p:cNvPr>
          <p:cNvSpPr/>
          <p:nvPr/>
        </p:nvSpPr>
        <p:spPr>
          <a:xfrm>
            <a:off x="3364992"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Any element reachable in O(1) time</a:t>
            </a:r>
            <a:endParaRPr lang="en-US" sz="1000" dirty="0"/>
          </a:p>
        </p:txBody>
      </p:sp>
      <p:sp>
        <p:nvSpPr>
          <p:cNvPr id="42" name="Shape 40">
            <a:extLst>
              <a:ext uri="{FF2B5EF4-FFF2-40B4-BE49-F238E27FC236}">
                <a16:creationId xmlns:a16="http://schemas.microsoft.com/office/drawing/2014/main" id="{23D47241-34CE-835E-D9B3-5DF3E9C86A4D}"/>
              </a:ext>
            </a:extLst>
          </p:cNvPr>
          <p:cNvSpPr/>
          <p:nvPr/>
        </p:nvSpPr>
        <p:spPr>
          <a:xfrm>
            <a:off x="6071616" y="987552"/>
            <a:ext cx="2779776" cy="404164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43" name="Text 41">
            <a:extLst>
              <a:ext uri="{FF2B5EF4-FFF2-40B4-BE49-F238E27FC236}">
                <a16:creationId xmlns:a16="http://schemas.microsoft.com/office/drawing/2014/main" id="{160F8E2C-8366-D789-0BA3-8DA4032B4304}"/>
              </a:ext>
            </a:extLst>
          </p:cNvPr>
          <p:cNvSpPr/>
          <p:nvPr/>
        </p:nvSpPr>
        <p:spPr>
          <a:xfrm>
            <a:off x="6071616" y="1033272"/>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Anatomy</a:t>
            </a:r>
            <a:endParaRPr lang="en-US" sz="2000" dirty="0"/>
          </a:p>
        </p:txBody>
      </p:sp>
      <p:sp>
        <p:nvSpPr>
          <p:cNvPr id="44" name="Text 42">
            <a:extLst>
              <a:ext uri="{FF2B5EF4-FFF2-40B4-BE49-F238E27FC236}">
                <a16:creationId xmlns:a16="http://schemas.microsoft.com/office/drawing/2014/main" id="{400A9794-536B-5ED1-EAE6-B302049B104A}"/>
              </a:ext>
            </a:extLst>
          </p:cNvPr>
          <p:cNvSpPr/>
          <p:nvPr/>
        </p:nvSpPr>
        <p:spPr>
          <a:xfrm>
            <a:off x="6071616"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parts of an array</a:t>
            </a:r>
            <a:endParaRPr lang="en-US" sz="1000" dirty="0"/>
          </a:p>
        </p:txBody>
      </p:sp>
      <p:sp>
        <p:nvSpPr>
          <p:cNvPr id="45" name="Shape 43">
            <a:extLst>
              <a:ext uri="{FF2B5EF4-FFF2-40B4-BE49-F238E27FC236}">
                <a16:creationId xmlns:a16="http://schemas.microsoft.com/office/drawing/2014/main" id="{17BB9C3C-FBE9-5806-C1E4-F9F0239F94FD}"/>
              </a:ext>
            </a:extLst>
          </p:cNvPr>
          <p:cNvSpPr/>
          <p:nvPr/>
        </p:nvSpPr>
        <p:spPr>
          <a:xfrm>
            <a:off x="6199632"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6" name="Text 44">
            <a:extLst>
              <a:ext uri="{FF2B5EF4-FFF2-40B4-BE49-F238E27FC236}">
                <a16:creationId xmlns:a16="http://schemas.microsoft.com/office/drawing/2014/main" id="{1934E9C9-C2E5-4054-607E-4F78E6D73CD6}"/>
              </a:ext>
            </a:extLst>
          </p:cNvPr>
          <p:cNvSpPr/>
          <p:nvPr/>
        </p:nvSpPr>
        <p:spPr>
          <a:xfrm>
            <a:off x="6272784" y="1938528"/>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Name</a:t>
            </a:r>
            <a:endParaRPr lang="en-US" sz="800" dirty="0"/>
          </a:p>
        </p:txBody>
      </p:sp>
      <p:sp>
        <p:nvSpPr>
          <p:cNvPr id="47" name="Text 45">
            <a:extLst>
              <a:ext uri="{FF2B5EF4-FFF2-40B4-BE49-F238E27FC236}">
                <a16:creationId xmlns:a16="http://schemas.microsoft.com/office/drawing/2014/main" id="{BC2E8DD9-F45B-A649-12EE-B4F1127DA68F}"/>
              </a:ext>
            </a:extLst>
          </p:cNvPr>
          <p:cNvSpPr/>
          <p:nvPr/>
        </p:nvSpPr>
        <p:spPr>
          <a:xfrm>
            <a:off x="6272784"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variable, e.g. scores</a:t>
            </a:r>
            <a:endParaRPr lang="en-US" sz="1000" dirty="0"/>
          </a:p>
        </p:txBody>
      </p:sp>
      <p:sp>
        <p:nvSpPr>
          <p:cNvPr id="48" name="Shape 46">
            <a:extLst>
              <a:ext uri="{FF2B5EF4-FFF2-40B4-BE49-F238E27FC236}">
                <a16:creationId xmlns:a16="http://schemas.microsoft.com/office/drawing/2014/main" id="{CD98D845-A5B7-CD8A-6A17-A786BC952BFB}"/>
              </a:ext>
            </a:extLst>
          </p:cNvPr>
          <p:cNvSpPr/>
          <p:nvPr/>
        </p:nvSpPr>
        <p:spPr>
          <a:xfrm>
            <a:off x="6199632"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49" name="Text 47">
            <a:extLst>
              <a:ext uri="{FF2B5EF4-FFF2-40B4-BE49-F238E27FC236}">
                <a16:creationId xmlns:a16="http://schemas.microsoft.com/office/drawing/2014/main" id="{E4E004CF-D99A-D43E-DEBD-62A9A585E8BC}"/>
              </a:ext>
            </a:extLst>
          </p:cNvPr>
          <p:cNvSpPr/>
          <p:nvPr/>
        </p:nvSpPr>
        <p:spPr>
          <a:xfrm>
            <a:off x="6272784" y="2542032"/>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Index</a:t>
            </a:r>
            <a:endParaRPr lang="en-US" sz="800" dirty="0"/>
          </a:p>
        </p:txBody>
      </p:sp>
      <p:sp>
        <p:nvSpPr>
          <p:cNvPr id="50" name="Text 48">
            <a:extLst>
              <a:ext uri="{FF2B5EF4-FFF2-40B4-BE49-F238E27FC236}">
                <a16:creationId xmlns:a16="http://schemas.microsoft.com/office/drawing/2014/main" id="{E1C58A4B-FE46-1795-D7D0-944949F52C8B}"/>
              </a:ext>
            </a:extLst>
          </p:cNvPr>
          <p:cNvSpPr/>
          <p:nvPr/>
        </p:nvSpPr>
        <p:spPr>
          <a:xfrm>
            <a:off x="6272784"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position number, e.g. 0, 1, 2</a:t>
            </a:r>
            <a:endParaRPr lang="en-US" sz="1000" dirty="0"/>
          </a:p>
        </p:txBody>
      </p:sp>
      <p:sp>
        <p:nvSpPr>
          <p:cNvPr id="51" name="Shape 49">
            <a:extLst>
              <a:ext uri="{FF2B5EF4-FFF2-40B4-BE49-F238E27FC236}">
                <a16:creationId xmlns:a16="http://schemas.microsoft.com/office/drawing/2014/main" id="{A4F5B864-A547-85E2-687E-468DA9810227}"/>
              </a:ext>
            </a:extLst>
          </p:cNvPr>
          <p:cNvSpPr/>
          <p:nvPr/>
        </p:nvSpPr>
        <p:spPr>
          <a:xfrm>
            <a:off x="6199632"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2" name="Text 50">
            <a:extLst>
              <a:ext uri="{FF2B5EF4-FFF2-40B4-BE49-F238E27FC236}">
                <a16:creationId xmlns:a16="http://schemas.microsoft.com/office/drawing/2014/main" id="{47875D30-CA79-24B3-8B55-3CA6B7546DD1}"/>
              </a:ext>
            </a:extLst>
          </p:cNvPr>
          <p:cNvSpPr/>
          <p:nvPr/>
        </p:nvSpPr>
        <p:spPr>
          <a:xfrm>
            <a:off x="6272784" y="3145536"/>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Element</a:t>
            </a:r>
            <a:endParaRPr lang="en-US" sz="800" dirty="0"/>
          </a:p>
        </p:txBody>
      </p:sp>
      <p:sp>
        <p:nvSpPr>
          <p:cNvPr id="53" name="Text 51">
            <a:extLst>
              <a:ext uri="{FF2B5EF4-FFF2-40B4-BE49-F238E27FC236}">
                <a16:creationId xmlns:a16="http://schemas.microsoft.com/office/drawing/2014/main" id="{15E016C0-85D1-360B-6E43-07A7D50C7823}"/>
              </a:ext>
            </a:extLst>
          </p:cNvPr>
          <p:cNvSpPr/>
          <p:nvPr/>
        </p:nvSpPr>
        <p:spPr>
          <a:xfrm>
            <a:off x="6272784" y="3364992"/>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value stored at that slot</a:t>
            </a:r>
            <a:endParaRPr lang="en-US" sz="1000" dirty="0"/>
          </a:p>
        </p:txBody>
      </p:sp>
      <p:sp>
        <p:nvSpPr>
          <p:cNvPr id="54" name="Shape 52">
            <a:extLst>
              <a:ext uri="{FF2B5EF4-FFF2-40B4-BE49-F238E27FC236}">
                <a16:creationId xmlns:a16="http://schemas.microsoft.com/office/drawing/2014/main" id="{4180C4C0-6012-AC85-4B17-3AFA774A2271}"/>
              </a:ext>
            </a:extLst>
          </p:cNvPr>
          <p:cNvSpPr/>
          <p:nvPr/>
        </p:nvSpPr>
        <p:spPr>
          <a:xfrm>
            <a:off x="6199632"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55" name="Text 53">
            <a:extLst>
              <a:ext uri="{FF2B5EF4-FFF2-40B4-BE49-F238E27FC236}">
                <a16:creationId xmlns:a16="http://schemas.microsoft.com/office/drawing/2014/main" id="{6F0CCA05-6F6B-73EB-BB3E-40FF49D41D8D}"/>
              </a:ext>
            </a:extLst>
          </p:cNvPr>
          <p:cNvSpPr/>
          <p:nvPr/>
        </p:nvSpPr>
        <p:spPr>
          <a:xfrm>
            <a:off x="6272784" y="3749040"/>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Length</a:t>
            </a:r>
            <a:endParaRPr lang="en-US" sz="800" dirty="0"/>
          </a:p>
        </p:txBody>
      </p:sp>
      <p:sp>
        <p:nvSpPr>
          <p:cNvPr id="56" name="Text 54">
            <a:extLst>
              <a:ext uri="{FF2B5EF4-FFF2-40B4-BE49-F238E27FC236}">
                <a16:creationId xmlns:a16="http://schemas.microsoft.com/office/drawing/2014/main" id="{1B5A695C-4E1C-1D37-4C84-4CC97C0EF229}"/>
              </a:ext>
            </a:extLst>
          </p:cNvPr>
          <p:cNvSpPr/>
          <p:nvPr/>
        </p:nvSpPr>
        <p:spPr>
          <a:xfrm>
            <a:off x="6272784"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Total number of slots in the array</a:t>
            </a:r>
            <a:endParaRPr lang="en-US" sz="1000" dirty="0"/>
          </a:p>
        </p:txBody>
      </p:sp>
      <p:sp>
        <p:nvSpPr>
          <p:cNvPr id="57" name="Shape 55">
            <a:extLst>
              <a:ext uri="{FF2B5EF4-FFF2-40B4-BE49-F238E27FC236}">
                <a16:creationId xmlns:a16="http://schemas.microsoft.com/office/drawing/2014/main" id="{9479889D-FE47-827C-03B8-A090B2C69810}"/>
              </a:ext>
            </a:extLst>
          </p:cNvPr>
          <p:cNvSpPr/>
          <p:nvPr/>
        </p:nvSpPr>
        <p:spPr>
          <a:xfrm>
            <a:off x="6199632"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8" name="Text 56">
            <a:extLst>
              <a:ext uri="{FF2B5EF4-FFF2-40B4-BE49-F238E27FC236}">
                <a16:creationId xmlns:a16="http://schemas.microsoft.com/office/drawing/2014/main" id="{30B55CAD-3273-8860-07F1-9A86A45AE431}"/>
              </a:ext>
            </a:extLst>
          </p:cNvPr>
          <p:cNvSpPr/>
          <p:nvPr/>
        </p:nvSpPr>
        <p:spPr>
          <a:xfrm>
            <a:off x="6272784" y="4352544"/>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Bounds</a:t>
            </a:r>
            <a:endParaRPr lang="en-US" sz="800" dirty="0"/>
          </a:p>
        </p:txBody>
      </p:sp>
      <p:sp>
        <p:nvSpPr>
          <p:cNvPr id="59" name="Text 57">
            <a:extLst>
              <a:ext uri="{FF2B5EF4-FFF2-40B4-BE49-F238E27FC236}">
                <a16:creationId xmlns:a16="http://schemas.microsoft.com/office/drawing/2014/main" id="{0270D8ED-165B-1400-E041-17FA430DE5B7}"/>
              </a:ext>
            </a:extLst>
          </p:cNvPr>
          <p:cNvSpPr/>
          <p:nvPr/>
        </p:nvSpPr>
        <p:spPr>
          <a:xfrm>
            <a:off x="6272784"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Valid indices: 0 to length - 1</a:t>
            </a:r>
            <a:endParaRPr lang="en-US" sz="1000" dirty="0"/>
          </a:p>
        </p:txBody>
      </p:sp>
    </p:spTree>
    <p:extLst>
      <p:ext uri="{BB962C8B-B14F-4D97-AF65-F5344CB8AC3E}">
        <p14:creationId xmlns:p14="http://schemas.microsoft.com/office/powerpoint/2010/main" val="834555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F938DC5C-7D51-33EF-EC2F-903B4691A7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737442-8D81-2853-880E-B42C3E57B12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0C7F8120-DDCD-B00F-157A-EA938D251AAE}"/>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16098926-9EDA-9F30-BFD8-DFDDAF496B5B}"/>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One Variable vs. One Array</a:t>
            </a:r>
            <a:endParaRPr lang="en-US" sz="2200" dirty="0"/>
          </a:p>
        </p:txBody>
      </p:sp>
      <p:sp>
        <p:nvSpPr>
          <p:cNvPr id="5" name="Text 3">
            <a:extLst>
              <a:ext uri="{FF2B5EF4-FFF2-40B4-BE49-F238E27FC236}">
                <a16:creationId xmlns:a16="http://schemas.microsoft.com/office/drawing/2014/main" id="{E716D937-3C6D-88A6-7F45-F226E11D57EC}"/>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The mental jump from storing one value to storing many is smaller than it looks</a:t>
            </a:r>
            <a:endParaRPr lang="en-US" sz="1100" dirty="0"/>
          </a:p>
        </p:txBody>
      </p:sp>
      <p:sp>
        <p:nvSpPr>
          <p:cNvPr id="6" name="Shape 4">
            <a:extLst>
              <a:ext uri="{FF2B5EF4-FFF2-40B4-BE49-F238E27FC236}">
                <a16:creationId xmlns:a16="http://schemas.microsoft.com/office/drawing/2014/main" id="{575D64EF-ED1C-72CD-B931-D7593460A20B}"/>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7C653463-1142-179E-88BD-AFAF6F8C8637}"/>
              </a:ext>
            </a:extLst>
          </p:cNvPr>
          <p:cNvSpPr/>
          <p:nvPr/>
        </p:nvSpPr>
        <p:spPr>
          <a:xfrm>
            <a:off x="274320" y="822960"/>
            <a:ext cx="3886200" cy="4114800"/>
          </a:xfrm>
          <a:prstGeom prst="roundRect">
            <a:avLst>
              <a:gd name="adj" fmla="val 2824"/>
            </a:avLst>
          </a:prstGeom>
          <a:solidFill>
            <a:srgbClr val="1E0F40"/>
          </a:solidFill>
          <a:ln w="12700">
            <a:solidFill>
              <a:srgbClr val="4F29B7"/>
            </a:solidFill>
            <a:prstDash val="solid"/>
          </a:ln>
        </p:spPr>
        <p:txBody>
          <a:bodyPr/>
          <a:lstStyle/>
          <a:p>
            <a:endParaRPr lang="en-US"/>
          </a:p>
        </p:txBody>
      </p:sp>
      <p:sp>
        <p:nvSpPr>
          <p:cNvPr id="8" name="Text 6">
            <a:extLst>
              <a:ext uri="{FF2B5EF4-FFF2-40B4-BE49-F238E27FC236}">
                <a16:creationId xmlns:a16="http://schemas.microsoft.com/office/drawing/2014/main" id="{87C3DF9D-CF81-CFC2-24DE-26789DF7C566}"/>
              </a:ext>
            </a:extLst>
          </p:cNvPr>
          <p:cNvSpPr/>
          <p:nvPr/>
        </p:nvSpPr>
        <p:spPr>
          <a:xfrm>
            <a:off x="27432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 Variable</a:t>
            </a:r>
            <a:endParaRPr lang="en-US" sz="2000" dirty="0"/>
          </a:p>
        </p:txBody>
      </p:sp>
      <p:sp>
        <p:nvSpPr>
          <p:cNvPr id="9" name="Text 7">
            <a:extLst>
              <a:ext uri="{FF2B5EF4-FFF2-40B4-BE49-F238E27FC236}">
                <a16:creationId xmlns:a16="http://schemas.microsoft.com/office/drawing/2014/main" id="{8F6E38CC-3D4A-3E0B-2BE5-A1AFFE25B54B}"/>
              </a:ext>
            </a:extLst>
          </p:cNvPr>
          <p:cNvSpPr/>
          <p:nvPr/>
        </p:nvSpPr>
        <p:spPr>
          <a:xfrm>
            <a:off x="274320" y="1188720"/>
            <a:ext cx="3886200" cy="256032"/>
          </a:xfrm>
          <a:prstGeom prst="rect">
            <a:avLst/>
          </a:prstGeom>
          <a:noFill/>
          <a:ln/>
        </p:spPr>
        <p:txBody>
          <a:bodyPr wrap="square" rtlCol="0" anchor="ctr"/>
          <a:lstStyle/>
          <a:p>
            <a:pPr marL="0" indent="0" algn="ctr">
              <a:buNone/>
            </a:pPr>
            <a:r>
              <a:rPr lang="en-US" sz="1000" i="1" dirty="0">
                <a:solidFill>
                  <a:srgbClr val="A380FF"/>
                </a:solidFill>
                <a:latin typeface="Calibri" pitchFamily="34" charset="0"/>
                <a:ea typeface="Calibri" pitchFamily="34" charset="-122"/>
                <a:cs typeface="Calibri" pitchFamily="34" charset="-120"/>
              </a:rPr>
              <a:t>Holds one value</a:t>
            </a:r>
            <a:endParaRPr lang="en-US" sz="1000" dirty="0"/>
          </a:p>
        </p:txBody>
      </p:sp>
      <p:sp>
        <p:nvSpPr>
          <p:cNvPr id="10" name="Shape 8">
            <a:extLst>
              <a:ext uri="{FF2B5EF4-FFF2-40B4-BE49-F238E27FC236}">
                <a16:creationId xmlns:a16="http://schemas.microsoft.com/office/drawing/2014/main" id="{F539B252-D602-88A8-A23E-D20791397C62}"/>
              </a:ext>
            </a:extLst>
          </p:cNvPr>
          <p:cNvSpPr/>
          <p:nvPr/>
        </p:nvSpPr>
        <p:spPr>
          <a:xfrm>
            <a:off x="457200" y="153619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1" name="Text 9">
            <a:extLst>
              <a:ext uri="{FF2B5EF4-FFF2-40B4-BE49-F238E27FC236}">
                <a16:creationId xmlns:a16="http://schemas.microsoft.com/office/drawing/2014/main" id="{6F22105E-A2B1-5DB5-D76C-63941344DE60}"/>
              </a:ext>
            </a:extLst>
          </p:cNvPr>
          <p:cNvSpPr/>
          <p:nvPr/>
        </p:nvSpPr>
        <p:spPr>
          <a:xfrm>
            <a:off x="50292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Stores:</a:t>
            </a:r>
            <a:endParaRPr lang="en-US" sz="800" dirty="0"/>
          </a:p>
        </p:txBody>
      </p:sp>
      <p:sp>
        <p:nvSpPr>
          <p:cNvPr id="12" name="Text 10">
            <a:extLst>
              <a:ext uri="{FF2B5EF4-FFF2-40B4-BE49-F238E27FC236}">
                <a16:creationId xmlns:a16="http://schemas.microsoft.com/office/drawing/2014/main" id="{DFF3E5FA-C8C4-1DB7-9D76-AF20B79D4766}"/>
              </a:ext>
            </a:extLst>
          </p:cNvPr>
          <p:cNvSpPr/>
          <p:nvPr/>
        </p:nvSpPr>
        <p:spPr>
          <a:xfrm>
            <a:off x="132588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One value at a time</a:t>
            </a:r>
            <a:endParaRPr lang="en-US" sz="900" dirty="0"/>
          </a:p>
        </p:txBody>
      </p:sp>
      <p:sp>
        <p:nvSpPr>
          <p:cNvPr id="13" name="Shape 11">
            <a:extLst>
              <a:ext uri="{FF2B5EF4-FFF2-40B4-BE49-F238E27FC236}">
                <a16:creationId xmlns:a16="http://schemas.microsoft.com/office/drawing/2014/main" id="{251E9839-9550-A02D-B6AA-E0AF4A750EA8}"/>
              </a:ext>
            </a:extLst>
          </p:cNvPr>
          <p:cNvSpPr/>
          <p:nvPr/>
        </p:nvSpPr>
        <p:spPr>
          <a:xfrm>
            <a:off x="457200" y="2011680"/>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4" name="Text 12">
            <a:extLst>
              <a:ext uri="{FF2B5EF4-FFF2-40B4-BE49-F238E27FC236}">
                <a16:creationId xmlns:a16="http://schemas.microsoft.com/office/drawing/2014/main" id="{87599456-8900-62A4-86BE-14B5BFD4D0C7}"/>
              </a:ext>
            </a:extLst>
          </p:cNvPr>
          <p:cNvSpPr/>
          <p:nvPr/>
        </p:nvSpPr>
        <p:spPr>
          <a:xfrm>
            <a:off x="50292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Example:</a:t>
            </a:r>
            <a:endParaRPr lang="en-US" sz="800" dirty="0"/>
          </a:p>
        </p:txBody>
      </p:sp>
      <p:sp>
        <p:nvSpPr>
          <p:cNvPr id="15" name="Text 13">
            <a:extLst>
              <a:ext uri="{FF2B5EF4-FFF2-40B4-BE49-F238E27FC236}">
                <a16:creationId xmlns:a16="http://schemas.microsoft.com/office/drawing/2014/main" id="{0F359D1C-3746-BFAC-361A-B9CAFC55E886}"/>
              </a:ext>
            </a:extLst>
          </p:cNvPr>
          <p:cNvSpPr/>
          <p:nvPr/>
        </p:nvSpPr>
        <p:spPr>
          <a:xfrm>
            <a:off x="132588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SET score ← 87</a:t>
            </a:r>
            <a:endParaRPr lang="en-US" sz="900" dirty="0"/>
          </a:p>
        </p:txBody>
      </p:sp>
      <p:sp>
        <p:nvSpPr>
          <p:cNvPr id="16" name="Shape 14">
            <a:extLst>
              <a:ext uri="{FF2B5EF4-FFF2-40B4-BE49-F238E27FC236}">
                <a16:creationId xmlns:a16="http://schemas.microsoft.com/office/drawing/2014/main" id="{F71D1348-3AA5-3882-54A1-57A76FAC380D}"/>
              </a:ext>
            </a:extLst>
          </p:cNvPr>
          <p:cNvSpPr/>
          <p:nvPr/>
        </p:nvSpPr>
        <p:spPr>
          <a:xfrm>
            <a:off x="457200" y="2487168"/>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7" name="Text 15">
            <a:extLst>
              <a:ext uri="{FF2B5EF4-FFF2-40B4-BE49-F238E27FC236}">
                <a16:creationId xmlns:a16="http://schemas.microsoft.com/office/drawing/2014/main" id="{CF8A9D77-12E4-A989-944B-42A32BEC703B}"/>
              </a:ext>
            </a:extLst>
          </p:cNvPr>
          <p:cNvSpPr/>
          <p:nvPr/>
        </p:nvSpPr>
        <p:spPr>
          <a:xfrm>
            <a:off x="50292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Access:</a:t>
            </a:r>
            <a:endParaRPr lang="en-US" sz="800" dirty="0"/>
          </a:p>
        </p:txBody>
      </p:sp>
      <p:sp>
        <p:nvSpPr>
          <p:cNvPr id="18" name="Text 16">
            <a:extLst>
              <a:ext uri="{FF2B5EF4-FFF2-40B4-BE49-F238E27FC236}">
                <a16:creationId xmlns:a16="http://schemas.microsoft.com/office/drawing/2014/main" id="{6AF3EE4B-F711-A440-7FC2-F5F1CC31B724}"/>
              </a:ext>
            </a:extLst>
          </p:cNvPr>
          <p:cNvSpPr/>
          <p:nvPr/>
        </p:nvSpPr>
        <p:spPr>
          <a:xfrm>
            <a:off x="132588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Just write the variable name</a:t>
            </a:r>
            <a:endParaRPr lang="en-US" sz="900" dirty="0"/>
          </a:p>
        </p:txBody>
      </p:sp>
      <p:sp>
        <p:nvSpPr>
          <p:cNvPr id="19" name="Shape 17">
            <a:extLst>
              <a:ext uri="{FF2B5EF4-FFF2-40B4-BE49-F238E27FC236}">
                <a16:creationId xmlns:a16="http://schemas.microsoft.com/office/drawing/2014/main" id="{596A5860-F2B4-C8FE-B166-FD5219F46DE7}"/>
              </a:ext>
            </a:extLst>
          </p:cNvPr>
          <p:cNvSpPr/>
          <p:nvPr/>
        </p:nvSpPr>
        <p:spPr>
          <a:xfrm>
            <a:off x="457200" y="2962656"/>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0" name="Text 18">
            <a:extLst>
              <a:ext uri="{FF2B5EF4-FFF2-40B4-BE49-F238E27FC236}">
                <a16:creationId xmlns:a16="http://schemas.microsoft.com/office/drawing/2014/main" id="{A81CB853-7AB7-49EC-8C36-43EFC3EE9829}"/>
              </a:ext>
            </a:extLst>
          </p:cNvPr>
          <p:cNvSpPr/>
          <p:nvPr/>
        </p:nvSpPr>
        <p:spPr>
          <a:xfrm>
            <a:off x="50292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To get more:</a:t>
            </a:r>
            <a:endParaRPr lang="en-US" sz="800" dirty="0"/>
          </a:p>
        </p:txBody>
      </p:sp>
      <p:sp>
        <p:nvSpPr>
          <p:cNvPr id="21" name="Text 19">
            <a:extLst>
              <a:ext uri="{FF2B5EF4-FFF2-40B4-BE49-F238E27FC236}">
                <a16:creationId xmlns:a16="http://schemas.microsoft.com/office/drawing/2014/main" id="{01F475CF-1041-BAFD-6AA4-A1D372E0B2C7}"/>
              </a:ext>
            </a:extLst>
          </p:cNvPr>
          <p:cNvSpPr/>
          <p:nvPr/>
        </p:nvSpPr>
        <p:spPr>
          <a:xfrm>
            <a:off x="132588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Need 30 students? 30 variables</a:t>
            </a:r>
            <a:endParaRPr lang="en-US" sz="900" dirty="0"/>
          </a:p>
        </p:txBody>
      </p:sp>
      <p:sp>
        <p:nvSpPr>
          <p:cNvPr id="22" name="Shape 20">
            <a:extLst>
              <a:ext uri="{FF2B5EF4-FFF2-40B4-BE49-F238E27FC236}">
                <a16:creationId xmlns:a16="http://schemas.microsoft.com/office/drawing/2014/main" id="{03F49C8D-AD9E-60C1-F1AA-48F0627BF1EF}"/>
              </a:ext>
            </a:extLst>
          </p:cNvPr>
          <p:cNvSpPr/>
          <p:nvPr/>
        </p:nvSpPr>
        <p:spPr>
          <a:xfrm>
            <a:off x="457200" y="3438144"/>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3" name="Text 21">
            <a:extLst>
              <a:ext uri="{FF2B5EF4-FFF2-40B4-BE49-F238E27FC236}">
                <a16:creationId xmlns:a16="http://schemas.microsoft.com/office/drawing/2014/main" id="{82834748-8E04-C1D1-F4AC-BB51AD8FF547}"/>
              </a:ext>
            </a:extLst>
          </p:cNvPr>
          <p:cNvSpPr/>
          <p:nvPr/>
        </p:nvSpPr>
        <p:spPr>
          <a:xfrm>
            <a:off x="50292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Problem:</a:t>
            </a:r>
            <a:endParaRPr lang="en-US" sz="800" dirty="0"/>
          </a:p>
        </p:txBody>
      </p:sp>
      <p:sp>
        <p:nvSpPr>
          <p:cNvPr id="24" name="Text 22">
            <a:extLst>
              <a:ext uri="{FF2B5EF4-FFF2-40B4-BE49-F238E27FC236}">
                <a16:creationId xmlns:a16="http://schemas.microsoft.com/office/drawing/2014/main" id="{2595A1BA-789B-D1C6-BA77-FFA46E209E26}"/>
              </a:ext>
            </a:extLst>
          </p:cNvPr>
          <p:cNvSpPr/>
          <p:nvPr/>
        </p:nvSpPr>
        <p:spPr>
          <a:xfrm>
            <a:off x="132588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Cannot loop over them easily</a:t>
            </a:r>
            <a:endParaRPr lang="en-US" sz="900" dirty="0"/>
          </a:p>
        </p:txBody>
      </p:sp>
      <p:sp>
        <p:nvSpPr>
          <p:cNvPr id="25" name="Shape 23">
            <a:extLst>
              <a:ext uri="{FF2B5EF4-FFF2-40B4-BE49-F238E27FC236}">
                <a16:creationId xmlns:a16="http://schemas.microsoft.com/office/drawing/2014/main" id="{0CA1FABC-481F-2EA3-FA26-2D0379687B51}"/>
              </a:ext>
            </a:extLst>
          </p:cNvPr>
          <p:cNvSpPr/>
          <p:nvPr/>
        </p:nvSpPr>
        <p:spPr>
          <a:xfrm>
            <a:off x="457200" y="391363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6" name="Text 24">
            <a:extLst>
              <a:ext uri="{FF2B5EF4-FFF2-40B4-BE49-F238E27FC236}">
                <a16:creationId xmlns:a16="http://schemas.microsoft.com/office/drawing/2014/main" id="{513F6708-4696-FCC6-0F1F-74D3C8F7F1BF}"/>
              </a:ext>
            </a:extLst>
          </p:cNvPr>
          <p:cNvSpPr/>
          <p:nvPr/>
        </p:nvSpPr>
        <p:spPr>
          <a:xfrm>
            <a:off x="50292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Verdict:</a:t>
            </a:r>
            <a:endParaRPr lang="en-US" sz="800" dirty="0"/>
          </a:p>
        </p:txBody>
      </p:sp>
      <p:sp>
        <p:nvSpPr>
          <p:cNvPr id="27" name="Text 25">
            <a:extLst>
              <a:ext uri="{FF2B5EF4-FFF2-40B4-BE49-F238E27FC236}">
                <a16:creationId xmlns:a16="http://schemas.microsoft.com/office/drawing/2014/main" id="{CB8CF467-F7B2-6C94-9752-D91C4E5AD506}"/>
              </a:ext>
            </a:extLst>
          </p:cNvPr>
          <p:cNvSpPr/>
          <p:nvPr/>
        </p:nvSpPr>
        <p:spPr>
          <a:xfrm>
            <a:off x="132588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Fine for one thing, awful for many</a:t>
            </a:r>
            <a:endParaRPr lang="en-US" sz="900" dirty="0"/>
          </a:p>
        </p:txBody>
      </p:sp>
      <p:sp>
        <p:nvSpPr>
          <p:cNvPr id="28" name="Shape 26">
            <a:extLst>
              <a:ext uri="{FF2B5EF4-FFF2-40B4-BE49-F238E27FC236}">
                <a16:creationId xmlns:a16="http://schemas.microsoft.com/office/drawing/2014/main" id="{28D0995B-6653-F79C-9F46-E12B88A13D38}"/>
              </a:ext>
            </a:extLst>
          </p:cNvPr>
          <p:cNvSpPr/>
          <p:nvPr/>
        </p:nvSpPr>
        <p:spPr>
          <a:xfrm>
            <a:off x="4416552" y="843534"/>
            <a:ext cx="310896" cy="4114800"/>
          </a:xfrm>
          <a:prstGeom prst="rect">
            <a:avLst/>
          </a:prstGeom>
          <a:solidFill>
            <a:srgbClr val="4F29B7"/>
          </a:solidFill>
          <a:ln w="12700">
            <a:solidFill>
              <a:srgbClr val="4F29B7"/>
            </a:solidFill>
            <a:prstDash val="solid"/>
          </a:ln>
        </p:spPr>
        <p:txBody>
          <a:bodyPr/>
          <a:lstStyle/>
          <a:p>
            <a:endParaRPr lang="en-US"/>
          </a:p>
        </p:txBody>
      </p:sp>
      <p:sp>
        <p:nvSpPr>
          <p:cNvPr id="29" name="Text 27">
            <a:extLst>
              <a:ext uri="{FF2B5EF4-FFF2-40B4-BE49-F238E27FC236}">
                <a16:creationId xmlns:a16="http://schemas.microsoft.com/office/drawing/2014/main" id="{8FEE9ABE-4588-73AD-31E1-FC833708A9CC}"/>
              </a:ext>
            </a:extLst>
          </p:cNvPr>
          <p:cNvSpPr/>
          <p:nvPr/>
        </p:nvSpPr>
        <p:spPr>
          <a:xfrm>
            <a:off x="4306824" y="2718054"/>
            <a:ext cx="530352" cy="365760"/>
          </a:xfrm>
          <a:prstGeom prst="rect">
            <a:avLst/>
          </a:prstGeom>
          <a:noFill/>
          <a:ln/>
        </p:spPr>
        <p:txBody>
          <a:bodyPr wrap="square" rtlCol="0" anchor="ctr"/>
          <a:lstStyle/>
          <a:p>
            <a:pPr marL="0" indent="0" algn="ctr">
              <a:buNone/>
            </a:pPr>
            <a:r>
              <a:rPr lang="en-US" sz="1300" b="1" dirty="0">
                <a:solidFill>
                  <a:srgbClr val="EDEDED"/>
                </a:solidFill>
                <a:latin typeface="Calibri" pitchFamily="34" charset="0"/>
                <a:ea typeface="Calibri" pitchFamily="34" charset="-122"/>
                <a:cs typeface="Calibri" pitchFamily="34" charset="-120"/>
              </a:rPr>
              <a:t>vs</a:t>
            </a:r>
            <a:endParaRPr lang="en-US" sz="1300" dirty="0"/>
          </a:p>
        </p:txBody>
      </p:sp>
      <p:sp>
        <p:nvSpPr>
          <p:cNvPr id="30" name="Shape 28">
            <a:extLst>
              <a:ext uri="{FF2B5EF4-FFF2-40B4-BE49-F238E27FC236}">
                <a16:creationId xmlns:a16="http://schemas.microsoft.com/office/drawing/2014/main" id="{AEE34ACF-5233-297C-7290-F82D7391F43A}"/>
              </a:ext>
            </a:extLst>
          </p:cNvPr>
          <p:cNvSpPr/>
          <p:nvPr/>
        </p:nvSpPr>
        <p:spPr>
          <a:xfrm>
            <a:off x="4983480" y="822960"/>
            <a:ext cx="3886200" cy="4114800"/>
          </a:xfrm>
          <a:prstGeom prst="roundRect">
            <a:avLst>
              <a:gd name="adj" fmla="val 2824"/>
            </a:avLst>
          </a:prstGeom>
          <a:solidFill>
            <a:srgbClr val="0D2020"/>
          </a:solidFill>
          <a:ln w="12700">
            <a:solidFill>
              <a:srgbClr val="57E3D8"/>
            </a:solidFill>
            <a:prstDash val="solid"/>
          </a:ln>
        </p:spPr>
        <p:txBody>
          <a:bodyPr/>
          <a:lstStyle/>
          <a:p>
            <a:endParaRPr lang="en-US"/>
          </a:p>
        </p:txBody>
      </p:sp>
      <p:sp>
        <p:nvSpPr>
          <p:cNvPr id="31" name="Text 29">
            <a:extLst>
              <a:ext uri="{FF2B5EF4-FFF2-40B4-BE49-F238E27FC236}">
                <a16:creationId xmlns:a16="http://schemas.microsoft.com/office/drawing/2014/main" id="{F2EF1F1A-21A0-05F7-0DAD-248D9EFC403C}"/>
              </a:ext>
            </a:extLst>
          </p:cNvPr>
          <p:cNvSpPr/>
          <p:nvPr/>
        </p:nvSpPr>
        <p:spPr>
          <a:xfrm>
            <a:off x="498348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An Array</a:t>
            </a:r>
            <a:endParaRPr lang="en-US" sz="2000" dirty="0"/>
          </a:p>
        </p:txBody>
      </p:sp>
      <p:sp>
        <p:nvSpPr>
          <p:cNvPr id="32" name="Text 30">
            <a:extLst>
              <a:ext uri="{FF2B5EF4-FFF2-40B4-BE49-F238E27FC236}">
                <a16:creationId xmlns:a16="http://schemas.microsoft.com/office/drawing/2014/main" id="{46E4A81B-148B-8CD9-9160-86527E3CF4B9}"/>
              </a:ext>
            </a:extLst>
          </p:cNvPr>
          <p:cNvSpPr/>
          <p:nvPr/>
        </p:nvSpPr>
        <p:spPr>
          <a:xfrm>
            <a:off x="4983480" y="1188720"/>
            <a:ext cx="3886200" cy="256032"/>
          </a:xfrm>
          <a:prstGeom prst="rect">
            <a:avLst/>
          </a:prstGeom>
          <a:noFill/>
          <a:ln/>
        </p:spPr>
        <p:txBody>
          <a:bodyPr wrap="square" rtlCol="0" anchor="ctr"/>
          <a:lstStyle/>
          <a:p>
            <a:pPr marL="0" indent="0" algn="ctr">
              <a:buNone/>
            </a:pPr>
            <a:r>
              <a:rPr lang="en-US" sz="1000" i="1" dirty="0">
                <a:solidFill>
                  <a:srgbClr val="57E3D8"/>
                </a:solidFill>
                <a:latin typeface="Calibri" pitchFamily="34" charset="0"/>
                <a:ea typeface="Calibri" pitchFamily="34" charset="-122"/>
                <a:cs typeface="Calibri" pitchFamily="34" charset="-120"/>
              </a:rPr>
              <a:t>Holds many values</a:t>
            </a:r>
            <a:endParaRPr lang="en-US" sz="1000" dirty="0"/>
          </a:p>
        </p:txBody>
      </p:sp>
      <p:sp>
        <p:nvSpPr>
          <p:cNvPr id="33" name="Shape 31">
            <a:extLst>
              <a:ext uri="{FF2B5EF4-FFF2-40B4-BE49-F238E27FC236}">
                <a16:creationId xmlns:a16="http://schemas.microsoft.com/office/drawing/2014/main" id="{2AA6F638-5CE6-FF35-A36A-357ACBC7A5EE}"/>
              </a:ext>
            </a:extLst>
          </p:cNvPr>
          <p:cNvSpPr/>
          <p:nvPr/>
        </p:nvSpPr>
        <p:spPr>
          <a:xfrm>
            <a:off x="5166360" y="153619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4" name="Text 32">
            <a:extLst>
              <a:ext uri="{FF2B5EF4-FFF2-40B4-BE49-F238E27FC236}">
                <a16:creationId xmlns:a16="http://schemas.microsoft.com/office/drawing/2014/main" id="{40D20E3D-237B-9D65-0005-F1470DFDA85F}"/>
              </a:ext>
            </a:extLst>
          </p:cNvPr>
          <p:cNvSpPr/>
          <p:nvPr/>
        </p:nvSpPr>
        <p:spPr>
          <a:xfrm>
            <a:off x="521208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Stores:</a:t>
            </a:r>
            <a:endParaRPr lang="en-US" sz="800" dirty="0"/>
          </a:p>
        </p:txBody>
      </p:sp>
      <p:sp>
        <p:nvSpPr>
          <p:cNvPr id="35" name="Text 33">
            <a:extLst>
              <a:ext uri="{FF2B5EF4-FFF2-40B4-BE49-F238E27FC236}">
                <a16:creationId xmlns:a16="http://schemas.microsoft.com/office/drawing/2014/main" id="{254710F6-A3D0-2BDA-1EDF-0B27D0168981}"/>
              </a:ext>
            </a:extLst>
          </p:cNvPr>
          <p:cNvSpPr/>
          <p:nvPr/>
        </p:nvSpPr>
        <p:spPr>
          <a:xfrm>
            <a:off x="603504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Many values, one variable name</a:t>
            </a:r>
            <a:endParaRPr lang="en-US" sz="900" dirty="0"/>
          </a:p>
        </p:txBody>
      </p:sp>
      <p:sp>
        <p:nvSpPr>
          <p:cNvPr id="36" name="Shape 34">
            <a:extLst>
              <a:ext uri="{FF2B5EF4-FFF2-40B4-BE49-F238E27FC236}">
                <a16:creationId xmlns:a16="http://schemas.microsoft.com/office/drawing/2014/main" id="{276EF63A-0F9F-9871-090D-42662C083648}"/>
              </a:ext>
            </a:extLst>
          </p:cNvPr>
          <p:cNvSpPr/>
          <p:nvPr/>
        </p:nvSpPr>
        <p:spPr>
          <a:xfrm>
            <a:off x="5166360" y="2011680"/>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7" name="Text 35">
            <a:extLst>
              <a:ext uri="{FF2B5EF4-FFF2-40B4-BE49-F238E27FC236}">
                <a16:creationId xmlns:a16="http://schemas.microsoft.com/office/drawing/2014/main" id="{50710570-BD97-07DD-973A-6E0879828529}"/>
              </a:ext>
            </a:extLst>
          </p:cNvPr>
          <p:cNvSpPr/>
          <p:nvPr/>
        </p:nvSpPr>
        <p:spPr>
          <a:xfrm>
            <a:off x="521208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Example:</a:t>
            </a:r>
            <a:endParaRPr lang="en-US" sz="800" dirty="0"/>
          </a:p>
        </p:txBody>
      </p:sp>
      <p:sp>
        <p:nvSpPr>
          <p:cNvPr id="38" name="Text 36">
            <a:extLst>
              <a:ext uri="{FF2B5EF4-FFF2-40B4-BE49-F238E27FC236}">
                <a16:creationId xmlns:a16="http://schemas.microsoft.com/office/drawing/2014/main" id="{325466D3-0145-6B0D-2552-02E73F82500A}"/>
              </a:ext>
            </a:extLst>
          </p:cNvPr>
          <p:cNvSpPr/>
          <p:nvPr/>
        </p:nvSpPr>
        <p:spPr>
          <a:xfrm>
            <a:off x="603504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SET scores ← [87, 92, 76, 95, 88]</a:t>
            </a:r>
            <a:endParaRPr lang="en-US" sz="900" dirty="0"/>
          </a:p>
        </p:txBody>
      </p:sp>
      <p:sp>
        <p:nvSpPr>
          <p:cNvPr id="39" name="Shape 37">
            <a:extLst>
              <a:ext uri="{FF2B5EF4-FFF2-40B4-BE49-F238E27FC236}">
                <a16:creationId xmlns:a16="http://schemas.microsoft.com/office/drawing/2014/main" id="{6942382F-E7A3-C1F2-B83D-D6FA86B546E1}"/>
              </a:ext>
            </a:extLst>
          </p:cNvPr>
          <p:cNvSpPr/>
          <p:nvPr/>
        </p:nvSpPr>
        <p:spPr>
          <a:xfrm>
            <a:off x="5166360" y="2487168"/>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0" name="Text 38">
            <a:extLst>
              <a:ext uri="{FF2B5EF4-FFF2-40B4-BE49-F238E27FC236}">
                <a16:creationId xmlns:a16="http://schemas.microsoft.com/office/drawing/2014/main" id="{E5CD63DE-A2FD-FE4E-8F62-CFED0F0E9EA7}"/>
              </a:ext>
            </a:extLst>
          </p:cNvPr>
          <p:cNvSpPr/>
          <p:nvPr/>
        </p:nvSpPr>
        <p:spPr>
          <a:xfrm>
            <a:off x="521208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Access:</a:t>
            </a:r>
            <a:endParaRPr lang="en-US" sz="800" dirty="0"/>
          </a:p>
        </p:txBody>
      </p:sp>
      <p:sp>
        <p:nvSpPr>
          <p:cNvPr id="41" name="Text 39">
            <a:extLst>
              <a:ext uri="{FF2B5EF4-FFF2-40B4-BE49-F238E27FC236}">
                <a16:creationId xmlns:a16="http://schemas.microsoft.com/office/drawing/2014/main" id="{3B5504F8-686E-BA78-2DB4-23833D5191B0}"/>
              </a:ext>
            </a:extLst>
          </p:cNvPr>
          <p:cNvSpPr/>
          <p:nvPr/>
        </p:nvSpPr>
        <p:spPr>
          <a:xfrm>
            <a:off x="603504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scores[0], scores[1], scores[2]…</a:t>
            </a:r>
            <a:endParaRPr lang="en-US" sz="900" dirty="0"/>
          </a:p>
        </p:txBody>
      </p:sp>
      <p:sp>
        <p:nvSpPr>
          <p:cNvPr id="42" name="Shape 40">
            <a:extLst>
              <a:ext uri="{FF2B5EF4-FFF2-40B4-BE49-F238E27FC236}">
                <a16:creationId xmlns:a16="http://schemas.microsoft.com/office/drawing/2014/main" id="{B4BD8040-DFF5-8EB7-EFFC-2EDD0AA4C308}"/>
              </a:ext>
            </a:extLst>
          </p:cNvPr>
          <p:cNvSpPr/>
          <p:nvPr/>
        </p:nvSpPr>
        <p:spPr>
          <a:xfrm>
            <a:off x="5166360" y="2962656"/>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3" name="Text 41">
            <a:extLst>
              <a:ext uri="{FF2B5EF4-FFF2-40B4-BE49-F238E27FC236}">
                <a16:creationId xmlns:a16="http://schemas.microsoft.com/office/drawing/2014/main" id="{3C3B4DAE-E3CC-8255-554E-4C338D6C2133}"/>
              </a:ext>
            </a:extLst>
          </p:cNvPr>
          <p:cNvSpPr/>
          <p:nvPr/>
        </p:nvSpPr>
        <p:spPr>
          <a:xfrm>
            <a:off x="521208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To get more:</a:t>
            </a:r>
            <a:endParaRPr lang="en-US" sz="800" dirty="0"/>
          </a:p>
        </p:txBody>
      </p:sp>
      <p:sp>
        <p:nvSpPr>
          <p:cNvPr id="44" name="Text 42">
            <a:extLst>
              <a:ext uri="{FF2B5EF4-FFF2-40B4-BE49-F238E27FC236}">
                <a16:creationId xmlns:a16="http://schemas.microsoft.com/office/drawing/2014/main" id="{0EA8348F-EAC9-B6A1-A0A9-981B05749E1E}"/>
              </a:ext>
            </a:extLst>
          </p:cNvPr>
          <p:cNvSpPr/>
          <p:nvPr/>
        </p:nvSpPr>
        <p:spPr>
          <a:xfrm>
            <a:off x="603504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Just declare a longer array</a:t>
            </a:r>
            <a:endParaRPr lang="en-US" sz="900" dirty="0"/>
          </a:p>
        </p:txBody>
      </p:sp>
      <p:sp>
        <p:nvSpPr>
          <p:cNvPr id="45" name="Shape 43">
            <a:extLst>
              <a:ext uri="{FF2B5EF4-FFF2-40B4-BE49-F238E27FC236}">
                <a16:creationId xmlns:a16="http://schemas.microsoft.com/office/drawing/2014/main" id="{AF19D472-79B4-7EAD-A3A0-DB3C2232CDB5}"/>
              </a:ext>
            </a:extLst>
          </p:cNvPr>
          <p:cNvSpPr/>
          <p:nvPr/>
        </p:nvSpPr>
        <p:spPr>
          <a:xfrm>
            <a:off x="5166360" y="3438144"/>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6" name="Text 44">
            <a:extLst>
              <a:ext uri="{FF2B5EF4-FFF2-40B4-BE49-F238E27FC236}">
                <a16:creationId xmlns:a16="http://schemas.microsoft.com/office/drawing/2014/main" id="{AE5764AD-FEB5-7C1D-EED5-D76C266FC016}"/>
              </a:ext>
            </a:extLst>
          </p:cNvPr>
          <p:cNvSpPr/>
          <p:nvPr/>
        </p:nvSpPr>
        <p:spPr>
          <a:xfrm>
            <a:off x="521208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Strength:</a:t>
            </a:r>
            <a:endParaRPr lang="en-US" sz="800" dirty="0"/>
          </a:p>
        </p:txBody>
      </p:sp>
      <p:sp>
        <p:nvSpPr>
          <p:cNvPr id="47" name="Text 45">
            <a:extLst>
              <a:ext uri="{FF2B5EF4-FFF2-40B4-BE49-F238E27FC236}">
                <a16:creationId xmlns:a16="http://schemas.microsoft.com/office/drawing/2014/main" id="{C71AEF8E-A22F-ADC6-B183-DCD242EA877B}"/>
              </a:ext>
            </a:extLst>
          </p:cNvPr>
          <p:cNvSpPr/>
          <p:nvPr/>
        </p:nvSpPr>
        <p:spPr>
          <a:xfrm>
            <a:off x="603504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Loop with FOR i = 0 TO length-1</a:t>
            </a:r>
            <a:endParaRPr lang="en-US" sz="900" dirty="0"/>
          </a:p>
        </p:txBody>
      </p:sp>
      <p:sp>
        <p:nvSpPr>
          <p:cNvPr id="48" name="Shape 46">
            <a:extLst>
              <a:ext uri="{FF2B5EF4-FFF2-40B4-BE49-F238E27FC236}">
                <a16:creationId xmlns:a16="http://schemas.microsoft.com/office/drawing/2014/main" id="{42600777-6D46-7631-F808-A9562ACAB92E}"/>
              </a:ext>
            </a:extLst>
          </p:cNvPr>
          <p:cNvSpPr/>
          <p:nvPr/>
        </p:nvSpPr>
        <p:spPr>
          <a:xfrm>
            <a:off x="5166360" y="391363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9" name="Text 47">
            <a:extLst>
              <a:ext uri="{FF2B5EF4-FFF2-40B4-BE49-F238E27FC236}">
                <a16:creationId xmlns:a16="http://schemas.microsoft.com/office/drawing/2014/main" id="{519DB8C3-055F-459B-82F6-A024731C65B5}"/>
              </a:ext>
            </a:extLst>
          </p:cNvPr>
          <p:cNvSpPr/>
          <p:nvPr/>
        </p:nvSpPr>
        <p:spPr>
          <a:xfrm>
            <a:off x="521208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Verdict:</a:t>
            </a:r>
            <a:endParaRPr lang="en-US" sz="800" dirty="0"/>
          </a:p>
        </p:txBody>
      </p:sp>
      <p:sp>
        <p:nvSpPr>
          <p:cNvPr id="50" name="Text 48">
            <a:extLst>
              <a:ext uri="{FF2B5EF4-FFF2-40B4-BE49-F238E27FC236}">
                <a16:creationId xmlns:a16="http://schemas.microsoft.com/office/drawing/2014/main" id="{3D362DF0-8C20-2710-479A-BDFA915F4002}"/>
              </a:ext>
            </a:extLst>
          </p:cNvPr>
          <p:cNvSpPr/>
          <p:nvPr/>
        </p:nvSpPr>
        <p:spPr>
          <a:xfrm>
            <a:off x="603504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The natural fit for any list</a:t>
            </a:r>
            <a:endParaRPr lang="en-US" sz="900" dirty="0"/>
          </a:p>
        </p:txBody>
      </p:sp>
    </p:spTree>
    <p:extLst>
      <p:ext uri="{BB962C8B-B14F-4D97-AF65-F5344CB8AC3E}">
        <p14:creationId xmlns:p14="http://schemas.microsoft.com/office/powerpoint/2010/main" val="882858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COMMON OPERATIONS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Six Things You Do With Arrays</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full vocabulary of array operations — every program you ever write will use these six</a:t>
            </a:r>
            <a:endParaRPr lang="en-US" sz="1300" dirty="0"/>
          </a:p>
        </p:txBody>
      </p:sp>
      <p:sp>
        <p:nvSpPr>
          <p:cNvPr id="7" name="Shape 5"/>
          <p:cNvSpPr/>
          <p:nvPr/>
        </p:nvSpPr>
        <p:spPr>
          <a:xfrm>
            <a:off x="411480" y="1170432"/>
            <a:ext cx="4206240" cy="10972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Shape 7"/>
          <p:cNvSpPr/>
          <p:nvPr/>
        </p:nvSpPr>
        <p:spPr>
          <a:xfrm>
            <a:off x="521208" y="1207008"/>
            <a:ext cx="347472" cy="347472"/>
          </a:xfrm>
          <a:prstGeom prst="ellipse">
            <a:avLst/>
          </a:prstGeom>
          <a:solidFill>
            <a:srgbClr val="3FD9C4">
              <a:alpha val="80000"/>
            </a:srgbClr>
          </a:solidFill>
          <a:ln w="19050">
            <a:solidFill>
              <a:srgbClr val="3FD9C4"/>
            </a:solidFill>
            <a:prstDash val="solid"/>
          </a:ln>
        </p:spPr>
        <p:txBody>
          <a:bodyPr/>
          <a:lstStyle/>
          <a:p>
            <a:endParaRPr lang="en-US"/>
          </a:p>
        </p:txBody>
      </p:sp>
      <p:sp>
        <p:nvSpPr>
          <p:cNvPr id="10" name="Text 8"/>
          <p:cNvSpPr/>
          <p:nvPr/>
        </p:nvSpPr>
        <p:spPr>
          <a:xfrm>
            <a:off x="52120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solidFill>
                <a:schemeClr val="bg1"/>
              </a:solidFill>
            </a:endParaRPr>
          </a:p>
        </p:txBody>
      </p:sp>
      <p:sp>
        <p:nvSpPr>
          <p:cNvPr id="11" name="Text 9"/>
          <p:cNvSpPr/>
          <p:nvPr/>
        </p:nvSpPr>
        <p:spPr>
          <a:xfrm>
            <a:off x="96012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Declare</a:t>
            </a:r>
            <a:endParaRPr lang="en-US" sz="1200" dirty="0"/>
          </a:p>
        </p:txBody>
      </p:sp>
      <p:sp>
        <p:nvSpPr>
          <p:cNvPr id="12" name="Shape 10"/>
          <p:cNvSpPr/>
          <p:nvPr/>
        </p:nvSpPr>
        <p:spPr>
          <a:xfrm>
            <a:off x="548640" y="1517904"/>
            <a:ext cx="3931920" cy="0"/>
          </a:xfrm>
          <a:prstGeom prst="line">
            <a:avLst/>
          </a:prstGeom>
          <a:noFill/>
          <a:ln w="7620">
            <a:solidFill>
              <a:srgbClr val="3D444D"/>
            </a:solidFill>
            <a:prstDash val="solid"/>
          </a:ln>
        </p:spPr>
        <p:txBody>
          <a:bodyPr/>
          <a:lstStyle/>
          <a:p>
            <a:endParaRPr lang="en-US"/>
          </a:p>
        </p:txBody>
      </p:sp>
      <p:sp>
        <p:nvSpPr>
          <p:cNvPr id="13" name="Text 11"/>
          <p:cNvSpPr/>
          <p:nvPr/>
        </p:nvSpPr>
        <p:spPr>
          <a:xfrm>
            <a:off x="54864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Create the array. Pick a</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name, a length, and a type.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Example: scores ← new</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array of 5 integers.</a:t>
            </a:r>
            <a:endParaRPr lang="en-US" sz="1050" dirty="0"/>
          </a:p>
        </p:txBody>
      </p:sp>
      <p:sp>
        <p:nvSpPr>
          <p:cNvPr id="14" name="Shape 12"/>
          <p:cNvSpPr/>
          <p:nvPr/>
        </p:nvSpPr>
        <p:spPr>
          <a:xfrm>
            <a:off x="411480" y="2386584"/>
            <a:ext cx="4206240" cy="10972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5" name="Shape 13"/>
          <p:cNvSpPr/>
          <p:nvPr/>
        </p:nvSpPr>
        <p:spPr>
          <a:xfrm>
            <a:off x="411480" y="2386584"/>
            <a:ext cx="420624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6" name="Shape 14"/>
          <p:cNvSpPr/>
          <p:nvPr/>
        </p:nvSpPr>
        <p:spPr>
          <a:xfrm>
            <a:off x="521208" y="2423160"/>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7" name="Text 15"/>
          <p:cNvSpPr/>
          <p:nvPr/>
        </p:nvSpPr>
        <p:spPr>
          <a:xfrm>
            <a:off x="52120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2</a:t>
            </a:r>
            <a:endParaRPr lang="en-US" sz="1400" dirty="0">
              <a:solidFill>
                <a:schemeClr val="bg1"/>
              </a:solidFill>
            </a:endParaRPr>
          </a:p>
        </p:txBody>
      </p:sp>
      <p:sp>
        <p:nvSpPr>
          <p:cNvPr id="18" name="Text 16"/>
          <p:cNvSpPr/>
          <p:nvPr/>
        </p:nvSpPr>
        <p:spPr>
          <a:xfrm>
            <a:off x="96012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Access</a:t>
            </a:r>
            <a:endParaRPr lang="en-US" sz="1200" dirty="0"/>
          </a:p>
        </p:txBody>
      </p:sp>
      <p:sp>
        <p:nvSpPr>
          <p:cNvPr id="19" name="Shape 17"/>
          <p:cNvSpPr/>
          <p:nvPr/>
        </p:nvSpPr>
        <p:spPr>
          <a:xfrm>
            <a:off x="548640" y="2734056"/>
            <a:ext cx="3931920" cy="0"/>
          </a:xfrm>
          <a:prstGeom prst="line">
            <a:avLst/>
          </a:prstGeom>
          <a:noFill/>
          <a:ln w="7620">
            <a:solidFill>
              <a:srgbClr val="3D444D"/>
            </a:solidFill>
            <a:prstDash val="solid"/>
          </a:ln>
        </p:spPr>
        <p:txBody>
          <a:bodyPr/>
          <a:lstStyle/>
          <a:p>
            <a:endParaRPr lang="en-US"/>
          </a:p>
        </p:txBody>
      </p:sp>
      <p:sp>
        <p:nvSpPr>
          <p:cNvPr id="20" name="Text 18"/>
          <p:cNvSpPr/>
          <p:nvPr/>
        </p:nvSpPr>
        <p:spPr>
          <a:xfrm>
            <a:off x="54864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Read a value at a given</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index. Use square brackets: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scores[2]. Always O(1) —</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instant, no scanning needed.</a:t>
            </a:r>
            <a:endParaRPr lang="en-US" sz="1050" dirty="0"/>
          </a:p>
        </p:txBody>
      </p:sp>
      <p:sp>
        <p:nvSpPr>
          <p:cNvPr id="21" name="Shape 19"/>
          <p:cNvSpPr/>
          <p:nvPr/>
        </p:nvSpPr>
        <p:spPr>
          <a:xfrm>
            <a:off x="411480" y="3602736"/>
            <a:ext cx="4206240" cy="10972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411480" y="3602736"/>
            <a:ext cx="42062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23" name="Shape 21"/>
          <p:cNvSpPr/>
          <p:nvPr/>
        </p:nvSpPr>
        <p:spPr>
          <a:xfrm>
            <a:off x="521208" y="3639312"/>
            <a:ext cx="347472" cy="347472"/>
          </a:xfrm>
          <a:prstGeom prst="ellipse">
            <a:avLst/>
          </a:prstGeom>
          <a:solidFill>
            <a:srgbClr val="BC8CFF">
              <a:alpha val="80000"/>
            </a:srgbClr>
          </a:solidFill>
          <a:ln w="19050">
            <a:solidFill>
              <a:srgbClr val="BC8CFF"/>
            </a:solidFill>
            <a:prstDash val="solid"/>
          </a:ln>
        </p:spPr>
        <p:txBody>
          <a:bodyPr/>
          <a:lstStyle/>
          <a:p>
            <a:endParaRPr lang="en-US"/>
          </a:p>
        </p:txBody>
      </p:sp>
      <p:sp>
        <p:nvSpPr>
          <p:cNvPr id="24" name="Text 22"/>
          <p:cNvSpPr/>
          <p:nvPr/>
        </p:nvSpPr>
        <p:spPr>
          <a:xfrm>
            <a:off x="52120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a:t>
            </a:r>
            <a:endParaRPr lang="en-US" sz="1400" dirty="0">
              <a:solidFill>
                <a:schemeClr val="bg1"/>
              </a:solidFill>
            </a:endParaRPr>
          </a:p>
        </p:txBody>
      </p:sp>
      <p:sp>
        <p:nvSpPr>
          <p:cNvPr id="25" name="Text 23"/>
          <p:cNvSpPr/>
          <p:nvPr/>
        </p:nvSpPr>
        <p:spPr>
          <a:xfrm>
            <a:off x="96012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Update</a:t>
            </a:r>
            <a:endParaRPr lang="en-US" sz="1200" dirty="0"/>
          </a:p>
        </p:txBody>
      </p:sp>
      <p:sp>
        <p:nvSpPr>
          <p:cNvPr id="26" name="Shape 24"/>
          <p:cNvSpPr/>
          <p:nvPr/>
        </p:nvSpPr>
        <p:spPr>
          <a:xfrm>
            <a:off x="548640" y="3950208"/>
            <a:ext cx="3931920" cy="0"/>
          </a:xfrm>
          <a:prstGeom prst="line">
            <a:avLst/>
          </a:prstGeom>
          <a:noFill/>
          <a:ln w="7620">
            <a:solidFill>
              <a:srgbClr val="3D444D"/>
            </a:solidFill>
            <a:prstDash val="solid"/>
          </a:ln>
        </p:spPr>
        <p:txBody>
          <a:bodyPr/>
          <a:lstStyle/>
          <a:p>
            <a:endParaRPr lang="en-US"/>
          </a:p>
        </p:txBody>
      </p:sp>
      <p:sp>
        <p:nvSpPr>
          <p:cNvPr id="27" name="Text 25"/>
          <p:cNvSpPr/>
          <p:nvPr/>
        </p:nvSpPr>
        <p:spPr>
          <a:xfrm>
            <a:off x="54864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Replace the value at a slot.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Use assignment with the index:</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scores[2] ← 100. Old value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is overwritten. Also O(1).</a:t>
            </a:r>
            <a:endParaRPr lang="en-US" sz="1050" dirty="0"/>
          </a:p>
        </p:txBody>
      </p:sp>
      <p:sp>
        <p:nvSpPr>
          <p:cNvPr id="28" name="Shape 26"/>
          <p:cNvSpPr/>
          <p:nvPr/>
        </p:nvSpPr>
        <p:spPr>
          <a:xfrm>
            <a:off x="4800600" y="1170432"/>
            <a:ext cx="4206240" cy="10972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9" name="Shape 27"/>
          <p:cNvSpPr/>
          <p:nvPr/>
        </p:nvSpPr>
        <p:spPr>
          <a:xfrm>
            <a:off x="4800600" y="1170432"/>
            <a:ext cx="420624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0" name="Shape 28"/>
          <p:cNvSpPr/>
          <p:nvPr/>
        </p:nvSpPr>
        <p:spPr>
          <a:xfrm>
            <a:off x="4910328" y="1207008"/>
            <a:ext cx="347472" cy="347472"/>
          </a:xfrm>
          <a:prstGeom prst="ellipse">
            <a:avLst/>
          </a:prstGeom>
          <a:solidFill>
            <a:srgbClr val="FFA657">
              <a:alpha val="80000"/>
            </a:srgbClr>
          </a:solidFill>
          <a:ln w="19050">
            <a:solidFill>
              <a:srgbClr val="FFA657"/>
            </a:solidFill>
            <a:prstDash val="solid"/>
          </a:ln>
        </p:spPr>
        <p:txBody>
          <a:bodyPr/>
          <a:lstStyle/>
          <a:p>
            <a:endParaRPr lang="en-US"/>
          </a:p>
        </p:txBody>
      </p:sp>
      <p:sp>
        <p:nvSpPr>
          <p:cNvPr id="31" name="Text 29"/>
          <p:cNvSpPr/>
          <p:nvPr/>
        </p:nvSpPr>
        <p:spPr>
          <a:xfrm>
            <a:off x="491032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a:t>
            </a:r>
            <a:endParaRPr lang="en-US" sz="1400" dirty="0">
              <a:solidFill>
                <a:schemeClr val="bg1"/>
              </a:solidFill>
            </a:endParaRPr>
          </a:p>
        </p:txBody>
      </p:sp>
      <p:sp>
        <p:nvSpPr>
          <p:cNvPr id="32" name="Text 30"/>
          <p:cNvSpPr/>
          <p:nvPr/>
        </p:nvSpPr>
        <p:spPr>
          <a:xfrm>
            <a:off x="534924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Traverse</a:t>
            </a:r>
            <a:endParaRPr lang="en-US" sz="1200" dirty="0"/>
          </a:p>
        </p:txBody>
      </p:sp>
      <p:sp>
        <p:nvSpPr>
          <p:cNvPr id="33" name="Shape 31"/>
          <p:cNvSpPr/>
          <p:nvPr/>
        </p:nvSpPr>
        <p:spPr>
          <a:xfrm>
            <a:off x="4937760" y="1517904"/>
            <a:ext cx="3931920" cy="0"/>
          </a:xfrm>
          <a:prstGeom prst="line">
            <a:avLst/>
          </a:prstGeom>
          <a:noFill/>
          <a:ln w="7620">
            <a:solidFill>
              <a:srgbClr val="3D444D"/>
            </a:solidFill>
            <a:prstDash val="solid"/>
          </a:ln>
        </p:spPr>
        <p:txBody>
          <a:bodyPr/>
          <a:lstStyle/>
          <a:p>
            <a:endParaRPr lang="en-US"/>
          </a:p>
        </p:txBody>
      </p:sp>
      <p:sp>
        <p:nvSpPr>
          <p:cNvPr id="34" name="Text 32"/>
          <p:cNvSpPr/>
          <p:nvPr/>
        </p:nvSpPr>
        <p:spPr>
          <a:xfrm>
            <a:off x="493776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Visit every element in</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order using a FOR loop:</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FOR i = 0 TO length - 1.</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basis of every algorithm.</a:t>
            </a:r>
            <a:endParaRPr lang="en-US" sz="1050" dirty="0"/>
          </a:p>
        </p:txBody>
      </p:sp>
      <p:sp>
        <p:nvSpPr>
          <p:cNvPr id="35" name="Shape 33"/>
          <p:cNvSpPr/>
          <p:nvPr/>
        </p:nvSpPr>
        <p:spPr>
          <a:xfrm>
            <a:off x="4800600" y="2386584"/>
            <a:ext cx="4206240" cy="10972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4800600" y="2386584"/>
            <a:ext cx="4206240"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37" name="Shape 35"/>
          <p:cNvSpPr/>
          <p:nvPr/>
        </p:nvSpPr>
        <p:spPr>
          <a:xfrm>
            <a:off x="4910328" y="2423160"/>
            <a:ext cx="347472" cy="347472"/>
          </a:xfrm>
          <a:prstGeom prst="ellipse">
            <a:avLst/>
          </a:prstGeom>
          <a:solidFill>
            <a:srgbClr val="E3B341">
              <a:alpha val="80000"/>
            </a:srgbClr>
          </a:solidFill>
          <a:ln w="19050">
            <a:solidFill>
              <a:srgbClr val="E3B341"/>
            </a:solidFill>
            <a:prstDash val="solid"/>
          </a:ln>
        </p:spPr>
        <p:txBody>
          <a:bodyPr/>
          <a:lstStyle/>
          <a:p>
            <a:endParaRPr lang="en-US"/>
          </a:p>
        </p:txBody>
      </p:sp>
      <p:sp>
        <p:nvSpPr>
          <p:cNvPr id="38" name="Text 36"/>
          <p:cNvSpPr/>
          <p:nvPr/>
        </p:nvSpPr>
        <p:spPr>
          <a:xfrm>
            <a:off x="491032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5</a:t>
            </a:r>
            <a:endParaRPr lang="en-US" sz="1400" dirty="0">
              <a:solidFill>
                <a:schemeClr val="bg1"/>
              </a:solidFill>
            </a:endParaRPr>
          </a:p>
        </p:txBody>
      </p:sp>
      <p:sp>
        <p:nvSpPr>
          <p:cNvPr id="39" name="Text 37"/>
          <p:cNvSpPr/>
          <p:nvPr/>
        </p:nvSpPr>
        <p:spPr>
          <a:xfrm>
            <a:off x="534924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Search</a:t>
            </a:r>
            <a:endParaRPr lang="en-US" sz="1200" dirty="0"/>
          </a:p>
        </p:txBody>
      </p:sp>
      <p:sp>
        <p:nvSpPr>
          <p:cNvPr id="40" name="Shape 38"/>
          <p:cNvSpPr/>
          <p:nvPr/>
        </p:nvSpPr>
        <p:spPr>
          <a:xfrm>
            <a:off x="4937760" y="2734056"/>
            <a:ext cx="3931920" cy="0"/>
          </a:xfrm>
          <a:prstGeom prst="line">
            <a:avLst/>
          </a:prstGeom>
          <a:noFill/>
          <a:ln w="7620">
            <a:solidFill>
              <a:srgbClr val="3D444D"/>
            </a:solidFill>
            <a:prstDash val="solid"/>
          </a:ln>
        </p:spPr>
        <p:txBody>
          <a:bodyPr/>
          <a:lstStyle/>
          <a:p>
            <a:endParaRPr lang="en-US"/>
          </a:p>
        </p:txBody>
      </p:sp>
      <p:sp>
        <p:nvSpPr>
          <p:cNvPr id="41" name="Text 39"/>
          <p:cNvSpPr/>
          <p:nvPr/>
        </p:nvSpPr>
        <p:spPr>
          <a:xfrm>
            <a:off x="493776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Find an element by value.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Linear Search walks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array; Binary Search needs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it sorted. (Week 3 material.)</a:t>
            </a:r>
            <a:endParaRPr lang="en-US" sz="1050" dirty="0"/>
          </a:p>
        </p:txBody>
      </p:sp>
      <p:sp>
        <p:nvSpPr>
          <p:cNvPr id="42" name="Shape 40"/>
          <p:cNvSpPr/>
          <p:nvPr/>
        </p:nvSpPr>
        <p:spPr>
          <a:xfrm>
            <a:off x="4800600" y="3602736"/>
            <a:ext cx="4206240" cy="10972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43" name="Shape 41"/>
          <p:cNvSpPr/>
          <p:nvPr/>
        </p:nvSpPr>
        <p:spPr>
          <a:xfrm>
            <a:off x="4800600" y="3602736"/>
            <a:ext cx="420624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44" name="Shape 42"/>
          <p:cNvSpPr/>
          <p:nvPr/>
        </p:nvSpPr>
        <p:spPr>
          <a:xfrm>
            <a:off x="4910328" y="3639312"/>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45" name="Text 43"/>
          <p:cNvSpPr/>
          <p:nvPr/>
        </p:nvSpPr>
        <p:spPr>
          <a:xfrm>
            <a:off x="491032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6</a:t>
            </a:r>
            <a:endParaRPr lang="en-US" sz="1400" dirty="0">
              <a:solidFill>
                <a:schemeClr val="bg1"/>
              </a:solidFill>
            </a:endParaRPr>
          </a:p>
        </p:txBody>
      </p:sp>
      <p:sp>
        <p:nvSpPr>
          <p:cNvPr id="46" name="Text 44"/>
          <p:cNvSpPr/>
          <p:nvPr/>
        </p:nvSpPr>
        <p:spPr>
          <a:xfrm>
            <a:off x="534924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Length</a:t>
            </a:r>
            <a:endParaRPr lang="en-US" sz="1200" dirty="0"/>
          </a:p>
        </p:txBody>
      </p:sp>
      <p:sp>
        <p:nvSpPr>
          <p:cNvPr id="47" name="Shape 45"/>
          <p:cNvSpPr/>
          <p:nvPr/>
        </p:nvSpPr>
        <p:spPr>
          <a:xfrm>
            <a:off x="4937760" y="3950208"/>
            <a:ext cx="3931920" cy="0"/>
          </a:xfrm>
          <a:prstGeom prst="line">
            <a:avLst/>
          </a:prstGeom>
          <a:noFill/>
          <a:ln w="7620">
            <a:solidFill>
              <a:srgbClr val="3D444D"/>
            </a:solidFill>
            <a:prstDash val="solid"/>
          </a:ln>
        </p:spPr>
        <p:txBody>
          <a:bodyPr/>
          <a:lstStyle/>
          <a:p>
            <a:endParaRPr lang="en-US"/>
          </a:p>
        </p:txBody>
      </p:sp>
      <p:sp>
        <p:nvSpPr>
          <p:cNvPr id="48" name="Text 46"/>
          <p:cNvSpPr/>
          <p:nvPr/>
        </p:nvSpPr>
        <p:spPr>
          <a:xfrm>
            <a:off x="493776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Ask how many slots there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are. Stored alongside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array, so reading length</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is also instant — O(1).</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8E519A1-F28A-CD0E-64F7-A7210D78C55F}"/>
            </a:ext>
          </a:extLst>
        </p:cNvPr>
        <p:cNvGrpSpPr/>
        <p:nvPr/>
      </p:nvGrpSpPr>
      <p:grpSpPr>
        <a:xfrm>
          <a:off x="0" y="0"/>
          <a:ext cx="0" cy="0"/>
          <a:chOff x="0" y="0"/>
          <a:chExt cx="0" cy="0"/>
        </a:xfrm>
      </p:grpSpPr>
      <p:sp>
        <p:nvSpPr>
          <p:cNvPr id="20" name="Shape 1">
            <a:extLst>
              <a:ext uri="{FF2B5EF4-FFF2-40B4-BE49-F238E27FC236}">
                <a16:creationId xmlns:a16="http://schemas.microsoft.com/office/drawing/2014/main" id="{0099FBD7-A32B-D033-BD5D-D091E47C00D1}"/>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BF6F45A1-7818-3F7E-F60C-7F708FD03E4C}"/>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1EB54078-98E6-CAE0-0567-E08FA45D2C91}"/>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F8593CDB-74C1-3A80-4B08-6F33A7ADDE9F}"/>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Three ways to describe an array</a:t>
            </a:r>
            <a:endParaRPr lang="en-US" sz="2800" dirty="0"/>
          </a:p>
        </p:txBody>
      </p:sp>
      <p:sp>
        <p:nvSpPr>
          <p:cNvPr id="5" name="Text 3">
            <a:extLst>
              <a:ext uri="{FF2B5EF4-FFF2-40B4-BE49-F238E27FC236}">
                <a16:creationId xmlns:a16="http://schemas.microsoft.com/office/drawing/2014/main" id="{13CD6B20-AAA5-2647-47EF-A45F5864FAB1}"/>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The same array — described in plain English, in pseudocode, and as a memory diagram</a:t>
            </a:r>
            <a:endParaRPr lang="en-US" sz="1300" dirty="0"/>
          </a:p>
        </p:txBody>
      </p:sp>
      <p:sp>
        <p:nvSpPr>
          <p:cNvPr id="6" name="Shape 4">
            <a:extLst>
              <a:ext uri="{FF2B5EF4-FFF2-40B4-BE49-F238E27FC236}">
                <a16:creationId xmlns:a16="http://schemas.microsoft.com/office/drawing/2014/main" id="{8517B760-DBCE-52BB-9F4D-84305AC19443}"/>
              </a:ext>
            </a:extLst>
          </p:cNvPr>
          <p:cNvSpPr/>
          <p:nvPr/>
        </p:nvSpPr>
        <p:spPr>
          <a:xfrm>
            <a:off x="274320" y="987552"/>
            <a:ext cx="8595360" cy="420624"/>
          </a:xfrm>
          <a:prstGeom prst="roundRect">
            <a:avLst>
              <a:gd name="adj" fmla="val 26087"/>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C66EFC53-6AE3-524A-AEAD-3F7782680B35}"/>
              </a:ext>
            </a:extLst>
          </p:cNvPr>
          <p:cNvSpPr/>
          <p:nvPr/>
        </p:nvSpPr>
        <p:spPr>
          <a:xfrm>
            <a:off x="502920" y="1024128"/>
            <a:ext cx="8138160" cy="329184"/>
          </a:xfrm>
          <a:prstGeom prst="rect">
            <a:avLst/>
          </a:prstGeom>
          <a:noFill/>
          <a:ln/>
        </p:spPr>
        <p:txBody>
          <a:bodyPr wrap="square" lIns="0" tIns="0" rIns="0" bIns="0" rtlCol="0" anchor="ctr"/>
          <a:lstStyle/>
          <a:p>
            <a:pPr marL="0" indent="0">
              <a:buNone/>
            </a:pPr>
            <a:r>
              <a:rPr lang="en-US" sz="1200" dirty="0">
                <a:solidFill>
                  <a:srgbClr val="EDEDED"/>
                </a:solidFill>
                <a:latin typeface="Calibri" pitchFamily="34" charset="0"/>
                <a:ea typeface="Calibri" pitchFamily="34" charset="-122"/>
                <a:cs typeface="Calibri" pitchFamily="34" charset="-120"/>
              </a:rPr>
              <a:t>Read all three side by side. </a:t>
            </a:r>
            <a:r>
              <a:rPr lang="en-US" sz="1200" b="1" dirty="0">
                <a:solidFill>
                  <a:srgbClr val="57E3D8"/>
                </a:solidFill>
                <a:latin typeface="Calibri" pitchFamily="34" charset="0"/>
                <a:ea typeface="Calibri" pitchFamily="34" charset="-122"/>
                <a:cs typeface="Calibri" pitchFamily="34" charset="-120"/>
              </a:rPr>
              <a:t>The example: storing the test scores [87, 92, 76, 95, 88]</a:t>
            </a:r>
            <a:r>
              <a:rPr lang="en-US" sz="1200" dirty="0">
                <a:solidFill>
                  <a:srgbClr val="EDEDED"/>
                </a:solidFill>
                <a:latin typeface="Calibri" pitchFamily="34" charset="0"/>
                <a:ea typeface="Calibri" pitchFamily="34" charset="-122"/>
                <a:cs typeface="Calibri" pitchFamily="34" charset="-120"/>
              </a:rPr>
              <a:t> — five integers, stored together under one name.</a:t>
            </a:r>
            <a:endParaRPr lang="en-US" sz="1200" dirty="0"/>
          </a:p>
        </p:txBody>
      </p:sp>
      <p:sp>
        <p:nvSpPr>
          <p:cNvPr id="8" name="Shape 6">
            <a:extLst>
              <a:ext uri="{FF2B5EF4-FFF2-40B4-BE49-F238E27FC236}">
                <a16:creationId xmlns:a16="http://schemas.microsoft.com/office/drawing/2014/main" id="{B10692DA-084B-2BAE-A611-4B7E95E96F9A}"/>
              </a:ext>
            </a:extLst>
          </p:cNvPr>
          <p:cNvSpPr/>
          <p:nvPr/>
        </p:nvSpPr>
        <p:spPr>
          <a:xfrm>
            <a:off x="292608" y="1499616"/>
            <a:ext cx="2779776" cy="340156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9" name="Text 7">
            <a:extLst>
              <a:ext uri="{FF2B5EF4-FFF2-40B4-BE49-F238E27FC236}">
                <a16:creationId xmlns:a16="http://schemas.microsoft.com/office/drawing/2014/main" id="{06B2DC9B-FB98-86D6-CF21-280BB1E66B52}"/>
              </a:ext>
            </a:extLst>
          </p:cNvPr>
          <p:cNvSpPr/>
          <p:nvPr/>
        </p:nvSpPr>
        <p:spPr>
          <a:xfrm>
            <a:off x="292608" y="1545336"/>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Plain English</a:t>
            </a:r>
            <a:endParaRPr lang="en-US" sz="2000" dirty="0"/>
          </a:p>
        </p:txBody>
      </p:sp>
      <p:sp>
        <p:nvSpPr>
          <p:cNvPr id="10" name="Text 8">
            <a:extLst>
              <a:ext uri="{FF2B5EF4-FFF2-40B4-BE49-F238E27FC236}">
                <a16:creationId xmlns:a16="http://schemas.microsoft.com/office/drawing/2014/main" id="{80F72355-3A6B-4A6C-5A0C-BF6E7C6EF484}"/>
              </a:ext>
            </a:extLst>
          </p:cNvPr>
          <p:cNvSpPr/>
          <p:nvPr/>
        </p:nvSpPr>
        <p:spPr>
          <a:xfrm>
            <a:off x="292608"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For humans · No symbols</a:t>
            </a:r>
            <a:endParaRPr lang="en-US" sz="1000" dirty="0"/>
          </a:p>
        </p:txBody>
      </p:sp>
      <p:sp>
        <p:nvSpPr>
          <p:cNvPr id="11" name="Text 9">
            <a:extLst>
              <a:ext uri="{FF2B5EF4-FFF2-40B4-BE49-F238E27FC236}">
                <a16:creationId xmlns:a16="http://schemas.microsoft.com/office/drawing/2014/main" id="{A6F7F312-11C7-6E2E-23D2-71C708D73857}"/>
              </a:ext>
            </a:extLst>
          </p:cNvPr>
          <p:cNvSpPr/>
          <p:nvPr/>
        </p:nvSpPr>
        <p:spPr>
          <a:xfrm>
            <a:off x="457200"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I have a list called scores that holds five test results. The first score is 87, the second is 92, the third is 76, the fourth is 95, and the fifth is 88. To read the third score I ask for "scores at position 2" — because position counting starts at zero.</a:t>
            </a:r>
            <a:endParaRPr lang="en-US" sz="1100" dirty="0"/>
          </a:p>
        </p:txBody>
      </p:sp>
      <p:sp>
        <p:nvSpPr>
          <p:cNvPr id="12" name="Shape 10">
            <a:extLst>
              <a:ext uri="{FF2B5EF4-FFF2-40B4-BE49-F238E27FC236}">
                <a16:creationId xmlns:a16="http://schemas.microsoft.com/office/drawing/2014/main" id="{B319AB59-A1E4-7495-8B8A-D8FB6939DB40}"/>
              </a:ext>
            </a:extLst>
          </p:cNvPr>
          <p:cNvSpPr/>
          <p:nvPr/>
        </p:nvSpPr>
        <p:spPr>
          <a:xfrm>
            <a:off x="3200400" y="1499616"/>
            <a:ext cx="2779776" cy="340156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13" name="Text 11">
            <a:extLst>
              <a:ext uri="{FF2B5EF4-FFF2-40B4-BE49-F238E27FC236}">
                <a16:creationId xmlns:a16="http://schemas.microsoft.com/office/drawing/2014/main" id="{7B9E2542-0415-D53F-89A6-B2737BF2D2E8}"/>
              </a:ext>
            </a:extLst>
          </p:cNvPr>
          <p:cNvSpPr/>
          <p:nvPr/>
        </p:nvSpPr>
        <p:spPr>
          <a:xfrm>
            <a:off x="3200400" y="1545336"/>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Pseudocode</a:t>
            </a:r>
            <a:endParaRPr lang="en-US" sz="2000" dirty="0"/>
          </a:p>
        </p:txBody>
      </p:sp>
      <p:sp>
        <p:nvSpPr>
          <p:cNvPr id="14" name="Text 12">
            <a:extLst>
              <a:ext uri="{FF2B5EF4-FFF2-40B4-BE49-F238E27FC236}">
                <a16:creationId xmlns:a16="http://schemas.microsoft.com/office/drawing/2014/main" id="{D520DB52-41BD-3A9E-774F-0E90DB7F8CDE}"/>
              </a:ext>
            </a:extLst>
          </p:cNvPr>
          <p:cNvSpPr/>
          <p:nvPr/>
        </p:nvSpPr>
        <p:spPr>
          <a:xfrm>
            <a:off x="3200400"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Code-like · Language-free</a:t>
            </a:r>
            <a:endParaRPr lang="en-US" sz="1000" dirty="0"/>
          </a:p>
        </p:txBody>
      </p:sp>
      <p:sp>
        <p:nvSpPr>
          <p:cNvPr id="15" name="Text 13">
            <a:extLst>
              <a:ext uri="{FF2B5EF4-FFF2-40B4-BE49-F238E27FC236}">
                <a16:creationId xmlns:a16="http://schemas.microsoft.com/office/drawing/2014/main" id="{966A8129-1A41-594C-31D7-611070D24803}"/>
              </a:ext>
            </a:extLst>
          </p:cNvPr>
          <p:cNvSpPr/>
          <p:nvPr/>
        </p:nvSpPr>
        <p:spPr>
          <a:xfrm>
            <a:off x="3364992"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SET scores ← [87, 92, 76, 95, 88]   PRINT scores[0]   // 87   PRINT scores[2]   // 76   SET scores[2] ← 100   FOR i FROM 0 TO length(scores) - 1:     PRINT scores[i]</a:t>
            </a:r>
            <a:endParaRPr lang="en-US" sz="1100" dirty="0"/>
          </a:p>
        </p:txBody>
      </p:sp>
      <p:sp>
        <p:nvSpPr>
          <p:cNvPr id="16" name="Shape 14">
            <a:extLst>
              <a:ext uri="{FF2B5EF4-FFF2-40B4-BE49-F238E27FC236}">
                <a16:creationId xmlns:a16="http://schemas.microsoft.com/office/drawing/2014/main" id="{7C1B5EBA-52EB-ABC9-D3EB-5CFA15DCA663}"/>
              </a:ext>
            </a:extLst>
          </p:cNvPr>
          <p:cNvSpPr/>
          <p:nvPr/>
        </p:nvSpPr>
        <p:spPr>
          <a:xfrm>
            <a:off x="6108192" y="1499616"/>
            <a:ext cx="2779776" cy="340156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17" name="Text 15">
            <a:extLst>
              <a:ext uri="{FF2B5EF4-FFF2-40B4-BE49-F238E27FC236}">
                <a16:creationId xmlns:a16="http://schemas.microsoft.com/office/drawing/2014/main" id="{BD01AF8F-536E-C495-E8A0-F7655F895F22}"/>
              </a:ext>
            </a:extLst>
          </p:cNvPr>
          <p:cNvSpPr/>
          <p:nvPr/>
        </p:nvSpPr>
        <p:spPr>
          <a:xfrm>
            <a:off x="6108192" y="1545336"/>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Memory Diagram</a:t>
            </a:r>
            <a:endParaRPr lang="en-US" sz="2000" dirty="0"/>
          </a:p>
        </p:txBody>
      </p:sp>
      <p:sp>
        <p:nvSpPr>
          <p:cNvPr id="18" name="Text 16">
            <a:extLst>
              <a:ext uri="{FF2B5EF4-FFF2-40B4-BE49-F238E27FC236}">
                <a16:creationId xmlns:a16="http://schemas.microsoft.com/office/drawing/2014/main" id="{C4029E02-E763-B814-4C30-6D610F53CED9}"/>
              </a:ext>
            </a:extLst>
          </p:cNvPr>
          <p:cNvSpPr/>
          <p:nvPr/>
        </p:nvSpPr>
        <p:spPr>
          <a:xfrm>
            <a:off x="6108192"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Visual · How memory looks</a:t>
            </a:r>
            <a:endParaRPr lang="en-US" sz="1000" dirty="0"/>
          </a:p>
        </p:txBody>
      </p:sp>
      <p:sp>
        <p:nvSpPr>
          <p:cNvPr id="19" name="Text 17">
            <a:extLst>
              <a:ext uri="{FF2B5EF4-FFF2-40B4-BE49-F238E27FC236}">
                <a16:creationId xmlns:a16="http://schemas.microsoft.com/office/drawing/2014/main" id="{68B76B5C-86FB-DDD2-2643-011F7DA0DB57}"/>
              </a:ext>
            </a:extLst>
          </p:cNvPr>
          <p:cNvSpPr/>
          <p:nvPr/>
        </p:nvSpPr>
        <p:spPr>
          <a:xfrm>
            <a:off x="6272784"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scores →  ┌─────┬─────┬─────┬─────┬─────┐  │  87 │  92 │  76 │  95 │  88 │  ├─────┼─────┼─────┼─────┼─────┤  │  0  │  1  │  2  │  3  │  4  │  └─────┴─────┴─────┴─────┴─────┘  Five slots, side by side. Top row = values. Bottom row = indices.</a:t>
            </a:r>
            <a:endParaRPr lang="en-US" sz="1100" dirty="0"/>
          </a:p>
        </p:txBody>
      </p:sp>
    </p:spTree>
    <p:extLst>
      <p:ext uri="{BB962C8B-B14F-4D97-AF65-F5344CB8AC3E}">
        <p14:creationId xmlns:p14="http://schemas.microsoft.com/office/powerpoint/2010/main" val="3691256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MEMORY LAYOUT</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Indices &amp; Memory</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How an array sits in memory and why looking up any element is always instant</a:t>
            </a:r>
            <a:endParaRPr lang="en-US" sz="1300" dirty="0"/>
          </a:p>
        </p:txBody>
      </p:sp>
      <p:sp>
        <p:nvSpPr>
          <p:cNvPr id="7" name="Shape 5"/>
          <p:cNvSpPr/>
          <p:nvPr/>
        </p:nvSpPr>
        <p:spPr>
          <a:xfrm>
            <a:off x="411480" y="1170432"/>
            <a:ext cx="3931920" cy="324612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39319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48640" y="1216152"/>
            <a:ext cx="36576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Parts of an Array</a:t>
            </a:r>
            <a:endParaRPr lang="en-US" sz="1100" dirty="0"/>
          </a:p>
        </p:txBody>
      </p:sp>
      <p:sp>
        <p:nvSpPr>
          <p:cNvPr id="10" name="Shape 8"/>
          <p:cNvSpPr/>
          <p:nvPr/>
        </p:nvSpPr>
        <p:spPr>
          <a:xfrm>
            <a:off x="548640" y="1600200"/>
            <a:ext cx="777240" cy="329184"/>
          </a:xfrm>
          <a:prstGeom prst="rect">
            <a:avLst/>
          </a:prstGeom>
          <a:solidFill>
            <a:srgbClr val="3FD9C4">
              <a:alpha val="30000"/>
            </a:srgbClr>
          </a:solidFill>
          <a:ln w="12700">
            <a:solidFill>
              <a:srgbClr val="3FD9C4"/>
            </a:solidFill>
            <a:prstDash val="solid"/>
          </a:ln>
        </p:spPr>
        <p:txBody>
          <a:bodyPr/>
          <a:lstStyle/>
          <a:p>
            <a:endParaRPr lang="en-US"/>
          </a:p>
        </p:txBody>
      </p:sp>
      <p:sp>
        <p:nvSpPr>
          <p:cNvPr id="11" name="Text 9"/>
          <p:cNvSpPr/>
          <p:nvPr/>
        </p:nvSpPr>
        <p:spPr>
          <a:xfrm>
            <a:off x="548640" y="1600200"/>
            <a:ext cx="777240" cy="329184"/>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name</a:t>
            </a:r>
            <a:endParaRPr lang="en-US" sz="950" dirty="0"/>
          </a:p>
        </p:txBody>
      </p:sp>
      <p:sp>
        <p:nvSpPr>
          <p:cNvPr id="12" name="Text 10"/>
          <p:cNvSpPr/>
          <p:nvPr/>
        </p:nvSpPr>
        <p:spPr>
          <a:xfrm>
            <a:off x="1389888" y="1618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LABEL</a:t>
            </a:r>
            <a:endParaRPr lang="en-US" sz="1100" dirty="0"/>
          </a:p>
        </p:txBody>
      </p:sp>
      <p:sp>
        <p:nvSpPr>
          <p:cNvPr id="13" name="Text 11"/>
          <p:cNvSpPr/>
          <p:nvPr/>
        </p:nvSpPr>
        <p:spPr>
          <a:xfrm>
            <a:off x="1389888" y="1801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variable, e.g. scores</a:t>
            </a:r>
            <a:endParaRPr lang="en-US" sz="900" dirty="0"/>
          </a:p>
        </p:txBody>
      </p:sp>
      <p:sp>
        <p:nvSpPr>
          <p:cNvPr id="14" name="Shape 12"/>
          <p:cNvSpPr/>
          <p:nvPr/>
        </p:nvSpPr>
        <p:spPr>
          <a:xfrm>
            <a:off x="548640" y="2057400"/>
            <a:ext cx="777240" cy="329184"/>
          </a:xfrm>
          <a:prstGeom prst="rect">
            <a:avLst/>
          </a:prstGeom>
          <a:solidFill>
            <a:srgbClr val="58A6FF">
              <a:alpha val="30000"/>
            </a:srgbClr>
          </a:solidFill>
          <a:ln w="12700">
            <a:solidFill>
              <a:srgbClr val="58A6FF"/>
            </a:solidFill>
            <a:prstDash val="solid"/>
          </a:ln>
        </p:spPr>
        <p:txBody>
          <a:bodyPr/>
          <a:lstStyle/>
          <a:p>
            <a:endParaRPr lang="en-US"/>
          </a:p>
        </p:txBody>
      </p:sp>
      <p:sp>
        <p:nvSpPr>
          <p:cNvPr id="15" name="Text 13"/>
          <p:cNvSpPr/>
          <p:nvPr/>
        </p:nvSpPr>
        <p:spPr>
          <a:xfrm>
            <a:off x="548640" y="2057400"/>
            <a:ext cx="777240" cy="329184"/>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length</a:t>
            </a:r>
            <a:endParaRPr lang="en-US" sz="950" dirty="0"/>
          </a:p>
        </p:txBody>
      </p:sp>
      <p:sp>
        <p:nvSpPr>
          <p:cNvPr id="16" name="Text 14"/>
          <p:cNvSpPr/>
          <p:nvPr/>
        </p:nvSpPr>
        <p:spPr>
          <a:xfrm>
            <a:off x="1389888" y="20756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SIZE</a:t>
            </a:r>
            <a:endParaRPr lang="en-US" sz="1100" dirty="0"/>
          </a:p>
        </p:txBody>
      </p:sp>
      <p:sp>
        <p:nvSpPr>
          <p:cNvPr id="17" name="Text 15"/>
          <p:cNvSpPr/>
          <p:nvPr/>
        </p:nvSpPr>
        <p:spPr>
          <a:xfrm>
            <a:off x="1389888" y="22585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How many slots in total</a:t>
            </a:r>
            <a:endParaRPr lang="en-US" sz="900" dirty="0"/>
          </a:p>
        </p:txBody>
      </p:sp>
      <p:sp>
        <p:nvSpPr>
          <p:cNvPr id="18" name="Shape 16"/>
          <p:cNvSpPr/>
          <p:nvPr/>
        </p:nvSpPr>
        <p:spPr>
          <a:xfrm>
            <a:off x="548640" y="2514600"/>
            <a:ext cx="777240" cy="329184"/>
          </a:xfrm>
          <a:prstGeom prst="rect">
            <a:avLst/>
          </a:prstGeom>
          <a:solidFill>
            <a:srgbClr val="BC8CFF">
              <a:alpha val="30000"/>
            </a:srgbClr>
          </a:solidFill>
          <a:ln w="12700">
            <a:solidFill>
              <a:srgbClr val="BC8CFF"/>
            </a:solidFill>
            <a:prstDash val="solid"/>
          </a:ln>
        </p:spPr>
        <p:txBody>
          <a:bodyPr/>
          <a:lstStyle/>
          <a:p>
            <a:endParaRPr lang="en-US"/>
          </a:p>
        </p:txBody>
      </p:sp>
      <p:sp>
        <p:nvSpPr>
          <p:cNvPr id="19" name="Text 17"/>
          <p:cNvSpPr/>
          <p:nvPr/>
        </p:nvSpPr>
        <p:spPr>
          <a:xfrm>
            <a:off x="548640" y="2514600"/>
            <a:ext cx="777240" cy="329184"/>
          </a:xfrm>
          <a:prstGeom prst="rect">
            <a:avLst/>
          </a:prstGeom>
          <a:noFill/>
          <a:ln/>
        </p:spPr>
        <p:txBody>
          <a:bodyPr wrap="square" lIns="0" tIns="0" rIns="0" bIns="0" rtlCol="0" anchor="ctr"/>
          <a:lstStyle/>
          <a:p>
            <a:pPr marL="0" indent="0" algn="ctr">
              <a:buNone/>
            </a:pPr>
            <a:r>
              <a:rPr lang="en-US" sz="950" b="1" dirty="0">
                <a:solidFill>
                  <a:srgbClr val="BC8CFF"/>
                </a:solidFill>
                <a:latin typeface="Consolas" pitchFamily="34" charset="0"/>
                <a:ea typeface="Consolas" pitchFamily="34" charset="-122"/>
                <a:cs typeface="Consolas" pitchFamily="34" charset="-120"/>
              </a:rPr>
              <a:t>index</a:t>
            </a:r>
            <a:endParaRPr lang="en-US" sz="950" dirty="0"/>
          </a:p>
        </p:txBody>
      </p:sp>
      <p:sp>
        <p:nvSpPr>
          <p:cNvPr id="20" name="Text 18"/>
          <p:cNvSpPr/>
          <p:nvPr/>
        </p:nvSpPr>
        <p:spPr>
          <a:xfrm>
            <a:off x="1389888" y="25328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POSITION</a:t>
            </a:r>
            <a:endParaRPr lang="en-US" sz="1100" dirty="0"/>
          </a:p>
        </p:txBody>
      </p:sp>
      <p:sp>
        <p:nvSpPr>
          <p:cNvPr id="21" name="Text 19"/>
          <p:cNvSpPr/>
          <p:nvPr/>
        </p:nvSpPr>
        <p:spPr>
          <a:xfrm>
            <a:off x="1389888" y="27157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0, 1, 2, ... up to length-1</a:t>
            </a:r>
            <a:endParaRPr lang="en-US" sz="900" dirty="0"/>
          </a:p>
        </p:txBody>
      </p:sp>
      <p:sp>
        <p:nvSpPr>
          <p:cNvPr id="22" name="Shape 20"/>
          <p:cNvSpPr/>
          <p:nvPr/>
        </p:nvSpPr>
        <p:spPr>
          <a:xfrm>
            <a:off x="548640" y="2971800"/>
            <a:ext cx="777240" cy="329184"/>
          </a:xfrm>
          <a:prstGeom prst="rect">
            <a:avLst/>
          </a:prstGeom>
          <a:solidFill>
            <a:srgbClr val="FFA657">
              <a:alpha val="30000"/>
            </a:srgbClr>
          </a:solidFill>
          <a:ln w="12700">
            <a:solidFill>
              <a:srgbClr val="FFA657"/>
            </a:solidFill>
            <a:prstDash val="solid"/>
          </a:ln>
        </p:spPr>
        <p:txBody>
          <a:bodyPr/>
          <a:lstStyle/>
          <a:p>
            <a:endParaRPr lang="en-US"/>
          </a:p>
        </p:txBody>
      </p:sp>
      <p:sp>
        <p:nvSpPr>
          <p:cNvPr id="23" name="Text 21"/>
          <p:cNvSpPr/>
          <p:nvPr/>
        </p:nvSpPr>
        <p:spPr>
          <a:xfrm>
            <a:off x="548640" y="2971800"/>
            <a:ext cx="777240" cy="329184"/>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arr[i]</a:t>
            </a:r>
            <a:endParaRPr lang="en-US" sz="950" dirty="0"/>
          </a:p>
        </p:txBody>
      </p:sp>
      <p:sp>
        <p:nvSpPr>
          <p:cNvPr id="24" name="Text 22"/>
          <p:cNvSpPr/>
          <p:nvPr/>
        </p:nvSpPr>
        <p:spPr>
          <a:xfrm>
            <a:off x="1389888" y="29900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ELEMENT</a:t>
            </a:r>
            <a:endParaRPr lang="en-US" sz="1100" dirty="0"/>
          </a:p>
        </p:txBody>
      </p:sp>
      <p:sp>
        <p:nvSpPr>
          <p:cNvPr id="25" name="Text 23"/>
          <p:cNvSpPr/>
          <p:nvPr/>
        </p:nvSpPr>
        <p:spPr>
          <a:xfrm>
            <a:off x="1389888" y="31729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value at index i</a:t>
            </a:r>
            <a:endParaRPr lang="en-US" sz="900" dirty="0"/>
          </a:p>
        </p:txBody>
      </p:sp>
      <p:sp>
        <p:nvSpPr>
          <p:cNvPr id="26" name="Shape 24"/>
          <p:cNvSpPr/>
          <p:nvPr/>
        </p:nvSpPr>
        <p:spPr>
          <a:xfrm>
            <a:off x="548640" y="3429000"/>
            <a:ext cx="777240" cy="329184"/>
          </a:xfrm>
          <a:prstGeom prst="rect">
            <a:avLst/>
          </a:prstGeom>
          <a:solidFill>
            <a:srgbClr val="E3B341">
              <a:alpha val="30000"/>
            </a:srgbClr>
          </a:solidFill>
          <a:ln w="12700">
            <a:solidFill>
              <a:srgbClr val="E3B341"/>
            </a:solidFill>
            <a:prstDash val="solid"/>
          </a:ln>
        </p:spPr>
        <p:txBody>
          <a:bodyPr/>
          <a:lstStyle/>
          <a:p>
            <a:endParaRPr lang="en-US"/>
          </a:p>
        </p:txBody>
      </p:sp>
      <p:sp>
        <p:nvSpPr>
          <p:cNvPr id="27" name="Text 25"/>
          <p:cNvSpPr/>
          <p:nvPr/>
        </p:nvSpPr>
        <p:spPr>
          <a:xfrm>
            <a:off x="548640" y="3429000"/>
            <a:ext cx="777240" cy="329184"/>
          </a:xfrm>
          <a:prstGeom prst="rect">
            <a:avLst/>
          </a:prstGeom>
          <a:noFill/>
          <a:ln/>
        </p:spPr>
        <p:txBody>
          <a:bodyPr wrap="square" lIns="0" tIns="0" rIns="0" bIns="0" rtlCol="0" anchor="ctr"/>
          <a:lstStyle/>
          <a:p>
            <a:pPr marL="0" indent="0" algn="ctr">
              <a:buNone/>
            </a:pPr>
            <a:r>
              <a:rPr lang="en-US" sz="950" b="1" dirty="0">
                <a:solidFill>
                  <a:srgbClr val="E3B341"/>
                </a:solidFill>
                <a:latin typeface="Consolas" pitchFamily="34" charset="0"/>
                <a:ea typeface="Consolas" pitchFamily="34" charset="-122"/>
                <a:cs typeface="Consolas" pitchFamily="34" charset="-120"/>
              </a:rPr>
              <a:t>type</a:t>
            </a:r>
            <a:endParaRPr lang="en-US" sz="950" dirty="0"/>
          </a:p>
        </p:txBody>
      </p:sp>
      <p:sp>
        <p:nvSpPr>
          <p:cNvPr id="28" name="Text 26"/>
          <p:cNvSpPr/>
          <p:nvPr/>
        </p:nvSpPr>
        <p:spPr>
          <a:xfrm>
            <a:off x="1389888" y="34472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UNIFORM</a:t>
            </a:r>
            <a:endParaRPr lang="en-US" sz="1100" dirty="0"/>
          </a:p>
        </p:txBody>
      </p:sp>
      <p:sp>
        <p:nvSpPr>
          <p:cNvPr id="29" name="Text 27"/>
          <p:cNvSpPr/>
          <p:nvPr/>
        </p:nvSpPr>
        <p:spPr>
          <a:xfrm>
            <a:off x="1389888" y="36301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All elements share one type</a:t>
            </a:r>
            <a:endParaRPr lang="en-US" sz="900" dirty="0"/>
          </a:p>
        </p:txBody>
      </p:sp>
      <p:sp>
        <p:nvSpPr>
          <p:cNvPr id="30" name="Shape 28"/>
          <p:cNvSpPr/>
          <p:nvPr/>
        </p:nvSpPr>
        <p:spPr>
          <a:xfrm>
            <a:off x="548640" y="3886200"/>
            <a:ext cx="777240" cy="329184"/>
          </a:xfrm>
          <a:prstGeom prst="rect">
            <a:avLst/>
          </a:prstGeom>
          <a:solidFill>
            <a:srgbClr val="3FB950">
              <a:alpha val="30000"/>
            </a:srgbClr>
          </a:solidFill>
          <a:ln w="12700">
            <a:solidFill>
              <a:srgbClr val="3FB950"/>
            </a:solidFill>
            <a:prstDash val="solid"/>
          </a:ln>
        </p:spPr>
        <p:txBody>
          <a:bodyPr/>
          <a:lstStyle/>
          <a:p>
            <a:endParaRPr lang="en-US"/>
          </a:p>
        </p:txBody>
      </p:sp>
      <p:sp>
        <p:nvSpPr>
          <p:cNvPr id="31" name="Text 29"/>
          <p:cNvSpPr/>
          <p:nvPr/>
        </p:nvSpPr>
        <p:spPr>
          <a:xfrm>
            <a:off x="548640" y="3886200"/>
            <a:ext cx="777240" cy="329184"/>
          </a:xfrm>
          <a:prstGeom prst="rect">
            <a:avLst/>
          </a:prstGeom>
          <a:noFill/>
          <a:ln/>
        </p:spPr>
        <p:txBody>
          <a:bodyPr wrap="square" lIns="0" tIns="0" rIns="0" bIns="0" rtlCol="0" anchor="ctr"/>
          <a:lstStyle/>
          <a:p>
            <a:pPr marL="0" indent="0" algn="ctr">
              <a:buNone/>
            </a:pPr>
            <a:r>
              <a:rPr lang="en-US" sz="950" b="1" dirty="0">
                <a:solidFill>
                  <a:srgbClr val="3FB950"/>
                </a:solidFill>
                <a:latin typeface="Consolas" pitchFamily="34" charset="0"/>
                <a:ea typeface="Consolas" pitchFamily="34" charset="-122"/>
                <a:cs typeface="Consolas" pitchFamily="34" charset="-120"/>
              </a:rPr>
              <a:t>address</a:t>
            </a:r>
            <a:endParaRPr lang="en-US" sz="950" dirty="0"/>
          </a:p>
        </p:txBody>
      </p:sp>
      <p:sp>
        <p:nvSpPr>
          <p:cNvPr id="32" name="Text 30"/>
          <p:cNvSpPr/>
          <p:nvPr/>
        </p:nvSpPr>
        <p:spPr>
          <a:xfrm>
            <a:off x="1389888" y="3904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MEMORY</a:t>
            </a:r>
            <a:endParaRPr lang="en-US" sz="1100" dirty="0"/>
          </a:p>
        </p:txBody>
      </p:sp>
      <p:sp>
        <p:nvSpPr>
          <p:cNvPr id="33" name="Text 31"/>
          <p:cNvSpPr/>
          <p:nvPr/>
        </p:nvSpPr>
        <p:spPr>
          <a:xfrm>
            <a:off x="1389888" y="4087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Where slot 0 lives in RAM</a:t>
            </a:r>
            <a:endParaRPr lang="en-US" sz="900" dirty="0"/>
          </a:p>
        </p:txBody>
      </p:sp>
      <p:sp>
        <p:nvSpPr>
          <p:cNvPr id="34" name="Shape 32"/>
          <p:cNvSpPr/>
          <p:nvPr/>
        </p:nvSpPr>
        <p:spPr>
          <a:xfrm>
            <a:off x="4480560" y="1170432"/>
            <a:ext cx="4251960" cy="1536192"/>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4480560" y="1170432"/>
            <a:ext cx="425196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36" name="Text 34"/>
          <p:cNvSpPr/>
          <p:nvPr/>
        </p:nvSpPr>
        <p:spPr>
          <a:xfrm>
            <a:off x="4617720" y="1216152"/>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Why access is O(1) — the address formula</a:t>
            </a:r>
            <a:endParaRPr lang="en-US" sz="1100" dirty="0"/>
          </a:p>
        </p:txBody>
      </p:sp>
      <p:sp>
        <p:nvSpPr>
          <p:cNvPr id="37" name="Text 35"/>
          <p:cNvSpPr/>
          <p:nvPr/>
        </p:nvSpPr>
        <p:spPr>
          <a:xfrm>
            <a:off x="4617720" y="1572768"/>
            <a:ext cx="3977640" cy="237744"/>
          </a:xfrm>
          <a:prstGeom prst="rect">
            <a:avLst/>
          </a:prstGeom>
          <a:noFill/>
          <a:ln/>
        </p:spPr>
        <p:txBody>
          <a:bodyPr wrap="square" lIns="0" tIns="0" rIns="0" bIns="0" rtlCol="0" anchor="ctr"/>
          <a:lstStyle/>
          <a:p>
            <a:pPr marL="0" indent="0">
              <a:buNone/>
            </a:pPr>
            <a:r>
              <a:rPr lang="en-US" sz="1050" dirty="0">
                <a:solidFill>
                  <a:srgbClr val="F0F6FC"/>
                </a:solidFill>
                <a:latin typeface="Consolas" pitchFamily="34" charset="0"/>
                <a:ea typeface="Consolas" pitchFamily="34" charset="-122"/>
                <a:cs typeface="Consolas" pitchFamily="34" charset="-120"/>
              </a:rPr>
              <a:t>address(arr[i]) = base + (i × size_per_element)</a:t>
            </a:r>
            <a:endParaRPr lang="en-US" sz="1050" dirty="0"/>
          </a:p>
        </p:txBody>
      </p:sp>
      <p:sp>
        <p:nvSpPr>
          <p:cNvPr id="38" name="Text 36"/>
          <p:cNvSpPr/>
          <p:nvPr/>
        </p:nvSpPr>
        <p:spPr>
          <a:xfrm>
            <a:off x="4617720" y="1819656"/>
            <a:ext cx="3977640" cy="219456"/>
          </a:xfrm>
          <a:prstGeom prst="rect">
            <a:avLst/>
          </a:prstGeom>
          <a:noFill/>
          <a:ln/>
        </p:spPr>
        <p:txBody>
          <a:bodyPr wrap="square" lIns="0" tIns="0" rIns="0" bIns="0" rtlCol="0" anchor="ctr"/>
          <a:lstStyle/>
          <a:p>
            <a:pPr marL="0" indent="0">
              <a:buNone/>
            </a:pPr>
            <a:r>
              <a:rPr lang="en-US" sz="1050" dirty="0">
                <a:solidFill>
                  <a:srgbClr val="8B949E"/>
                </a:solidFill>
                <a:latin typeface="Consolas" pitchFamily="34" charset="0"/>
                <a:ea typeface="Consolas" pitchFamily="34" charset="-122"/>
                <a:cs typeface="Consolas" pitchFamily="34" charset="-120"/>
              </a:rPr>
              <a:t>e.g. base = 0x1000, ints take 4 bytes → arr[3] lives at 0x1000 + 12 = 0x100C</a:t>
            </a:r>
            <a:endParaRPr lang="en-US" sz="1050" dirty="0"/>
          </a:p>
        </p:txBody>
      </p:sp>
      <p:sp>
        <p:nvSpPr>
          <p:cNvPr id="39" name="Shape 37"/>
          <p:cNvSpPr/>
          <p:nvPr/>
        </p:nvSpPr>
        <p:spPr>
          <a:xfrm>
            <a:off x="4617720"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0" name="Text 38"/>
          <p:cNvSpPr/>
          <p:nvPr/>
        </p:nvSpPr>
        <p:spPr>
          <a:xfrm>
            <a:off x="4617720"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87</a:t>
            </a:r>
            <a:endParaRPr lang="en-US" sz="950" dirty="0"/>
          </a:p>
        </p:txBody>
      </p:sp>
      <p:sp>
        <p:nvSpPr>
          <p:cNvPr id="41" name="Shape 39"/>
          <p:cNvSpPr/>
          <p:nvPr/>
        </p:nvSpPr>
        <p:spPr>
          <a:xfrm>
            <a:off x="5148072"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2" name="Text 40"/>
          <p:cNvSpPr/>
          <p:nvPr/>
        </p:nvSpPr>
        <p:spPr>
          <a:xfrm>
            <a:off x="5148072"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92</a:t>
            </a:r>
            <a:endParaRPr lang="en-US" sz="950" dirty="0"/>
          </a:p>
        </p:txBody>
      </p:sp>
      <p:sp>
        <p:nvSpPr>
          <p:cNvPr id="43" name="Shape 41"/>
          <p:cNvSpPr/>
          <p:nvPr/>
        </p:nvSpPr>
        <p:spPr>
          <a:xfrm>
            <a:off x="567842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4" name="Text 42"/>
          <p:cNvSpPr/>
          <p:nvPr/>
        </p:nvSpPr>
        <p:spPr>
          <a:xfrm>
            <a:off x="567842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76</a:t>
            </a:r>
            <a:endParaRPr lang="en-US" sz="950" dirty="0"/>
          </a:p>
        </p:txBody>
      </p:sp>
      <p:sp>
        <p:nvSpPr>
          <p:cNvPr id="45" name="Shape 43"/>
          <p:cNvSpPr/>
          <p:nvPr/>
        </p:nvSpPr>
        <p:spPr>
          <a:xfrm>
            <a:off x="6208776"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6" name="Text 44"/>
          <p:cNvSpPr/>
          <p:nvPr/>
        </p:nvSpPr>
        <p:spPr>
          <a:xfrm>
            <a:off x="6208776"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95</a:t>
            </a:r>
            <a:endParaRPr lang="en-US" sz="950" dirty="0"/>
          </a:p>
        </p:txBody>
      </p:sp>
      <p:sp>
        <p:nvSpPr>
          <p:cNvPr id="47" name="Shape 45"/>
          <p:cNvSpPr/>
          <p:nvPr/>
        </p:nvSpPr>
        <p:spPr>
          <a:xfrm>
            <a:off x="6739128"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8" name="Text 46"/>
          <p:cNvSpPr/>
          <p:nvPr/>
        </p:nvSpPr>
        <p:spPr>
          <a:xfrm>
            <a:off x="6739128"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88</a:t>
            </a:r>
            <a:endParaRPr lang="en-US" sz="950" dirty="0"/>
          </a:p>
        </p:txBody>
      </p:sp>
      <p:sp>
        <p:nvSpPr>
          <p:cNvPr id="49" name="Shape 47"/>
          <p:cNvSpPr/>
          <p:nvPr/>
        </p:nvSpPr>
        <p:spPr>
          <a:xfrm>
            <a:off x="7269480"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0" name="Text 48"/>
          <p:cNvSpPr/>
          <p:nvPr/>
        </p:nvSpPr>
        <p:spPr>
          <a:xfrm>
            <a:off x="7269480"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a:t>
            </a:r>
            <a:endParaRPr lang="en-US" sz="950" dirty="0"/>
          </a:p>
        </p:txBody>
      </p:sp>
      <p:sp>
        <p:nvSpPr>
          <p:cNvPr id="51" name="Shape 49"/>
          <p:cNvSpPr/>
          <p:nvPr/>
        </p:nvSpPr>
        <p:spPr>
          <a:xfrm>
            <a:off x="7799832"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2" name="Text 50"/>
          <p:cNvSpPr/>
          <p:nvPr/>
        </p:nvSpPr>
        <p:spPr>
          <a:xfrm>
            <a:off x="7799832"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a:t>
            </a:r>
            <a:endParaRPr lang="en-US" sz="950" dirty="0"/>
          </a:p>
        </p:txBody>
      </p:sp>
      <p:sp>
        <p:nvSpPr>
          <p:cNvPr id="53" name="Shape 51"/>
          <p:cNvSpPr/>
          <p:nvPr/>
        </p:nvSpPr>
        <p:spPr>
          <a:xfrm>
            <a:off x="833018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4" name="Text 52"/>
          <p:cNvSpPr/>
          <p:nvPr/>
        </p:nvSpPr>
        <p:spPr>
          <a:xfrm>
            <a:off x="833018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a:t>
            </a:r>
            <a:endParaRPr lang="en-US" sz="950" dirty="0"/>
          </a:p>
        </p:txBody>
      </p:sp>
      <p:sp>
        <p:nvSpPr>
          <p:cNvPr id="55" name="Text 53"/>
          <p:cNvSpPr/>
          <p:nvPr/>
        </p:nvSpPr>
        <p:spPr>
          <a:xfrm>
            <a:off x="4617720" y="2450592"/>
            <a:ext cx="3977640"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idx 0    idx 1    idx 2    idx 3    idx 4    unused    unused    unused</a:t>
            </a:r>
            <a:endParaRPr lang="en-US" sz="850" dirty="0"/>
          </a:p>
        </p:txBody>
      </p:sp>
      <p:sp>
        <p:nvSpPr>
          <p:cNvPr id="56" name="Shape 54"/>
          <p:cNvSpPr/>
          <p:nvPr/>
        </p:nvSpPr>
        <p:spPr>
          <a:xfrm>
            <a:off x="4480560" y="2834640"/>
            <a:ext cx="4251960" cy="1581912"/>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57" name="Shape 55"/>
          <p:cNvSpPr/>
          <p:nvPr/>
        </p:nvSpPr>
        <p:spPr>
          <a:xfrm>
            <a:off x="4480560" y="2834640"/>
            <a:ext cx="425196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58" name="Text 56"/>
          <p:cNvSpPr/>
          <p:nvPr/>
        </p:nvSpPr>
        <p:spPr>
          <a:xfrm>
            <a:off x="4617720" y="2880360"/>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Why this matters</a:t>
            </a:r>
            <a:endParaRPr lang="en-US" sz="1100" dirty="0"/>
          </a:p>
        </p:txBody>
      </p:sp>
      <p:sp>
        <p:nvSpPr>
          <p:cNvPr id="75" name="Text 73"/>
          <p:cNvSpPr/>
          <p:nvPr/>
        </p:nvSpPr>
        <p:spPr>
          <a:xfrm>
            <a:off x="4617720" y="3977640"/>
            <a:ext cx="3977640" cy="32918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Because the address can be calculated directly from the index, the computer never needs to scan the array to reach element i. This is what makes arrays so fast — and it is also why arrays must be a fixed size in a contiguous block.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VISUAL DEMO</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Watching an Array in Action</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array  scores = [12, 7, 3, 19, 8, 25, 14, 6]  — and the four operations you will use most</a:t>
            </a:r>
            <a:endParaRPr lang="en-US" sz="1300" dirty="0"/>
          </a:p>
        </p:txBody>
      </p:sp>
      <p:sp>
        <p:nvSpPr>
          <p:cNvPr id="7" name="Shape 5"/>
          <p:cNvSpPr/>
          <p:nvPr/>
        </p:nvSpPr>
        <p:spPr>
          <a:xfrm>
            <a:off x="411480" y="1170432"/>
            <a:ext cx="2048256" cy="37490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02920"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The array — values on top, index numbers below</a:t>
            </a:r>
            <a:endParaRPr lang="en-US" sz="1000" dirty="0"/>
          </a:p>
        </p:txBody>
      </p:sp>
      <p:sp>
        <p:nvSpPr>
          <p:cNvPr id="10" name="Shape 8"/>
          <p:cNvSpPr/>
          <p:nvPr/>
        </p:nvSpPr>
        <p:spPr>
          <a:xfrm>
            <a:off x="502920" y="157276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1" name="Text 9"/>
          <p:cNvSpPr/>
          <p:nvPr/>
        </p:nvSpPr>
        <p:spPr>
          <a:xfrm>
            <a:off x="502920" y="157276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12</a:t>
            </a:r>
            <a:endParaRPr lang="en-US" sz="900" dirty="0"/>
          </a:p>
        </p:txBody>
      </p:sp>
      <p:sp>
        <p:nvSpPr>
          <p:cNvPr id="12" name="Text 10"/>
          <p:cNvSpPr/>
          <p:nvPr/>
        </p:nvSpPr>
        <p:spPr>
          <a:xfrm>
            <a:off x="1014984"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0</a:t>
            </a:r>
            <a:endParaRPr lang="en-US" sz="950" dirty="0"/>
          </a:p>
        </p:txBody>
      </p:sp>
      <p:sp>
        <p:nvSpPr>
          <p:cNvPr id="13" name="Shape 11"/>
          <p:cNvSpPr/>
          <p:nvPr/>
        </p:nvSpPr>
        <p:spPr>
          <a:xfrm>
            <a:off x="502920" y="196596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4" name="Text 12"/>
          <p:cNvSpPr/>
          <p:nvPr/>
        </p:nvSpPr>
        <p:spPr>
          <a:xfrm>
            <a:off x="502920" y="196596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7</a:t>
            </a:r>
            <a:endParaRPr lang="en-US" sz="900" dirty="0"/>
          </a:p>
        </p:txBody>
      </p:sp>
      <p:sp>
        <p:nvSpPr>
          <p:cNvPr id="15" name="Text 13"/>
          <p:cNvSpPr/>
          <p:nvPr/>
        </p:nvSpPr>
        <p:spPr>
          <a:xfrm>
            <a:off x="1014984"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1</a:t>
            </a:r>
            <a:endParaRPr lang="en-US" sz="950" dirty="0"/>
          </a:p>
        </p:txBody>
      </p:sp>
      <p:sp>
        <p:nvSpPr>
          <p:cNvPr id="16" name="Shape 14"/>
          <p:cNvSpPr/>
          <p:nvPr/>
        </p:nvSpPr>
        <p:spPr>
          <a:xfrm>
            <a:off x="502920" y="235915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7" name="Text 15"/>
          <p:cNvSpPr/>
          <p:nvPr/>
        </p:nvSpPr>
        <p:spPr>
          <a:xfrm>
            <a:off x="502920" y="235915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3</a:t>
            </a:r>
            <a:endParaRPr lang="en-US" sz="900" dirty="0"/>
          </a:p>
        </p:txBody>
      </p:sp>
      <p:sp>
        <p:nvSpPr>
          <p:cNvPr id="18" name="Text 16"/>
          <p:cNvSpPr/>
          <p:nvPr/>
        </p:nvSpPr>
        <p:spPr>
          <a:xfrm>
            <a:off x="1014984"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2</a:t>
            </a:r>
            <a:endParaRPr lang="en-US" sz="950" dirty="0"/>
          </a:p>
        </p:txBody>
      </p:sp>
      <p:sp>
        <p:nvSpPr>
          <p:cNvPr id="19" name="Shape 17"/>
          <p:cNvSpPr/>
          <p:nvPr/>
        </p:nvSpPr>
        <p:spPr>
          <a:xfrm>
            <a:off x="502920" y="2752344"/>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0" name="Text 18"/>
          <p:cNvSpPr/>
          <p:nvPr/>
        </p:nvSpPr>
        <p:spPr>
          <a:xfrm>
            <a:off x="502920" y="2752344"/>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19</a:t>
            </a:r>
            <a:endParaRPr lang="en-US" sz="900" dirty="0"/>
          </a:p>
        </p:txBody>
      </p:sp>
      <p:sp>
        <p:nvSpPr>
          <p:cNvPr id="21" name="Text 19"/>
          <p:cNvSpPr/>
          <p:nvPr/>
        </p:nvSpPr>
        <p:spPr>
          <a:xfrm>
            <a:off x="1014984"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3</a:t>
            </a:r>
            <a:endParaRPr lang="en-US" sz="950" dirty="0"/>
          </a:p>
        </p:txBody>
      </p:sp>
      <p:sp>
        <p:nvSpPr>
          <p:cNvPr id="22" name="Shape 20"/>
          <p:cNvSpPr/>
          <p:nvPr/>
        </p:nvSpPr>
        <p:spPr>
          <a:xfrm>
            <a:off x="502920" y="3145536"/>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3" name="Text 21"/>
          <p:cNvSpPr/>
          <p:nvPr/>
        </p:nvSpPr>
        <p:spPr>
          <a:xfrm>
            <a:off x="502920" y="3145536"/>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8</a:t>
            </a:r>
            <a:endParaRPr lang="en-US" sz="900" dirty="0"/>
          </a:p>
        </p:txBody>
      </p:sp>
      <p:sp>
        <p:nvSpPr>
          <p:cNvPr id="24" name="Text 22"/>
          <p:cNvSpPr/>
          <p:nvPr/>
        </p:nvSpPr>
        <p:spPr>
          <a:xfrm>
            <a:off x="1014984"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4</a:t>
            </a:r>
            <a:endParaRPr lang="en-US" sz="950" dirty="0"/>
          </a:p>
        </p:txBody>
      </p:sp>
      <p:sp>
        <p:nvSpPr>
          <p:cNvPr id="25" name="Shape 23"/>
          <p:cNvSpPr/>
          <p:nvPr/>
        </p:nvSpPr>
        <p:spPr>
          <a:xfrm>
            <a:off x="502920" y="353872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6" name="Text 24"/>
          <p:cNvSpPr/>
          <p:nvPr/>
        </p:nvSpPr>
        <p:spPr>
          <a:xfrm>
            <a:off x="502920" y="353872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25</a:t>
            </a:r>
            <a:endParaRPr lang="en-US" sz="900" dirty="0"/>
          </a:p>
        </p:txBody>
      </p:sp>
      <p:sp>
        <p:nvSpPr>
          <p:cNvPr id="27" name="Text 25"/>
          <p:cNvSpPr/>
          <p:nvPr/>
        </p:nvSpPr>
        <p:spPr>
          <a:xfrm>
            <a:off x="1014984"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5</a:t>
            </a:r>
            <a:endParaRPr lang="en-US" sz="950" dirty="0"/>
          </a:p>
        </p:txBody>
      </p:sp>
      <p:sp>
        <p:nvSpPr>
          <p:cNvPr id="28" name="Shape 26"/>
          <p:cNvSpPr/>
          <p:nvPr/>
        </p:nvSpPr>
        <p:spPr>
          <a:xfrm>
            <a:off x="502920" y="393192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9" name="Text 27"/>
          <p:cNvSpPr/>
          <p:nvPr/>
        </p:nvSpPr>
        <p:spPr>
          <a:xfrm>
            <a:off x="502920" y="393192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14</a:t>
            </a:r>
            <a:endParaRPr lang="en-US" sz="900" dirty="0"/>
          </a:p>
        </p:txBody>
      </p:sp>
      <p:sp>
        <p:nvSpPr>
          <p:cNvPr id="30" name="Text 28"/>
          <p:cNvSpPr/>
          <p:nvPr/>
        </p:nvSpPr>
        <p:spPr>
          <a:xfrm>
            <a:off x="1014984"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6</a:t>
            </a:r>
            <a:endParaRPr lang="en-US" sz="950" dirty="0"/>
          </a:p>
        </p:txBody>
      </p:sp>
      <p:sp>
        <p:nvSpPr>
          <p:cNvPr id="31" name="Shape 29"/>
          <p:cNvSpPr/>
          <p:nvPr/>
        </p:nvSpPr>
        <p:spPr>
          <a:xfrm>
            <a:off x="502920" y="432511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2" name="Text 30"/>
          <p:cNvSpPr/>
          <p:nvPr/>
        </p:nvSpPr>
        <p:spPr>
          <a:xfrm>
            <a:off x="502920" y="432511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6</a:t>
            </a:r>
            <a:endParaRPr lang="en-US" sz="900" dirty="0"/>
          </a:p>
        </p:txBody>
      </p:sp>
      <p:sp>
        <p:nvSpPr>
          <p:cNvPr id="33" name="Text 31"/>
          <p:cNvSpPr/>
          <p:nvPr/>
        </p:nvSpPr>
        <p:spPr>
          <a:xfrm>
            <a:off x="1014984"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7 (last)</a:t>
            </a:r>
            <a:endParaRPr lang="en-US" sz="950" dirty="0"/>
          </a:p>
        </p:txBody>
      </p:sp>
      <p:sp>
        <p:nvSpPr>
          <p:cNvPr id="34" name="Shape 32"/>
          <p:cNvSpPr/>
          <p:nvPr/>
        </p:nvSpPr>
        <p:spPr>
          <a:xfrm>
            <a:off x="2587752" y="1170432"/>
            <a:ext cx="2048256" cy="37490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2587752"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36" name="Text 34"/>
          <p:cNvSpPr/>
          <p:nvPr/>
        </p:nvSpPr>
        <p:spPr>
          <a:xfrm>
            <a:off x="2679192"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  ACCESS — scores[3] reaches one slot directly, returns 19</a:t>
            </a:r>
            <a:endParaRPr lang="en-US" sz="1000" dirty="0"/>
          </a:p>
        </p:txBody>
      </p:sp>
      <p:sp>
        <p:nvSpPr>
          <p:cNvPr id="37" name="Shape 35"/>
          <p:cNvSpPr/>
          <p:nvPr/>
        </p:nvSpPr>
        <p:spPr>
          <a:xfrm>
            <a:off x="2679192" y="157276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38" name="Text 36"/>
          <p:cNvSpPr/>
          <p:nvPr/>
        </p:nvSpPr>
        <p:spPr>
          <a:xfrm>
            <a:off x="2679192" y="157276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12</a:t>
            </a:r>
            <a:endParaRPr lang="en-US" sz="900" dirty="0"/>
          </a:p>
        </p:txBody>
      </p:sp>
      <p:sp>
        <p:nvSpPr>
          <p:cNvPr id="39" name="Text 37"/>
          <p:cNvSpPr/>
          <p:nvPr/>
        </p:nvSpPr>
        <p:spPr>
          <a:xfrm>
            <a:off x="3191256"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skipped</a:t>
            </a:r>
            <a:endParaRPr lang="en-US" sz="950" dirty="0"/>
          </a:p>
        </p:txBody>
      </p:sp>
      <p:sp>
        <p:nvSpPr>
          <p:cNvPr id="40" name="Shape 38"/>
          <p:cNvSpPr/>
          <p:nvPr/>
        </p:nvSpPr>
        <p:spPr>
          <a:xfrm>
            <a:off x="2679192" y="196596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1" name="Text 39"/>
          <p:cNvSpPr/>
          <p:nvPr/>
        </p:nvSpPr>
        <p:spPr>
          <a:xfrm>
            <a:off x="2679192" y="196596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7</a:t>
            </a:r>
            <a:endParaRPr lang="en-US" sz="900" dirty="0"/>
          </a:p>
        </p:txBody>
      </p:sp>
      <p:sp>
        <p:nvSpPr>
          <p:cNvPr id="42" name="Text 40"/>
          <p:cNvSpPr/>
          <p:nvPr/>
        </p:nvSpPr>
        <p:spPr>
          <a:xfrm>
            <a:off x="3191256"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skipped</a:t>
            </a:r>
            <a:endParaRPr lang="en-US" sz="950" dirty="0"/>
          </a:p>
        </p:txBody>
      </p:sp>
      <p:sp>
        <p:nvSpPr>
          <p:cNvPr id="43" name="Shape 41"/>
          <p:cNvSpPr/>
          <p:nvPr/>
        </p:nvSpPr>
        <p:spPr>
          <a:xfrm>
            <a:off x="2679192" y="235915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4" name="Text 42"/>
          <p:cNvSpPr/>
          <p:nvPr/>
        </p:nvSpPr>
        <p:spPr>
          <a:xfrm>
            <a:off x="2679192" y="235915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3</a:t>
            </a:r>
            <a:endParaRPr lang="en-US" sz="900" dirty="0"/>
          </a:p>
        </p:txBody>
      </p:sp>
      <p:sp>
        <p:nvSpPr>
          <p:cNvPr id="45" name="Text 43"/>
          <p:cNvSpPr/>
          <p:nvPr/>
        </p:nvSpPr>
        <p:spPr>
          <a:xfrm>
            <a:off x="3191256"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skipped</a:t>
            </a:r>
            <a:endParaRPr lang="en-US" sz="950" dirty="0"/>
          </a:p>
        </p:txBody>
      </p:sp>
      <p:sp>
        <p:nvSpPr>
          <p:cNvPr id="46" name="Shape 44"/>
          <p:cNvSpPr/>
          <p:nvPr/>
        </p:nvSpPr>
        <p:spPr>
          <a:xfrm>
            <a:off x="2679192" y="2752344"/>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7" name="Text 45"/>
          <p:cNvSpPr/>
          <p:nvPr/>
        </p:nvSpPr>
        <p:spPr>
          <a:xfrm>
            <a:off x="2679192" y="2752344"/>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19</a:t>
            </a:r>
            <a:endParaRPr lang="en-US" sz="900" dirty="0"/>
          </a:p>
        </p:txBody>
      </p:sp>
      <p:sp>
        <p:nvSpPr>
          <p:cNvPr id="48" name="Text 46"/>
          <p:cNvSpPr/>
          <p:nvPr/>
        </p:nvSpPr>
        <p:spPr>
          <a:xfrm>
            <a:off x="3191256"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READ ✅</a:t>
            </a:r>
            <a:endParaRPr lang="en-US" sz="950" dirty="0"/>
          </a:p>
        </p:txBody>
      </p:sp>
      <p:sp>
        <p:nvSpPr>
          <p:cNvPr id="49" name="Shape 47"/>
          <p:cNvSpPr/>
          <p:nvPr/>
        </p:nvSpPr>
        <p:spPr>
          <a:xfrm>
            <a:off x="2679192" y="3145536"/>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0" name="Text 48"/>
          <p:cNvSpPr/>
          <p:nvPr/>
        </p:nvSpPr>
        <p:spPr>
          <a:xfrm>
            <a:off x="2679192" y="3145536"/>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8</a:t>
            </a:r>
            <a:endParaRPr lang="en-US" sz="900" dirty="0"/>
          </a:p>
        </p:txBody>
      </p:sp>
      <p:sp>
        <p:nvSpPr>
          <p:cNvPr id="51" name="Text 49"/>
          <p:cNvSpPr/>
          <p:nvPr/>
        </p:nvSpPr>
        <p:spPr>
          <a:xfrm>
            <a:off x="3191256"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skipped</a:t>
            </a:r>
            <a:endParaRPr lang="en-US" sz="950" dirty="0"/>
          </a:p>
        </p:txBody>
      </p:sp>
      <p:sp>
        <p:nvSpPr>
          <p:cNvPr id="52" name="Shape 50"/>
          <p:cNvSpPr/>
          <p:nvPr/>
        </p:nvSpPr>
        <p:spPr>
          <a:xfrm>
            <a:off x="2679192" y="353872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3" name="Text 51"/>
          <p:cNvSpPr/>
          <p:nvPr/>
        </p:nvSpPr>
        <p:spPr>
          <a:xfrm>
            <a:off x="2679192" y="353872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25</a:t>
            </a:r>
            <a:endParaRPr lang="en-US" sz="900" dirty="0"/>
          </a:p>
        </p:txBody>
      </p:sp>
      <p:sp>
        <p:nvSpPr>
          <p:cNvPr id="54" name="Text 52"/>
          <p:cNvSpPr/>
          <p:nvPr/>
        </p:nvSpPr>
        <p:spPr>
          <a:xfrm>
            <a:off x="3191256"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skipped</a:t>
            </a:r>
            <a:endParaRPr lang="en-US" sz="950" dirty="0"/>
          </a:p>
        </p:txBody>
      </p:sp>
      <p:sp>
        <p:nvSpPr>
          <p:cNvPr id="55" name="Shape 53"/>
          <p:cNvSpPr/>
          <p:nvPr/>
        </p:nvSpPr>
        <p:spPr>
          <a:xfrm>
            <a:off x="2679192" y="393192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6" name="Text 54"/>
          <p:cNvSpPr/>
          <p:nvPr/>
        </p:nvSpPr>
        <p:spPr>
          <a:xfrm>
            <a:off x="2679192" y="393192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14</a:t>
            </a:r>
            <a:endParaRPr lang="en-US" sz="900" dirty="0"/>
          </a:p>
        </p:txBody>
      </p:sp>
      <p:sp>
        <p:nvSpPr>
          <p:cNvPr id="57" name="Text 55"/>
          <p:cNvSpPr/>
          <p:nvPr/>
        </p:nvSpPr>
        <p:spPr>
          <a:xfrm>
            <a:off x="3191256"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skipped</a:t>
            </a:r>
            <a:endParaRPr lang="en-US" sz="950" dirty="0"/>
          </a:p>
        </p:txBody>
      </p:sp>
      <p:sp>
        <p:nvSpPr>
          <p:cNvPr id="58" name="Shape 56"/>
          <p:cNvSpPr/>
          <p:nvPr/>
        </p:nvSpPr>
        <p:spPr>
          <a:xfrm>
            <a:off x="2679192" y="432511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9" name="Text 57"/>
          <p:cNvSpPr/>
          <p:nvPr/>
        </p:nvSpPr>
        <p:spPr>
          <a:xfrm>
            <a:off x="2679192" y="432511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6</a:t>
            </a:r>
            <a:endParaRPr lang="en-US" sz="900" dirty="0"/>
          </a:p>
        </p:txBody>
      </p:sp>
      <p:sp>
        <p:nvSpPr>
          <p:cNvPr id="60" name="Text 58"/>
          <p:cNvSpPr/>
          <p:nvPr/>
        </p:nvSpPr>
        <p:spPr>
          <a:xfrm>
            <a:off x="3191256"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skipped</a:t>
            </a:r>
            <a:endParaRPr lang="en-US" sz="950" dirty="0"/>
          </a:p>
        </p:txBody>
      </p:sp>
      <p:sp>
        <p:nvSpPr>
          <p:cNvPr id="61" name="Shape 59"/>
          <p:cNvSpPr/>
          <p:nvPr/>
        </p:nvSpPr>
        <p:spPr>
          <a:xfrm>
            <a:off x="4764024" y="1170432"/>
            <a:ext cx="2048256" cy="37490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62" name="Shape 60"/>
          <p:cNvSpPr/>
          <p:nvPr/>
        </p:nvSpPr>
        <p:spPr>
          <a:xfrm>
            <a:off x="4764024"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63" name="Text 61"/>
          <p:cNvSpPr/>
          <p:nvPr/>
        </p:nvSpPr>
        <p:spPr>
          <a:xfrm>
            <a:off x="4855464"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  UPDATE — scores[5] ← 99 replaces 25 with 99</a:t>
            </a:r>
            <a:endParaRPr lang="en-US" sz="1000" dirty="0"/>
          </a:p>
        </p:txBody>
      </p:sp>
      <p:sp>
        <p:nvSpPr>
          <p:cNvPr id="64" name="Shape 62"/>
          <p:cNvSpPr/>
          <p:nvPr/>
        </p:nvSpPr>
        <p:spPr>
          <a:xfrm>
            <a:off x="4855464" y="157276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5" name="Text 63"/>
          <p:cNvSpPr/>
          <p:nvPr/>
        </p:nvSpPr>
        <p:spPr>
          <a:xfrm>
            <a:off x="4855464" y="157276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12</a:t>
            </a:r>
            <a:endParaRPr lang="en-US" sz="900" dirty="0"/>
          </a:p>
        </p:txBody>
      </p:sp>
      <p:sp>
        <p:nvSpPr>
          <p:cNvPr id="66" name="Text 64"/>
          <p:cNvSpPr/>
          <p:nvPr/>
        </p:nvSpPr>
        <p:spPr>
          <a:xfrm>
            <a:off x="5367528"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unchanged</a:t>
            </a:r>
            <a:endParaRPr lang="en-US" sz="950" dirty="0"/>
          </a:p>
        </p:txBody>
      </p:sp>
      <p:sp>
        <p:nvSpPr>
          <p:cNvPr id="67" name="Shape 65"/>
          <p:cNvSpPr/>
          <p:nvPr/>
        </p:nvSpPr>
        <p:spPr>
          <a:xfrm>
            <a:off x="4855464" y="196596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8" name="Text 66"/>
          <p:cNvSpPr/>
          <p:nvPr/>
        </p:nvSpPr>
        <p:spPr>
          <a:xfrm>
            <a:off x="4855464" y="196596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7</a:t>
            </a:r>
            <a:endParaRPr lang="en-US" sz="900" dirty="0"/>
          </a:p>
        </p:txBody>
      </p:sp>
      <p:sp>
        <p:nvSpPr>
          <p:cNvPr id="69" name="Text 67"/>
          <p:cNvSpPr/>
          <p:nvPr/>
        </p:nvSpPr>
        <p:spPr>
          <a:xfrm>
            <a:off x="5367528"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unchanged</a:t>
            </a:r>
            <a:endParaRPr lang="en-US" sz="950" dirty="0"/>
          </a:p>
        </p:txBody>
      </p:sp>
      <p:sp>
        <p:nvSpPr>
          <p:cNvPr id="70" name="Shape 68"/>
          <p:cNvSpPr/>
          <p:nvPr/>
        </p:nvSpPr>
        <p:spPr>
          <a:xfrm>
            <a:off x="4855464" y="235915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1" name="Text 69"/>
          <p:cNvSpPr/>
          <p:nvPr/>
        </p:nvSpPr>
        <p:spPr>
          <a:xfrm>
            <a:off x="4855464" y="235915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3</a:t>
            </a:r>
            <a:endParaRPr lang="en-US" sz="900" dirty="0"/>
          </a:p>
        </p:txBody>
      </p:sp>
      <p:sp>
        <p:nvSpPr>
          <p:cNvPr id="72" name="Text 70"/>
          <p:cNvSpPr/>
          <p:nvPr/>
        </p:nvSpPr>
        <p:spPr>
          <a:xfrm>
            <a:off x="5367528"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unchanged</a:t>
            </a:r>
            <a:endParaRPr lang="en-US" sz="950" dirty="0"/>
          </a:p>
        </p:txBody>
      </p:sp>
      <p:sp>
        <p:nvSpPr>
          <p:cNvPr id="73" name="Shape 71"/>
          <p:cNvSpPr/>
          <p:nvPr/>
        </p:nvSpPr>
        <p:spPr>
          <a:xfrm>
            <a:off x="4855464" y="2752344"/>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4" name="Text 72"/>
          <p:cNvSpPr/>
          <p:nvPr/>
        </p:nvSpPr>
        <p:spPr>
          <a:xfrm>
            <a:off x="4855464" y="2752344"/>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19</a:t>
            </a:r>
            <a:endParaRPr lang="en-US" sz="900" dirty="0"/>
          </a:p>
        </p:txBody>
      </p:sp>
      <p:sp>
        <p:nvSpPr>
          <p:cNvPr id="75" name="Text 73"/>
          <p:cNvSpPr/>
          <p:nvPr/>
        </p:nvSpPr>
        <p:spPr>
          <a:xfrm>
            <a:off x="5367528"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unchanged</a:t>
            </a:r>
            <a:endParaRPr lang="en-US" sz="950" dirty="0"/>
          </a:p>
        </p:txBody>
      </p:sp>
      <p:sp>
        <p:nvSpPr>
          <p:cNvPr id="76" name="Shape 74"/>
          <p:cNvSpPr/>
          <p:nvPr/>
        </p:nvSpPr>
        <p:spPr>
          <a:xfrm>
            <a:off x="4855464" y="3145536"/>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7" name="Text 75"/>
          <p:cNvSpPr/>
          <p:nvPr/>
        </p:nvSpPr>
        <p:spPr>
          <a:xfrm>
            <a:off x="4855464" y="3145536"/>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8</a:t>
            </a:r>
            <a:endParaRPr lang="en-US" sz="900" dirty="0"/>
          </a:p>
        </p:txBody>
      </p:sp>
      <p:sp>
        <p:nvSpPr>
          <p:cNvPr id="78" name="Text 76"/>
          <p:cNvSpPr/>
          <p:nvPr/>
        </p:nvSpPr>
        <p:spPr>
          <a:xfrm>
            <a:off x="5367528"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unchanged</a:t>
            </a:r>
            <a:endParaRPr lang="en-US" sz="950" dirty="0"/>
          </a:p>
        </p:txBody>
      </p:sp>
      <p:sp>
        <p:nvSpPr>
          <p:cNvPr id="79" name="Shape 77"/>
          <p:cNvSpPr/>
          <p:nvPr/>
        </p:nvSpPr>
        <p:spPr>
          <a:xfrm>
            <a:off x="4855464" y="353872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0" name="Text 78"/>
          <p:cNvSpPr/>
          <p:nvPr/>
        </p:nvSpPr>
        <p:spPr>
          <a:xfrm>
            <a:off x="4855464" y="353872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99</a:t>
            </a:r>
            <a:endParaRPr lang="en-US" sz="900" dirty="0"/>
          </a:p>
        </p:txBody>
      </p:sp>
      <p:sp>
        <p:nvSpPr>
          <p:cNvPr id="81" name="Text 79"/>
          <p:cNvSpPr/>
          <p:nvPr/>
        </p:nvSpPr>
        <p:spPr>
          <a:xfrm>
            <a:off x="5367528"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WRITTEN ✅</a:t>
            </a:r>
            <a:endParaRPr lang="en-US" sz="950" dirty="0"/>
          </a:p>
        </p:txBody>
      </p:sp>
      <p:sp>
        <p:nvSpPr>
          <p:cNvPr id="82" name="Shape 80"/>
          <p:cNvSpPr/>
          <p:nvPr/>
        </p:nvSpPr>
        <p:spPr>
          <a:xfrm>
            <a:off x="4855464" y="393192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3" name="Text 81"/>
          <p:cNvSpPr/>
          <p:nvPr/>
        </p:nvSpPr>
        <p:spPr>
          <a:xfrm>
            <a:off x="4855464" y="393192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14</a:t>
            </a:r>
            <a:endParaRPr lang="en-US" sz="900" dirty="0"/>
          </a:p>
        </p:txBody>
      </p:sp>
      <p:sp>
        <p:nvSpPr>
          <p:cNvPr id="84" name="Text 82"/>
          <p:cNvSpPr/>
          <p:nvPr/>
        </p:nvSpPr>
        <p:spPr>
          <a:xfrm>
            <a:off x="5367528"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unchanged</a:t>
            </a:r>
            <a:endParaRPr lang="en-US" sz="950" dirty="0"/>
          </a:p>
        </p:txBody>
      </p:sp>
      <p:sp>
        <p:nvSpPr>
          <p:cNvPr id="85" name="Shape 83"/>
          <p:cNvSpPr/>
          <p:nvPr/>
        </p:nvSpPr>
        <p:spPr>
          <a:xfrm>
            <a:off x="4855464" y="432511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6" name="Text 84"/>
          <p:cNvSpPr/>
          <p:nvPr/>
        </p:nvSpPr>
        <p:spPr>
          <a:xfrm>
            <a:off x="4855464" y="432511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6</a:t>
            </a:r>
            <a:endParaRPr lang="en-US" sz="900" dirty="0"/>
          </a:p>
        </p:txBody>
      </p:sp>
      <p:sp>
        <p:nvSpPr>
          <p:cNvPr id="87" name="Text 85"/>
          <p:cNvSpPr/>
          <p:nvPr/>
        </p:nvSpPr>
        <p:spPr>
          <a:xfrm>
            <a:off x="5367528"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unchanged</a:t>
            </a:r>
            <a:endParaRPr lang="en-US" sz="950" dirty="0"/>
          </a:p>
        </p:txBody>
      </p:sp>
      <p:sp>
        <p:nvSpPr>
          <p:cNvPr id="88" name="Shape 86"/>
          <p:cNvSpPr/>
          <p:nvPr/>
        </p:nvSpPr>
        <p:spPr>
          <a:xfrm>
            <a:off x="6940296" y="1170432"/>
            <a:ext cx="2048256" cy="374904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89" name="Shape 87"/>
          <p:cNvSpPr/>
          <p:nvPr/>
        </p:nvSpPr>
        <p:spPr>
          <a:xfrm>
            <a:off x="6940296" y="1170432"/>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90" name="Text 88"/>
          <p:cNvSpPr/>
          <p:nvPr/>
        </p:nvSpPr>
        <p:spPr>
          <a:xfrm>
            <a:off x="7031736"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  TRAVERSE — FOR i = 0 TO 7, visit every slot in order</a:t>
            </a:r>
            <a:endParaRPr lang="en-US" sz="1000" dirty="0"/>
          </a:p>
        </p:txBody>
      </p:sp>
      <p:sp>
        <p:nvSpPr>
          <p:cNvPr id="91" name="Shape 89"/>
          <p:cNvSpPr/>
          <p:nvPr/>
        </p:nvSpPr>
        <p:spPr>
          <a:xfrm>
            <a:off x="7031736" y="157276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2" name="Text 90"/>
          <p:cNvSpPr/>
          <p:nvPr/>
        </p:nvSpPr>
        <p:spPr>
          <a:xfrm>
            <a:off x="7031736" y="157276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12</a:t>
            </a:r>
            <a:endParaRPr lang="en-US" sz="900" dirty="0"/>
          </a:p>
        </p:txBody>
      </p:sp>
      <p:sp>
        <p:nvSpPr>
          <p:cNvPr id="93" name="Text 91"/>
          <p:cNvSpPr/>
          <p:nvPr/>
        </p:nvSpPr>
        <p:spPr>
          <a:xfrm>
            <a:off x="7543800"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step 1</a:t>
            </a:r>
            <a:endParaRPr lang="en-US" sz="950" dirty="0"/>
          </a:p>
        </p:txBody>
      </p:sp>
      <p:sp>
        <p:nvSpPr>
          <p:cNvPr id="94" name="Shape 92"/>
          <p:cNvSpPr/>
          <p:nvPr/>
        </p:nvSpPr>
        <p:spPr>
          <a:xfrm>
            <a:off x="7031736" y="196596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5" name="Text 93"/>
          <p:cNvSpPr/>
          <p:nvPr/>
        </p:nvSpPr>
        <p:spPr>
          <a:xfrm>
            <a:off x="7031736" y="196596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7</a:t>
            </a:r>
            <a:endParaRPr lang="en-US" sz="900" dirty="0"/>
          </a:p>
        </p:txBody>
      </p:sp>
      <p:sp>
        <p:nvSpPr>
          <p:cNvPr id="96" name="Text 94"/>
          <p:cNvSpPr/>
          <p:nvPr/>
        </p:nvSpPr>
        <p:spPr>
          <a:xfrm>
            <a:off x="7543800"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step 2</a:t>
            </a:r>
            <a:endParaRPr lang="en-US" sz="950" dirty="0"/>
          </a:p>
        </p:txBody>
      </p:sp>
      <p:sp>
        <p:nvSpPr>
          <p:cNvPr id="97" name="Shape 95"/>
          <p:cNvSpPr/>
          <p:nvPr/>
        </p:nvSpPr>
        <p:spPr>
          <a:xfrm>
            <a:off x="7031736" y="235915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8" name="Text 96"/>
          <p:cNvSpPr/>
          <p:nvPr/>
        </p:nvSpPr>
        <p:spPr>
          <a:xfrm>
            <a:off x="7031736" y="235915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3</a:t>
            </a:r>
            <a:endParaRPr lang="en-US" sz="900" dirty="0"/>
          </a:p>
        </p:txBody>
      </p:sp>
      <p:sp>
        <p:nvSpPr>
          <p:cNvPr id="99" name="Text 97"/>
          <p:cNvSpPr/>
          <p:nvPr/>
        </p:nvSpPr>
        <p:spPr>
          <a:xfrm>
            <a:off x="7543800"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step 3</a:t>
            </a:r>
            <a:endParaRPr lang="en-US" sz="950" dirty="0"/>
          </a:p>
        </p:txBody>
      </p:sp>
      <p:sp>
        <p:nvSpPr>
          <p:cNvPr id="100" name="Shape 98"/>
          <p:cNvSpPr/>
          <p:nvPr/>
        </p:nvSpPr>
        <p:spPr>
          <a:xfrm>
            <a:off x="7031736" y="2752344"/>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1" name="Text 99"/>
          <p:cNvSpPr/>
          <p:nvPr/>
        </p:nvSpPr>
        <p:spPr>
          <a:xfrm>
            <a:off x="7031736" y="2752344"/>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19</a:t>
            </a:r>
            <a:endParaRPr lang="en-US" sz="900" dirty="0"/>
          </a:p>
        </p:txBody>
      </p:sp>
      <p:sp>
        <p:nvSpPr>
          <p:cNvPr id="102" name="Text 100"/>
          <p:cNvSpPr/>
          <p:nvPr/>
        </p:nvSpPr>
        <p:spPr>
          <a:xfrm>
            <a:off x="7543800"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step 4</a:t>
            </a:r>
            <a:endParaRPr lang="en-US" sz="950" dirty="0"/>
          </a:p>
        </p:txBody>
      </p:sp>
      <p:sp>
        <p:nvSpPr>
          <p:cNvPr id="103" name="Shape 101"/>
          <p:cNvSpPr/>
          <p:nvPr/>
        </p:nvSpPr>
        <p:spPr>
          <a:xfrm>
            <a:off x="7031736" y="3145536"/>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4" name="Text 102"/>
          <p:cNvSpPr/>
          <p:nvPr/>
        </p:nvSpPr>
        <p:spPr>
          <a:xfrm>
            <a:off x="7031736" y="3145536"/>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8</a:t>
            </a:r>
            <a:endParaRPr lang="en-US" sz="900" dirty="0"/>
          </a:p>
        </p:txBody>
      </p:sp>
      <p:sp>
        <p:nvSpPr>
          <p:cNvPr id="105" name="Text 103"/>
          <p:cNvSpPr/>
          <p:nvPr/>
        </p:nvSpPr>
        <p:spPr>
          <a:xfrm>
            <a:off x="7543800"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step 5</a:t>
            </a:r>
            <a:endParaRPr lang="en-US" sz="950" dirty="0"/>
          </a:p>
        </p:txBody>
      </p:sp>
      <p:sp>
        <p:nvSpPr>
          <p:cNvPr id="106" name="Shape 104"/>
          <p:cNvSpPr/>
          <p:nvPr/>
        </p:nvSpPr>
        <p:spPr>
          <a:xfrm>
            <a:off x="7031736" y="353872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7" name="Text 105"/>
          <p:cNvSpPr/>
          <p:nvPr/>
        </p:nvSpPr>
        <p:spPr>
          <a:xfrm>
            <a:off x="7031736" y="353872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99</a:t>
            </a:r>
            <a:endParaRPr lang="en-US" sz="900" dirty="0"/>
          </a:p>
        </p:txBody>
      </p:sp>
      <p:sp>
        <p:nvSpPr>
          <p:cNvPr id="108" name="Text 106"/>
          <p:cNvSpPr/>
          <p:nvPr/>
        </p:nvSpPr>
        <p:spPr>
          <a:xfrm>
            <a:off x="7543800"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step 6</a:t>
            </a:r>
            <a:endParaRPr lang="en-US" sz="950" dirty="0"/>
          </a:p>
        </p:txBody>
      </p:sp>
      <p:sp>
        <p:nvSpPr>
          <p:cNvPr id="109" name="Shape 107"/>
          <p:cNvSpPr/>
          <p:nvPr/>
        </p:nvSpPr>
        <p:spPr>
          <a:xfrm>
            <a:off x="7031736" y="393192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0" name="Text 108"/>
          <p:cNvSpPr/>
          <p:nvPr/>
        </p:nvSpPr>
        <p:spPr>
          <a:xfrm>
            <a:off x="7031736" y="393192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14</a:t>
            </a:r>
            <a:endParaRPr lang="en-US" sz="900" dirty="0"/>
          </a:p>
        </p:txBody>
      </p:sp>
      <p:sp>
        <p:nvSpPr>
          <p:cNvPr id="111" name="Text 109"/>
          <p:cNvSpPr/>
          <p:nvPr/>
        </p:nvSpPr>
        <p:spPr>
          <a:xfrm>
            <a:off x="7543800"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step 7</a:t>
            </a:r>
            <a:endParaRPr lang="en-US" sz="950" dirty="0"/>
          </a:p>
        </p:txBody>
      </p:sp>
      <p:sp>
        <p:nvSpPr>
          <p:cNvPr id="112" name="Shape 110"/>
          <p:cNvSpPr/>
          <p:nvPr/>
        </p:nvSpPr>
        <p:spPr>
          <a:xfrm>
            <a:off x="7031736" y="432511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3" name="Text 111"/>
          <p:cNvSpPr/>
          <p:nvPr/>
        </p:nvSpPr>
        <p:spPr>
          <a:xfrm>
            <a:off x="7031736" y="432511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6</a:t>
            </a:r>
            <a:endParaRPr lang="en-US" sz="900" dirty="0"/>
          </a:p>
        </p:txBody>
      </p:sp>
      <p:sp>
        <p:nvSpPr>
          <p:cNvPr id="114" name="Text 112"/>
          <p:cNvSpPr/>
          <p:nvPr/>
        </p:nvSpPr>
        <p:spPr>
          <a:xfrm>
            <a:off x="7543800"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step 8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WORKED EXAMPLE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Worked Example — Class Test Scores</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Building, modifying, and using an array of five test scores from start to finish</a:t>
            </a:r>
            <a:endParaRPr lang="en-US" sz="1300" dirty="0"/>
          </a:p>
        </p:txBody>
      </p:sp>
      <p:sp>
        <p:nvSpPr>
          <p:cNvPr id="7" name="Shape 5"/>
          <p:cNvSpPr/>
          <p:nvPr/>
        </p:nvSpPr>
        <p:spPr>
          <a:xfrm>
            <a:off x="411480" y="1170432"/>
            <a:ext cx="8321040" cy="13716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Operations Pipeline</a:t>
            </a:r>
            <a:endParaRPr lang="en-US" sz="1100" dirty="0"/>
          </a:p>
        </p:txBody>
      </p:sp>
      <p:sp>
        <p:nvSpPr>
          <p:cNvPr id="10" name="Shape 8"/>
          <p:cNvSpPr/>
          <p:nvPr/>
        </p:nvSpPr>
        <p:spPr>
          <a:xfrm>
            <a:off x="548640" y="1591056"/>
            <a:ext cx="1261872" cy="658368"/>
          </a:xfrm>
          <a:prstGeom prst="rect">
            <a:avLst/>
          </a:prstGeom>
          <a:solidFill>
            <a:srgbClr val="3FD9C4">
              <a:alpha val="28000"/>
            </a:srgbClr>
          </a:solidFill>
          <a:ln w="15240">
            <a:solidFill>
              <a:srgbClr val="3FD9C4"/>
            </a:solidFill>
            <a:prstDash val="solid"/>
          </a:ln>
        </p:spPr>
        <p:txBody>
          <a:bodyPr/>
          <a:lstStyle/>
          <a:p>
            <a:endParaRPr lang="en-US"/>
          </a:p>
        </p:txBody>
      </p:sp>
      <p:sp>
        <p:nvSpPr>
          <p:cNvPr id="11" name="Text 9"/>
          <p:cNvSpPr/>
          <p:nvPr/>
        </p:nvSpPr>
        <p:spPr>
          <a:xfrm>
            <a:off x="548640" y="1591056"/>
            <a:ext cx="1261872" cy="658368"/>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Declare</a:t>
            </a:r>
            <a:endParaRPr lang="en-US" sz="950" dirty="0"/>
          </a:p>
        </p:txBody>
      </p:sp>
      <p:sp>
        <p:nvSpPr>
          <p:cNvPr id="12" name="Shape 10"/>
          <p:cNvSpPr/>
          <p:nvPr/>
        </p:nvSpPr>
        <p:spPr>
          <a:xfrm>
            <a:off x="1810512"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3" name="Shape 11"/>
          <p:cNvSpPr/>
          <p:nvPr/>
        </p:nvSpPr>
        <p:spPr>
          <a:xfrm>
            <a:off x="1938528" y="1591056"/>
            <a:ext cx="1261872" cy="658368"/>
          </a:xfrm>
          <a:prstGeom prst="rect">
            <a:avLst/>
          </a:prstGeom>
          <a:solidFill>
            <a:srgbClr val="58A6FF">
              <a:alpha val="28000"/>
            </a:srgbClr>
          </a:solidFill>
          <a:ln w="15240">
            <a:solidFill>
              <a:srgbClr val="58A6FF"/>
            </a:solidFill>
            <a:prstDash val="solid"/>
          </a:ln>
        </p:spPr>
        <p:txBody>
          <a:bodyPr/>
          <a:lstStyle/>
          <a:p>
            <a:endParaRPr lang="en-US"/>
          </a:p>
        </p:txBody>
      </p:sp>
      <p:sp>
        <p:nvSpPr>
          <p:cNvPr id="14" name="Text 12"/>
          <p:cNvSpPr/>
          <p:nvPr/>
        </p:nvSpPr>
        <p:spPr>
          <a:xfrm>
            <a:off x="1938528" y="1591056"/>
            <a:ext cx="1261872" cy="658368"/>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Fill values</a:t>
            </a:r>
            <a:endParaRPr lang="en-US" sz="950" dirty="0"/>
          </a:p>
        </p:txBody>
      </p:sp>
      <p:sp>
        <p:nvSpPr>
          <p:cNvPr id="15" name="Shape 13"/>
          <p:cNvSpPr/>
          <p:nvPr/>
        </p:nvSpPr>
        <p:spPr>
          <a:xfrm>
            <a:off x="3200400"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6" name="Shape 14"/>
          <p:cNvSpPr/>
          <p:nvPr/>
        </p:nvSpPr>
        <p:spPr>
          <a:xfrm>
            <a:off x="3328416" y="1591056"/>
            <a:ext cx="1261872" cy="658368"/>
          </a:xfrm>
          <a:prstGeom prst="rect">
            <a:avLst/>
          </a:prstGeom>
          <a:solidFill>
            <a:srgbClr val="BC8CFF">
              <a:alpha val="28000"/>
            </a:srgbClr>
          </a:solidFill>
          <a:ln w="15240">
            <a:solidFill>
              <a:srgbClr val="BC8CFF"/>
            </a:solidFill>
            <a:prstDash val="solid"/>
          </a:ln>
        </p:spPr>
        <p:txBody>
          <a:bodyPr/>
          <a:lstStyle/>
          <a:p>
            <a:endParaRPr lang="en-US"/>
          </a:p>
        </p:txBody>
      </p:sp>
      <p:sp>
        <p:nvSpPr>
          <p:cNvPr id="17" name="Text 15"/>
          <p:cNvSpPr/>
          <p:nvPr/>
        </p:nvSpPr>
        <p:spPr>
          <a:xfrm>
            <a:off x="3328416" y="1591056"/>
            <a:ext cx="1261872" cy="658368"/>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Access</a:t>
            </a:r>
            <a:endParaRPr lang="en-US" sz="950" dirty="0"/>
          </a:p>
        </p:txBody>
      </p:sp>
      <p:sp>
        <p:nvSpPr>
          <p:cNvPr id="18" name="Shape 16"/>
          <p:cNvSpPr/>
          <p:nvPr/>
        </p:nvSpPr>
        <p:spPr>
          <a:xfrm>
            <a:off x="4590288"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9" name="Shape 17"/>
          <p:cNvSpPr/>
          <p:nvPr/>
        </p:nvSpPr>
        <p:spPr>
          <a:xfrm>
            <a:off x="4718304" y="1591056"/>
            <a:ext cx="1261872" cy="658368"/>
          </a:xfrm>
          <a:prstGeom prst="rect">
            <a:avLst/>
          </a:prstGeom>
          <a:solidFill>
            <a:srgbClr val="FFA657">
              <a:alpha val="28000"/>
            </a:srgbClr>
          </a:solidFill>
          <a:ln w="15240">
            <a:solidFill>
              <a:srgbClr val="FFA657"/>
            </a:solidFill>
            <a:prstDash val="solid"/>
          </a:ln>
        </p:spPr>
        <p:txBody>
          <a:bodyPr/>
          <a:lstStyle/>
          <a:p>
            <a:endParaRPr lang="en-US"/>
          </a:p>
        </p:txBody>
      </p:sp>
      <p:sp>
        <p:nvSpPr>
          <p:cNvPr id="20" name="Text 18"/>
          <p:cNvSpPr/>
          <p:nvPr/>
        </p:nvSpPr>
        <p:spPr>
          <a:xfrm>
            <a:off x="4718304" y="1591056"/>
            <a:ext cx="1261872" cy="658368"/>
          </a:xfrm>
          <a:prstGeom prst="rect">
            <a:avLst/>
          </a:prstGeom>
          <a:noFill/>
          <a:ln/>
        </p:spPr>
        <p:txBody>
          <a:bodyPr wrap="square" lIns="0" tIns="0" rIns="0" bIns="0" rtlCol="0" anchor="ctr"/>
          <a:lstStyle/>
          <a:p>
            <a:pPr marL="0" indent="0" algn="ctr">
              <a:buNone/>
            </a:pPr>
            <a:r>
              <a:rPr lang="en-US" sz="950" b="1" dirty="0">
                <a:solidFill>
                  <a:srgbClr val="FFA657"/>
                </a:solidFill>
                <a:latin typeface="Calibri" pitchFamily="34" charset="0"/>
                <a:ea typeface="Calibri" pitchFamily="34" charset="-122"/>
                <a:cs typeface="Calibri" pitchFamily="34" charset="-120"/>
              </a:rPr>
              <a:t>Update</a:t>
            </a:r>
            <a:endParaRPr lang="en-US" sz="950" dirty="0"/>
          </a:p>
        </p:txBody>
      </p:sp>
      <p:sp>
        <p:nvSpPr>
          <p:cNvPr id="21" name="Shape 19"/>
          <p:cNvSpPr/>
          <p:nvPr/>
        </p:nvSpPr>
        <p:spPr>
          <a:xfrm>
            <a:off x="5980176"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2" name="Shape 20"/>
          <p:cNvSpPr/>
          <p:nvPr/>
        </p:nvSpPr>
        <p:spPr>
          <a:xfrm>
            <a:off x="6108192" y="1591056"/>
            <a:ext cx="1261872" cy="658368"/>
          </a:xfrm>
          <a:prstGeom prst="rect">
            <a:avLst/>
          </a:prstGeom>
          <a:solidFill>
            <a:srgbClr val="E3B341">
              <a:alpha val="28000"/>
            </a:srgbClr>
          </a:solidFill>
          <a:ln w="15240">
            <a:solidFill>
              <a:srgbClr val="E3B341"/>
            </a:solidFill>
            <a:prstDash val="solid"/>
          </a:ln>
        </p:spPr>
        <p:txBody>
          <a:bodyPr/>
          <a:lstStyle/>
          <a:p>
            <a:endParaRPr lang="en-US"/>
          </a:p>
        </p:txBody>
      </p:sp>
      <p:sp>
        <p:nvSpPr>
          <p:cNvPr id="23" name="Text 21"/>
          <p:cNvSpPr/>
          <p:nvPr/>
        </p:nvSpPr>
        <p:spPr>
          <a:xfrm>
            <a:off x="6108192" y="1591056"/>
            <a:ext cx="1261872" cy="658368"/>
          </a:xfrm>
          <a:prstGeom prst="rect">
            <a:avLst/>
          </a:prstGeom>
          <a:noFill/>
          <a:ln/>
        </p:spPr>
        <p:txBody>
          <a:bodyPr wrap="square" lIns="0" tIns="0" rIns="0" bIns="0" rtlCol="0" anchor="ctr"/>
          <a:lstStyle/>
          <a:p>
            <a:pPr marL="0" indent="0" algn="ctr">
              <a:buNone/>
            </a:pPr>
            <a:r>
              <a:rPr lang="en-US" sz="950" b="1" dirty="0">
                <a:solidFill>
                  <a:srgbClr val="E3B341"/>
                </a:solidFill>
                <a:latin typeface="Calibri" pitchFamily="34" charset="0"/>
                <a:ea typeface="Calibri" pitchFamily="34" charset="-122"/>
                <a:cs typeface="Calibri" pitchFamily="34" charset="-120"/>
              </a:rPr>
              <a:t>Traverse</a:t>
            </a:r>
            <a:endParaRPr lang="en-US" sz="950" dirty="0"/>
          </a:p>
        </p:txBody>
      </p:sp>
      <p:sp>
        <p:nvSpPr>
          <p:cNvPr id="24" name="Shape 22"/>
          <p:cNvSpPr/>
          <p:nvPr/>
        </p:nvSpPr>
        <p:spPr>
          <a:xfrm>
            <a:off x="7370064"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5" name="Shape 23"/>
          <p:cNvSpPr/>
          <p:nvPr/>
        </p:nvSpPr>
        <p:spPr>
          <a:xfrm>
            <a:off x="7498080" y="1591056"/>
            <a:ext cx="1261872" cy="658368"/>
          </a:xfrm>
          <a:prstGeom prst="rect">
            <a:avLst/>
          </a:prstGeom>
          <a:solidFill>
            <a:srgbClr val="3FB950">
              <a:alpha val="28000"/>
            </a:srgbClr>
          </a:solidFill>
          <a:ln w="15240">
            <a:solidFill>
              <a:srgbClr val="3FB950"/>
            </a:solidFill>
            <a:prstDash val="solid"/>
          </a:ln>
        </p:spPr>
        <p:txBody>
          <a:bodyPr/>
          <a:lstStyle/>
          <a:p>
            <a:endParaRPr lang="en-US"/>
          </a:p>
        </p:txBody>
      </p:sp>
      <p:sp>
        <p:nvSpPr>
          <p:cNvPr id="26" name="Text 24"/>
          <p:cNvSpPr/>
          <p:nvPr/>
        </p:nvSpPr>
        <p:spPr>
          <a:xfrm>
            <a:off x="7498080" y="1591056"/>
            <a:ext cx="1261872" cy="658368"/>
          </a:xfrm>
          <a:prstGeom prst="rect">
            <a:avLst/>
          </a:prstGeom>
          <a:noFill/>
          <a:ln/>
        </p:spPr>
        <p:txBody>
          <a:bodyPr wrap="square" lIns="0" tIns="0" rIns="0" bIns="0" rtlCol="0" anchor="ctr"/>
          <a:lstStyle/>
          <a:p>
            <a:pPr marL="0" indent="0" algn="ctr">
              <a:buNone/>
            </a:pPr>
            <a:r>
              <a:rPr lang="en-US" sz="950" b="1" dirty="0">
                <a:solidFill>
                  <a:srgbClr val="3FB950"/>
                </a:solidFill>
                <a:latin typeface="Calibri" pitchFamily="34" charset="0"/>
                <a:ea typeface="Calibri" pitchFamily="34" charset="-122"/>
                <a:cs typeface="Calibri" pitchFamily="34" charset="-120"/>
              </a:rPr>
              <a:t>Compute</a:t>
            </a:r>
            <a:endParaRPr lang="en-US" sz="950" dirty="0"/>
          </a:p>
        </p:txBody>
      </p:sp>
      <p:sp>
        <p:nvSpPr>
          <p:cNvPr id="27" name="Shape 25"/>
          <p:cNvSpPr/>
          <p:nvPr/>
        </p:nvSpPr>
        <p:spPr>
          <a:xfrm>
            <a:off x="411480" y="2670048"/>
            <a:ext cx="4160520" cy="175564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411480" y="2670048"/>
            <a:ext cx="41605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9" name="Text 27"/>
          <p:cNvSpPr/>
          <p:nvPr/>
        </p:nvSpPr>
        <p:spPr>
          <a:xfrm>
            <a:off x="548640" y="2715768"/>
            <a:ext cx="389534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Step-by-Step Trace</a:t>
            </a:r>
            <a:endParaRPr lang="en-US" sz="1100" dirty="0"/>
          </a:p>
        </p:txBody>
      </p:sp>
      <p:sp>
        <p:nvSpPr>
          <p:cNvPr id="30" name="Text 28"/>
          <p:cNvSpPr/>
          <p:nvPr/>
        </p:nvSpPr>
        <p:spPr>
          <a:xfrm>
            <a:off x="548640" y="3017520"/>
            <a:ext cx="3895344" cy="201168"/>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1. SET scores ← new array of size 5</a:t>
            </a:r>
            <a:endParaRPr lang="en-US" sz="950" dirty="0"/>
          </a:p>
        </p:txBody>
      </p:sp>
      <p:sp>
        <p:nvSpPr>
          <p:cNvPr id="31" name="Text 29"/>
          <p:cNvSpPr/>
          <p:nvPr/>
        </p:nvSpPr>
        <p:spPr>
          <a:xfrm>
            <a:off x="548640" y="322326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2. scores ← [87, 92, 76, 95, 88]</a:t>
            </a:r>
            <a:endParaRPr lang="en-US" sz="950" dirty="0"/>
          </a:p>
        </p:txBody>
      </p:sp>
      <p:sp>
        <p:nvSpPr>
          <p:cNvPr id="32" name="Text 30"/>
          <p:cNvSpPr/>
          <p:nvPr/>
        </p:nvSpPr>
        <p:spPr>
          <a:xfrm>
            <a:off x="548640" y="342900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3. PRINT scores[2]   // outputs 76</a:t>
            </a:r>
            <a:endParaRPr lang="en-US" sz="950" dirty="0"/>
          </a:p>
        </p:txBody>
      </p:sp>
      <p:sp>
        <p:nvSpPr>
          <p:cNvPr id="33" name="Text 31"/>
          <p:cNvSpPr/>
          <p:nvPr/>
        </p:nvSpPr>
        <p:spPr>
          <a:xfrm>
            <a:off x="548640" y="363474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4. SET scores[2] ← 100   // retake → 100</a:t>
            </a:r>
            <a:endParaRPr lang="en-US" sz="950" dirty="0"/>
          </a:p>
        </p:txBody>
      </p:sp>
      <p:sp>
        <p:nvSpPr>
          <p:cNvPr id="34" name="Text 32"/>
          <p:cNvSpPr/>
          <p:nvPr/>
        </p:nvSpPr>
        <p:spPr>
          <a:xfrm>
            <a:off x="548640" y="384048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5. SET total ← 0,  FOR i = 0..4: total += scores[i]</a:t>
            </a:r>
            <a:endParaRPr lang="en-US" sz="950" dirty="0"/>
          </a:p>
        </p:txBody>
      </p:sp>
      <p:sp>
        <p:nvSpPr>
          <p:cNvPr id="35" name="Text 33"/>
          <p:cNvSpPr/>
          <p:nvPr/>
        </p:nvSpPr>
        <p:spPr>
          <a:xfrm>
            <a:off x="548640" y="404622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6. After loop: total = 87+92+100+95+88 = 462</a:t>
            </a:r>
            <a:endParaRPr lang="en-US" sz="950" dirty="0"/>
          </a:p>
        </p:txBody>
      </p:sp>
      <p:sp>
        <p:nvSpPr>
          <p:cNvPr id="36" name="Text 34"/>
          <p:cNvSpPr/>
          <p:nvPr/>
        </p:nvSpPr>
        <p:spPr>
          <a:xfrm>
            <a:off x="548640" y="4251960"/>
            <a:ext cx="3895344"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7. PRINT total / length(scores)   // 462/5 = 92.4</a:t>
            </a:r>
            <a:endParaRPr lang="en-US" sz="950" dirty="0"/>
          </a:p>
        </p:txBody>
      </p:sp>
      <p:sp>
        <p:nvSpPr>
          <p:cNvPr id="37" name="Shape 35"/>
          <p:cNvSpPr/>
          <p:nvPr/>
        </p:nvSpPr>
        <p:spPr>
          <a:xfrm>
            <a:off x="4663440" y="2670048"/>
            <a:ext cx="4069080" cy="175564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38" name="Shape 36"/>
          <p:cNvSpPr/>
          <p:nvPr/>
        </p:nvSpPr>
        <p:spPr>
          <a:xfrm>
            <a:off x="4663440" y="2670048"/>
            <a:ext cx="40690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9" name="Text 37"/>
          <p:cNvSpPr/>
          <p:nvPr/>
        </p:nvSpPr>
        <p:spPr>
          <a:xfrm>
            <a:off x="4800600" y="2715768"/>
            <a:ext cx="380390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Counting the Work</a:t>
            </a:r>
            <a:endParaRPr lang="en-US" sz="1100" dirty="0"/>
          </a:p>
        </p:txBody>
      </p:sp>
      <p:sp>
        <p:nvSpPr>
          <p:cNvPr id="40" name="Text 38"/>
          <p:cNvSpPr/>
          <p:nvPr/>
        </p:nvSpPr>
        <p:spPr>
          <a:xfrm>
            <a:off x="4800600" y="3017520"/>
            <a:ext cx="3803904" cy="502920"/>
          </a:xfrm>
          <a:prstGeom prst="rect">
            <a:avLst/>
          </a:prstGeom>
          <a:noFill/>
          <a:ln/>
        </p:spPr>
        <p:txBody>
          <a:bodyPr wrap="square" lIns="0" tIns="0" rIns="0" bIns="0" rtlCol="0" anchor="ctr"/>
          <a:lstStyle/>
          <a:p>
            <a:pPr marL="0" indent="0">
              <a:buNone/>
            </a:pPr>
            <a:r>
              <a:rPr lang="en-US" sz="1050" b="1" dirty="0">
                <a:solidFill>
                  <a:srgbClr val="3FB950"/>
                </a:solidFill>
                <a:latin typeface="Calibri" pitchFamily="34" charset="0"/>
                <a:ea typeface="Calibri" pitchFamily="34" charset="-122"/>
                <a:cs typeface="Calibri" pitchFamily="34" charset="-120"/>
              </a:rPr>
              <a:t>Access &amp; update:  </a:t>
            </a:r>
            <a:r>
              <a:rPr lang="en-US" sz="1050" dirty="0">
                <a:solidFill>
                  <a:srgbClr val="F0F6FC"/>
                </a:solidFill>
                <a:latin typeface="Calibri" pitchFamily="34" charset="0"/>
                <a:ea typeface="Calibri" pitchFamily="34" charset="-122"/>
                <a:cs typeface="Calibri" pitchFamily="34" charset="-120"/>
              </a:rPr>
              <a:t>Step 3 (read) and step 4 (write) are both O(1) — instant. The computer jumps directly to the right slot using its index.</a:t>
            </a:r>
            <a:endParaRPr lang="en-US" sz="1050" dirty="0"/>
          </a:p>
        </p:txBody>
      </p:sp>
      <p:sp>
        <p:nvSpPr>
          <p:cNvPr id="41" name="Text 39"/>
          <p:cNvSpPr/>
          <p:nvPr/>
        </p:nvSpPr>
        <p:spPr>
          <a:xfrm>
            <a:off x="4800600" y="3566160"/>
            <a:ext cx="3803904" cy="594360"/>
          </a:xfrm>
          <a:prstGeom prst="rect">
            <a:avLst/>
          </a:prstGeom>
          <a:noFill/>
          <a:ln/>
        </p:spPr>
        <p:txBody>
          <a:bodyPr wrap="square" lIns="0" tIns="0" rIns="0" bIns="0" rtlCol="0" anchor="ctr"/>
          <a:lstStyle/>
          <a:p>
            <a:pPr marL="0" indent="0">
              <a:buNone/>
            </a:pPr>
            <a:r>
              <a:rPr lang="en-US" sz="1050" b="1" dirty="0">
                <a:solidFill>
                  <a:srgbClr val="F85149"/>
                </a:solidFill>
                <a:latin typeface="Calibri" pitchFamily="34" charset="0"/>
                <a:ea typeface="Calibri" pitchFamily="34" charset="-122"/>
                <a:cs typeface="Calibri" pitchFamily="34" charset="-120"/>
              </a:rPr>
              <a:t>Traversal:  </a:t>
            </a:r>
            <a:r>
              <a:rPr lang="en-US" sz="1050" dirty="0">
                <a:solidFill>
                  <a:srgbClr val="F0F6FC"/>
                </a:solidFill>
                <a:latin typeface="Calibri" pitchFamily="34" charset="0"/>
                <a:ea typeface="Calibri" pitchFamily="34" charset="-122"/>
                <a:cs typeface="Calibri" pitchFamily="34" charset="-120"/>
              </a:rPr>
              <a:t>Step 5 visits every element once → O(N). For 5 students that is 5 reads. For a class of 1,000, it would be 1,000 reads.</a:t>
            </a:r>
            <a:endParaRPr lang="en-US" sz="1050" dirty="0"/>
          </a:p>
        </p:txBody>
      </p:sp>
      <p:sp>
        <p:nvSpPr>
          <p:cNvPr id="42" name="Text 40"/>
          <p:cNvSpPr/>
          <p:nvPr/>
        </p:nvSpPr>
        <p:spPr>
          <a:xfrm>
            <a:off x="4800600" y="4206240"/>
            <a:ext cx="3803904" cy="18288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Final array: [87, 92, 100, 95, 88]  ·  </a:t>
            </a:r>
            <a:r>
              <a:rPr lang="en-US" sz="1000" dirty="0">
                <a:solidFill>
                  <a:srgbClr val="3FD9C4"/>
                </a:solidFill>
                <a:latin typeface="Calibri" pitchFamily="34" charset="0"/>
                <a:ea typeface="Calibri" pitchFamily="34" charset="-122"/>
                <a:cs typeface="Calibri" pitchFamily="34" charset="-120"/>
              </a:rPr>
              <a:t>Total: 462  ·  </a:t>
            </a:r>
            <a:r>
              <a:rPr lang="en-US" sz="1000" dirty="0">
                <a:solidFill>
                  <a:srgbClr val="3FB950"/>
                </a:solidFill>
                <a:latin typeface="Calibri" pitchFamily="34" charset="0"/>
                <a:ea typeface="Calibri" pitchFamily="34" charset="-122"/>
                <a:cs typeface="Calibri" pitchFamily="34" charset="-120"/>
              </a:rPr>
              <a:t>Average: 92.4</a:t>
            </a:r>
            <a:endParaRPr lang="en-US" sz="1000" dirty="0"/>
          </a:p>
        </p:txBody>
      </p:sp>
      <p:sp>
        <p:nvSpPr>
          <p:cNvPr id="43" name="Shape 41"/>
          <p:cNvSpPr/>
          <p:nvPr/>
        </p:nvSpPr>
        <p:spPr>
          <a:xfrm>
            <a:off x="365760" y="4572000"/>
            <a:ext cx="8412480" cy="384048"/>
          </a:xfrm>
          <a:prstGeom prst="rect">
            <a:avLst/>
          </a:prstGeom>
          <a:solidFill>
            <a:srgbClr val="0A1020"/>
          </a:solidFill>
          <a:ln w="12700">
            <a:solidFill>
              <a:srgbClr val="3FD9C4"/>
            </a:solidFill>
            <a:prstDash val="solid"/>
          </a:ln>
        </p:spPr>
        <p:txBody>
          <a:bodyPr/>
          <a:lstStyle/>
          <a:p>
            <a:endParaRPr lang="en-US"/>
          </a:p>
        </p:txBody>
      </p:sp>
      <p:sp>
        <p:nvSpPr>
          <p:cNvPr id="44" name="Text 42"/>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The pattern:  </a:t>
            </a:r>
            <a:r>
              <a:rPr lang="en-US" sz="1100" dirty="0">
                <a:solidFill>
                  <a:srgbClr val="F0F6FC"/>
                </a:solidFill>
                <a:latin typeface="Calibri" pitchFamily="34" charset="0"/>
                <a:ea typeface="Calibri" pitchFamily="34" charset="-122"/>
                <a:cs typeface="Calibri" pitchFamily="34" charset="-120"/>
              </a:rPr>
              <a:t>Almost every program you write follows this same pattern: declare an array, fill it with data, read or update individual slots, and traverse it to compute a result. Master these six moves and you can solve a huge number of problems.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PROS &amp; CONS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Strengths &amp; Limits of Arrays</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What arrays are great at, what they are weak at, and when to use them</a:t>
            </a:r>
            <a:endParaRPr lang="en-US" sz="1300" dirty="0"/>
          </a:p>
        </p:txBody>
      </p:sp>
      <p:sp>
        <p:nvSpPr>
          <p:cNvPr id="7" name="Shape 5"/>
          <p:cNvSpPr/>
          <p:nvPr/>
        </p:nvSpPr>
        <p:spPr>
          <a:xfrm>
            <a:off x="411480" y="1170432"/>
            <a:ext cx="2048256" cy="17830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21208"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Fast Access</a:t>
            </a:r>
            <a:endParaRPr lang="en-US" sz="1100" dirty="0"/>
          </a:p>
        </p:txBody>
      </p:sp>
      <p:sp>
        <p:nvSpPr>
          <p:cNvPr id="10" name="Text 8"/>
          <p:cNvSpPr/>
          <p:nvPr/>
        </p:nvSpPr>
        <p:spPr>
          <a:xfrm>
            <a:off x="521208"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headline strength.</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Read or update any slot in</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O(1) — constant time, no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matter how big the array.</a:t>
            </a:r>
            <a:endParaRPr lang="en-US" sz="1000" dirty="0"/>
          </a:p>
        </p:txBody>
      </p:sp>
      <p:sp>
        <p:nvSpPr>
          <p:cNvPr id="11" name="Shape 9"/>
          <p:cNvSpPr/>
          <p:nvPr/>
        </p:nvSpPr>
        <p:spPr>
          <a:xfrm>
            <a:off x="2587752" y="1170432"/>
            <a:ext cx="2048256" cy="17830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2" name="Shape 10"/>
          <p:cNvSpPr/>
          <p:nvPr/>
        </p:nvSpPr>
        <p:spPr>
          <a:xfrm>
            <a:off x="2587752"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3" name="Text 11"/>
          <p:cNvSpPr/>
          <p:nvPr/>
        </p:nvSpPr>
        <p:spPr>
          <a:xfrm>
            <a:off x="2697480"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Memory-Efficient</a:t>
            </a:r>
            <a:endParaRPr lang="en-US" sz="1100" dirty="0"/>
          </a:p>
        </p:txBody>
      </p:sp>
      <p:sp>
        <p:nvSpPr>
          <p:cNvPr id="14" name="Text 12"/>
          <p:cNvSpPr/>
          <p:nvPr/>
        </p:nvSpPr>
        <p:spPr>
          <a:xfrm>
            <a:off x="2697480"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No hidden overhead.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Just one block of memory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holding the values, packed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tightly side by side.</a:t>
            </a:r>
            <a:endParaRPr lang="en-US" sz="1000" dirty="0"/>
          </a:p>
        </p:txBody>
      </p:sp>
      <p:sp>
        <p:nvSpPr>
          <p:cNvPr id="15" name="Shape 13"/>
          <p:cNvSpPr/>
          <p:nvPr/>
        </p:nvSpPr>
        <p:spPr>
          <a:xfrm>
            <a:off x="4764024" y="1170432"/>
            <a:ext cx="2048256" cy="17830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6" name="Shape 14"/>
          <p:cNvSpPr/>
          <p:nvPr/>
        </p:nvSpPr>
        <p:spPr>
          <a:xfrm>
            <a:off x="4764024"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7" name="Text 15"/>
          <p:cNvSpPr/>
          <p:nvPr/>
        </p:nvSpPr>
        <p:spPr>
          <a:xfrm>
            <a:off x="4873752"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Cache-Friendly</a:t>
            </a:r>
            <a:endParaRPr lang="en-US" sz="1100" dirty="0"/>
          </a:p>
        </p:txBody>
      </p:sp>
      <p:sp>
        <p:nvSpPr>
          <p:cNvPr id="18" name="Text 16"/>
          <p:cNvSpPr/>
          <p:nvPr/>
        </p:nvSpPr>
        <p:spPr>
          <a:xfrm>
            <a:off x="4873752"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hidden speed bonus.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Adjacent slots → CPU cache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loads them together. Loops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over arrays run extra fast.</a:t>
            </a:r>
            <a:endParaRPr lang="en-US" sz="1000" dirty="0"/>
          </a:p>
        </p:txBody>
      </p:sp>
      <p:sp>
        <p:nvSpPr>
          <p:cNvPr id="19" name="Shape 17"/>
          <p:cNvSpPr/>
          <p:nvPr/>
        </p:nvSpPr>
        <p:spPr>
          <a:xfrm>
            <a:off x="6940296" y="1170432"/>
            <a:ext cx="2048256" cy="17830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0" name="Shape 18"/>
          <p:cNvSpPr/>
          <p:nvPr/>
        </p:nvSpPr>
        <p:spPr>
          <a:xfrm>
            <a:off x="6940296"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1" name="Text 19"/>
          <p:cNvSpPr/>
          <p:nvPr/>
        </p:nvSpPr>
        <p:spPr>
          <a:xfrm>
            <a:off x="7050024"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Easy to Loop</a:t>
            </a:r>
            <a:endParaRPr lang="en-US" sz="1100" dirty="0"/>
          </a:p>
        </p:txBody>
      </p:sp>
      <p:sp>
        <p:nvSpPr>
          <p:cNvPr id="22" name="Text 20"/>
          <p:cNvSpPr/>
          <p:nvPr/>
        </p:nvSpPr>
        <p:spPr>
          <a:xfrm>
            <a:off x="7050024"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Built for iteration.</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FOR i = 0 TO length - 1</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visits every element. Pairs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perfectly with every algorithm.</a:t>
            </a:r>
            <a:endParaRPr lang="en-US" sz="1000" dirty="0"/>
          </a:p>
        </p:txBody>
      </p:sp>
      <p:sp>
        <p:nvSpPr>
          <p:cNvPr id="23" name="Shape 21"/>
          <p:cNvSpPr/>
          <p:nvPr/>
        </p:nvSpPr>
        <p:spPr>
          <a:xfrm>
            <a:off x="411480" y="3072384"/>
            <a:ext cx="2048256" cy="17830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24" name="Shape 22"/>
          <p:cNvSpPr/>
          <p:nvPr/>
        </p:nvSpPr>
        <p:spPr>
          <a:xfrm>
            <a:off x="411480" y="3072384"/>
            <a:ext cx="2048256"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25" name="Text 23"/>
          <p:cNvSpPr/>
          <p:nvPr/>
        </p:nvSpPr>
        <p:spPr>
          <a:xfrm>
            <a:off x="521208"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Fixed Size</a:t>
            </a:r>
            <a:endParaRPr lang="en-US" sz="1100" dirty="0"/>
          </a:p>
        </p:txBody>
      </p:sp>
      <p:sp>
        <p:nvSpPr>
          <p:cNvPr id="26" name="Text 24"/>
          <p:cNvSpPr/>
          <p:nvPr/>
        </p:nvSpPr>
        <p:spPr>
          <a:xfrm>
            <a:off x="521208"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biggest catch.</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Once you create an array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of size N, it stays size N.</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Need more? Make a new one.</a:t>
            </a:r>
            <a:endParaRPr lang="en-US" sz="1000" dirty="0"/>
          </a:p>
        </p:txBody>
      </p:sp>
      <p:sp>
        <p:nvSpPr>
          <p:cNvPr id="27" name="Shape 25"/>
          <p:cNvSpPr/>
          <p:nvPr/>
        </p:nvSpPr>
        <p:spPr>
          <a:xfrm>
            <a:off x="2587752" y="3072384"/>
            <a:ext cx="2048256" cy="1783080"/>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2587752" y="3072384"/>
            <a:ext cx="2048256"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29" name="Text 27"/>
          <p:cNvSpPr/>
          <p:nvPr/>
        </p:nvSpPr>
        <p:spPr>
          <a:xfrm>
            <a:off x="2697480"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Slow Insert/Delete</a:t>
            </a:r>
            <a:endParaRPr lang="en-US" sz="1100" dirty="0"/>
          </a:p>
        </p:txBody>
      </p:sp>
      <p:sp>
        <p:nvSpPr>
          <p:cNvPr id="30" name="Text 28"/>
          <p:cNvSpPr/>
          <p:nvPr/>
        </p:nvSpPr>
        <p:spPr>
          <a:xfrm>
            <a:off x="2697480"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other big limit.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Inserting in the middle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requires shifting every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following element. O(N).</a:t>
            </a:r>
            <a:endParaRPr lang="en-US" sz="1000" dirty="0"/>
          </a:p>
        </p:txBody>
      </p:sp>
      <p:sp>
        <p:nvSpPr>
          <p:cNvPr id="31" name="Shape 29"/>
          <p:cNvSpPr/>
          <p:nvPr/>
        </p:nvSpPr>
        <p:spPr>
          <a:xfrm>
            <a:off x="4764024" y="3072384"/>
            <a:ext cx="2048256" cy="17830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32" name="Shape 30"/>
          <p:cNvSpPr/>
          <p:nvPr/>
        </p:nvSpPr>
        <p:spPr>
          <a:xfrm>
            <a:off x="4764024" y="3072384"/>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33" name="Text 31"/>
          <p:cNvSpPr/>
          <p:nvPr/>
        </p:nvSpPr>
        <p:spPr>
          <a:xfrm>
            <a:off x="4873752"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One Type Only</a:t>
            </a:r>
            <a:endParaRPr lang="en-US" sz="1100" dirty="0"/>
          </a:p>
        </p:txBody>
      </p:sp>
      <p:sp>
        <p:nvSpPr>
          <p:cNvPr id="34" name="Text 32"/>
          <p:cNvSpPr/>
          <p:nvPr/>
        </p:nvSpPr>
        <p:spPr>
          <a:xfrm>
            <a:off x="4873752"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Strict but enabling.</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Every slot must hold the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same data type. This is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what makes O(1) access work.</a:t>
            </a:r>
            <a:endParaRPr lang="en-US" sz="1000" dirty="0"/>
          </a:p>
        </p:txBody>
      </p:sp>
      <p:sp>
        <p:nvSpPr>
          <p:cNvPr id="35" name="Shape 33"/>
          <p:cNvSpPr/>
          <p:nvPr/>
        </p:nvSpPr>
        <p:spPr>
          <a:xfrm>
            <a:off x="6940296" y="3072384"/>
            <a:ext cx="2048256" cy="1783080"/>
          </a:xfrm>
          <a:prstGeom prst="rect">
            <a:avLst/>
          </a:prstGeom>
          <a:solidFill>
            <a:srgbClr val="161B26"/>
          </a:solidFill>
          <a:ln w="15240">
            <a:solidFill>
              <a:srgbClr val="F778BA"/>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6940296" y="3072384"/>
            <a:ext cx="2048256" cy="329184"/>
          </a:xfrm>
          <a:prstGeom prst="rect">
            <a:avLst/>
          </a:prstGeom>
          <a:solidFill>
            <a:srgbClr val="F778BA">
              <a:alpha val="78000"/>
            </a:srgbClr>
          </a:solidFill>
          <a:ln w="12700">
            <a:solidFill>
              <a:srgbClr val="F778BA"/>
            </a:solidFill>
            <a:prstDash val="solid"/>
          </a:ln>
        </p:spPr>
        <p:txBody>
          <a:bodyPr/>
          <a:lstStyle/>
          <a:p>
            <a:endParaRPr lang="en-US"/>
          </a:p>
        </p:txBody>
      </p:sp>
      <p:sp>
        <p:nvSpPr>
          <p:cNvPr id="37" name="Text 35"/>
          <p:cNvSpPr/>
          <p:nvPr/>
        </p:nvSpPr>
        <p:spPr>
          <a:xfrm>
            <a:off x="7050024"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Use Arrays When</a:t>
            </a:r>
            <a:endParaRPr lang="en-US" sz="1100" dirty="0"/>
          </a:p>
        </p:txBody>
      </p:sp>
      <p:sp>
        <p:nvSpPr>
          <p:cNvPr id="38" name="Text 36"/>
          <p:cNvSpPr/>
          <p:nvPr/>
        </p:nvSpPr>
        <p:spPr>
          <a:xfrm>
            <a:off x="7050024"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right tool when:</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Size is known up front,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access by index dominates,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and inserts are rare.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8"/>
          <p:cNvSpPr txBox="1">
            <a:spLocks noGrp="1"/>
          </p:cNvSpPr>
          <p:nvPr>
            <p:ph type="title"/>
          </p:nvPr>
        </p:nvSpPr>
        <p:spPr>
          <a:xfrm>
            <a:off x="5548225" y="2230950"/>
            <a:ext cx="3062100" cy="681600"/>
          </a:xfrm>
          <a:prstGeom prst="rect">
            <a:avLst/>
          </a:prstGeom>
        </p:spPr>
        <p:txBody>
          <a:bodyPr spcFirstLastPara="1" wrap="square" lIns="91425" tIns="91425" rIns="91425" bIns="91425" anchor="b" anchorCtr="0">
            <a:normAutofit fontScale="90000"/>
          </a:bodyPr>
          <a:lstStyle/>
          <a:p>
            <a:pPr marL="0" lvl="0" indent="0" algn="r" rtl="0">
              <a:spcBef>
                <a:spcPts val="0"/>
              </a:spcBef>
              <a:spcAft>
                <a:spcPts val="0"/>
              </a:spcAft>
              <a:buNone/>
            </a:pPr>
            <a:r>
              <a:rPr lang="en"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580" name="Google Shape;580;p38"/>
          <p:cNvSpPr txBox="1">
            <a:spLocks noGrp="1"/>
          </p:cNvSpPr>
          <p:nvPr>
            <p:ph type="ctrTitle" idx="4294967295"/>
          </p:nvPr>
        </p:nvSpPr>
        <p:spPr>
          <a:xfrm>
            <a:off x="4166050" y="2870075"/>
            <a:ext cx="4444200" cy="57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SzPts val="990"/>
              <a:buNone/>
            </a:pPr>
            <a:r>
              <a:rPr lang="en" sz="2900" b="1">
                <a:solidFill>
                  <a:schemeClr val="lt1"/>
                </a:solidFill>
                <a:latin typeface="IBM Plex Sans Arabic"/>
                <a:ea typeface="IBM Plex Sans Arabic"/>
                <a:cs typeface="IBM Plex Sans Arabic"/>
                <a:sym typeface="IBM Plex Sans Arabic"/>
              </a:rPr>
              <a:t>THANK YOU</a:t>
            </a:r>
            <a:endParaRPr sz="2900" b="1">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31174</TotalTime>
  <Words>2233</Words>
  <Application>Microsoft Office PowerPoint</Application>
  <PresentationFormat>On-screen Show (16:9)</PresentationFormat>
  <Paragraphs>385</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Consolas</vt:lpstr>
      <vt:lpstr>IBM Plex Sans Arabic Medium</vt:lpstr>
      <vt:lpstr>IBM Plex Sans Arabic</vt:lpstr>
      <vt:lpstr>Calibri</vt:lpstr>
      <vt:lpstr>Tajawal</vt:lpstr>
      <vt:lpstr>IBM Plex Sans Arabic SemiBold</vt:lpstr>
      <vt:lpstr>Simple Light</vt:lpstr>
      <vt:lpstr>أكـــــاديميــــة طــــويـــق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Ahmed Al-Hadari</dc:creator>
  <cp:lastModifiedBy>Ahmed Alhussein</cp:lastModifiedBy>
  <cp:revision>258</cp:revision>
  <dcterms:modified xsi:type="dcterms:W3CDTF">2026-05-02T09:17:54Z</dcterms:modified>
</cp:coreProperties>
</file>