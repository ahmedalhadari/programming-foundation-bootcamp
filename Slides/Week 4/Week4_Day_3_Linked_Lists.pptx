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541" r:id="rId3"/>
    <p:sldId id="542" r:id="rId4"/>
    <p:sldId id="258" r:id="rId5"/>
    <p:sldId id="519" r:id="rId6"/>
    <p:sldId id="257" r:id="rId7"/>
    <p:sldId id="509" r:id="rId8"/>
    <p:sldId id="502" r:id="rId9"/>
    <p:sldId id="521" r:id="rId10"/>
    <p:sldId id="508" r:id="rId11"/>
    <p:sldId id="520" r:id="rId12"/>
    <p:sldId id="531" r:id="rId13"/>
    <p:sldId id="522" r:id="rId14"/>
    <p:sldId id="528" r:id="rId15"/>
    <p:sldId id="281" r:id="rId16"/>
  </p:sldIdLst>
  <p:sldSz cx="9144000" cy="5143500" type="screen16x9"/>
  <p:notesSz cx="6858000" cy="9144000"/>
  <p:embeddedFontLst>
    <p:embeddedFont>
      <p:font typeface="Consolas" panose="020B0609020204030204" pitchFamily="49" charset="0"/>
      <p:regular r:id="rId18"/>
      <p:bold r:id="rId19"/>
      <p:italic r:id="rId20"/>
      <p:boldItalic r:id="rId21"/>
    </p:embeddedFont>
    <p:embeddedFont>
      <p:font typeface="IBM Plex Sans Arabic" panose="020B0604020202020204" charset="-78"/>
      <p:regular r:id="rId22"/>
      <p:bold r:id="rId23"/>
    </p:embeddedFont>
    <p:embeddedFont>
      <p:font typeface="IBM Plex Sans Arabic Medium" panose="020B0604020202020204" charset="-78"/>
      <p:regular r:id="rId24"/>
      <p:bold r:id="rId25"/>
    </p:embeddedFont>
    <p:embeddedFont>
      <p:font typeface="IBM Plex Sans Arabic SemiBold" panose="020B0604020202020204" charset="-78"/>
      <p:regular r:id="rId26"/>
      <p:bold r:id="rId27"/>
    </p:embeddedFont>
    <p:embeddedFont>
      <p:font typeface="Tajawal" panose="020B0604020202020204" charset="-78"/>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2E0367-EB9C-4807-88CA-1A682D9BA7E9}">
  <a:tblStyle styleId="{922E0367-EB9C-4807-88CA-1A682D9BA7E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8"/>
      </p:cViewPr>
      <p:guideLst>
        <p:guide orient="horz" pos="524"/>
        <p:guide orient="horz" pos="2560"/>
        <p:guide pos="2880"/>
        <p:guide orient="horz" pos="759"/>
        <p:guide orient="horz" pos="2428"/>
        <p:guide pos="5325"/>
        <p:guide orient="horz" pos="9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a09276e83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01729062-C001-1BC3-21F3-013B25C79AB2}"/>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A4925C8B-74A4-6D0E-A1F6-3ED5AFE79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40070772-E495-65C8-BB68-C028467C2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7672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5C67915C-273D-DB22-68F9-4062B5581949}"/>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706FDF88-2753-8D55-AD1A-6D580D9CEA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B56EB0F5-1310-85DC-E000-8F4BA8E56A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263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5ACD813-A344-EA14-2585-22D87E60A06E}"/>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9AE6DE2A-13CA-F834-C6C6-D9FFB6543A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56AAAFB3-7192-6462-847D-721D6FC67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7988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a09276e835_1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a09276e835_1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300"/>
              <a:buFont typeface="Tajawal"/>
              <a:buNone/>
              <a:defRPr sz="4300" b="1">
                <a:latin typeface="Tajawal"/>
                <a:ea typeface="Tajawal"/>
                <a:cs typeface="Tajawal"/>
                <a:sym typeface="Tajawal"/>
              </a:defRPr>
            </a:lvl1pPr>
            <a:lvl2pPr lvl="1" algn="ctr">
              <a:spcBef>
                <a:spcPts val="0"/>
              </a:spcBef>
              <a:spcAft>
                <a:spcPts val="0"/>
              </a:spcAft>
              <a:buSzPts val="4900"/>
              <a:buFont typeface="Tajawal"/>
              <a:buNone/>
              <a:defRPr sz="4900">
                <a:latin typeface="Tajawal"/>
                <a:ea typeface="Tajawal"/>
                <a:cs typeface="Tajawal"/>
                <a:sym typeface="Tajawal"/>
              </a:defRPr>
            </a:lvl2pPr>
            <a:lvl3pPr lvl="2" algn="ctr">
              <a:spcBef>
                <a:spcPts val="0"/>
              </a:spcBef>
              <a:spcAft>
                <a:spcPts val="0"/>
              </a:spcAft>
              <a:buSzPts val="4900"/>
              <a:buFont typeface="Tajawal"/>
              <a:buNone/>
              <a:defRPr sz="4900">
                <a:latin typeface="Tajawal"/>
                <a:ea typeface="Tajawal"/>
                <a:cs typeface="Tajawal"/>
                <a:sym typeface="Tajawal"/>
              </a:defRPr>
            </a:lvl3pPr>
            <a:lvl4pPr lvl="3" algn="ctr">
              <a:spcBef>
                <a:spcPts val="0"/>
              </a:spcBef>
              <a:spcAft>
                <a:spcPts val="0"/>
              </a:spcAft>
              <a:buSzPts val="4900"/>
              <a:buFont typeface="Tajawal"/>
              <a:buNone/>
              <a:defRPr sz="4900">
                <a:latin typeface="Tajawal"/>
                <a:ea typeface="Tajawal"/>
                <a:cs typeface="Tajawal"/>
                <a:sym typeface="Tajawal"/>
              </a:defRPr>
            </a:lvl4pPr>
            <a:lvl5pPr lvl="4" algn="ctr">
              <a:spcBef>
                <a:spcPts val="0"/>
              </a:spcBef>
              <a:spcAft>
                <a:spcPts val="0"/>
              </a:spcAft>
              <a:buSzPts val="4900"/>
              <a:buFont typeface="Tajawal"/>
              <a:buNone/>
              <a:defRPr sz="4900">
                <a:latin typeface="Tajawal"/>
                <a:ea typeface="Tajawal"/>
                <a:cs typeface="Tajawal"/>
                <a:sym typeface="Tajawal"/>
              </a:defRPr>
            </a:lvl5pPr>
            <a:lvl6pPr lvl="5" algn="ctr">
              <a:spcBef>
                <a:spcPts val="0"/>
              </a:spcBef>
              <a:spcAft>
                <a:spcPts val="0"/>
              </a:spcAft>
              <a:buSzPts val="4900"/>
              <a:buFont typeface="Tajawal"/>
              <a:buNone/>
              <a:defRPr sz="4900">
                <a:latin typeface="Tajawal"/>
                <a:ea typeface="Tajawal"/>
                <a:cs typeface="Tajawal"/>
                <a:sym typeface="Tajawal"/>
              </a:defRPr>
            </a:lvl6pPr>
            <a:lvl7pPr lvl="6" algn="ctr">
              <a:spcBef>
                <a:spcPts val="0"/>
              </a:spcBef>
              <a:spcAft>
                <a:spcPts val="0"/>
              </a:spcAft>
              <a:buSzPts val="4900"/>
              <a:buFont typeface="Tajawal"/>
              <a:buNone/>
              <a:defRPr sz="4900">
                <a:latin typeface="Tajawal"/>
                <a:ea typeface="Tajawal"/>
                <a:cs typeface="Tajawal"/>
                <a:sym typeface="Tajawal"/>
              </a:defRPr>
            </a:lvl7pPr>
            <a:lvl8pPr lvl="7" algn="ctr">
              <a:spcBef>
                <a:spcPts val="0"/>
              </a:spcBef>
              <a:spcAft>
                <a:spcPts val="0"/>
              </a:spcAft>
              <a:buSzPts val="4900"/>
              <a:buFont typeface="Tajawal"/>
              <a:buNone/>
              <a:defRPr sz="4900">
                <a:latin typeface="Tajawal"/>
                <a:ea typeface="Tajawal"/>
                <a:cs typeface="Tajawal"/>
                <a:sym typeface="Tajawal"/>
              </a:defRPr>
            </a:lvl8pPr>
            <a:lvl9pPr lvl="8" algn="ctr">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500"/>
              <a:buFont typeface="Tajawal"/>
              <a:buNone/>
              <a:defRPr sz="2500">
                <a:latin typeface="Tajawal"/>
                <a:ea typeface="Tajawal"/>
                <a:cs typeface="Tajawal"/>
                <a:sym typeface="Tajawal"/>
              </a:defRPr>
            </a:lvl1pPr>
            <a:lvl2pPr lv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algn="ctr">
              <a:lnSpc>
                <a:spcPct val="100000"/>
              </a:lnSpc>
              <a:spcBef>
                <a:spcPts val="0"/>
              </a:spcBef>
              <a:spcAft>
                <a:spcPts val="0"/>
              </a:spcAft>
              <a:buSzPts val="2500"/>
              <a:buFont typeface="Tajawal"/>
              <a:buNone/>
              <a:defRPr sz="2500">
                <a:latin typeface="Tajawal"/>
                <a:ea typeface="Tajawal"/>
                <a:cs typeface="Tajawal"/>
                <a:sym typeface="Tajawal"/>
              </a:defRPr>
            </a:lvl3pPr>
            <a:lvl4pPr lvl="3" algn="ctr">
              <a:lnSpc>
                <a:spcPct val="100000"/>
              </a:lnSpc>
              <a:spcBef>
                <a:spcPts val="0"/>
              </a:spcBef>
              <a:spcAft>
                <a:spcPts val="0"/>
              </a:spcAft>
              <a:buSzPts val="2500"/>
              <a:buFont typeface="Tajawal"/>
              <a:buNone/>
              <a:defRPr sz="2500">
                <a:latin typeface="Tajawal"/>
                <a:ea typeface="Tajawal"/>
                <a:cs typeface="Tajawal"/>
                <a:sym typeface="Tajawal"/>
              </a:defRPr>
            </a:lvl4pPr>
            <a:lvl5pPr lvl="4" algn="ctr">
              <a:lnSpc>
                <a:spcPct val="100000"/>
              </a:lnSpc>
              <a:spcBef>
                <a:spcPts val="0"/>
              </a:spcBef>
              <a:spcAft>
                <a:spcPts val="0"/>
              </a:spcAft>
              <a:buSzPts val="2500"/>
              <a:buFont typeface="Tajawal"/>
              <a:buNone/>
              <a:defRPr sz="2500">
                <a:latin typeface="Tajawal"/>
                <a:ea typeface="Tajawal"/>
                <a:cs typeface="Tajawal"/>
                <a:sym typeface="Tajawal"/>
              </a:defRPr>
            </a:lvl5pPr>
            <a:lvl6pPr lvl="5" algn="ctr">
              <a:lnSpc>
                <a:spcPct val="100000"/>
              </a:lnSpc>
              <a:spcBef>
                <a:spcPts val="0"/>
              </a:spcBef>
              <a:spcAft>
                <a:spcPts val="0"/>
              </a:spcAft>
              <a:buSzPts val="2500"/>
              <a:buFont typeface="Tajawal"/>
              <a:buNone/>
              <a:defRPr sz="2500">
                <a:latin typeface="Tajawal"/>
                <a:ea typeface="Tajawal"/>
                <a:cs typeface="Tajawal"/>
                <a:sym typeface="Tajawal"/>
              </a:defRPr>
            </a:lvl6pPr>
            <a:lvl7pPr lvl="6" algn="ctr">
              <a:lnSpc>
                <a:spcPct val="100000"/>
              </a:lnSpc>
              <a:spcBef>
                <a:spcPts val="0"/>
              </a:spcBef>
              <a:spcAft>
                <a:spcPts val="0"/>
              </a:spcAft>
              <a:buSzPts val="2500"/>
              <a:buFont typeface="Tajawal"/>
              <a:buNone/>
              <a:defRPr sz="2500">
                <a:latin typeface="Tajawal"/>
                <a:ea typeface="Tajawal"/>
                <a:cs typeface="Tajawal"/>
                <a:sym typeface="Tajawal"/>
              </a:defRPr>
            </a:lvl7pPr>
            <a:lvl8pPr lvl="7" algn="ctr">
              <a:lnSpc>
                <a:spcPct val="100000"/>
              </a:lnSpc>
              <a:spcBef>
                <a:spcPts val="0"/>
              </a:spcBef>
              <a:spcAft>
                <a:spcPts val="0"/>
              </a:spcAft>
              <a:buSzPts val="2500"/>
              <a:buFont typeface="Tajawal"/>
              <a:buNone/>
              <a:defRPr sz="2500">
                <a:latin typeface="Tajawal"/>
                <a:ea typeface="Tajawal"/>
                <a:cs typeface="Tajawal"/>
                <a:sym typeface="Tajawal"/>
              </a:defRPr>
            </a:lvl8pPr>
            <a:lvl9pPr lvl="8" algn="ctr">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1">
              <a:spcBef>
                <a:spcPts val="0"/>
              </a:spcBef>
              <a:spcAft>
                <a:spcPts val="0"/>
              </a:spcAft>
              <a:buSzPts val="3600"/>
              <a:buFont typeface="Tajawal"/>
              <a:buNone/>
              <a:defRPr sz="3600">
                <a:latin typeface="Tajawal"/>
                <a:ea typeface="Tajawal"/>
                <a:cs typeface="Tajawal"/>
                <a:sym typeface="Tajawal"/>
              </a:defRPr>
            </a:lvl1pPr>
            <a:lvl2pPr lvl="1" algn="ctr">
              <a:spcBef>
                <a:spcPts val="0"/>
              </a:spcBef>
              <a:spcAft>
                <a:spcPts val="0"/>
              </a:spcAft>
              <a:buSzPts val="3600"/>
              <a:buFont typeface="Tajawal"/>
              <a:buNone/>
              <a:defRPr sz="3600">
                <a:latin typeface="Tajawal"/>
                <a:ea typeface="Tajawal"/>
                <a:cs typeface="Tajawal"/>
                <a:sym typeface="Tajawal"/>
              </a:defRPr>
            </a:lvl2pPr>
            <a:lvl3pPr lvl="2" algn="ctr">
              <a:spcBef>
                <a:spcPts val="0"/>
              </a:spcBef>
              <a:spcAft>
                <a:spcPts val="0"/>
              </a:spcAft>
              <a:buSzPts val="3600"/>
              <a:buFont typeface="Tajawal"/>
              <a:buNone/>
              <a:defRPr sz="3600">
                <a:latin typeface="Tajawal"/>
                <a:ea typeface="Tajawal"/>
                <a:cs typeface="Tajawal"/>
                <a:sym typeface="Tajawal"/>
              </a:defRPr>
            </a:lvl3pPr>
            <a:lvl4pPr lvl="3" algn="ctr">
              <a:spcBef>
                <a:spcPts val="0"/>
              </a:spcBef>
              <a:spcAft>
                <a:spcPts val="0"/>
              </a:spcAft>
              <a:buSzPts val="3600"/>
              <a:buFont typeface="Tajawal"/>
              <a:buNone/>
              <a:defRPr sz="3600">
                <a:latin typeface="Tajawal"/>
                <a:ea typeface="Tajawal"/>
                <a:cs typeface="Tajawal"/>
                <a:sym typeface="Tajawal"/>
              </a:defRPr>
            </a:lvl4pPr>
            <a:lvl5pPr lvl="4" algn="ctr">
              <a:spcBef>
                <a:spcPts val="0"/>
              </a:spcBef>
              <a:spcAft>
                <a:spcPts val="0"/>
              </a:spcAft>
              <a:buSzPts val="3600"/>
              <a:buFont typeface="Tajawal"/>
              <a:buNone/>
              <a:defRPr sz="3600">
                <a:latin typeface="Tajawal"/>
                <a:ea typeface="Tajawal"/>
                <a:cs typeface="Tajawal"/>
                <a:sym typeface="Tajawal"/>
              </a:defRPr>
            </a:lvl5pPr>
            <a:lvl6pPr lvl="5" algn="ctr">
              <a:spcBef>
                <a:spcPts val="0"/>
              </a:spcBef>
              <a:spcAft>
                <a:spcPts val="0"/>
              </a:spcAft>
              <a:buSzPts val="3600"/>
              <a:buFont typeface="Tajawal"/>
              <a:buNone/>
              <a:defRPr sz="3600">
                <a:latin typeface="Tajawal"/>
                <a:ea typeface="Tajawal"/>
                <a:cs typeface="Tajawal"/>
                <a:sym typeface="Tajawal"/>
              </a:defRPr>
            </a:lvl6pPr>
            <a:lvl7pPr lvl="6" algn="ctr">
              <a:spcBef>
                <a:spcPts val="0"/>
              </a:spcBef>
              <a:spcAft>
                <a:spcPts val="0"/>
              </a:spcAft>
              <a:buSzPts val="3600"/>
              <a:buFont typeface="Tajawal"/>
              <a:buNone/>
              <a:defRPr sz="3600">
                <a:latin typeface="Tajawal"/>
                <a:ea typeface="Tajawal"/>
                <a:cs typeface="Tajawal"/>
                <a:sym typeface="Tajawal"/>
              </a:defRPr>
            </a:lvl7pPr>
            <a:lvl8pPr lvl="7" algn="ctr">
              <a:spcBef>
                <a:spcPts val="0"/>
              </a:spcBef>
              <a:spcAft>
                <a:spcPts val="0"/>
              </a:spcAft>
              <a:buSzPts val="3600"/>
              <a:buFont typeface="Tajawal"/>
              <a:buNone/>
              <a:defRPr sz="3600">
                <a:latin typeface="Tajawal"/>
                <a:ea typeface="Tajawal"/>
                <a:cs typeface="Tajawal"/>
                <a:sym typeface="Tajawal"/>
              </a:defRPr>
            </a:lvl8pPr>
            <a:lvl9pPr lvl="8" algn="ctr">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5"/>
          <p:cNvSpPr txBox="1">
            <a:spLocks noGrp="1"/>
          </p:cNvSpPr>
          <p:nvPr>
            <p:ph type="title"/>
          </p:nvPr>
        </p:nvSpPr>
        <p:spPr>
          <a:xfrm>
            <a:off x="2079450" y="714175"/>
            <a:ext cx="6707400" cy="777300"/>
          </a:xfrm>
          <a:prstGeom prst="rect">
            <a:avLst/>
          </a:prstGeom>
        </p:spPr>
        <p:txBody>
          <a:bodyPr spcFirstLastPara="1" wrap="square" lIns="91425" tIns="91425" rIns="91425" bIns="91425" anchor="t" anchorCtr="0">
            <a:normAutofit/>
          </a:bodyPr>
          <a:lstStyle>
            <a:lvl1pPr lvl="0" rtl="1">
              <a:spcBef>
                <a:spcPts val="0"/>
              </a:spcBef>
              <a:spcAft>
                <a:spcPts val="0"/>
              </a:spcAft>
              <a:buClr>
                <a:srgbClr val="543198"/>
              </a:buClr>
              <a:buSzPts val="2500"/>
              <a:buNone/>
              <a:defRPr b="1">
                <a:solidFill>
                  <a:srgbClr val="543198"/>
                </a:solidFill>
              </a:defRPr>
            </a:lvl1pPr>
            <a:lvl2pPr lvl="1" rtl="0">
              <a:spcBef>
                <a:spcPts val="0"/>
              </a:spcBef>
              <a:spcAft>
                <a:spcPts val="0"/>
              </a:spcAft>
              <a:buClr>
                <a:srgbClr val="543198"/>
              </a:buClr>
              <a:buSzPts val="2800"/>
              <a:buNone/>
              <a:defRPr b="1">
                <a:solidFill>
                  <a:srgbClr val="543198"/>
                </a:solidFill>
              </a:defRPr>
            </a:lvl2pPr>
            <a:lvl3pPr lvl="2" rtl="0">
              <a:spcBef>
                <a:spcPts val="0"/>
              </a:spcBef>
              <a:spcAft>
                <a:spcPts val="0"/>
              </a:spcAft>
              <a:buClr>
                <a:srgbClr val="543198"/>
              </a:buClr>
              <a:buSzPts val="2800"/>
              <a:buNone/>
              <a:defRPr b="1">
                <a:solidFill>
                  <a:srgbClr val="543198"/>
                </a:solidFill>
              </a:defRPr>
            </a:lvl3pPr>
            <a:lvl4pPr lvl="3" rtl="0">
              <a:spcBef>
                <a:spcPts val="0"/>
              </a:spcBef>
              <a:spcAft>
                <a:spcPts val="0"/>
              </a:spcAft>
              <a:buClr>
                <a:srgbClr val="543198"/>
              </a:buClr>
              <a:buSzPts val="2800"/>
              <a:buNone/>
              <a:defRPr b="1">
                <a:solidFill>
                  <a:srgbClr val="543198"/>
                </a:solidFill>
              </a:defRPr>
            </a:lvl4pPr>
            <a:lvl5pPr lvl="4" rtl="0">
              <a:spcBef>
                <a:spcPts val="0"/>
              </a:spcBef>
              <a:spcAft>
                <a:spcPts val="0"/>
              </a:spcAft>
              <a:buClr>
                <a:srgbClr val="543198"/>
              </a:buClr>
              <a:buSzPts val="2800"/>
              <a:buNone/>
              <a:defRPr b="1">
                <a:solidFill>
                  <a:srgbClr val="543198"/>
                </a:solidFill>
              </a:defRPr>
            </a:lvl5pPr>
            <a:lvl6pPr lvl="5" rtl="0">
              <a:spcBef>
                <a:spcPts val="0"/>
              </a:spcBef>
              <a:spcAft>
                <a:spcPts val="0"/>
              </a:spcAft>
              <a:buClr>
                <a:srgbClr val="543198"/>
              </a:buClr>
              <a:buSzPts val="2800"/>
              <a:buNone/>
              <a:defRPr b="1">
                <a:solidFill>
                  <a:srgbClr val="543198"/>
                </a:solidFill>
              </a:defRPr>
            </a:lvl6pPr>
            <a:lvl7pPr lvl="6" rtl="0">
              <a:spcBef>
                <a:spcPts val="0"/>
              </a:spcBef>
              <a:spcAft>
                <a:spcPts val="0"/>
              </a:spcAft>
              <a:buClr>
                <a:srgbClr val="543198"/>
              </a:buClr>
              <a:buSzPts val="2800"/>
              <a:buNone/>
              <a:defRPr b="1">
                <a:solidFill>
                  <a:srgbClr val="543198"/>
                </a:solidFill>
              </a:defRPr>
            </a:lvl7pPr>
            <a:lvl8pPr lvl="7" rtl="0">
              <a:spcBef>
                <a:spcPts val="0"/>
              </a:spcBef>
              <a:spcAft>
                <a:spcPts val="0"/>
              </a:spcAft>
              <a:buClr>
                <a:srgbClr val="543198"/>
              </a:buClr>
              <a:buSzPts val="2800"/>
              <a:buNone/>
              <a:defRPr b="1">
                <a:solidFill>
                  <a:srgbClr val="543198"/>
                </a:solidFill>
              </a:defRPr>
            </a:lvl8pPr>
            <a:lvl9pPr lvl="8" rtl="0">
              <a:spcBef>
                <a:spcPts val="0"/>
              </a:spcBef>
              <a:spcAft>
                <a:spcPts val="0"/>
              </a:spcAft>
              <a:buClr>
                <a:srgbClr val="543198"/>
              </a:buClr>
              <a:buSzPts val="2800"/>
              <a:buNone/>
              <a:defRPr b="1">
                <a:solidFill>
                  <a:srgbClr val="543198"/>
                </a:solidFill>
              </a:defRPr>
            </a:lvl9pPr>
          </a:lstStyle>
          <a:p>
            <a:endParaRPr/>
          </a:p>
        </p:txBody>
      </p:sp>
      <p:sp>
        <p:nvSpPr>
          <p:cNvPr id="23" name="Google Shape;23;p5"/>
          <p:cNvSpPr txBox="1">
            <a:spLocks noGrp="1"/>
          </p:cNvSpPr>
          <p:nvPr>
            <p:ph type="body" idx="1"/>
          </p:nvPr>
        </p:nvSpPr>
        <p:spPr>
          <a:xfrm>
            <a:off x="2758650" y="1526325"/>
            <a:ext cx="6028200" cy="1757400"/>
          </a:xfrm>
          <a:prstGeom prst="rect">
            <a:avLst/>
          </a:prstGeom>
        </p:spPr>
        <p:txBody>
          <a:bodyPr spcFirstLastPara="1" wrap="square" lIns="91425" tIns="91425" rIns="91425" bIns="91425" anchor="t" anchorCtr="0">
            <a:normAutofit/>
          </a:bodyPr>
          <a:lstStyle>
            <a:lvl1pPr marL="457200" lvl="0" indent="-342900" rtl="1">
              <a:spcBef>
                <a:spcPts val="0"/>
              </a:spcBef>
              <a:spcAft>
                <a:spcPts val="0"/>
              </a:spcAft>
              <a:buClr>
                <a:srgbClr val="424242"/>
              </a:buClr>
              <a:buSzPts val="1800"/>
              <a:buChar char="●"/>
              <a:defRPr>
                <a:solidFill>
                  <a:srgbClr val="424242"/>
                </a:solidFill>
              </a:defRPr>
            </a:lvl1pPr>
            <a:lvl2pPr marL="914400" lvl="1" indent="-317500" rtl="1">
              <a:spcBef>
                <a:spcPts val="0"/>
              </a:spcBef>
              <a:spcAft>
                <a:spcPts val="0"/>
              </a:spcAft>
              <a:buClr>
                <a:srgbClr val="424242"/>
              </a:buClr>
              <a:buSzPts val="1400"/>
              <a:buChar char="○"/>
              <a:defRPr>
                <a:solidFill>
                  <a:srgbClr val="424242"/>
                </a:solidFill>
              </a:defRPr>
            </a:lvl2pPr>
            <a:lvl3pPr marL="1371600" lvl="2" indent="-317500" rtl="1">
              <a:spcBef>
                <a:spcPts val="0"/>
              </a:spcBef>
              <a:spcAft>
                <a:spcPts val="0"/>
              </a:spcAft>
              <a:buClr>
                <a:srgbClr val="424242"/>
              </a:buClr>
              <a:buSzPts val="1400"/>
              <a:buChar char="■"/>
              <a:defRPr>
                <a:solidFill>
                  <a:srgbClr val="424242"/>
                </a:solidFill>
              </a:defRPr>
            </a:lvl3pPr>
            <a:lvl4pPr marL="1828800" lvl="3" indent="-317500" rtl="1">
              <a:spcBef>
                <a:spcPts val="0"/>
              </a:spcBef>
              <a:spcAft>
                <a:spcPts val="0"/>
              </a:spcAft>
              <a:buClr>
                <a:srgbClr val="424242"/>
              </a:buClr>
              <a:buSzPts val="1400"/>
              <a:buChar char="●"/>
              <a:defRPr>
                <a:solidFill>
                  <a:srgbClr val="424242"/>
                </a:solidFill>
              </a:defRPr>
            </a:lvl4pPr>
            <a:lvl5pPr marL="2286000" lvl="4" indent="-317500" rtl="1">
              <a:spcBef>
                <a:spcPts val="0"/>
              </a:spcBef>
              <a:spcAft>
                <a:spcPts val="0"/>
              </a:spcAft>
              <a:buClr>
                <a:srgbClr val="424242"/>
              </a:buClr>
              <a:buSzPts val="1400"/>
              <a:buChar char="○"/>
              <a:defRPr>
                <a:solidFill>
                  <a:srgbClr val="424242"/>
                </a:solidFill>
              </a:defRPr>
            </a:lvl5pPr>
            <a:lvl6pPr marL="2743200" lvl="5" indent="-317500" rtl="1">
              <a:spcBef>
                <a:spcPts val="0"/>
              </a:spcBef>
              <a:spcAft>
                <a:spcPts val="0"/>
              </a:spcAft>
              <a:buClr>
                <a:srgbClr val="424242"/>
              </a:buClr>
              <a:buSzPts val="1400"/>
              <a:buChar char="■"/>
              <a:defRPr>
                <a:solidFill>
                  <a:srgbClr val="424242"/>
                </a:solidFill>
              </a:defRPr>
            </a:lvl6pPr>
            <a:lvl7pPr marL="3200400" lvl="6" indent="-317500" rtl="1">
              <a:spcBef>
                <a:spcPts val="0"/>
              </a:spcBef>
              <a:spcAft>
                <a:spcPts val="0"/>
              </a:spcAft>
              <a:buClr>
                <a:srgbClr val="424242"/>
              </a:buClr>
              <a:buSzPts val="1400"/>
              <a:buChar char="●"/>
              <a:defRPr>
                <a:solidFill>
                  <a:srgbClr val="424242"/>
                </a:solidFill>
              </a:defRPr>
            </a:lvl7pPr>
            <a:lvl8pPr marL="3657600" lvl="7" indent="-317500" rtl="1">
              <a:spcBef>
                <a:spcPts val="0"/>
              </a:spcBef>
              <a:spcAft>
                <a:spcPts val="0"/>
              </a:spcAft>
              <a:buClr>
                <a:srgbClr val="424242"/>
              </a:buClr>
              <a:buSzPts val="1400"/>
              <a:buChar char="○"/>
              <a:defRPr>
                <a:solidFill>
                  <a:srgbClr val="424242"/>
                </a:solidFill>
              </a:defRPr>
            </a:lvl8pPr>
            <a:lvl9pPr marL="4114800" lvl="8" indent="-317500" rtl="1">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82450"/>
            <a:ext cx="8520600" cy="572700"/>
          </a:xfrm>
          <a:prstGeom prst="rect">
            <a:avLst/>
          </a:prstGeom>
        </p:spPr>
        <p:txBody>
          <a:bodyPr spcFirstLastPara="1" wrap="square" lIns="91425" tIns="91425" rIns="91425" bIns="91425" anchor="t" anchorCtr="0">
            <a:normAutofit/>
          </a:bodyPr>
          <a:lstStyle>
            <a:lvl1pPr lvl="0" rtl="1">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7" name="Google Shape;27;p6"/>
          <p:cNvPicPr preferRelativeResize="0"/>
          <p:nvPr/>
        </p:nvPicPr>
        <p:blipFill>
          <a:blip r:embed="rId2">
            <a:alphaModFix/>
          </a:blip>
          <a:stretch>
            <a:fillRect/>
          </a:stretch>
        </p:blipFill>
        <p:spPr>
          <a:xfrm>
            <a:off x="7959271" y="4703039"/>
            <a:ext cx="946580" cy="21398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4200"/>
              <a:buNone/>
              <a:defRPr sz="4200"/>
            </a:lvl1pPr>
            <a:lvl2pPr lvl="1" algn="ctr" rtl="1">
              <a:spcBef>
                <a:spcPts val="0"/>
              </a:spcBef>
              <a:spcAft>
                <a:spcPts val="0"/>
              </a:spcAft>
              <a:buSzPts val="4200"/>
              <a:buNone/>
              <a:defRPr sz="4200"/>
            </a:lvl2pPr>
            <a:lvl3pPr lvl="2" algn="ctr" rtl="1">
              <a:spcBef>
                <a:spcPts val="0"/>
              </a:spcBef>
              <a:spcAft>
                <a:spcPts val="0"/>
              </a:spcAft>
              <a:buSzPts val="4200"/>
              <a:buNone/>
              <a:defRPr sz="4200"/>
            </a:lvl3pPr>
            <a:lvl4pPr lvl="3" algn="ctr" rtl="1">
              <a:spcBef>
                <a:spcPts val="0"/>
              </a:spcBef>
              <a:spcAft>
                <a:spcPts val="0"/>
              </a:spcAft>
              <a:buSzPts val="4200"/>
              <a:buNone/>
              <a:defRPr sz="4200"/>
            </a:lvl4pPr>
            <a:lvl5pPr lvl="4" algn="ctr" rtl="1">
              <a:spcBef>
                <a:spcPts val="0"/>
              </a:spcBef>
              <a:spcAft>
                <a:spcPts val="0"/>
              </a:spcAft>
              <a:buSzPts val="4200"/>
              <a:buNone/>
              <a:defRPr sz="4200"/>
            </a:lvl5pPr>
            <a:lvl6pPr lvl="5" algn="ctr" rtl="1">
              <a:spcBef>
                <a:spcPts val="0"/>
              </a:spcBef>
              <a:spcAft>
                <a:spcPts val="0"/>
              </a:spcAft>
              <a:buSzPts val="4200"/>
              <a:buNone/>
              <a:defRPr sz="4200"/>
            </a:lvl6pPr>
            <a:lvl7pPr lvl="6" algn="ctr" rtl="1">
              <a:spcBef>
                <a:spcPts val="0"/>
              </a:spcBef>
              <a:spcAft>
                <a:spcPts val="0"/>
              </a:spcAft>
              <a:buSzPts val="4200"/>
              <a:buNone/>
              <a:defRPr sz="4200"/>
            </a:lvl7pPr>
            <a:lvl8pPr lvl="7" algn="ctr" rtl="1">
              <a:spcBef>
                <a:spcPts val="0"/>
              </a:spcBef>
              <a:spcAft>
                <a:spcPts val="0"/>
              </a:spcAft>
              <a:buSzPts val="4200"/>
              <a:buNone/>
              <a:defRPr sz="4200"/>
            </a:lvl8pPr>
            <a:lvl9pPr lvl="8" algn="ctr" rtl="1">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12000"/>
              <a:buNone/>
              <a:defRPr sz="12000"/>
            </a:lvl1pPr>
            <a:lvl2pPr lvl="1" algn="ctr" rtl="1">
              <a:spcBef>
                <a:spcPts val="0"/>
              </a:spcBef>
              <a:spcAft>
                <a:spcPts val="0"/>
              </a:spcAft>
              <a:buSzPts val="12000"/>
              <a:buNone/>
              <a:defRPr sz="12000"/>
            </a:lvl2pPr>
            <a:lvl3pPr lvl="2" algn="ctr" rtl="1">
              <a:spcBef>
                <a:spcPts val="0"/>
              </a:spcBef>
              <a:spcAft>
                <a:spcPts val="0"/>
              </a:spcAft>
              <a:buSzPts val="12000"/>
              <a:buNone/>
              <a:defRPr sz="12000"/>
            </a:lvl3pPr>
            <a:lvl4pPr lvl="3" algn="ctr" rtl="1">
              <a:spcBef>
                <a:spcPts val="0"/>
              </a:spcBef>
              <a:spcAft>
                <a:spcPts val="0"/>
              </a:spcAft>
              <a:buSzPts val="12000"/>
              <a:buNone/>
              <a:defRPr sz="12000"/>
            </a:lvl4pPr>
            <a:lvl5pPr lvl="4" algn="ctr" rtl="1">
              <a:spcBef>
                <a:spcPts val="0"/>
              </a:spcBef>
              <a:spcAft>
                <a:spcPts val="0"/>
              </a:spcAft>
              <a:buSzPts val="12000"/>
              <a:buNone/>
              <a:defRPr sz="12000"/>
            </a:lvl5pPr>
            <a:lvl6pPr lvl="5" algn="ctr" rtl="1">
              <a:spcBef>
                <a:spcPts val="0"/>
              </a:spcBef>
              <a:spcAft>
                <a:spcPts val="0"/>
              </a:spcAft>
              <a:buSzPts val="12000"/>
              <a:buNone/>
              <a:defRPr sz="12000"/>
            </a:lvl6pPr>
            <a:lvl7pPr lvl="6" algn="ctr" rtl="1">
              <a:spcBef>
                <a:spcPts val="0"/>
              </a:spcBef>
              <a:spcAft>
                <a:spcPts val="0"/>
              </a:spcAft>
              <a:buSzPts val="12000"/>
              <a:buNone/>
              <a:defRPr sz="12000"/>
            </a:lvl7pPr>
            <a:lvl8pPr lvl="7" algn="ctr" rtl="1">
              <a:spcBef>
                <a:spcPts val="0"/>
              </a:spcBef>
              <a:spcAft>
                <a:spcPts val="0"/>
              </a:spcAft>
              <a:buSzPts val="12000"/>
              <a:buNone/>
              <a:defRPr sz="12000"/>
            </a:lvl8pPr>
            <a:lvl9pPr lvl="8" algn="ctr" rtl="1">
              <a:spcBef>
                <a:spcPts val="0"/>
              </a:spcBef>
              <a:spcAft>
                <a:spcPts val="0"/>
              </a:spcAft>
              <a:buSzPts val="12000"/>
              <a:buNone/>
              <a:defRPr sz="12000"/>
            </a:lvl9pPr>
          </a:lstStyle>
          <a:p>
            <a:r>
              <a:t>xx%</a:t>
            </a:r>
          </a:p>
        </p:txBody>
      </p:sp>
      <p:pic>
        <p:nvPicPr>
          <p:cNvPr id="43" name="Google Shape;43;p11" title="twq white-20.png"/>
          <p:cNvPicPr preferRelativeResize="0"/>
          <p:nvPr/>
        </p:nvPicPr>
        <p:blipFill>
          <a:blip r:embed="rId3">
            <a:alphaModFix/>
          </a:blip>
          <a:stretch>
            <a:fillRect/>
          </a:stretch>
        </p:blipFill>
        <p:spPr>
          <a:xfrm>
            <a:off x="7443975" y="84975"/>
            <a:ext cx="1388326" cy="599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78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rtl="1">
              <a:spcBef>
                <a:spcPts val="0"/>
              </a:spcBef>
              <a:spcAft>
                <a:spcPts val="0"/>
              </a:spcAft>
              <a:buClr>
                <a:srgbClr val="4F29B7"/>
              </a:buClr>
              <a:buSzPts val="2500"/>
              <a:buFont typeface="IBM Plex Sans Arabic Medium"/>
              <a:buNone/>
              <a:defRPr sz="2500">
                <a:solidFill>
                  <a:srgbClr val="4F29B7"/>
                </a:solidFill>
                <a:latin typeface="IBM Plex Sans Arabic Medium"/>
                <a:ea typeface="IBM Plex Sans Arabic Medium"/>
                <a:cs typeface="IBM Plex Sans Arabic Medium"/>
                <a:sym typeface="IBM Plex Sans Arabic Medium"/>
              </a:defRPr>
            </a:lvl1pPr>
            <a:lvl2pPr lvl="1"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2pPr>
            <a:lvl3pPr lvl="2"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3pPr>
            <a:lvl4pPr lvl="3"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4pPr>
            <a:lvl5pPr lvl="4"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5pPr>
            <a:lvl6pPr lvl="5"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6pPr>
            <a:lvl7pPr lvl="6"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7pPr>
            <a:lvl8pPr lvl="7"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8pPr>
            <a:lvl9pPr lvl="8"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1">
              <a:lnSpc>
                <a:spcPct val="115000"/>
              </a:lnSpc>
              <a:spcBef>
                <a:spcPts val="0"/>
              </a:spcBef>
              <a:spcAft>
                <a:spcPts val="0"/>
              </a:spcAft>
              <a:buClr>
                <a:srgbClr val="252526"/>
              </a:buClr>
              <a:buSzPts val="1800"/>
              <a:buFont typeface="IBM Plex Sans Arabic"/>
              <a:buChar char="●"/>
              <a:defRPr sz="1800">
                <a:solidFill>
                  <a:srgbClr val="252526"/>
                </a:solidFill>
                <a:latin typeface="IBM Plex Sans Arabic"/>
                <a:ea typeface="IBM Plex Sans Arabic"/>
                <a:cs typeface="IBM Plex Sans Arabic"/>
                <a:sym typeface="IBM Plex Sans Arabic"/>
              </a:defRPr>
            </a:lvl1pPr>
            <a:lvl2pPr marL="914400" lvl="1"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2pPr>
            <a:lvl3pPr marL="1371600" lvl="2"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3pPr>
            <a:lvl4pPr marL="1828800" lvl="3"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4pPr>
            <a:lvl5pPr marL="2286000" lvl="4"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5pPr>
            <a:lvl6pPr marL="2743200" lvl="5"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6pPr>
            <a:lvl7pPr marL="3200400" lvl="6"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7pPr>
            <a:lvl8pPr marL="3657600" lvl="7"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8pPr>
            <a:lvl9pPr marL="4114800" lvl="8"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7" r:id="rId6"/>
    <p:sldLayoutId id="2147483658"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5435226" y="867625"/>
            <a:ext cx="2974200" cy="2262000"/>
          </a:xfrm>
          <a:prstGeom prst="rect">
            <a:avLst/>
          </a:prstGeom>
        </p:spPr>
        <p:txBody>
          <a:bodyPr spcFirstLastPara="1" wrap="square" lIns="91425" tIns="91425" rIns="91425" bIns="91425" anchor="b" anchorCtr="0">
            <a:normAutofit/>
          </a:bodyPr>
          <a:lstStyle/>
          <a:p>
            <a:pPr marL="0" lvl="0" indent="0" algn="r" rtl="0">
              <a:spcBef>
                <a:spcPts val="0"/>
              </a:spcBef>
              <a:spcAft>
                <a:spcPts val="0"/>
              </a:spcAft>
              <a:buNone/>
            </a:pPr>
            <a:r>
              <a:rPr lang="en" sz="4800" dirty="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dirty="0">
              <a:solidFill>
                <a:srgbClr val="58E3D8"/>
              </a:solidFill>
              <a:latin typeface="IBM Plex Sans Arabic SemiBold"/>
              <a:ea typeface="IBM Plex Sans Arabic SemiBold"/>
              <a:cs typeface="IBM Plex Sans Arabic SemiBold"/>
              <a:sym typeface="IBM Plex Sans Arabic SemiBold"/>
            </a:endParaRPr>
          </a:p>
        </p:txBody>
      </p:sp>
      <p:sp>
        <p:nvSpPr>
          <p:cNvPr id="51" name="Google Shape;51;p13"/>
          <p:cNvSpPr txBox="1">
            <a:spLocks noGrp="1"/>
          </p:cNvSpPr>
          <p:nvPr>
            <p:ph type="body" idx="4294967295"/>
          </p:nvPr>
        </p:nvSpPr>
        <p:spPr>
          <a:xfrm>
            <a:off x="3902100" y="3253272"/>
            <a:ext cx="4447500" cy="403200"/>
          </a:xfrm>
          <a:prstGeom prst="rect">
            <a:avLst/>
          </a:prstGeom>
        </p:spPr>
        <p:txBody>
          <a:bodyPr spcFirstLastPara="1" wrap="square" lIns="91425" tIns="91425" rIns="91425" bIns="91425" anchor="t" anchorCtr="0">
            <a:noAutofit/>
          </a:bodyPr>
          <a:lstStyle/>
          <a:p>
            <a:pPr marL="114300" indent="0" algn="r">
              <a:buNone/>
            </a:pPr>
            <a:r>
              <a:rPr lang="ar-SA" sz="2000" b="1" dirty="0">
                <a:solidFill>
                  <a:schemeClr val="bg1"/>
                </a:solidFill>
              </a:rPr>
              <a:t>المعسكر التأسيسي - مسار البرمجة</a:t>
            </a:r>
          </a:p>
          <a:p>
            <a:pPr marL="114300" indent="0">
              <a:buNone/>
            </a:pPr>
            <a:br>
              <a:rPr lang="ar-SA" sz="2000" dirty="0"/>
            </a:br>
            <a:endParaRPr lang="ar-SA"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67E406D-77C5-64FC-1384-3ED885662E43}"/>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A58AB1B6-4F13-B6F1-65C4-FDEAF2A7575E}"/>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FF820E8F-A391-AC62-D54D-317374F62C88}"/>
              </a:ext>
            </a:extLst>
          </p:cNvPr>
          <p:cNvSpPr/>
          <p:nvPr/>
        </p:nvSpPr>
        <p:spPr>
          <a:xfrm>
            <a:off x="0" y="64008"/>
            <a:ext cx="2560320" cy="5015484"/>
          </a:xfrm>
          <a:prstGeom prst="rect">
            <a:avLst/>
          </a:prstGeom>
          <a:solidFill>
            <a:srgbClr val="0A2020"/>
          </a:solidFill>
          <a:ln w="12700">
            <a:solidFill>
              <a:srgbClr val="0A2020"/>
            </a:solidFill>
            <a:prstDash val="solid"/>
          </a:ln>
        </p:spPr>
        <p:txBody>
          <a:bodyPr/>
          <a:lstStyle/>
          <a:p>
            <a:endParaRPr lang="en-US"/>
          </a:p>
        </p:txBody>
      </p:sp>
      <p:sp>
        <p:nvSpPr>
          <p:cNvPr id="5" name="Shape 3">
            <a:extLst>
              <a:ext uri="{FF2B5EF4-FFF2-40B4-BE49-F238E27FC236}">
                <a16:creationId xmlns:a16="http://schemas.microsoft.com/office/drawing/2014/main" id="{244B5C98-FBD3-E2CD-5772-833C4D8DBE51}"/>
              </a:ext>
            </a:extLst>
          </p:cNvPr>
          <p:cNvSpPr/>
          <p:nvPr/>
        </p:nvSpPr>
        <p:spPr>
          <a:xfrm>
            <a:off x="2560320" y="64008"/>
            <a:ext cx="0" cy="5015484"/>
          </a:xfrm>
          <a:prstGeom prst="line">
            <a:avLst/>
          </a:prstGeom>
          <a:noFill/>
          <a:ln w="25400">
            <a:solidFill>
              <a:srgbClr val="57E3D8"/>
            </a:solidFill>
            <a:prstDash val="solid"/>
          </a:ln>
        </p:spPr>
        <p:txBody>
          <a:bodyPr/>
          <a:lstStyle/>
          <a:p>
            <a:endParaRPr lang="en-US"/>
          </a:p>
        </p:txBody>
      </p:sp>
      <p:sp>
        <p:nvSpPr>
          <p:cNvPr id="6" name="Text 4">
            <a:extLst>
              <a:ext uri="{FF2B5EF4-FFF2-40B4-BE49-F238E27FC236}">
                <a16:creationId xmlns:a16="http://schemas.microsoft.com/office/drawing/2014/main" id="{70A0054A-5F93-C0F8-68C3-1CAD4846EE0E}"/>
              </a:ext>
            </a:extLst>
          </p:cNvPr>
          <p:cNvSpPr/>
          <p:nvPr/>
        </p:nvSpPr>
        <p:spPr>
          <a:xfrm>
            <a:off x="0" y="320040"/>
            <a:ext cx="2560320" cy="1463040"/>
          </a:xfrm>
          <a:prstGeom prst="rect">
            <a:avLst/>
          </a:prstGeom>
          <a:noFill/>
          <a:ln/>
        </p:spPr>
        <p:txBody>
          <a:bodyPr wrap="square" lIns="0" tIns="0" rIns="0" bIns="0" rtlCol="0" anchor="ctr"/>
          <a:lstStyle/>
          <a:p>
            <a:pPr marL="0" indent="0" algn="ctr">
              <a:buNone/>
            </a:pPr>
            <a:r>
              <a:rPr lang="en-US" sz="8000" b="1" dirty="0">
                <a:solidFill>
                  <a:schemeClr val="bg1"/>
                </a:solidFill>
                <a:latin typeface="Calibri" pitchFamily="34" charset="0"/>
                <a:ea typeface="Calibri" pitchFamily="34" charset="-122"/>
                <a:cs typeface="Calibri" pitchFamily="34" charset="-120"/>
              </a:rPr>
              <a:t>04</a:t>
            </a:r>
            <a:endParaRPr lang="en-US" sz="8000" dirty="0">
              <a:solidFill>
                <a:schemeClr val="bg1"/>
              </a:solidFill>
            </a:endParaRPr>
          </a:p>
        </p:txBody>
      </p:sp>
      <p:sp>
        <p:nvSpPr>
          <p:cNvPr id="7" name="Shape 5">
            <a:extLst>
              <a:ext uri="{FF2B5EF4-FFF2-40B4-BE49-F238E27FC236}">
                <a16:creationId xmlns:a16="http://schemas.microsoft.com/office/drawing/2014/main" id="{2D400CA1-A6FF-D2ED-B42E-71359923989F}"/>
              </a:ext>
            </a:extLst>
          </p:cNvPr>
          <p:cNvSpPr/>
          <p:nvPr/>
        </p:nvSpPr>
        <p:spPr>
          <a:xfrm>
            <a:off x="228600" y="384048"/>
            <a:ext cx="822960" cy="256032"/>
          </a:xfrm>
          <a:prstGeom prst="roundRect">
            <a:avLst>
              <a:gd name="adj" fmla="val 42857"/>
            </a:avLst>
          </a:prstGeom>
          <a:solidFill>
            <a:srgbClr val="57E3D8"/>
          </a:solidFill>
          <a:ln w="12700">
            <a:solidFill>
              <a:srgbClr val="57E3D8"/>
            </a:solidFill>
            <a:prstDash val="solid"/>
          </a:ln>
        </p:spPr>
        <p:txBody>
          <a:bodyPr/>
          <a:lstStyle/>
          <a:p>
            <a:endParaRPr lang="en-US"/>
          </a:p>
        </p:txBody>
      </p:sp>
      <p:sp>
        <p:nvSpPr>
          <p:cNvPr id="8" name="Text 6">
            <a:extLst>
              <a:ext uri="{FF2B5EF4-FFF2-40B4-BE49-F238E27FC236}">
                <a16:creationId xmlns:a16="http://schemas.microsoft.com/office/drawing/2014/main" id="{F273ADA2-B102-4B1E-6AF9-898A94FBDFA6}"/>
              </a:ext>
            </a:extLst>
          </p:cNvPr>
          <p:cNvSpPr/>
          <p:nvPr/>
        </p:nvSpPr>
        <p:spPr>
          <a:xfrm>
            <a:off x="228600" y="384048"/>
            <a:ext cx="822960" cy="256032"/>
          </a:xfrm>
          <a:prstGeom prst="rect">
            <a:avLst/>
          </a:prstGeom>
          <a:noFill/>
          <a:ln/>
        </p:spPr>
        <p:txBody>
          <a:bodyPr wrap="square" lIns="0" tIns="0" rIns="0" bIns="0" rtlCol="0" anchor="ctr"/>
          <a:lstStyle/>
          <a:p>
            <a:pPr marL="0" indent="0" algn="ctr">
              <a:buNone/>
            </a:pPr>
            <a:r>
              <a:rPr lang="en-US" sz="1100" b="1" dirty="0">
                <a:solidFill>
                  <a:srgbClr val="0A2020"/>
                </a:solidFill>
                <a:latin typeface="Calibri" pitchFamily="34" charset="0"/>
                <a:ea typeface="Calibri" pitchFamily="34" charset="-122"/>
                <a:cs typeface="Calibri" pitchFamily="34" charset="-120"/>
              </a:rPr>
              <a:t>Week 4</a:t>
            </a:r>
            <a:endParaRPr lang="en-US" sz="1100" dirty="0"/>
          </a:p>
        </p:txBody>
      </p:sp>
      <p:sp>
        <p:nvSpPr>
          <p:cNvPr id="9" name="Text 7">
            <a:extLst>
              <a:ext uri="{FF2B5EF4-FFF2-40B4-BE49-F238E27FC236}">
                <a16:creationId xmlns:a16="http://schemas.microsoft.com/office/drawing/2014/main" id="{C09B99FC-C479-8C2D-E6D2-881A32388889}"/>
              </a:ext>
            </a:extLst>
          </p:cNvPr>
          <p:cNvSpPr/>
          <p:nvPr/>
        </p:nvSpPr>
        <p:spPr>
          <a:xfrm>
            <a:off x="137160" y="1417320"/>
            <a:ext cx="228600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Data Structures</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0" name="Shape 8">
            <a:extLst>
              <a:ext uri="{FF2B5EF4-FFF2-40B4-BE49-F238E27FC236}">
                <a16:creationId xmlns:a16="http://schemas.microsoft.com/office/drawing/2014/main" id="{38A5CAEB-8102-DF38-E1B7-6B194D394D41}"/>
              </a:ext>
            </a:extLst>
          </p:cNvPr>
          <p:cNvSpPr/>
          <p:nvPr/>
        </p:nvSpPr>
        <p:spPr>
          <a:xfrm>
            <a:off x="320040" y="4069080"/>
            <a:ext cx="1920240" cy="0"/>
          </a:xfrm>
          <a:prstGeom prst="line">
            <a:avLst/>
          </a:prstGeom>
          <a:noFill/>
          <a:ln w="9525">
            <a:solidFill>
              <a:srgbClr val="333355"/>
            </a:solidFill>
            <a:prstDash val="solid"/>
          </a:ln>
        </p:spPr>
        <p:txBody>
          <a:bodyPr/>
          <a:lstStyle/>
          <a:p>
            <a:endParaRPr lang="en-US"/>
          </a:p>
        </p:txBody>
      </p:sp>
      <p:sp>
        <p:nvSpPr>
          <p:cNvPr id="11" name="Text 9">
            <a:extLst>
              <a:ext uri="{FF2B5EF4-FFF2-40B4-BE49-F238E27FC236}">
                <a16:creationId xmlns:a16="http://schemas.microsoft.com/office/drawing/2014/main" id="{92B591E3-3AA6-686E-4CAC-AF218B233E00}"/>
              </a:ext>
            </a:extLst>
          </p:cNvPr>
          <p:cNvSpPr/>
          <p:nvPr/>
        </p:nvSpPr>
        <p:spPr>
          <a:xfrm>
            <a:off x="137160" y="4160520"/>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Foundation Bootcamp</a:t>
            </a:r>
            <a:endParaRPr lang="en-US" sz="1000" dirty="0"/>
          </a:p>
        </p:txBody>
      </p:sp>
      <p:sp>
        <p:nvSpPr>
          <p:cNvPr id="12" name="Text 10">
            <a:extLst>
              <a:ext uri="{FF2B5EF4-FFF2-40B4-BE49-F238E27FC236}">
                <a16:creationId xmlns:a16="http://schemas.microsoft.com/office/drawing/2014/main" id="{5599767D-CE61-3911-E941-102809D30A60}"/>
              </a:ext>
            </a:extLst>
          </p:cNvPr>
          <p:cNvSpPr/>
          <p:nvPr/>
        </p:nvSpPr>
        <p:spPr>
          <a:xfrm>
            <a:off x="137160" y="4407408"/>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مسار البرمجة</a:t>
            </a:r>
            <a:endParaRPr lang="en-US" sz="1000" dirty="0"/>
          </a:p>
        </p:txBody>
      </p:sp>
      <p:sp>
        <p:nvSpPr>
          <p:cNvPr id="13" name="Shape 11">
            <a:extLst>
              <a:ext uri="{FF2B5EF4-FFF2-40B4-BE49-F238E27FC236}">
                <a16:creationId xmlns:a16="http://schemas.microsoft.com/office/drawing/2014/main" id="{55F4100E-9CB8-5B37-C0F2-CBEC90D9766C}"/>
              </a:ext>
            </a:extLst>
          </p:cNvPr>
          <p:cNvSpPr/>
          <p:nvPr/>
        </p:nvSpPr>
        <p:spPr>
          <a:xfrm>
            <a:off x="2834640" y="637794"/>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14" name="Shape 12">
            <a:extLst>
              <a:ext uri="{FF2B5EF4-FFF2-40B4-BE49-F238E27FC236}">
                <a16:creationId xmlns:a16="http://schemas.microsoft.com/office/drawing/2014/main" id="{5C0B6CAB-0687-131B-B1A3-5DC2E6225321}"/>
              </a:ext>
            </a:extLst>
          </p:cNvPr>
          <p:cNvSpPr/>
          <p:nvPr/>
        </p:nvSpPr>
        <p:spPr>
          <a:xfrm>
            <a:off x="3035808" y="788670"/>
            <a:ext cx="384048" cy="384048"/>
          </a:xfrm>
          <a:prstGeom prst="ellipse">
            <a:avLst/>
          </a:prstGeom>
          <a:solidFill>
            <a:srgbClr val="57E3D8"/>
          </a:solidFill>
          <a:ln w="12700">
            <a:solidFill>
              <a:srgbClr val="57E3D8"/>
            </a:solidFill>
            <a:prstDash val="solid"/>
          </a:ln>
        </p:spPr>
        <p:txBody>
          <a:bodyPr/>
          <a:lstStyle/>
          <a:p>
            <a:endParaRPr lang="en-US"/>
          </a:p>
        </p:txBody>
      </p:sp>
      <p:sp>
        <p:nvSpPr>
          <p:cNvPr id="15" name="Text 13">
            <a:extLst>
              <a:ext uri="{FF2B5EF4-FFF2-40B4-BE49-F238E27FC236}">
                <a16:creationId xmlns:a16="http://schemas.microsoft.com/office/drawing/2014/main" id="{AC7BC44D-1FC9-9F64-5CC7-E434D27250A8}"/>
              </a:ext>
            </a:extLst>
          </p:cNvPr>
          <p:cNvSpPr/>
          <p:nvPr/>
        </p:nvSpPr>
        <p:spPr>
          <a:xfrm>
            <a:off x="3035808" y="788670"/>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1</a:t>
            </a:r>
            <a:endParaRPr lang="en-US" sz="1200" dirty="0"/>
          </a:p>
        </p:txBody>
      </p:sp>
      <p:sp>
        <p:nvSpPr>
          <p:cNvPr id="16" name="Text 14">
            <a:extLst>
              <a:ext uri="{FF2B5EF4-FFF2-40B4-BE49-F238E27FC236}">
                <a16:creationId xmlns:a16="http://schemas.microsoft.com/office/drawing/2014/main" id="{C3F1AAB6-AEF6-43A8-6A84-7CBE0EB54EF6}"/>
              </a:ext>
            </a:extLst>
          </p:cNvPr>
          <p:cNvSpPr/>
          <p:nvPr/>
        </p:nvSpPr>
        <p:spPr>
          <a:xfrm>
            <a:off x="3584448" y="729234"/>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1</a:t>
            </a:r>
            <a:endParaRPr lang="en-US" sz="950" dirty="0"/>
          </a:p>
        </p:txBody>
      </p:sp>
      <p:sp>
        <p:nvSpPr>
          <p:cNvPr id="17" name="Shape 15">
            <a:extLst>
              <a:ext uri="{FF2B5EF4-FFF2-40B4-BE49-F238E27FC236}">
                <a16:creationId xmlns:a16="http://schemas.microsoft.com/office/drawing/2014/main" id="{648B9736-5271-3F10-9283-6A47244C9274}"/>
              </a:ext>
            </a:extLst>
          </p:cNvPr>
          <p:cNvSpPr/>
          <p:nvPr/>
        </p:nvSpPr>
        <p:spPr>
          <a:xfrm>
            <a:off x="4361688" y="784098"/>
            <a:ext cx="0" cy="393192"/>
          </a:xfrm>
          <a:prstGeom prst="line">
            <a:avLst/>
          </a:prstGeom>
          <a:noFill/>
          <a:ln w="9525">
            <a:solidFill>
              <a:srgbClr val="333355"/>
            </a:solidFill>
            <a:prstDash val="solid"/>
          </a:ln>
        </p:spPr>
        <p:txBody>
          <a:bodyPr/>
          <a:lstStyle/>
          <a:p>
            <a:endParaRPr lang="en-US"/>
          </a:p>
        </p:txBody>
      </p:sp>
      <p:sp>
        <p:nvSpPr>
          <p:cNvPr id="18" name="Text 16">
            <a:extLst>
              <a:ext uri="{FF2B5EF4-FFF2-40B4-BE49-F238E27FC236}">
                <a16:creationId xmlns:a16="http://schemas.microsoft.com/office/drawing/2014/main" id="{07A12A8A-1C6B-110F-8997-E7E5477EA5F8}"/>
              </a:ext>
            </a:extLst>
          </p:cNvPr>
          <p:cNvSpPr/>
          <p:nvPr/>
        </p:nvSpPr>
        <p:spPr>
          <a:xfrm>
            <a:off x="4453128" y="637794"/>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Arrays</a:t>
            </a:r>
            <a:endParaRPr lang="en-US" sz="1200" dirty="0"/>
          </a:p>
        </p:txBody>
      </p:sp>
      <p:sp>
        <p:nvSpPr>
          <p:cNvPr id="19" name="Shape 17">
            <a:extLst>
              <a:ext uri="{FF2B5EF4-FFF2-40B4-BE49-F238E27FC236}">
                <a16:creationId xmlns:a16="http://schemas.microsoft.com/office/drawing/2014/main" id="{63889319-52E7-F6EA-214C-6FB5D81E6B30}"/>
              </a:ext>
            </a:extLst>
          </p:cNvPr>
          <p:cNvSpPr/>
          <p:nvPr/>
        </p:nvSpPr>
        <p:spPr>
          <a:xfrm>
            <a:off x="2834640" y="1433322"/>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0" name="Shape 18">
            <a:extLst>
              <a:ext uri="{FF2B5EF4-FFF2-40B4-BE49-F238E27FC236}">
                <a16:creationId xmlns:a16="http://schemas.microsoft.com/office/drawing/2014/main" id="{06C2D083-16B0-081D-EC91-9BC5FB3A7C31}"/>
              </a:ext>
            </a:extLst>
          </p:cNvPr>
          <p:cNvSpPr/>
          <p:nvPr/>
        </p:nvSpPr>
        <p:spPr>
          <a:xfrm>
            <a:off x="3035808" y="1584198"/>
            <a:ext cx="384048" cy="384048"/>
          </a:xfrm>
          <a:prstGeom prst="ellipse">
            <a:avLst/>
          </a:prstGeom>
          <a:solidFill>
            <a:srgbClr val="57E3D8"/>
          </a:solidFill>
          <a:ln w="12700">
            <a:solidFill>
              <a:srgbClr val="57E3D8"/>
            </a:solidFill>
            <a:prstDash val="solid"/>
          </a:ln>
        </p:spPr>
        <p:txBody>
          <a:bodyPr/>
          <a:lstStyle/>
          <a:p>
            <a:endParaRPr lang="en-US"/>
          </a:p>
        </p:txBody>
      </p:sp>
      <p:sp>
        <p:nvSpPr>
          <p:cNvPr id="21" name="Text 19">
            <a:extLst>
              <a:ext uri="{FF2B5EF4-FFF2-40B4-BE49-F238E27FC236}">
                <a16:creationId xmlns:a16="http://schemas.microsoft.com/office/drawing/2014/main" id="{BAFCCA92-7DB9-D2AC-FF94-D4A25331D56E}"/>
              </a:ext>
            </a:extLst>
          </p:cNvPr>
          <p:cNvSpPr/>
          <p:nvPr/>
        </p:nvSpPr>
        <p:spPr>
          <a:xfrm>
            <a:off x="3035808" y="1584198"/>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2</a:t>
            </a:r>
            <a:endParaRPr lang="en-US" sz="1200" dirty="0"/>
          </a:p>
        </p:txBody>
      </p:sp>
      <p:sp>
        <p:nvSpPr>
          <p:cNvPr id="22" name="Text 20">
            <a:extLst>
              <a:ext uri="{FF2B5EF4-FFF2-40B4-BE49-F238E27FC236}">
                <a16:creationId xmlns:a16="http://schemas.microsoft.com/office/drawing/2014/main" id="{0C22C430-4049-84D0-C905-1AECAADE9A85}"/>
              </a:ext>
            </a:extLst>
          </p:cNvPr>
          <p:cNvSpPr/>
          <p:nvPr/>
        </p:nvSpPr>
        <p:spPr>
          <a:xfrm>
            <a:off x="3584448" y="1524762"/>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2</a:t>
            </a:r>
            <a:endParaRPr lang="en-US" sz="950" dirty="0"/>
          </a:p>
        </p:txBody>
      </p:sp>
      <p:sp>
        <p:nvSpPr>
          <p:cNvPr id="23" name="Shape 21">
            <a:extLst>
              <a:ext uri="{FF2B5EF4-FFF2-40B4-BE49-F238E27FC236}">
                <a16:creationId xmlns:a16="http://schemas.microsoft.com/office/drawing/2014/main" id="{82A72DA3-1CC8-C226-C2AB-67A0BD33B796}"/>
              </a:ext>
            </a:extLst>
          </p:cNvPr>
          <p:cNvSpPr/>
          <p:nvPr/>
        </p:nvSpPr>
        <p:spPr>
          <a:xfrm>
            <a:off x="4361688" y="1579626"/>
            <a:ext cx="0" cy="393192"/>
          </a:xfrm>
          <a:prstGeom prst="line">
            <a:avLst/>
          </a:prstGeom>
          <a:noFill/>
          <a:ln w="9525">
            <a:solidFill>
              <a:srgbClr val="333355"/>
            </a:solidFill>
            <a:prstDash val="solid"/>
          </a:ln>
        </p:spPr>
        <p:txBody>
          <a:bodyPr/>
          <a:lstStyle/>
          <a:p>
            <a:endParaRPr lang="en-US"/>
          </a:p>
        </p:txBody>
      </p:sp>
      <p:sp>
        <p:nvSpPr>
          <p:cNvPr id="24" name="Text 22">
            <a:extLst>
              <a:ext uri="{FF2B5EF4-FFF2-40B4-BE49-F238E27FC236}">
                <a16:creationId xmlns:a16="http://schemas.microsoft.com/office/drawing/2014/main" id="{F2904907-D386-E744-B0D6-2A064A9BA7D6}"/>
              </a:ext>
            </a:extLst>
          </p:cNvPr>
          <p:cNvSpPr/>
          <p:nvPr/>
        </p:nvSpPr>
        <p:spPr>
          <a:xfrm>
            <a:off x="4453128" y="1433322"/>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2D Arrays</a:t>
            </a:r>
            <a:endParaRPr lang="en-US" sz="1200" dirty="0"/>
          </a:p>
        </p:txBody>
      </p:sp>
      <p:sp>
        <p:nvSpPr>
          <p:cNvPr id="25" name="Shape 23">
            <a:extLst>
              <a:ext uri="{FF2B5EF4-FFF2-40B4-BE49-F238E27FC236}">
                <a16:creationId xmlns:a16="http://schemas.microsoft.com/office/drawing/2014/main" id="{8D5DB58C-C19C-BF82-38F2-3520D1D40072}"/>
              </a:ext>
            </a:extLst>
          </p:cNvPr>
          <p:cNvSpPr/>
          <p:nvPr/>
        </p:nvSpPr>
        <p:spPr>
          <a:xfrm>
            <a:off x="2834640" y="2228850"/>
            <a:ext cx="6035040" cy="685800"/>
          </a:xfrm>
          <a:prstGeom prst="roundRect">
            <a:avLst>
              <a:gd name="adj" fmla="val 10667"/>
            </a:avLst>
          </a:prstGeom>
          <a:solidFill>
            <a:srgbClr val="16243A"/>
          </a:solidFill>
          <a:ln w="22225">
            <a:solidFill>
              <a:srgbClr val="57E3D8"/>
            </a:solidFill>
            <a:prstDash val="solid"/>
          </a:ln>
        </p:spPr>
        <p:txBody>
          <a:bodyPr/>
          <a:lstStyle/>
          <a:p>
            <a:endParaRPr lang="en-US"/>
          </a:p>
        </p:txBody>
      </p:sp>
      <p:sp>
        <p:nvSpPr>
          <p:cNvPr id="26" name="Shape 24">
            <a:extLst>
              <a:ext uri="{FF2B5EF4-FFF2-40B4-BE49-F238E27FC236}">
                <a16:creationId xmlns:a16="http://schemas.microsoft.com/office/drawing/2014/main" id="{70736680-2F47-383C-0F62-87CCA75E254E}"/>
              </a:ext>
            </a:extLst>
          </p:cNvPr>
          <p:cNvSpPr/>
          <p:nvPr/>
        </p:nvSpPr>
        <p:spPr>
          <a:xfrm>
            <a:off x="3035808" y="2379726"/>
            <a:ext cx="384048" cy="384048"/>
          </a:xfrm>
          <a:prstGeom prst="ellipse">
            <a:avLst/>
          </a:prstGeom>
          <a:solidFill>
            <a:srgbClr val="57E3D8"/>
          </a:solidFill>
          <a:ln w="12700">
            <a:solidFill>
              <a:srgbClr val="57E3D8"/>
            </a:solidFill>
            <a:prstDash val="solid"/>
          </a:ln>
        </p:spPr>
        <p:txBody>
          <a:bodyPr/>
          <a:lstStyle/>
          <a:p>
            <a:endParaRPr lang="en-US"/>
          </a:p>
        </p:txBody>
      </p:sp>
      <p:sp>
        <p:nvSpPr>
          <p:cNvPr id="27" name="Text 25">
            <a:extLst>
              <a:ext uri="{FF2B5EF4-FFF2-40B4-BE49-F238E27FC236}">
                <a16:creationId xmlns:a16="http://schemas.microsoft.com/office/drawing/2014/main" id="{314C9277-EC05-FC71-5EA2-F4407D0C92BB}"/>
              </a:ext>
            </a:extLst>
          </p:cNvPr>
          <p:cNvSpPr/>
          <p:nvPr/>
        </p:nvSpPr>
        <p:spPr>
          <a:xfrm>
            <a:off x="3035808" y="2379726"/>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3</a:t>
            </a:r>
            <a:endParaRPr lang="en-US" sz="1200" dirty="0"/>
          </a:p>
        </p:txBody>
      </p:sp>
      <p:sp>
        <p:nvSpPr>
          <p:cNvPr id="28" name="Text 26">
            <a:extLst>
              <a:ext uri="{FF2B5EF4-FFF2-40B4-BE49-F238E27FC236}">
                <a16:creationId xmlns:a16="http://schemas.microsoft.com/office/drawing/2014/main" id="{30DC768E-4FAE-A61B-FCEC-97E680516D22}"/>
              </a:ext>
            </a:extLst>
          </p:cNvPr>
          <p:cNvSpPr/>
          <p:nvPr/>
        </p:nvSpPr>
        <p:spPr>
          <a:xfrm>
            <a:off x="3584448" y="2320290"/>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3</a:t>
            </a:r>
            <a:endParaRPr lang="en-US" sz="950" dirty="0"/>
          </a:p>
        </p:txBody>
      </p:sp>
      <p:sp>
        <p:nvSpPr>
          <p:cNvPr id="29" name="Shape 27">
            <a:extLst>
              <a:ext uri="{FF2B5EF4-FFF2-40B4-BE49-F238E27FC236}">
                <a16:creationId xmlns:a16="http://schemas.microsoft.com/office/drawing/2014/main" id="{889D4878-03AA-AC42-C788-065DCECAD681}"/>
              </a:ext>
            </a:extLst>
          </p:cNvPr>
          <p:cNvSpPr/>
          <p:nvPr/>
        </p:nvSpPr>
        <p:spPr>
          <a:xfrm>
            <a:off x="4361688" y="2375154"/>
            <a:ext cx="0" cy="393192"/>
          </a:xfrm>
          <a:prstGeom prst="line">
            <a:avLst/>
          </a:prstGeom>
          <a:noFill/>
          <a:ln w="9525">
            <a:solidFill>
              <a:srgbClr val="333355"/>
            </a:solidFill>
            <a:prstDash val="solid"/>
          </a:ln>
        </p:spPr>
        <p:txBody>
          <a:bodyPr/>
          <a:lstStyle/>
          <a:p>
            <a:endParaRPr lang="en-US"/>
          </a:p>
        </p:txBody>
      </p:sp>
      <p:sp>
        <p:nvSpPr>
          <p:cNvPr id="30" name="Text 28">
            <a:extLst>
              <a:ext uri="{FF2B5EF4-FFF2-40B4-BE49-F238E27FC236}">
                <a16:creationId xmlns:a16="http://schemas.microsoft.com/office/drawing/2014/main" id="{431CF177-A807-CE31-1BB2-ECA9F30B5B25}"/>
              </a:ext>
            </a:extLst>
          </p:cNvPr>
          <p:cNvSpPr/>
          <p:nvPr/>
        </p:nvSpPr>
        <p:spPr>
          <a:xfrm>
            <a:off x="4453128" y="2228850"/>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Linked Lists</a:t>
            </a:r>
            <a:endParaRPr lang="en-US" sz="1200" dirty="0"/>
          </a:p>
        </p:txBody>
      </p:sp>
      <p:sp>
        <p:nvSpPr>
          <p:cNvPr id="31" name="Shape 29">
            <a:extLst>
              <a:ext uri="{FF2B5EF4-FFF2-40B4-BE49-F238E27FC236}">
                <a16:creationId xmlns:a16="http://schemas.microsoft.com/office/drawing/2014/main" id="{71BB9B55-CFA0-B2B9-D0D5-F9F84E14A700}"/>
              </a:ext>
            </a:extLst>
          </p:cNvPr>
          <p:cNvSpPr/>
          <p:nvPr/>
        </p:nvSpPr>
        <p:spPr>
          <a:xfrm>
            <a:off x="2834640" y="3024378"/>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2" name="Shape 30">
            <a:extLst>
              <a:ext uri="{FF2B5EF4-FFF2-40B4-BE49-F238E27FC236}">
                <a16:creationId xmlns:a16="http://schemas.microsoft.com/office/drawing/2014/main" id="{591074AD-EEAF-CC1A-C64F-70E9EAAE6F93}"/>
              </a:ext>
            </a:extLst>
          </p:cNvPr>
          <p:cNvSpPr/>
          <p:nvPr/>
        </p:nvSpPr>
        <p:spPr>
          <a:xfrm>
            <a:off x="3035808" y="3175254"/>
            <a:ext cx="384048" cy="384048"/>
          </a:xfrm>
          <a:prstGeom prst="ellipse">
            <a:avLst/>
          </a:prstGeom>
          <a:solidFill>
            <a:srgbClr val="57E3D8"/>
          </a:solidFill>
          <a:ln w="12700">
            <a:solidFill>
              <a:srgbClr val="57E3D8"/>
            </a:solidFill>
            <a:prstDash val="solid"/>
          </a:ln>
        </p:spPr>
        <p:txBody>
          <a:bodyPr/>
          <a:lstStyle/>
          <a:p>
            <a:endParaRPr lang="en-US"/>
          </a:p>
        </p:txBody>
      </p:sp>
      <p:sp>
        <p:nvSpPr>
          <p:cNvPr id="33" name="Text 31">
            <a:extLst>
              <a:ext uri="{FF2B5EF4-FFF2-40B4-BE49-F238E27FC236}">
                <a16:creationId xmlns:a16="http://schemas.microsoft.com/office/drawing/2014/main" id="{72C1DB4C-7A30-FDE6-FBB2-5ED7FA0966C0}"/>
              </a:ext>
            </a:extLst>
          </p:cNvPr>
          <p:cNvSpPr/>
          <p:nvPr/>
        </p:nvSpPr>
        <p:spPr>
          <a:xfrm>
            <a:off x="3035808" y="3175254"/>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4</a:t>
            </a:r>
            <a:endParaRPr lang="en-US" sz="1200" dirty="0"/>
          </a:p>
        </p:txBody>
      </p:sp>
      <p:sp>
        <p:nvSpPr>
          <p:cNvPr id="34" name="Text 32">
            <a:extLst>
              <a:ext uri="{FF2B5EF4-FFF2-40B4-BE49-F238E27FC236}">
                <a16:creationId xmlns:a16="http://schemas.microsoft.com/office/drawing/2014/main" id="{20D7429D-968C-6CC1-CB67-49328C66BFFF}"/>
              </a:ext>
            </a:extLst>
          </p:cNvPr>
          <p:cNvSpPr/>
          <p:nvPr/>
        </p:nvSpPr>
        <p:spPr>
          <a:xfrm>
            <a:off x="3584448" y="3115818"/>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4</a:t>
            </a:r>
            <a:endParaRPr lang="en-US" sz="950" dirty="0"/>
          </a:p>
        </p:txBody>
      </p:sp>
      <p:sp>
        <p:nvSpPr>
          <p:cNvPr id="35" name="Shape 33">
            <a:extLst>
              <a:ext uri="{FF2B5EF4-FFF2-40B4-BE49-F238E27FC236}">
                <a16:creationId xmlns:a16="http://schemas.microsoft.com/office/drawing/2014/main" id="{C00E2499-AF17-8119-3E32-ED104BE2C408}"/>
              </a:ext>
            </a:extLst>
          </p:cNvPr>
          <p:cNvSpPr/>
          <p:nvPr/>
        </p:nvSpPr>
        <p:spPr>
          <a:xfrm>
            <a:off x="4361688" y="3170682"/>
            <a:ext cx="0" cy="393192"/>
          </a:xfrm>
          <a:prstGeom prst="line">
            <a:avLst/>
          </a:prstGeom>
          <a:noFill/>
          <a:ln w="9525">
            <a:solidFill>
              <a:srgbClr val="333355"/>
            </a:solidFill>
            <a:prstDash val="solid"/>
          </a:ln>
        </p:spPr>
        <p:txBody>
          <a:bodyPr/>
          <a:lstStyle/>
          <a:p>
            <a:endParaRPr lang="en-US"/>
          </a:p>
        </p:txBody>
      </p:sp>
      <p:sp>
        <p:nvSpPr>
          <p:cNvPr id="36" name="Text 34">
            <a:extLst>
              <a:ext uri="{FF2B5EF4-FFF2-40B4-BE49-F238E27FC236}">
                <a16:creationId xmlns:a16="http://schemas.microsoft.com/office/drawing/2014/main" id="{5CBCAC83-FE09-B41B-A792-27B20AAC85CA}"/>
              </a:ext>
            </a:extLst>
          </p:cNvPr>
          <p:cNvSpPr/>
          <p:nvPr/>
        </p:nvSpPr>
        <p:spPr>
          <a:xfrm>
            <a:off x="4453128" y="3024378"/>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Stack</a:t>
            </a:r>
            <a:endParaRPr lang="en-US" sz="1200" dirty="0"/>
          </a:p>
        </p:txBody>
      </p:sp>
      <p:sp>
        <p:nvSpPr>
          <p:cNvPr id="37" name="Shape 35">
            <a:extLst>
              <a:ext uri="{FF2B5EF4-FFF2-40B4-BE49-F238E27FC236}">
                <a16:creationId xmlns:a16="http://schemas.microsoft.com/office/drawing/2014/main" id="{56457514-840D-17B8-1CA3-22F36C9B7732}"/>
              </a:ext>
            </a:extLst>
          </p:cNvPr>
          <p:cNvSpPr/>
          <p:nvPr/>
        </p:nvSpPr>
        <p:spPr>
          <a:xfrm>
            <a:off x="2834640" y="3819906"/>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8" name="Shape 36">
            <a:extLst>
              <a:ext uri="{FF2B5EF4-FFF2-40B4-BE49-F238E27FC236}">
                <a16:creationId xmlns:a16="http://schemas.microsoft.com/office/drawing/2014/main" id="{9DF37A64-ED3D-4331-0DFF-1C08C1392C97}"/>
              </a:ext>
            </a:extLst>
          </p:cNvPr>
          <p:cNvSpPr/>
          <p:nvPr/>
        </p:nvSpPr>
        <p:spPr>
          <a:xfrm>
            <a:off x="3035808" y="3970782"/>
            <a:ext cx="384048" cy="384048"/>
          </a:xfrm>
          <a:prstGeom prst="ellipse">
            <a:avLst/>
          </a:prstGeom>
          <a:solidFill>
            <a:srgbClr val="57E3D8"/>
          </a:solidFill>
          <a:ln w="12700">
            <a:solidFill>
              <a:srgbClr val="57E3D8"/>
            </a:solidFill>
            <a:prstDash val="solid"/>
          </a:ln>
        </p:spPr>
        <p:txBody>
          <a:bodyPr/>
          <a:lstStyle/>
          <a:p>
            <a:endParaRPr lang="en-US"/>
          </a:p>
        </p:txBody>
      </p:sp>
      <p:sp>
        <p:nvSpPr>
          <p:cNvPr id="39" name="Text 37">
            <a:extLst>
              <a:ext uri="{FF2B5EF4-FFF2-40B4-BE49-F238E27FC236}">
                <a16:creationId xmlns:a16="http://schemas.microsoft.com/office/drawing/2014/main" id="{4E4D50F2-2BDB-5D2A-D738-38A75BE73FEC}"/>
              </a:ext>
            </a:extLst>
          </p:cNvPr>
          <p:cNvSpPr/>
          <p:nvPr/>
        </p:nvSpPr>
        <p:spPr>
          <a:xfrm>
            <a:off x="3035808" y="3970782"/>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5</a:t>
            </a:r>
            <a:endParaRPr lang="en-US" sz="1200" dirty="0"/>
          </a:p>
        </p:txBody>
      </p:sp>
      <p:sp>
        <p:nvSpPr>
          <p:cNvPr id="40" name="Text 38">
            <a:extLst>
              <a:ext uri="{FF2B5EF4-FFF2-40B4-BE49-F238E27FC236}">
                <a16:creationId xmlns:a16="http://schemas.microsoft.com/office/drawing/2014/main" id="{AD1F2660-4698-BAA4-6ECB-D1AD7F28A049}"/>
              </a:ext>
            </a:extLst>
          </p:cNvPr>
          <p:cNvSpPr/>
          <p:nvPr/>
        </p:nvSpPr>
        <p:spPr>
          <a:xfrm>
            <a:off x="3584448" y="3911346"/>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5</a:t>
            </a:r>
            <a:endParaRPr lang="en-US" sz="950" dirty="0"/>
          </a:p>
        </p:txBody>
      </p:sp>
      <p:sp>
        <p:nvSpPr>
          <p:cNvPr id="41" name="Shape 39">
            <a:extLst>
              <a:ext uri="{FF2B5EF4-FFF2-40B4-BE49-F238E27FC236}">
                <a16:creationId xmlns:a16="http://schemas.microsoft.com/office/drawing/2014/main" id="{D73F017A-5189-2942-0DBD-BF028C8152BF}"/>
              </a:ext>
            </a:extLst>
          </p:cNvPr>
          <p:cNvSpPr/>
          <p:nvPr/>
        </p:nvSpPr>
        <p:spPr>
          <a:xfrm>
            <a:off x="4361688" y="3966210"/>
            <a:ext cx="0" cy="393192"/>
          </a:xfrm>
          <a:prstGeom prst="line">
            <a:avLst/>
          </a:prstGeom>
          <a:noFill/>
          <a:ln w="9525">
            <a:solidFill>
              <a:srgbClr val="333355"/>
            </a:solidFill>
            <a:prstDash val="solid"/>
          </a:ln>
        </p:spPr>
        <p:txBody>
          <a:bodyPr/>
          <a:lstStyle/>
          <a:p>
            <a:endParaRPr lang="en-US"/>
          </a:p>
        </p:txBody>
      </p:sp>
      <p:sp>
        <p:nvSpPr>
          <p:cNvPr id="42" name="Text 40">
            <a:extLst>
              <a:ext uri="{FF2B5EF4-FFF2-40B4-BE49-F238E27FC236}">
                <a16:creationId xmlns:a16="http://schemas.microsoft.com/office/drawing/2014/main" id="{6D890D9C-81A6-2603-64EC-51DA4BF1757F}"/>
              </a:ext>
            </a:extLst>
          </p:cNvPr>
          <p:cNvSpPr/>
          <p:nvPr/>
        </p:nvSpPr>
        <p:spPr>
          <a:xfrm>
            <a:off x="4453128" y="3819906"/>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Queue</a:t>
            </a:r>
            <a:endParaRPr lang="en-US" sz="1200" dirty="0"/>
          </a:p>
        </p:txBody>
      </p:sp>
    </p:spTree>
    <p:extLst>
      <p:ext uri="{BB962C8B-B14F-4D97-AF65-F5344CB8AC3E}">
        <p14:creationId xmlns:p14="http://schemas.microsoft.com/office/powerpoint/2010/main" val="4089634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13FDBC-5DDD-9D99-0C14-ACF6DD9AF588}"/>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42E06120-A5BA-0588-9AFC-314C5FEDBA69}"/>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31E6587E-9A93-DCDC-751E-D59249E30628}"/>
              </a:ext>
            </a:extLst>
          </p:cNvPr>
          <p:cNvSpPr/>
          <p:nvPr/>
        </p:nvSpPr>
        <p:spPr>
          <a:xfrm>
            <a:off x="365760" y="274320"/>
            <a:ext cx="1371600" cy="868680"/>
          </a:xfrm>
          <a:prstGeom prst="rect">
            <a:avLst/>
          </a:prstGeom>
          <a:solidFill>
            <a:srgbClr val="57E3D8"/>
          </a:solidFill>
          <a:ln w="12700">
            <a:solidFill>
              <a:srgbClr val="57E3D8"/>
            </a:solidFill>
            <a:prstDash val="solid"/>
          </a:ln>
        </p:spPr>
        <p:txBody>
          <a:bodyPr/>
          <a:lstStyle/>
          <a:p>
            <a:endParaRPr lang="en-US"/>
          </a:p>
        </p:txBody>
      </p:sp>
      <p:sp>
        <p:nvSpPr>
          <p:cNvPr id="5" name="Text 3">
            <a:extLst>
              <a:ext uri="{FF2B5EF4-FFF2-40B4-BE49-F238E27FC236}">
                <a16:creationId xmlns:a16="http://schemas.microsoft.com/office/drawing/2014/main" id="{C67D5CF5-DB10-704C-D443-9DD16F3972AE}"/>
              </a:ext>
            </a:extLst>
          </p:cNvPr>
          <p:cNvSpPr/>
          <p:nvPr/>
        </p:nvSpPr>
        <p:spPr>
          <a:xfrm>
            <a:off x="365760" y="274320"/>
            <a:ext cx="1371600" cy="868680"/>
          </a:xfrm>
          <a:prstGeom prst="rect">
            <a:avLst/>
          </a:prstGeom>
          <a:noFill/>
          <a:ln/>
        </p:spPr>
        <p:txBody>
          <a:bodyPr wrap="square" lIns="0" tIns="0" rIns="0" bIns="0" rtlCol="0" anchor="ctr"/>
          <a:lstStyle/>
          <a:p>
            <a:pPr marL="0" indent="0" algn="ctr">
              <a:buNone/>
            </a:pPr>
            <a:r>
              <a:rPr lang="en-US" sz="1200" b="1" dirty="0">
                <a:solidFill>
                  <a:srgbClr val="0A2020"/>
                </a:solidFill>
                <a:latin typeface="Calibri" pitchFamily="34" charset="0"/>
                <a:ea typeface="Calibri" pitchFamily="34" charset="-122"/>
                <a:cs typeface="Calibri" pitchFamily="34" charset="-120"/>
              </a:rPr>
              <a:t>DAY</a:t>
            </a:r>
            <a:endParaRPr lang="en-US" sz="1200" dirty="0"/>
          </a:p>
          <a:p>
            <a:pPr marL="0" indent="0" algn="ctr">
              <a:buNone/>
            </a:pPr>
            <a:r>
              <a:rPr lang="en-US" sz="3200" b="1" dirty="0">
                <a:solidFill>
                  <a:srgbClr val="0A2020"/>
                </a:solidFill>
                <a:latin typeface="Calibri" pitchFamily="34" charset="0"/>
                <a:ea typeface="Calibri" pitchFamily="34" charset="-122"/>
                <a:cs typeface="Calibri" pitchFamily="34" charset="-120"/>
              </a:rPr>
              <a:t>3</a:t>
            </a:r>
            <a:endParaRPr lang="en-US" sz="1200" dirty="0"/>
          </a:p>
        </p:txBody>
      </p:sp>
      <p:sp>
        <p:nvSpPr>
          <p:cNvPr id="6" name="Text 4">
            <a:extLst>
              <a:ext uri="{FF2B5EF4-FFF2-40B4-BE49-F238E27FC236}">
                <a16:creationId xmlns:a16="http://schemas.microsoft.com/office/drawing/2014/main" id="{2618CB18-7DD1-DE12-784E-1AD843D14FD8}"/>
              </a:ext>
            </a:extLst>
          </p:cNvPr>
          <p:cNvSpPr/>
          <p:nvPr/>
        </p:nvSpPr>
        <p:spPr>
          <a:xfrm>
            <a:off x="4846320" y="292608"/>
            <a:ext cx="4023360" cy="256032"/>
          </a:xfrm>
          <a:prstGeom prst="rect">
            <a:avLst/>
          </a:prstGeom>
          <a:noFill/>
          <a:ln/>
        </p:spPr>
        <p:txBody>
          <a:bodyPr wrap="square" lIns="0" tIns="0" rIns="0" bIns="0" rtlCol="0" anchor="ctr"/>
          <a:lstStyle/>
          <a:p>
            <a:pPr marL="0" indent="0" algn="r">
              <a:buNone/>
            </a:pPr>
            <a:r>
              <a:rPr lang="en-US" sz="1000" dirty="0">
                <a:solidFill>
                  <a:srgbClr val="9AA4B2"/>
                </a:solidFill>
                <a:latin typeface="Calibri" pitchFamily="34" charset="0"/>
                <a:ea typeface="Calibri" pitchFamily="34" charset="-122"/>
                <a:cs typeface="Calibri" pitchFamily="34" charset="-120"/>
              </a:rPr>
              <a:t>Foundation Bootcamp  ·  Programming Fundamentals</a:t>
            </a:r>
            <a:endParaRPr lang="en-US" sz="1000" dirty="0"/>
          </a:p>
        </p:txBody>
      </p:sp>
      <p:sp>
        <p:nvSpPr>
          <p:cNvPr id="7" name="Text 5">
            <a:extLst>
              <a:ext uri="{FF2B5EF4-FFF2-40B4-BE49-F238E27FC236}">
                <a16:creationId xmlns:a16="http://schemas.microsoft.com/office/drawing/2014/main" id="{AB2A5451-C4E1-38AA-05F1-72B37457912F}"/>
              </a:ext>
            </a:extLst>
          </p:cNvPr>
          <p:cNvSpPr/>
          <p:nvPr/>
        </p:nvSpPr>
        <p:spPr>
          <a:xfrm>
            <a:off x="4846320" y="566928"/>
            <a:ext cx="4023360" cy="256032"/>
          </a:xfrm>
          <a:prstGeom prst="rect">
            <a:avLst/>
          </a:prstGeom>
          <a:noFill/>
          <a:ln/>
        </p:spPr>
        <p:txBody>
          <a:bodyPr wrap="square" lIns="0" tIns="0" rIns="0" bIns="0" rtlCol="0" anchor="ctr"/>
          <a:lstStyle/>
          <a:p>
            <a:pPr marL="0" indent="0" algn="r">
              <a:buNone/>
            </a:pPr>
            <a:r>
              <a:rPr lang="en-US" sz="1000" b="1" dirty="0">
                <a:solidFill>
                  <a:srgbClr val="57E3D8"/>
                </a:solidFill>
                <a:latin typeface="Calibri" pitchFamily="34" charset="0"/>
                <a:ea typeface="Calibri" pitchFamily="34" charset="-122"/>
                <a:cs typeface="Calibri" pitchFamily="34" charset="-120"/>
              </a:rPr>
              <a:t>Week 4  ·  Session 3</a:t>
            </a:r>
            <a:endParaRPr lang="en-US" sz="1000" dirty="0"/>
          </a:p>
        </p:txBody>
      </p:sp>
      <p:sp>
        <p:nvSpPr>
          <p:cNvPr id="8" name="Shape 6">
            <a:extLst>
              <a:ext uri="{FF2B5EF4-FFF2-40B4-BE49-F238E27FC236}">
                <a16:creationId xmlns:a16="http://schemas.microsoft.com/office/drawing/2014/main" id="{FAD083D8-2D1F-92BE-05A6-90E9ABE83F24}"/>
              </a:ext>
            </a:extLst>
          </p:cNvPr>
          <p:cNvSpPr/>
          <p:nvPr/>
        </p:nvSpPr>
        <p:spPr>
          <a:xfrm>
            <a:off x="365760" y="1298448"/>
            <a:ext cx="8412480" cy="1463040"/>
          </a:xfrm>
          <a:prstGeom prst="rect">
            <a:avLst/>
          </a:prstGeom>
          <a:solidFill>
            <a:srgbClr val="1A1A2E"/>
          </a:solidFill>
          <a:ln w="19050">
            <a:solidFill>
              <a:srgbClr val="57E3D8"/>
            </a:solidFill>
            <a:prstDash val="solid"/>
          </a:ln>
        </p:spPr>
        <p:txBody>
          <a:bodyPr/>
          <a:lstStyle/>
          <a:p>
            <a:endParaRPr lang="en-US"/>
          </a:p>
        </p:txBody>
      </p:sp>
      <p:sp>
        <p:nvSpPr>
          <p:cNvPr id="9" name="Shape 7">
            <a:extLst>
              <a:ext uri="{FF2B5EF4-FFF2-40B4-BE49-F238E27FC236}">
                <a16:creationId xmlns:a16="http://schemas.microsoft.com/office/drawing/2014/main" id="{0D5704D3-3BF1-E3E5-328C-6FEE31360790}"/>
              </a:ext>
            </a:extLst>
          </p:cNvPr>
          <p:cNvSpPr/>
          <p:nvPr/>
        </p:nvSpPr>
        <p:spPr>
          <a:xfrm>
            <a:off x="365760" y="1298448"/>
            <a:ext cx="109728" cy="1463040"/>
          </a:xfrm>
          <a:prstGeom prst="rect">
            <a:avLst/>
          </a:prstGeom>
          <a:solidFill>
            <a:srgbClr val="57E3D8"/>
          </a:solidFill>
          <a:ln w="12700">
            <a:solidFill>
              <a:srgbClr val="57E3D8"/>
            </a:solidFill>
            <a:prstDash val="solid"/>
          </a:ln>
        </p:spPr>
        <p:txBody>
          <a:bodyPr/>
          <a:lstStyle/>
          <a:p>
            <a:endParaRPr lang="en-US"/>
          </a:p>
        </p:txBody>
      </p:sp>
      <p:sp>
        <p:nvSpPr>
          <p:cNvPr id="10" name="Text 8">
            <a:extLst>
              <a:ext uri="{FF2B5EF4-FFF2-40B4-BE49-F238E27FC236}">
                <a16:creationId xmlns:a16="http://schemas.microsoft.com/office/drawing/2014/main" id="{D3858319-3A4E-91B1-C2EA-3847BFD5134B}"/>
              </a:ext>
            </a:extLst>
          </p:cNvPr>
          <p:cNvSpPr/>
          <p:nvPr/>
        </p:nvSpPr>
        <p:spPr>
          <a:xfrm>
            <a:off x="685800" y="1417320"/>
            <a:ext cx="3657600" cy="274320"/>
          </a:xfrm>
          <a:prstGeom prst="rect">
            <a:avLst/>
          </a:prstGeom>
          <a:noFill/>
          <a:ln/>
        </p:spPr>
        <p:txBody>
          <a:bodyPr wrap="square" lIns="0" tIns="0" rIns="0" bIns="0" rtlCol="0" anchor="ctr"/>
          <a:lstStyle/>
          <a:p>
            <a:pPr marL="0" indent="0" algn="l">
              <a:buNone/>
            </a:pPr>
            <a:r>
              <a:rPr lang="en-US" sz="1300" i="1" dirty="0">
                <a:solidFill>
                  <a:srgbClr val="9AA4B2"/>
                </a:solidFill>
                <a:latin typeface="Calibri" pitchFamily="34" charset="0"/>
                <a:ea typeface="Calibri" pitchFamily="34" charset="-122"/>
                <a:cs typeface="Calibri" pitchFamily="34" charset="-120"/>
              </a:rPr>
              <a:t>Today's Topics</a:t>
            </a:r>
            <a:endParaRPr lang="en-US" sz="1300" dirty="0"/>
          </a:p>
        </p:txBody>
      </p:sp>
      <p:sp>
        <p:nvSpPr>
          <p:cNvPr id="11" name="Text 9">
            <a:extLst>
              <a:ext uri="{FF2B5EF4-FFF2-40B4-BE49-F238E27FC236}">
                <a16:creationId xmlns:a16="http://schemas.microsoft.com/office/drawing/2014/main" id="{F7576970-1165-68A7-9A7D-AF857B550642}"/>
              </a:ext>
            </a:extLst>
          </p:cNvPr>
          <p:cNvSpPr/>
          <p:nvPr/>
        </p:nvSpPr>
        <p:spPr>
          <a:xfrm>
            <a:off x="685800" y="1737360"/>
            <a:ext cx="795528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Linked Lists</a:t>
            </a:r>
            <a:endParaRPr lang="en-US" sz="4000" dirty="0"/>
          </a:p>
        </p:txBody>
      </p:sp>
      <p:sp>
        <p:nvSpPr>
          <p:cNvPr id="12" name="Shape 10">
            <a:extLst>
              <a:ext uri="{FF2B5EF4-FFF2-40B4-BE49-F238E27FC236}">
                <a16:creationId xmlns:a16="http://schemas.microsoft.com/office/drawing/2014/main" id="{8F5FA2A2-3F2F-83FD-13B0-8F916BDF8B68}"/>
              </a:ext>
            </a:extLst>
          </p:cNvPr>
          <p:cNvSpPr/>
          <p:nvPr/>
        </p:nvSpPr>
        <p:spPr>
          <a:xfrm>
            <a:off x="448056" y="2971800"/>
            <a:ext cx="1965960" cy="256032"/>
          </a:xfrm>
          <a:prstGeom prst="rect">
            <a:avLst/>
          </a:prstGeom>
          <a:solidFill>
            <a:srgbClr val="57E3D8"/>
          </a:solidFill>
          <a:ln w="12700">
            <a:solidFill>
              <a:srgbClr val="57E3D8"/>
            </a:solidFill>
            <a:prstDash val="solid"/>
          </a:ln>
        </p:spPr>
        <p:txBody>
          <a:bodyPr/>
          <a:lstStyle/>
          <a:p>
            <a:endParaRPr lang="en-US"/>
          </a:p>
        </p:txBody>
      </p:sp>
      <p:sp>
        <p:nvSpPr>
          <p:cNvPr id="13" name="Text 11">
            <a:extLst>
              <a:ext uri="{FF2B5EF4-FFF2-40B4-BE49-F238E27FC236}">
                <a16:creationId xmlns:a16="http://schemas.microsoft.com/office/drawing/2014/main" id="{44B0681B-DD72-BBAA-CF9F-BAB2A3B94A02}"/>
              </a:ext>
            </a:extLst>
          </p:cNvPr>
          <p:cNvSpPr/>
          <p:nvPr/>
        </p:nvSpPr>
        <p:spPr>
          <a:xfrm>
            <a:off x="557784"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01</a:t>
            </a:r>
            <a:endParaRPr lang="en-US" sz="1000" dirty="0"/>
          </a:p>
        </p:txBody>
      </p:sp>
      <p:sp>
        <p:nvSpPr>
          <p:cNvPr id="14" name="Shape 12">
            <a:extLst>
              <a:ext uri="{FF2B5EF4-FFF2-40B4-BE49-F238E27FC236}">
                <a16:creationId xmlns:a16="http://schemas.microsoft.com/office/drawing/2014/main" id="{863F2B03-F032-249B-78BC-7A866DB649EF}"/>
              </a:ext>
            </a:extLst>
          </p:cNvPr>
          <p:cNvSpPr/>
          <p:nvPr/>
        </p:nvSpPr>
        <p:spPr>
          <a:xfrm>
            <a:off x="448056"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15" name="Shape 13">
            <a:extLst>
              <a:ext uri="{FF2B5EF4-FFF2-40B4-BE49-F238E27FC236}">
                <a16:creationId xmlns:a16="http://schemas.microsoft.com/office/drawing/2014/main" id="{BEB099FC-10EB-F5A1-0946-B88DCE86BBD5}"/>
              </a:ext>
            </a:extLst>
          </p:cNvPr>
          <p:cNvSpPr/>
          <p:nvPr/>
        </p:nvSpPr>
        <p:spPr>
          <a:xfrm>
            <a:off x="1147572" y="3383280"/>
            <a:ext cx="566928" cy="566928"/>
          </a:xfrm>
          <a:prstGeom prst="ellipse">
            <a:avLst/>
          </a:prstGeom>
          <a:solidFill>
            <a:srgbClr val="1A1A2E"/>
          </a:solidFill>
          <a:ln w="19050">
            <a:solidFill>
              <a:srgbClr val="57E3D8"/>
            </a:solidFill>
            <a:prstDash val="solid"/>
          </a:ln>
        </p:spPr>
        <p:txBody>
          <a:bodyPr/>
          <a:lstStyle/>
          <a:p>
            <a:endParaRPr lang="en-US"/>
          </a:p>
        </p:txBody>
      </p:sp>
      <p:pic>
        <p:nvPicPr>
          <p:cNvPr id="16" name="Image 0" descr="preencoded.png">
            <a:extLst>
              <a:ext uri="{FF2B5EF4-FFF2-40B4-BE49-F238E27FC236}">
                <a16:creationId xmlns:a16="http://schemas.microsoft.com/office/drawing/2014/main" id="{2BB8682D-961A-DD53-45ED-B5032D0B87E6}"/>
              </a:ext>
            </a:extLst>
          </p:cNvPr>
          <p:cNvPicPr>
            <a:picLocks noChangeAspect="1"/>
          </p:cNvPicPr>
          <p:nvPr/>
        </p:nvPicPr>
        <p:blipFill>
          <a:blip r:embed="rId2"/>
          <a:stretch>
            <a:fillRect/>
          </a:stretch>
        </p:blipFill>
        <p:spPr>
          <a:xfrm>
            <a:off x="1284732" y="3520440"/>
            <a:ext cx="292608" cy="292608"/>
          </a:xfrm>
          <a:prstGeom prst="rect">
            <a:avLst/>
          </a:prstGeom>
        </p:spPr>
      </p:pic>
      <p:sp>
        <p:nvSpPr>
          <p:cNvPr id="17" name="Text 14">
            <a:extLst>
              <a:ext uri="{FF2B5EF4-FFF2-40B4-BE49-F238E27FC236}">
                <a16:creationId xmlns:a16="http://schemas.microsoft.com/office/drawing/2014/main" id="{A012E61B-F8AB-45CD-A4DE-3F1327EF0708}"/>
              </a:ext>
            </a:extLst>
          </p:cNvPr>
          <p:cNvSpPr/>
          <p:nvPr/>
        </p:nvSpPr>
        <p:spPr>
          <a:xfrm>
            <a:off x="539496" y="3995928"/>
            <a:ext cx="1783080" cy="256032"/>
          </a:xfrm>
          <a:prstGeom prst="rect">
            <a:avLst/>
          </a:prstGeom>
          <a:noFill/>
          <a:ln/>
        </p:spPr>
        <p:txBody>
          <a:bodyPr wrap="square" lIns="0" tIns="0" rIns="0" bIns="0" rtlCol="0" anchor="ctr"/>
          <a:lstStyle/>
          <a:p>
            <a:pPr marL="0" indent="0" algn="l">
              <a:buNone/>
            </a:pPr>
            <a:r>
              <a:rPr lang="en-US" sz="1250" b="1" dirty="0">
                <a:solidFill>
                  <a:srgbClr val="57E3D8"/>
                </a:solidFill>
                <a:latin typeface="Calibri" pitchFamily="34" charset="0"/>
                <a:ea typeface="Calibri" pitchFamily="34" charset="-122"/>
                <a:cs typeface="Calibri" pitchFamily="34" charset="-120"/>
              </a:rPr>
              <a:t>Nodes &amp; Pointers</a:t>
            </a:r>
            <a:endParaRPr lang="en-US" sz="1250" dirty="0"/>
          </a:p>
        </p:txBody>
      </p:sp>
      <p:sp>
        <p:nvSpPr>
          <p:cNvPr id="18" name="Text 15">
            <a:extLst>
              <a:ext uri="{FF2B5EF4-FFF2-40B4-BE49-F238E27FC236}">
                <a16:creationId xmlns:a16="http://schemas.microsoft.com/office/drawing/2014/main" id="{0E81D8A6-1D5A-C81F-0678-FB64F8ADF628}"/>
              </a:ext>
            </a:extLst>
          </p:cNvPr>
          <p:cNvSpPr/>
          <p:nvPr/>
        </p:nvSpPr>
        <p:spPr>
          <a:xfrm>
            <a:off x="539496"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The building block of a linked list — a value that knows where the next one lives</a:t>
            </a:r>
            <a:endParaRPr lang="en-US" sz="900" dirty="0"/>
          </a:p>
        </p:txBody>
      </p:sp>
      <p:sp>
        <p:nvSpPr>
          <p:cNvPr id="19" name="Shape 16">
            <a:extLst>
              <a:ext uri="{FF2B5EF4-FFF2-40B4-BE49-F238E27FC236}">
                <a16:creationId xmlns:a16="http://schemas.microsoft.com/office/drawing/2014/main" id="{509FF1E3-7F95-BF77-7884-C3713707FFEB}"/>
              </a:ext>
            </a:extLst>
          </p:cNvPr>
          <p:cNvSpPr/>
          <p:nvPr/>
        </p:nvSpPr>
        <p:spPr>
          <a:xfrm>
            <a:off x="2542032" y="2971800"/>
            <a:ext cx="1965960" cy="256032"/>
          </a:xfrm>
          <a:prstGeom prst="rect">
            <a:avLst/>
          </a:prstGeom>
          <a:solidFill>
            <a:srgbClr val="4A8AF4"/>
          </a:solidFill>
          <a:ln w="12700">
            <a:solidFill>
              <a:srgbClr val="4A8AF4"/>
            </a:solidFill>
            <a:prstDash val="solid"/>
          </a:ln>
        </p:spPr>
        <p:txBody>
          <a:bodyPr/>
          <a:lstStyle/>
          <a:p>
            <a:endParaRPr lang="en-US"/>
          </a:p>
        </p:txBody>
      </p:sp>
      <p:sp>
        <p:nvSpPr>
          <p:cNvPr id="20" name="Text 17">
            <a:extLst>
              <a:ext uri="{FF2B5EF4-FFF2-40B4-BE49-F238E27FC236}">
                <a16:creationId xmlns:a16="http://schemas.microsoft.com/office/drawing/2014/main" id="{D783B96E-964E-98F7-1DBA-93833A52BCDA}"/>
              </a:ext>
            </a:extLst>
          </p:cNvPr>
          <p:cNvSpPr/>
          <p:nvPr/>
        </p:nvSpPr>
        <p:spPr>
          <a:xfrm>
            <a:off x="2651760"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02</a:t>
            </a:r>
            <a:endParaRPr lang="en-US" sz="1000" dirty="0"/>
          </a:p>
        </p:txBody>
      </p:sp>
      <p:sp>
        <p:nvSpPr>
          <p:cNvPr id="21" name="Shape 18">
            <a:extLst>
              <a:ext uri="{FF2B5EF4-FFF2-40B4-BE49-F238E27FC236}">
                <a16:creationId xmlns:a16="http://schemas.microsoft.com/office/drawing/2014/main" id="{6FFD5674-F734-94AD-0AC9-E1FA43B9DB81}"/>
              </a:ext>
            </a:extLst>
          </p:cNvPr>
          <p:cNvSpPr/>
          <p:nvPr/>
        </p:nvSpPr>
        <p:spPr>
          <a:xfrm>
            <a:off x="2542032"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2" name="Shape 19">
            <a:extLst>
              <a:ext uri="{FF2B5EF4-FFF2-40B4-BE49-F238E27FC236}">
                <a16:creationId xmlns:a16="http://schemas.microsoft.com/office/drawing/2014/main" id="{9D2A8F47-C25F-DCA5-15B0-45A6A6E685C0}"/>
              </a:ext>
            </a:extLst>
          </p:cNvPr>
          <p:cNvSpPr/>
          <p:nvPr/>
        </p:nvSpPr>
        <p:spPr>
          <a:xfrm>
            <a:off x="3241548" y="3383280"/>
            <a:ext cx="566928" cy="566928"/>
          </a:xfrm>
          <a:prstGeom prst="ellipse">
            <a:avLst/>
          </a:prstGeom>
          <a:solidFill>
            <a:srgbClr val="1A1A2E"/>
          </a:solidFill>
          <a:ln w="19050">
            <a:solidFill>
              <a:srgbClr val="4A8AF4"/>
            </a:solidFill>
            <a:prstDash val="solid"/>
          </a:ln>
        </p:spPr>
        <p:txBody>
          <a:bodyPr/>
          <a:lstStyle/>
          <a:p>
            <a:endParaRPr lang="en-US"/>
          </a:p>
        </p:txBody>
      </p:sp>
      <p:pic>
        <p:nvPicPr>
          <p:cNvPr id="23" name="Image 1" descr="preencoded.png">
            <a:extLst>
              <a:ext uri="{FF2B5EF4-FFF2-40B4-BE49-F238E27FC236}">
                <a16:creationId xmlns:a16="http://schemas.microsoft.com/office/drawing/2014/main" id="{412C1324-714A-69F6-27F7-4F9223D687B9}"/>
              </a:ext>
            </a:extLst>
          </p:cNvPr>
          <p:cNvPicPr>
            <a:picLocks noChangeAspect="1"/>
          </p:cNvPicPr>
          <p:nvPr/>
        </p:nvPicPr>
        <p:blipFill>
          <a:blip r:embed="rId3"/>
          <a:stretch>
            <a:fillRect/>
          </a:stretch>
        </p:blipFill>
        <p:spPr>
          <a:xfrm>
            <a:off x="3378708" y="3520440"/>
            <a:ext cx="292608" cy="292608"/>
          </a:xfrm>
          <a:prstGeom prst="rect">
            <a:avLst/>
          </a:prstGeom>
        </p:spPr>
      </p:pic>
      <p:sp>
        <p:nvSpPr>
          <p:cNvPr id="24" name="Text 20">
            <a:extLst>
              <a:ext uri="{FF2B5EF4-FFF2-40B4-BE49-F238E27FC236}">
                <a16:creationId xmlns:a16="http://schemas.microsoft.com/office/drawing/2014/main" id="{1AE054CC-788A-0238-EC96-FA57C021FC40}"/>
              </a:ext>
            </a:extLst>
          </p:cNvPr>
          <p:cNvSpPr/>
          <p:nvPr/>
        </p:nvSpPr>
        <p:spPr>
          <a:xfrm>
            <a:off x="2633472" y="3995928"/>
            <a:ext cx="1783080" cy="256032"/>
          </a:xfrm>
          <a:prstGeom prst="rect">
            <a:avLst/>
          </a:prstGeom>
          <a:noFill/>
          <a:ln/>
        </p:spPr>
        <p:txBody>
          <a:bodyPr wrap="square" lIns="0" tIns="0" rIns="0" bIns="0" rtlCol="0" anchor="ctr"/>
          <a:lstStyle/>
          <a:p>
            <a:pPr marL="0" indent="0" algn="l">
              <a:buNone/>
            </a:pPr>
            <a:r>
              <a:rPr lang="en-US" sz="1250" b="1" dirty="0">
                <a:solidFill>
                  <a:srgbClr val="4A8AF4"/>
                </a:solidFill>
                <a:latin typeface="Calibri" pitchFamily="34" charset="0"/>
                <a:ea typeface="Calibri" pitchFamily="34" charset="-122"/>
                <a:cs typeface="Calibri" pitchFamily="34" charset="-120"/>
              </a:rPr>
              <a:t>Head, Tail, Traversal</a:t>
            </a:r>
            <a:endParaRPr lang="en-US" sz="1250" dirty="0"/>
          </a:p>
        </p:txBody>
      </p:sp>
      <p:sp>
        <p:nvSpPr>
          <p:cNvPr id="25" name="Text 21">
            <a:extLst>
              <a:ext uri="{FF2B5EF4-FFF2-40B4-BE49-F238E27FC236}">
                <a16:creationId xmlns:a16="http://schemas.microsoft.com/office/drawing/2014/main" id="{C7AFB4C8-A5F1-8E8E-6768-231160D342BA}"/>
              </a:ext>
            </a:extLst>
          </p:cNvPr>
          <p:cNvSpPr/>
          <p:nvPr/>
        </p:nvSpPr>
        <p:spPr>
          <a:xfrm>
            <a:off x="2633472"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Walking from one node to the next, following pointers, until we reach the end</a:t>
            </a:r>
            <a:endParaRPr lang="en-US" sz="900" dirty="0"/>
          </a:p>
        </p:txBody>
      </p:sp>
      <p:sp>
        <p:nvSpPr>
          <p:cNvPr id="26" name="Shape 22">
            <a:extLst>
              <a:ext uri="{FF2B5EF4-FFF2-40B4-BE49-F238E27FC236}">
                <a16:creationId xmlns:a16="http://schemas.microsoft.com/office/drawing/2014/main" id="{9D78CCF1-008A-5CE5-AC2B-DCEF547897A9}"/>
              </a:ext>
            </a:extLst>
          </p:cNvPr>
          <p:cNvSpPr/>
          <p:nvPr/>
        </p:nvSpPr>
        <p:spPr>
          <a:xfrm>
            <a:off x="4636008" y="2971800"/>
            <a:ext cx="1965960" cy="256032"/>
          </a:xfrm>
          <a:prstGeom prst="rect">
            <a:avLst/>
          </a:prstGeom>
          <a:solidFill>
            <a:srgbClr val="E08845"/>
          </a:solidFill>
          <a:ln w="12700">
            <a:solidFill>
              <a:srgbClr val="E08845"/>
            </a:solidFill>
            <a:prstDash val="solid"/>
          </a:ln>
        </p:spPr>
        <p:txBody>
          <a:bodyPr/>
          <a:lstStyle/>
          <a:p>
            <a:endParaRPr lang="en-US"/>
          </a:p>
        </p:txBody>
      </p:sp>
      <p:sp>
        <p:nvSpPr>
          <p:cNvPr id="27" name="Text 23">
            <a:extLst>
              <a:ext uri="{FF2B5EF4-FFF2-40B4-BE49-F238E27FC236}">
                <a16:creationId xmlns:a16="http://schemas.microsoft.com/office/drawing/2014/main" id="{EB9130E3-8857-DC7C-907D-FE7C1B53B464}"/>
              </a:ext>
            </a:extLst>
          </p:cNvPr>
          <p:cNvSpPr/>
          <p:nvPr/>
        </p:nvSpPr>
        <p:spPr>
          <a:xfrm>
            <a:off x="4745736"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03</a:t>
            </a:r>
            <a:endParaRPr lang="en-US" sz="1000" dirty="0"/>
          </a:p>
        </p:txBody>
      </p:sp>
      <p:sp>
        <p:nvSpPr>
          <p:cNvPr id="28" name="Shape 24">
            <a:extLst>
              <a:ext uri="{FF2B5EF4-FFF2-40B4-BE49-F238E27FC236}">
                <a16:creationId xmlns:a16="http://schemas.microsoft.com/office/drawing/2014/main" id="{015392AA-FAA7-FAF0-16B9-DB2D2E80ABE9}"/>
              </a:ext>
            </a:extLst>
          </p:cNvPr>
          <p:cNvSpPr/>
          <p:nvPr/>
        </p:nvSpPr>
        <p:spPr>
          <a:xfrm>
            <a:off x="4636008"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9" name="Shape 25">
            <a:extLst>
              <a:ext uri="{FF2B5EF4-FFF2-40B4-BE49-F238E27FC236}">
                <a16:creationId xmlns:a16="http://schemas.microsoft.com/office/drawing/2014/main" id="{35E4AB96-40B3-FFCD-7B2C-BEC27DB50F93}"/>
              </a:ext>
            </a:extLst>
          </p:cNvPr>
          <p:cNvSpPr/>
          <p:nvPr/>
        </p:nvSpPr>
        <p:spPr>
          <a:xfrm>
            <a:off x="5335524" y="3383280"/>
            <a:ext cx="566928" cy="566928"/>
          </a:xfrm>
          <a:prstGeom prst="ellipse">
            <a:avLst/>
          </a:prstGeom>
          <a:solidFill>
            <a:srgbClr val="1A1A2E"/>
          </a:solidFill>
          <a:ln w="19050">
            <a:solidFill>
              <a:srgbClr val="E08845"/>
            </a:solidFill>
            <a:prstDash val="solid"/>
          </a:ln>
        </p:spPr>
        <p:txBody>
          <a:bodyPr/>
          <a:lstStyle/>
          <a:p>
            <a:endParaRPr lang="en-US"/>
          </a:p>
        </p:txBody>
      </p:sp>
      <p:pic>
        <p:nvPicPr>
          <p:cNvPr id="30" name="Image 2" descr="preencoded.png">
            <a:extLst>
              <a:ext uri="{FF2B5EF4-FFF2-40B4-BE49-F238E27FC236}">
                <a16:creationId xmlns:a16="http://schemas.microsoft.com/office/drawing/2014/main" id="{B4F08430-4DE3-A123-6DE3-E6E4102C890A}"/>
              </a:ext>
            </a:extLst>
          </p:cNvPr>
          <p:cNvPicPr>
            <a:picLocks noChangeAspect="1"/>
          </p:cNvPicPr>
          <p:nvPr/>
        </p:nvPicPr>
        <p:blipFill>
          <a:blip r:embed="rId4"/>
          <a:stretch>
            <a:fillRect/>
          </a:stretch>
        </p:blipFill>
        <p:spPr>
          <a:xfrm>
            <a:off x="5472684" y="3520440"/>
            <a:ext cx="292608" cy="292608"/>
          </a:xfrm>
          <a:prstGeom prst="rect">
            <a:avLst/>
          </a:prstGeom>
        </p:spPr>
      </p:pic>
      <p:sp>
        <p:nvSpPr>
          <p:cNvPr id="31" name="Text 26">
            <a:extLst>
              <a:ext uri="{FF2B5EF4-FFF2-40B4-BE49-F238E27FC236}">
                <a16:creationId xmlns:a16="http://schemas.microsoft.com/office/drawing/2014/main" id="{C70E47AA-2F2E-EEB7-BD8B-85FCC7D175B6}"/>
              </a:ext>
            </a:extLst>
          </p:cNvPr>
          <p:cNvSpPr/>
          <p:nvPr/>
        </p:nvSpPr>
        <p:spPr>
          <a:xfrm>
            <a:off x="4727448" y="3995928"/>
            <a:ext cx="1783080" cy="256032"/>
          </a:xfrm>
          <a:prstGeom prst="rect">
            <a:avLst/>
          </a:prstGeom>
          <a:noFill/>
          <a:ln/>
        </p:spPr>
        <p:txBody>
          <a:bodyPr wrap="square" lIns="0" tIns="0" rIns="0" bIns="0" rtlCol="0" anchor="ctr"/>
          <a:lstStyle/>
          <a:p>
            <a:pPr marL="0" indent="0" algn="l">
              <a:buNone/>
            </a:pPr>
            <a:r>
              <a:rPr lang="en-US" sz="1250" b="1" dirty="0">
                <a:solidFill>
                  <a:srgbClr val="E08845"/>
                </a:solidFill>
                <a:latin typeface="Calibri" pitchFamily="34" charset="0"/>
                <a:ea typeface="Calibri" pitchFamily="34" charset="-122"/>
                <a:cs typeface="Calibri" pitchFamily="34" charset="-120"/>
              </a:rPr>
              <a:t>Insert &amp; Delete</a:t>
            </a:r>
            <a:endParaRPr lang="en-US" sz="1250" dirty="0"/>
          </a:p>
        </p:txBody>
      </p:sp>
      <p:sp>
        <p:nvSpPr>
          <p:cNvPr id="32" name="Text 27">
            <a:extLst>
              <a:ext uri="{FF2B5EF4-FFF2-40B4-BE49-F238E27FC236}">
                <a16:creationId xmlns:a16="http://schemas.microsoft.com/office/drawing/2014/main" id="{8ECCBAFC-4FF7-E939-9F85-F5EFDC3F0AFF}"/>
              </a:ext>
            </a:extLst>
          </p:cNvPr>
          <p:cNvSpPr/>
          <p:nvPr/>
        </p:nvSpPr>
        <p:spPr>
          <a:xfrm>
            <a:off x="4727448"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Adding and removing nodes in O(1) — the trade-off that makes linked lists worth it</a:t>
            </a:r>
            <a:endParaRPr lang="en-US" sz="900" dirty="0"/>
          </a:p>
        </p:txBody>
      </p:sp>
      <p:sp>
        <p:nvSpPr>
          <p:cNvPr id="33" name="Shape 28">
            <a:extLst>
              <a:ext uri="{FF2B5EF4-FFF2-40B4-BE49-F238E27FC236}">
                <a16:creationId xmlns:a16="http://schemas.microsoft.com/office/drawing/2014/main" id="{7610D32B-5A46-C321-DF99-3AA4DD031AF2}"/>
              </a:ext>
            </a:extLst>
          </p:cNvPr>
          <p:cNvSpPr/>
          <p:nvPr/>
        </p:nvSpPr>
        <p:spPr>
          <a:xfrm>
            <a:off x="6729984" y="2971800"/>
            <a:ext cx="1965960" cy="256032"/>
          </a:xfrm>
          <a:prstGeom prst="rect">
            <a:avLst/>
          </a:prstGeom>
          <a:solidFill>
            <a:srgbClr val="9B7EDA"/>
          </a:solidFill>
          <a:ln w="12700">
            <a:solidFill>
              <a:srgbClr val="9B7EDA"/>
            </a:solidFill>
            <a:prstDash val="solid"/>
          </a:ln>
        </p:spPr>
        <p:txBody>
          <a:bodyPr/>
          <a:lstStyle/>
          <a:p>
            <a:endParaRPr lang="en-US"/>
          </a:p>
        </p:txBody>
      </p:sp>
      <p:sp>
        <p:nvSpPr>
          <p:cNvPr id="34" name="Text 29">
            <a:extLst>
              <a:ext uri="{FF2B5EF4-FFF2-40B4-BE49-F238E27FC236}">
                <a16:creationId xmlns:a16="http://schemas.microsoft.com/office/drawing/2014/main" id="{B950023F-CCE1-382C-FDCF-D5C19DE609C4}"/>
              </a:ext>
            </a:extLst>
          </p:cNvPr>
          <p:cNvSpPr/>
          <p:nvPr/>
        </p:nvSpPr>
        <p:spPr>
          <a:xfrm>
            <a:off x="6839712"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04</a:t>
            </a:r>
            <a:endParaRPr lang="en-US" sz="1000" dirty="0"/>
          </a:p>
        </p:txBody>
      </p:sp>
      <p:sp>
        <p:nvSpPr>
          <p:cNvPr id="35" name="Shape 30">
            <a:extLst>
              <a:ext uri="{FF2B5EF4-FFF2-40B4-BE49-F238E27FC236}">
                <a16:creationId xmlns:a16="http://schemas.microsoft.com/office/drawing/2014/main" id="{3BDC98BD-C247-517E-A975-095E85D2D3D7}"/>
              </a:ext>
            </a:extLst>
          </p:cNvPr>
          <p:cNvSpPr/>
          <p:nvPr/>
        </p:nvSpPr>
        <p:spPr>
          <a:xfrm>
            <a:off x="6729984"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36" name="Shape 31">
            <a:extLst>
              <a:ext uri="{FF2B5EF4-FFF2-40B4-BE49-F238E27FC236}">
                <a16:creationId xmlns:a16="http://schemas.microsoft.com/office/drawing/2014/main" id="{C4514252-80E3-795E-49A1-898709149828}"/>
              </a:ext>
            </a:extLst>
          </p:cNvPr>
          <p:cNvSpPr/>
          <p:nvPr/>
        </p:nvSpPr>
        <p:spPr>
          <a:xfrm>
            <a:off x="7429500" y="3383280"/>
            <a:ext cx="566928" cy="566928"/>
          </a:xfrm>
          <a:prstGeom prst="ellipse">
            <a:avLst/>
          </a:prstGeom>
          <a:solidFill>
            <a:srgbClr val="1A1A2E"/>
          </a:solidFill>
          <a:ln w="19050">
            <a:solidFill>
              <a:srgbClr val="9B7EDA"/>
            </a:solidFill>
            <a:prstDash val="solid"/>
          </a:ln>
        </p:spPr>
        <p:txBody>
          <a:bodyPr/>
          <a:lstStyle/>
          <a:p>
            <a:endParaRPr lang="en-US"/>
          </a:p>
        </p:txBody>
      </p:sp>
      <p:pic>
        <p:nvPicPr>
          <p:cNvPr id="37" name="Image 3" descr="preencoded.png">
            <a:extLst>
              <a:ext uri="{FF2B5EF4-FFF2-40B4-BE49-F238E27FC236}">
                <a16:creationId xmlns:a16="http://schemas.microsoft.com/office/drawing/2014/main" id="{347FB59D-AC00-AA50-8B4C-5C338DD2508F}"/>
              </a:ext>
            </a:extLst>
          </p:cNvPr>
          <p:cNvPicPr>
            <a:picLocks noChangeAspect="1"/>
          </p:cNvPicPr>
          <p:nvPr/>
        </p:nvPicPr>
        <p:blipFill>
          <a:blip r:embed="rId5"/>
          <a:stretch>
            <a:fillRect/>
          </a:stretch>
        </p:blipFill>
        <p:spPr>
          <a:xfrm>
            <a:off x="7566660" y="3520440"/>
            <a:ext cx="292608" cy="292608"/>
          </a:xfrm>
          <a:prstGeom prst="rect">
            <a:avLst/>
          </a:prstGeom>
        </p:spPr>
      </p:pic>
      <p:sp>
        <p:nvSpPr>
          <p:cNvPr id="38" name="Text 32">
            <a:extLst>
              <a:ext uri="{FF2B5EF4-FFF2-40B4-BE49-F238E27FC236}">
                <a16:creationId xmlns:a16="http://schemas.microsoft.com/office/drawing/2014/main" id="{871EB010-BBA8-F194-F2DE-05B41DDB8680}"/>
              </a:ext>
            </a:extLst>
          </p:cNvPr>
          <p:cNvSpPr/>
          <p:nvPr/>
        </p:nvSpPr>
        <p:spPr>
          <a:xfrm>
            <a:off x="6821424" y="3995928"/>
            <a:ext cx="1783080" cy="256032"/>
          </a:xfrm>
          <a:prstGeom prst="rect">
            <a:avLst/>
          </a:prstGeom>
          <a:noFill/>
          <a:ln/>
        </p:spPr>
        <p:txBody>
          <a:bodyPr wrap="square" lIns="0" tIns="0" rIns="0" bIns="0" rtlCol="0" anchor="ctr"/>
          <a:lstStyle/>
          <a:p>
            <a:pPr marL="0" indent="0" algn="l">
              <a:buNone/>
            </a:pPr>
            <a:r>
              <a:rPr lang="en-US" sz="1250" b="1" dirty="0">
                <a:solidFill>
                  <a:srgbClr val="9B7EDA"/>
                </a:solidFill>
                <a:latin typeface="Calibri" pitchFamily="34" charset="0"/>
                <a:ea typeface="Calibri" pitchFamily="34" charset="-122"/>
                <a:cs typeface="Calibri" pitchFamily="34" charset="-120"/>
              </a:rPr>
              <a:t>Linked List vs Array</a:t>
            </a:r>
            <a:endParaRPr lang="en-US" sz="1250" dirty="0"/>
          </a:p>
        </p:txBody>
      </p:sp>
      <p:sp>
        <p:nvSpPr>
          <p:cNvPr id="39" name="Text 33">
            <a:extLst>
              <a:ext uri="{FF2B5EF4-FFF2-40B4-BE49-F238E27FC236}">
                <a16:creationId xmlns:a16="http://schemas.microsoft.com/office/drawing/2014/main" id="{B1957D08-2E17-FA5D-3577-06DB3E45697E}"/>
              </a:ext>
            </a:extLst>
          </p:cNvPr>
          <p:cNvSpPr/>
          <p:nvPr/>
        </p:nvSpPr>
        <p:spPr>
          <a:xfrm>
            <a:off x="6821424"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Two ways to store a sequence — when to use which, and why</a:t>
            </a:r>
            <a:endParaRPr lang="en-US" sz="900" dirty="0"/>
          </a:p>
        </p:txBody>
      </p:sp>
      <p:sp>
        <p:nvSpPr>
          <p:cNvPr id="40" name="Text 34">
            <a:extLst>
              <a:ext uri="{FF2B5EF4-FFF2-40B4-BE49-F238E27FC236}">
                <a16:creationId xmlns:a16="http://schemas.microsoft.com/office/drawing/2014/main" id="{A0849E45-C363-F4CE-04BD-BDB92DA86730}"/>
              </a:ext>
            </a:extLst>
          </p:cNvPr>
          <p:cNvSpPr/>
          <p:nvPr/>
        </p:nvSpPr>
        <p:spPr>
          <a:xfrm>
            <a:off x="0" y="4777740"/>
            <a:ext cx="9144000" cy="274320"/>
          </a:xfrm>
          <a:prstGeom prst="rect">
            <a:avLst/>
          </a:prstGeom>
          <a:noFill/>
          <a:ln/>
        </p:spPr>
        <p:txBody>
          <a:bodyPr wrap="square" lIns="0" tIns="0" rIns="0" bIns="0" rtlCol="0" anchor="ctr"/>
          <a:lstStyle/>
          <a:p>
            <a:pPr marL="0" indent="0" algn="ctr">
              <a:buNone/>
            </a:pPr>
            <a:r>
              <a:rPr lang="en-US" sz="1100" i="1" dirty="0">
                <a:solidFill>
                  <a:srgbClr val="9AA4B2"/>
                </a:solidFill>
                <a:latin typeface="Calibri" pitchFamily="34" charset="0"/>
                <a:ea typeface="Calibri" pitchFamily="34" charset="-122"/>
                <a:cs typeface="Calibri" pitchFamily="34" charset="-120"/>
              </a:rPr>
              <a:t>Let's get started 🚀</a:t>
            </a:r>
            <a:endParaRPr lang="en-US" sz="1100" dirty="0"/>
          </a:p>
        </p:txBody>
      </p:sp>
    </p:spTree>
    <p:extLst>
      <p:ext uri="{BB962C8B-B14F-4D97-AF65-F5344CB8AC3E}">
        <p14:creationId xmlns:p14="http://schemas.microsoft.com/office/powerpoint/2010/main" val="144165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p:cNvGrpSpPr/>
        <p:nvPr/>
      </p:nvGrpSpPr>
      <p:grpSpPr>
        <a:xfrm>
          <a:off x="0" y="0"/>
          <a:ext cx="0" cy="0"/>
          <a:chOff x="0" y="0"/>
          <a:chExt cx="0" cy="0"/>
        </a:xfrm>
      </p:grpSpPr>
      <p:sp>
        <p:nvSpPr>
          <p:cNvPr id="48" name="Shape 0">
            <a:extLst>
              <a:ext uri="{FF2B5EF4-FFF2-40B4-BE49-F238E27FC236}">
                <a16:creationId xmlns:a16="http://schemas.microsoft.com/office/drawing/2014/main" id="{1B6EA25D-920F-01B3-FB70-D7432FF6B1A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49" name="Shape 1">
            <a:extLst>
              <a:ext uri="{FF2B5EF4-FFF2-40B4-BE49-F238E27FC236}">
                <a16:creationId xmlns:a16="http://schemas.microsoft.com/office/drawing/2014/main" id="{AEA1A76F-C3F1-CC2E-D0A4-B9D7109230A5}"/>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50" name="Shape 2">
            <a:extLst>
              <a:ext uri="{FF2B5EF4-FFF2-40B4-BE49-F238E27FC236}">
                <a16:creationId xmlns:a16="http://schemas.microsoft.com/office/drawing/2014/main" id="{FC4C1BC1-0746-CC9A-B8CF-995FD26AE8B3}"/>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51" name="Text 3">
            <a:extLst>
              <a:ext uri="{FF2B5EF4-FFF2-40B4-BE49-F238E27FC236}">
                <a16:creationId xmlns:a16="http://schemas.microsoft.com/office/drawing/2014/main" id="{821F3991-3C81-09DF-1A56-9976147ADD80}"/>
              </a:ext>
            </a:extLst>
          </p:cNvPr>
          <p:cNvSpPr/>
          <p:nvPr/>
        </p:nvSpPr>
        <p:spPr>
          <a:xfrm>
            <a:off x="365760" y="73152"/>
            <a:ext cx="8412480" cy="658368"/>
          </a:xfrm>
          <a:prstGeom prst="rect">
            <a:avLst/>
          </a:prstGeom>
          <a:noFill/>
          <a:ln/>
        </p:spPr>
        <p:txBody>
          <a:bodyPr wrap="square" lIns="0" tIns="0" rIns="0" bIns="0" rtlCol="0" anchor="ctr"/>
          <a:lstStyle/>
          <a:p>
            <a:pPr marL="0" indent="0">
              <a:buNone/>
            </a:pPr>
            <a:r>
              <a:rPr lang="en-US" sz="2000" b="1" dirty="0">
                <a:solidFill>
                  <a:srgbClr val="57E3D8"/>
                </a:solidFill>
                <a:latin typeface="Calibri" pitchFamily="34" charset="0"/>
                <a:ea typeface="Calibri" pitchFamily="34" charset="-122"/>
                <a:cs typeface="Calibri" pitchFamily="34" charset="-120"/>
              </a:rPr>
              <a:t>From Fixed Grids to Flexible Chains</a:t>
            </a:r>
            <a:endParaRPr lang="en-US" sz="2000" dirty="0"/>
          </a:p>
        </p:txBody>
      </p:sp>
      <p:sp>
        <p:nvSpPr>
          <p:cNvPr id="52" name="Shape 4">
            <a:extLst>
              <a:ext uri="{FF2B5EF4-FFF2-40B4-BE49-F238E27FC236}">
                <a16:creationId xmlns:a16="http://schemas.microsoft.com/office/drawing/2014/main" id="{FC21FB84-F6AB-7665-1308-5BF721CA043C}"/>
              </a:ext>
            </a:extLst>
          </p:cNvPr>
          <p:cNvSpPr/>
          <p:nvPr/>
        </p:nvSpPr>
        <p:spPr>
          <a:xfrm>
            <a:off x="274320" y="841248"/>
            <a:ext cx="8595360" cy="4133088"/>
          </a:xfrm>
          <a:prstGeom prst="roundRect">
            <a:avLst>
              <a:gd name="adj" fmla="val 2655"/>
            </a:avLst>
          </a:prstGeom>
          <a:solidFill>
            <a:srgbClr val="1A1040"/>
          </a:solidFill>
          <a:ln w="6350">
            <a:solidFill>
              <a:srgbClr val="333366"/>
            </a:solidFill>
            <a:prstDash val="solid"/>
          </a:ln>
        </p:spPr>
        <p:txBody>
          <a:bodyPr/>
          <a:lstStyle/>
          <a:p>
            <a:endParaRPr lang="en-US"/>
          </a:p>
        </p:txBody>
      </p:sp>
      <p:sp>
        <p:nvSpPr>
          <p:cNvPr id="53" name="Text 5">
            <a:extLst>
              <a:ext uri="{FF2B5EF4-FFF2-40B4-BE49-F238E27FC236}">
                <a16:creationId xmlns:a16="http://schemas.microsoft.com/office/drawing/2014/main" id="{5505480E-9E51-0769-FE17-12FDA406D690}"/>
              </a:ext>
            </a:extLst>
          </p:cNvPr>
          <p:cNvSpPr/>
          <p:nvPr/>
        </p:nvSpPr>
        <p:spPr>
          <a:xfrm>
            <a:off x="502920" y="914400"/>
            <a:ext cx="8138160" cy="3977640"/>
          </a:xfrm>
          <a:prstGeom prst="rect">
            <a:avLst/>
          </a:prstGeom>
          <a:noFill/>
          <a:ln/>
        </p:spPr>
        <p:txBody>
          <a:bodyPr wrap="square" rtlCol="0" anchor="t"/>
          <a:lstStyle/>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So far this week we have used arrays for everything. 1D arrays for lists, 2D arrays for grids. Both give us instant O(1) access — write the index, get the value. Hard to beat for read-heavy work.</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But arrays come with a price. Their size is fixed at creation. Inserting in the middle requires shifting every following element. Growing a full array means allocating a brand-new bigger one and copying everything across. For data that changes shape often, this gets expensive.</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The new idea  </a:t>
            </a:r>
            <a:r>
              <a:rPr lang="en-US" sz="1200" dirty="0">
                <a:solidFill>
                  <a:srgbClr val="EDEDED"/>
                </a:solidFill>
                <a:latin typeface="Calibri" pitchFamily="34" charset="0"/>
                <a:ea typeface="Calibri" pitchFamily="34" charset="-122"/>
                <a:cs typeface="Calibri" pitchFamily="34" charset="-120"/>
              </a:rPr>
              <a:t>is to give up contiguous memory entirely. Each value lives wherever it lands in RAM, and points to the next one in the chain.</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The result  </a:t>
            </a:r>
            <a:r>
              <a:rPr lang="en-US" sz="1200" dirty="0">
                <a:solidFill>
                  <a:srgbClr val="EDEDED"/>
                </a:solidFill>
                <a:latin typeface="Calibri" pitchFamily="34" charset="0"/>
                <a:ea typeface="Calibri" pitchFamily="34" charset="-122"/>
                <a:cs typeface="Calibri" pitchFamily="34" charset="-120"/>
              </a:rPr>
              <a:t>is the linked list — a sequence of nodes connected by pointers. No fixed size. No mass shifting. Inserting at the front is just three steps. The price? You lose O(1) random access — to read item 50, you walk through items 0 through 49 first.</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Linked lists are the first data structure you will meet that feels truly different from arrays. They open the door to stacks, queues, trees, and graphs — every advanced structure you will see later builds on the same idea: data values connected by pointers. Today is where the rest of computer science starts.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Shape 2"/>
          <p:cNvSpPr/>
          <p:nvPr/>
        </p:nvSpPr>
        <p:spPr>
          <a:xfrm>
            <a:off x="548640" y="548640"/>
            <a:ext cx="8046720" cy="3657600"/>
          </a:xfrm>
          <a:prstGeom prst="rect">
            <a:avLst/>
          </a:prstGeom>
          <a:solidFill>
            <a:srgbClr val="161B26"/>
          </a:solidFill>
          <a:ln w="1905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5" name="Shape 3"/>
          <p:cNvSpPr/>
          <p:nvPr/>
        </p:nvSpPr>
        <p:spPr>
          <a:xfrm>
            <a:off x="91440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6" name="Shape 4"/>
          <p:cNvSpPr/>
          <p:nvPr/>
        </p:nvSpPr>
        <p:spPr>
          <a:xfrm>
            <a:off x="91440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7" name="Shape 5"/>
          <p:cNvSpPr/>
          <p:nvPr/>
        </p:nvSpPr>
        <p:spPr>
          <a:xfrm>
            <a:off x="201168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8" name="Shape 6"/>
          <p:cNvSpPr/>
          <p:nvPr/>
        </p:nvSpPr>
        <p:spPr>
          <a:xfrm>
            <a:off x="201168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9" name="Shape 7"/>
          <p:cNvSpPr/>
          <p:nvPr/>
        </p:nvSpPr>
        <p:spPr>
          <a:xfrm>
            <a:off x="3291840" y="10058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0" name="Shape 8"/>
          <p:cNvSpPr/>
          <p:nvPr/>
        </p:nvSpPr>
        <p:spPr>
          <a:xfrm>
            <a:off x="3291840" y="8778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1" name="Shape 9"/>
          <p:cNvSpPr/>
          <p:nvPr/>
        </p:nvSpPr>
        <p:spPr>
          <a:xfrm>
            <a:off x="4572000" y="82296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2" name="Shape 10"/>
          <p:cNvSpPr/>
          <p:nvPr/>
        </p:nvSpPr>
        <p:spPr>
          <a:xfrm>
            <a:off x="4572000" y="69494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3" name="Shape 11"/>
          <p:cNvSpPr/>
          <p:nvPr/>
        </p:nvSpPr>
        <p:spPr>
          <a:xfrm>
            <a:off x="585216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4" name="Shape 12"/>
          <p:cNvSpPr/>
          <p:nvPr/>
        </p:nvSpPr>
        <p:spPr>
          <a:xfrm>
            <a:off x="585216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5" name="Shape 13"/>
          <p:cNvSpPr/>
          <p:nvPr/>
        </p:nvSpPr>
        <p:spPr>
          <a:xfrm>
            <a:off x="694944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6" name="Shape 14"/>
          <p:cNvSpPr/>
          <p:nvPr/>
        </p:nvSpPr>
        <p:spPr>
          <a:xfrm>
            <a:off x="694944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7" name="Text 15"/>
          <p:cNvSpPr/>
          <p:nvPr/>
        </p:nvSpPr>
        <p:spPr>
          <a:xfrm>
            <a:off x="548640" y="1417320"/>
            <a:ext cx="8046720" cy="777240"/>
          </a:xfrm>
          <a:prstGeom prst="rect">
            <a:avLst/>
          </a:prstGeom>
          <a:noFill/>
          <a:ln/>
        </p:spPr>
        <p:txBody>
          <a:bodyPr wrap="square" lIns="0" tIns="0" rIns="0" bIns="0" rtlCol="0" anchor="ctr"/>
          <a:lstStyle/>
          <a:p>
            <a:pPr marL="0" indent="0" algn="ctr">
              <a:buNone/>
            </a:pPr>
            <a:r>
              <a:rPr lang="en-US" sz="5200" b="1" dirty="0">
                <a:solidFill>
                  <a:srgbClr val="F0F6FC"/>
                </a:solidFill>
                <a:latin typeface="Calibri" pitchFamily="34" charset="0"/>
                <a:ea typeface="Calibri" pitchFamily="34" charset="-122"/>
                <a:cs typeface="Calibri" pitchFamily="34" charset="-120"/>
              </a:rPr>
              <a:t>Connecting</a:t>
            </a:r>
            <a:endParaRPr lang="en-US" sz="5200" dirty="0"/>
          </a:p>
        </p:txBody>
      </p:sp>
      <p:sp>
        <p:nvSpPr>
          <p:cNvPr id="18" name="Text 16"/>
          <p:cNvSpPr/>
          <p:nvPr/>
        </p:nvSpPr>
        <p:spPr>
          <a:xfrm>
            <a:off x="548640" y="2121408"/>
            <a:ext cx="8046720" cy="777240"/>
          </a:xfrm>
          <a:prstGeom prst="rect">
            <a:avLst/>
          </a:prstGeom>
          <a:noFill/>
          <a:ln/>
        </p:spPr>
        <p:txBody>
          <a:bodyPr wrap="square" lIns="0" tIns="0" rIns="0" bIns="0" rtlCol="0" anchor="ctr"/>
          <a:lstStyle/>
          <a:p>
            <a:pPr marL="0" indent="0" algn="ctr">
              <a:buNone/>
            </a:pPr>
            <a:r>
              <a:rPr lang="en-US" sz="5200" b="1" dirty="0">
                <a:solidFill>
                  <a:srgbClr val="3FD9C4"/>
                </a:solidFill>
                <a:latin typeface="Calibri" pitchFamily="34" charset="0"/>
                <a:ea typeface="Calibri" pitchFamily="34" charset="-122"/>
                <a:cs typeface="Calibri" pitchFamily="34" charset="-120"/>
              </a:rPr>
              <a:t>the Dots</a:t>
            </a:r>
            <a:endParaRPr lang="en-US" sz="5200" dirty="0"/>
          </a:p>
        </p:txBody>
      </p:sp>
      <p:sp>
        <p:nvSpPr>
          <p:cNvPr id="19" name="Text 17"/>
          <p:cNvSpPr/>
          <p:nvPr/>
        </p:nvSpPr>
        <p:spPr>
          <a:xfrm>
            <a:off x="548640" y="2944368"/>
            <a:ext cx="8046720" cy="329184"/>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Nodes · Pointers · Head · Tail · Traversal</a:t>
            </a:r>
            <a:endParaRPr lang="en-US" sz="1500" dirty="0"/>
          </a:p>
        </p:txBody>
      </p:sp>
      <p:sp>
        <p:nvSpPr>
          <p:cNvPr id="20" name="Shape 18"/>
          <p:cNvSpPr/>
          <p:nvPr/>
        </p:nvSpPr>
        <p:spPr>
          <a:xfrm>
            <a:off x="2468880" y="3401568"/>
            <a:ext cx="274320" cy="274320"/>
          </a:xfrm>
          <a:prstGeom prst="ellipse">
            <a:avLst/>
          </a:prstGeom>
          <a:solidFill>
            <a:srgbClr val="3FD9C4"/>
          </a:solidFill>
          <a:ln w="12700">
            <a:solidFill>
              <a:srgbClr val="3FD9C4"/>
            </a:solidFill>
            <a:prstDash val="solid"/>
          </a:ln>
        </p:spPr>
        <p:txBody>
          <a:bodyPr/>
          <a:lstStyle/>
          <a:p>
            <a:endParaRPr lang="en-US"/>
          </a:p>
        </p:txBody>
      </p:sp>
      <p:sp>
        <p:nvSpPr>
          <p:cNvPr id="21" name="Shape 19"/>
          <p:cNvSpPr/>
          <p:nvPr/>
        </p:nvSpPr>
        <p:spPr>
          <a:xfrm>
            <a:off x="3090672" y="3401568"/>
            <a:ext cx="274320" cy="274320"/>
          </a:xfrm>
          <a:prstGeom prst="ellipse">
            <a:avLst/>
          </a:prstGeom>
          <a:solidFill>
            <a:srgbClr val="58A6FF"/>
          </a:solidFill>
          <a:ln w="12700">
            <a:solidFill>
              <a:srgbClr val="58A6FF"/>
            </a:solidFill>
            <a:prstDash val="solid"/>
          </a:ln>
        </p:spPr>
        <p:txBody>
          <a:bodyPr/>
          <a:lstStyle/>
          <a:p>
            <a:endParaRPr lang="en-US"/>
          </a:p>
        </p:txBody>
      </p:sp>
      <p:sp>
        <p:nvSpPr>
          <p:cNvPr id="22" name="Shape 20"/>
          <p:cNvSpPr/>
          <p:nvPr/>
        </p:nvSpPr>
        <p:spPr>
          <a:xfrm>
            <a:off x="3712464" y="3401568"/>
            <a:ext cx="274320" cy="274320"/>
          </a:xfrm>
          <a:prstGeom prst="ellipse">
            <a:avLst/>
          </a:prstGeom>
          <a:solidFill>
            <a:srgbClr val="BC8CFF"/>
          </a:solidFill>
          <a:ln w="12700">
            <a:solidFill>
              <a:srgbClr val="BC8CFF"/>
            </a:solidFill>
            <a:prstDash val="solid"/>
          </a:ln>
        </p:spPr>
        <p:txBody>
          <a:bodyPr/>
          <a:lstStyle/>
          <a:p>
            <a:endParaRPr lang="en-US"/>
          </a:p>
        </p:txBody>
      </p:sp>
      <p:sp>
        <p:nvSpPr>
          <p:cNvPr id="23" name="Shape 21"/>
          <p:cNvSpPr/>
          <p:nvPr/>
        </p:nvSpPr>
        <p:spPr>
          <a:xfrm>
            <a:off x="4334256" y="3401568"/>
            <a:ext cx="274320" cy="274320"/>
          </a:xfrm>
          <a:prstGeom prst="ellipse">
            <a:avLst/>
          </a:prstGeom>
          <a:solidFill>
            <a:srgbClr val="FFA657"/>
          </a:solidFill>
          <a:ln w="12700">
            <a:solidFill>
              <a:srgbClr val="FFA657"/>
            </a:solidFill>
            <a:prstDash val="solid"/>
          </a:ln>
        </p:spPr>
        <p:txBody>
          <a:bodyPr/>
          <a:lstStyle/>
          <a:p>
            <a:endParaRPr lang="en-US"/>
          </a:p>
        </p:txBody>
      </p:sp>
      <p:sp>
        <p:nvSpPr>
          <p:cNvPr id="24" name="Shape 22"/>
          <p:cNvSpPr/>
          <p:nvPr/>
        </p:nvSpPr>
        <p:spPr>
          <a:xfrm>
            <a:off x="4956048" y="3401568"/>
            <a:ext cx="274320" cy="274320"/>
          </a:xfrm>
          <a:prstGeom prst="ellipse">
            <a:avLst/>
          </a:prstGeom>
          <a:solidFill>
            <a:srgbClr val="3FB950"/>
          </a:solidFill>
          <a:ln w="12700">
            <a:solidFill>
              <a:srgbClr val="3FB950"/>
            </a:solidFill>
            <a:prstDash val="solid"/>
          </a:ln>
        </p:spPr>
        <p:txBody>
          <a:bodyPr/>
          <a:lstStyle/>
          <a:p>
            <a:endParaRPr lang="en-US"/>
          </a:p>
        </p:txBody>
      </p:sp>
      <p:sp>
        <p:nvSpPr>
          <p:cNvPr id="25" name="Shape 23"/>
          <p:cNvSpPr/>
          <p:nvPr/>
        </p:nvSpPr>
        <p:spPr>
          <a:xfrm>
            <a:off x="5577840" y="3401568"/>
            <a:ext cx="274320" cy="274320"/>
          </a:xfrm>
          <a:prstGeom prst="ellipse">
            <a:avLst/>
          </a:prstGeom>
          <a:solidFill>
            <a:srgbClr val="F778BA"/>
          </a:solidFill>
          <a:ln w="12700">
            <a:solidFill>
              <a:srgbClr val="F778BA"/>
            </a:solidFill>
            <a:prstDash val="solid"/>
          </a:ln>
        </p:spPr>
        <p:txBody>
          <a:bodyPr/>
          <a:lstStyle/>
          <a:p>
            <a:endParaRPr lang="en-US"/>
          </a:p>
        </p:txBody>
      </p:sp>
      <p:sp>
        <p:nvSpPr>
          <p:cNvPr id="26" name="Text 24"/>
          <p:cNvSpPr/>
          <p:nvPr/>
        </p:nvSpPr>
        <p:spPr>
          <a:xfrm>
            <a:off x="0" y="4526280"/>
            <a:ext cx="9144000" cy="292608"/>
          </a:xfrm>
          <a:prstGeom prst="rect">
            <a:avLst/>
          </a:prstGeom>
          <a:noFill/>
          <a:ln/>
        </p:spPr>
        <p:txBody>
          <a:bodyPr wrap="square" lIns="0" tIns="0" rIns="0" bIns="0" rtlCol="0" anchor="ctr"/>
          <a:lstStyle/>
          <a:p>
            <a:pPr marL="0" indent="0" algn="ctr">
              <a:buNone/>
            </a:pPr>
            <a:r>
              <a:rPr lang="en-US" sz="1000" dirty="0">
                <a:solidFill>
                  <a:srgbClr val="3D444D"/>
                </a:solidFill>
                <a:latin typeface="Calibri" pitchFamily="34" charset="0"/>
                <a:ea typeface="Calibri" pitchFamily="34" charset="-122"/>
                <a:cs typeface="Calibri" pitchFamily="34" charset="-120"/>
              </a:rPr>
              <a:t>Foundation Bootcamp · Programming Fundamentals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CHAINS IN THE WILD</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Where Linked Lists Shine</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Anywhere data forms a chain that grows and shrinks, you will find a linked list close by</a:t>
            </a:r>
            <a:endParaRPr lang="en-US" sz="1300" dirty="0"/>
          </a:p>
        </p:txBody>
      </p:sp>
      <p:sp>
        <p:nvSpPr>
          <p:cNvPr id="7" name="Shape 5"/>
          <p:cNvSpPr/>
          <p:nvPr/>
        </p:nvSpPr>
        <p:spPr>
          <a:xfrm>
            <a:off x="411480" y="1170432"/>
            <a:ext cx="8321040" cy="9144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43584"/>
            <a:ext cx="7955280" cy="749808"/>
          </a:xfrm>
          <a:prstGeom prst="rect">
            <a:avLst/>
          </a:prstGeom>
          <a:noFill/>
          <a:ln/>
        </p:spPr>
        <p:txBody>
          <a:bodyPr wrap="square" lIns="0" tIns="0" rIns="0" bIns="0" rtlCol="0" anchor="ctr"/>
          <a:lstStyle/>
          <a:p>
            <a:pPr marL="0" indent="0">
              <a:buNone/>
            </a:pPr>
            <a:r>
              <a:rPr lang="en-US" sz="1300" b="1" dirty="0">
                <a:solidFill>
                  <a:srgbClr val="3FD9C4"/>
                </a:solidFill>
                <a:latin typeface="Calibri" pitchFamily="34" charset="0"/>
                <a:ea typeface="Calibri" pitchFamily="34" charset="-122"/>
                <a:cs typeface="Calibri" pitchFamily="34" charset="-120"/>
              </a:rPr>
              <a:t>A linked list  </a:t>
            </a:r>
            <a:r>
              <a:rPr lang="en-US" sz="1300" dirty="0">
                <a:solidFill>
                  <a:srgbClr val="F0F6FC"/>
                </a:solidFill>
                <a:latin typeface="Calibri" pitchFamily="34" charset="0"/>
                <a:ea typeface="Calibri" pitchFamily="34" charset="-122"/>
                <a:cs typeface="Calibri" pitchFamily="34" charset="-120"/>
              </a:rPr>
              <a:t>is a sequence of </a:t>
            </a:r>
            <a:r>
              <a:rPr lang="en-US" sz="1300" b="1" dirty="0">
                <a:solidFill>
                  <a:srgbClr val="E3B341"/>
                </a:solidFill>
                <a:latin typeface="Calibri" pitchFamily="34" charset="0"/>
                <a:ea typeface="Calibri" pitchFamily="34" charset="-122"/>
                <a:cs typeface="Calibri" pitchFamily="34" charset="-120"/>
              </a:rPr>
              <a:t>nodes </a:t>
            </a:r>
            <a:r>
              <a:rPr lang="en-US" sz="1300" dirty="0">
                <a:solidFill>
                  <a:srgbClr val="F0F6FC"/>
                </a:solidFill>
                <a:latin typeface="Calibri" pitchFamily="34" charset="0"/>
                <a:ea typeface="Calibri" pitchFamily="34" charset="-122"/>
                <a:cs typeface="Calibri" pitchFamily="34" charset="-120"/>
              </a:rPr>
              <a:t>scattered around in memory. Each node holds one value plus a pointer to the next node — </a:t>
            </a:r>
            <a:r>
              <a:rPr lang="en-US" sz="1300" dirty="0">
                <a:solidFill>
                  <a:srgbClr val="8B949E"/>
                </a:solidFill>
                <a:latin typeface="Calibri" pitchFamily="34" charset="0"/>
                <a:ea typeface="Calibri" pitchFamily="34" charset="-122"/>
                <a:cs typeface="Calibri" pitchFamily="34" charset="-120"/>
              </a:rPr>
              <a:t>so they form a chain. The last node points to nothing, marking the end.</a:t>
            </a:r>
            <a:endParaRPr lang="en-US" sz="1300" dirty="0"/>
          </a:p>
        </p:txBody>
      </p:sp>
      <p:sp>
        <p:nvSpPr>
          <p:cNvPr id="9" name="Shape 7"/>
          <p:cNvSpPr/>
          <p:nvPr/>
        </p:nvSpPr>
        <p:spPr>
          <a:xfrm>
            <a:off x="411480" y="2212848"/>
            <a:ext cx="1993392" cy="214884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2212848"/>
            <a:ext cx="1993392"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11" name="Text 9"/>
          <p:cNvSpPr/>
          <p:nvPr/>
        </p:nvSpPr>
        <p:spPr>
          <a:xfrm>
            <a:off x="521208"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Train Cars</a:t>
            </a:r>
            <a:endParaRPr lang="en-US" sz="1100" dirty="0"/>
          </a:p>
        </p:txBody>
      </p:sp>
      <p:sp>
        <p:nvSpPr>
          <p:cNvPr id="12" name="Text 10"/>
          <p:cNvSpPr/>
          <p:nvPr/>
        </p:nvSpPr>
        <p:spPr>
          <a:xfrm>
            <a:off x="521208"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Each car holds cargo</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and a coupling to the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next car. Add or remove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cars without rebuilding.</a:t>
            </a:r>
            <a:endParaRPr lang="en-US" sz="1100" dirty="0"/>
          </a:p>
        </p:txBody>
      </p:sp>
      <p:sp>
        <p:nvSpPr>
          <p:cNvPr id="13" name="Shape 11"/>
          <p:cNvSpPr/>
          <p:nvPr/>
        </p:nvSpPr>
        <p:spPr>
          <a:xfrm>
            <a:off x="2532888" y="2212848"/>
            <a:ext cx="1993392" cy="21488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4" name="Shape 12"/>
          <p:cNvSpPr/>
          <p:nvPr/>
        </p:nvSpPr>
        <p:spPr>
          <a:xfrm>
            <a:off x="2532888" y="2212848"/>
            <a:ext cx="1993392"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5" name="Text 13"/>
          <p:cNvSpPr/>
          <p:nvPr/>
        </p:nvSpPr>
        <p:spPr>
          <a:xfrm>
            <a:off x="2642616"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Undo History</a:t>
            </a:r>
            <a:endParaRPr lang="en-US" sz="1100" dirty="0"/>
          </a:p>
        </p:txBody>
      </p:sp>
      <p:sp>
        <p:nvSpPr>
          <p:cNvPr id="16" name="Text 14"/>
          <p:cNvSpPr/>
          <p:nvPr/>
        </p:nvSpPr>
        <p:spPr>
          <a:xfrm>
            <a:off x="2642616"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Every action you take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becomes a new node;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undo walks back through</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the chain of changes.</a:t>
            </a:r>
            <a:endParaRPr lang="en-US" sz="1100" dirty="0"/>
          </a:p>
        </p:txBody>
      </p:sp>
      <p:sp>
        <p:nvSpPr>
          <p:cNvPr id="17" name="Shape 15"/>
          <p:cNvSpPr/>
          <p:nvPr/>
        </p:nvSpPr>
        <p:spPr>
          <a:xfrm>
            <a:off x="4654296" y="2212848"/>
            <a:ext cx="1993392" cy="21488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8" name="Shape 16"/>
          <p:cNvSpPr/>
          <p:nvPr/>
        </p:nvSpPr>
        <p:spPr>
          <a:xfrm>
            <a:off x="4654296" y="2212848"/>
            <a:ext cx="1993392"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9" name="Text 17"/>
          <p:cNvSpPr/>
          <p:nvPr/>
        </p:nvSpPr>
        <p:spPr>
          <a:xfrm>
            <a:off x="4764024"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Music Playlist</a:t>
            </a:r>
            <a:endParaRPr lang="en-US" sz="1100" dirty="0"/>
          </a:p>
        </p:txBody>
      </p:sp>
      <p:sp>
        <p:nvSpPr>
          <p:cNvPr id="20" name="Text 18"/>
          <p:cNvSpPr/>
          <p:nvPr/>
        </p:nvSpPr>
        <p:spPr>
          <a:xfrm>
            <a:off x="4764024"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Each song is a node;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"next" points to what</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plays after this one.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Add to queue, easily.</a:t>
            </a:r>
            <a:endParaRPr lang="en-US" sz="1100" dirty="0"/>
          </a:p>
        </p:txBody>
      </p:sp>
      <p:sp>
        <p:nvSpPr>
          <p:cNvPr id="21" name="Shape 19"/>
          <p:cNvSpPr/>
          <p:nvPr/>
        </p:nvSpPr>
        <p:spPr>
          <a:xfrm>
            <a:off x="6775704" y="2212848"/>
            <a:ext cx="1993392" cy="21488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6775704" y="2212848"/>
            <a:ext cx="1993392"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3" name="Text 21"/>
          <p:cNvSpPr/>
          <p:nvPr/>
        </p:nvSpPr>
        <p:spPr>
          <a:xfrm>
            <a:off x="6885432"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Browser History</a:t>
            </a:r>
            <a:endParaRPr lang="en-US" sz="1100" dirty="0"/>
          </a:p>
        </p:txBody>
      </p:sp>
      <p:sp>
        <p:nvSpPr>
          <p:cNvPr id="24" name="Text 22"/>
          <p:cNvSpPr/>
          <p:nvPr/>
        </p:nvSpPr>
        <p:spPr>
          <a:xfrm>
            <a:off x="6885432"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Every page you visit</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chains onto the previous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page. The Back button</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walks the list backwards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through the chain.</a:t>
            </a:r>
            <a:endParaRPr lang="en-US" sz="1100" dirty="0"/>
          </a:p>
        </p:txBody>
      </p:sp>
      <p:sp>
        <p:nvSpPr>
          <p:cNvPr id="25" name="Shape 23"/>
          <p:cNvSpPr/>
          <p:nvPr/>
        </p:nvSpPr>
        <p:spPr>
          <a:xfrm>
            <a:off x="365760" y="4572000"/>
            <a:ext cx="8412480" cy="384048"/>
          </a:xfrm>
          <a:prstGeom prst="rect">
            <a:avLst/>
          </a:prstGeom>
          <a:solidFill>
            <a:srgbClr val="0A1020"/>
          </a:solidFill>
          <a:ln w="12700">
            <a:solidFill>
              <a:srgbClr val="E3B341"/>
            </a:solidFill>
            <a:prstDash val="solid"/>
          </a:ln>
        </p:spPr>
        <p:txBody>
          <a:bodyPr/>
          <a:lstStyle/>
          <a:p>
            <a:endParaRPr lang="en-US"/>
          </a:p>
        </p:txBody>
      </p:sp>
      <p:sp>
        <p:nvSpPr>
          <p:cNvPr id="26" name="Text 24"/>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The pattern:  </a:t>
            </a:r>
            <a:r>
              <a:rPr lang="en-US" sz="1100" dirty="0">
                <a:solidFill>
                  <a:srgbClr val="F0F6FC"/>
                </a:solidFill>
                <a:latin typeface="Calibri" pitchFamily="34" charset="0"/>
                <a:ea typeface="Calibri" pitchFamily="34" charset="-122"/>
                <a:cs typeface="Calibri" pitchFamily="34" charset="-120"/>
              </a:rPr>
              <a:t>Each example shares the same shape: a sequence that grows and shrinks at the ends, where adding or removing items quickly matters more than reading the middle quickly. That is exactly where the linked list beats the array.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7E7A1E3-A543-8BE6-F2F7-46DDFC0E611F}"/>
            </a:ext>
          </a:extLst>
        </p:cNvPr>
        <p:cNvGrpSpPr/>
        <p:nvPr/>
      </p:nvGrpSpPr>
      <p:grpSpPr>
        <a:xfrm>
          <a:off x="0" y="0"/>
          <a:ext cx="0" cy="0"/>
          <a:chOff x="0" y="0"/>
          <a:chExt cx="0" cy="0"/>
        </a:xfrm>
      </p:grpSpPr>
      <p:sp>
        <p:nvSpPr>
          <p:cNvPr id="60" name="Shape 1">
            <a:extLst>
              <a:ext uri="{FF2B5EF4-FFF2-40B4-BE49-F238E27FC236}">
                <a16:creationId xmlns:a16="http://schemas.microsoft.com/office/drawing/2014/main" id="{1B08139B-E6D3-F862-7147-3E3B0F5894E8}"/>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36AB523D-D286-0D36-36F4-F617E2643A46}"/>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96E2A5D1-669D-2D64-D734-7763B1DABBBF}"/>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94F68E73-7C67-8C4B-94D3-86BAF3646AF3}"/>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What is a Linked List?</a:t>
            </a:r>
            <a:endParaRPr lang="en-US" sz="2800" dirty="0"/>
          </a:p>
        </p:txBody>
      </p:sp>
      <p:sp>
        <p:nvSpPr>
          <p:cNvPr id="5" name="Text 3">
            <a:extLst>
              <a:ext uri="{FF2B5EF4-FFF2-40B4-BE49-F238E27FC236}">
                <a16:creationId xmlns:a16="http://schemas.microsoft.com/office/drawing/2014/main" id="{B0544E3C-EA5C-AE66-3D74-449FAE81DEA2}"/>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Definition · Components · Anatomy</a:t>
            </a:r>
            <a:endParaRPr lang="en-US" sz="1300" dirty="0"/>
          </a:p>
        </p:txBody>
      </p:sp>
      <p:sp>
        <p:nvSpPr>
          <p:cNvPr id="6" name="Shape 4">
            <a:extLst>
              <a:ext uri="{FF2B5EF4-FFF2-40B4-BE49-F238E27FC236}">
                <a16:creationId xmlns:a16="http://schemas.microsoft.com/office/drawing/2014/main" id="{0620B4A6-1285-10D5-B7E1-D15AEF559736}"/>
              </a:ext>
            </a:extLst>
          </p:cNvPr>
          <p:cNvSpPr/>
          <p:nvPr/>
        </p:nvSpPr>
        <p:spPr>
          <a:xfrm>
            <a:off x="256032" y="987552"/>
            <a:ext cx="2779776" cy="404164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7" name="Text 5">
            <a:extLst>
              <a:ext uri="{FF2B5EF4-FFF2-40B4-BE49-F238E27FC236}">
                <a16:creationId xmlns:a16="http://schemas.microsoft.com/office/drawing/2014/main" id="{09026CF8-B1DC-8B2E-83F5-9A0B426D2580}"/>
              </a:ext>
            </a:extLst>
          </p:cNvPr>
          <p:cNvSpPr/>
          <p:nvPr/>
        </p:nvSpPr>
        <p:spPr>
          <a:xfrm>
            <a:off x="256032" y="1033272"/>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Definition</a:t>
            </a:r>
            <a:endParaRPr lang="en-US" sz="2000" dirty="0"/>
          </a:p>
        </p:txBody>
      </p:sp>
      <p:sp>
        <p:nvSpPr>
          <p:cNvPr id="8" name="Text 6">
            <a:extLst>
              <a:ext uri="{FF2B5EF4-FFF2-40B4-BE49-F238E27FC236}">
                <a16:creationId xmlns:a16="http://schemas.microsoft.com/office/drawing/2014/main" id="{4D3D41A9-4F3D-397F-A9C4-61A6A930AF77}"/>
              </a:ext>
            </a:extLst>
          </p:cNvPr>
          <p:cNvSpPr/>
          <p:nvPr/>
        </p:nvSpPr>
        <p:spPr>
          <a:xfrm>
            <a:off x="256032"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A chain, not a row</a:t>
            </a:r>
            <a:endParaRPr lang="en-US" sz="1000" dirty="0"/>
          </a:p>
        </p:txBody>
      </p:sp>
      <p:sp>
        <p:nvSpPr>
          <p:cNvPr id="9" name="Shape 7">
            <a:extLst>
              <a:ext uri="{FF2B5EF4-FFF2-40B4-BE49-F238E27FC236}">
                <a16:creationId xmlns:a16="http://schemas.microsoft.com/office/drawing/2014/main" id="{6F286425-02A2-36F1-AD2F-8D132EFF3265}"/>
              </a:ext>
            </a:extLst>
          </p:cNvPr>
          <p:cNvSpPr/>
          <p:nvPr/>
        </p:nvSpPr>
        <p:spPr>
          <a:xfrm>
            <a:off x="384048"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0" name="Text 8">
            <a:extLst>
              <a:ext uri="{FF2B5EF4-FFF2-40B4-BE49-F238E27FC236}">
                <a16:creationId xmlns:a16="http://schemas.microsoft.com/office/drawing/2014/main" id="{E3CCCA66-CDB9-37CF-7D8A-7918BF601DCD}"/>
              </a:ext>
            </a:extLst>
          </p:cNvPr>
          <p:cNvSpPr/>
          <p:nvPr/>
        </p:nvSpPr>
        <p:spPr>
          <a:xfrm>
            <a:off x="457200" y="1938528"/>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What it is</a:t>
            </a:r>
            <a:endParaRPr lang="en-US" sz="800" dirty="0"/>
          </a:p>
        </p:txBody>
      </p:sp>
      <p:sp>
        <p:nvSpPr>
          <p:cNvPr id="11" name="Text 9">
            <a:extLst>
              <a:ext uri="{FF2B5EF4-FFF2-40B4-BE49-F238E27FC236}">
                <a16:creationId xmlns:a16="http://schemas.microsoft.com/office/drawing/2014/main" id="{5DBA05D7-435E-9CC8-C1F8-1F4D7C558FB6}"/>
              </a:ext>
            </a:extLst>
          </p:cNvPr>
          <p:cNvSpPr/>
          <p:nvPr/>
        </p:nvSpPr>
        <p:spPr>
          <a:xfrm>
            <a:off x="457200"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 sequence of connected nodes</a:t>
            </a:r>
            <a:endParaRPr lang="en-US" sz="1000" dirty="0"/>
          </a:p>
        </p:txBody>
      </p:sp>
      <p:sp>
        <p:nvSpPr>
          <p:cNvPr id="12" name="Shape 10">
            <a:extLst>
              <a:ext uri="{FF2B5EF4-FFF2-40B4-BE49-F238E27FC236}">
                <a16:creationId xmlns:a16="http://schemas.microsoft.com/office/drawing/2014/main" id="{6D9A7D8D-F20F-F17A-CA44-E30DA6E443DE}"/>
              </a:ext>
            </a:extLst>
          </p:cNvPr>
          <p:cNvSpPr/>
          <p:nvPr/>
        </p:nvSpPr>
        <p:spPr>
          <a:xfrm>
            <a:off x="384048"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3" name="Text 11">
            <a:extLst>
              <a:ext uri="{FF2B5EF4-FFF2-40B4-BE49-F238E27FC236}">
                <a16:creationId xmlns:a16="http://schemas.microsoft.com/office/drawing/2014/main" id="{F18D6611-CA0F-6B2E-017D-756FEF7CEFD5}"/>
              </a:ext>
            </a:extLst>
          </p:cNvPr>
          <p:cNvSpPr/>
          <p:nvPr/>
        </p:nvSpPr>
        <p:spPr>
          <a:xfrm>
            <a:off x="457200" y="2542032"/>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Storage</a:t>
            </a:r>
            <a:endParaRPr lang="en-US" sz="800" dirty="0"/>
          </a:p>
        </p:txBody>
      </p:sp>
      <p:sp>
        <p:nvSpPr>
          <p:cNvPr id="14" name="Text 12">
            <a:extLst>
              <a:ext uri="{FF2B5EF4-FFF2-40B4-BE49-F238E27FC236}">
                <a16:creationId xmlns:a16="http://schemas.microsoft.com/office/drawing/2014/main" id="{D77B5AAC-9204-5CA5-F374-0C161542F61F}"/>
              </a:ext>
            </a:extLst>
          </p:cNvPr>
          <p:cNvSpPr/>
          <p:nvPr/>
        </p:nvSpPr>
        <p:spPr>
          <a:xfrm>
            <a:off x="457200"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Nodes scattered across memory</a:t>
            </a:r>
            <a:endParaRPr lang="en-US" sz="1000" dirty="0"/>
          </a:p>
        </p:txBody>
      </p:sp>
      <p:sp>
        <p:nvSpPr>
          <p:cNvPr id="15" name="Shape 13">
            <a:extLst>
              <a:ext uri="{FF2B5EF4-FFF2-40B4-BE49-F238E27FC236}">
                <a16:creationId xmlns:a16="http://schemas.microsoft.com/office/drawing/2014/main" id="{C41D8654-471B-E1B5-2246-47BEE515918D}"/>
              </a:ext>
            </a:extLst>
          </p:cNvPr>
          <p:cNvSpPr/>
          <p:nvPr/>
        </p:nvSpPr>
        <p:spPr>
          <a:xfrm>
            <a:off x="384048"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6" name="Text 14">
            <a:extLst>
              <a:ext uri="{FF2B5EF4-FFF2-40B4-BE49-F238E27FC236}">
                <a16:creationId xmlns:a16="http://schemas.microsoft.com/office/drawing/2014/main" id="{5BFDBB1E-9225-A8E1-1205-7B7E0637227B}"/>
              </a:ext>
            </a:extLst>
          </p:cNvPr>
          <p:cNvSpPr/>
          <p:nvPr/>
        </p:nvSpPr>
        <p:spPr>
          <a:xfrm>
            <a:off x="457200" y="3145536"/>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Connected by</a:t>
            </a:r>
            <a:endParaRPr lang="en-US" sz="800" dirty="0"/>
          </a:p>
        </p:txBody>
      </p:sp>
      <p:sp>
        <p:nvSpPr>
          <p:cNvPr id="17" name="Text 15">
            <a:extLst>
              <a:ext uri="{FF2B5EF4-FFF2-40B4-BE49-F238E27FC236}">
                <a16:creationId xmlns:a16="http://schemas.microsoft.com/office/drawing/2014/main" id="{BE4CBAA0-1DD8-C300-54C8-98269928DCB6}"/>
              </a:ext>
            </a:extLst>
          </p:cNvPr>
          <p:cNvSpPr/>
          <p:nvPr/>
        </p:nvSpPr>
        <p:spPr>
          <a:xfrm>
            <a:off x="457200"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Pointers — each node has "next"</a:t>
            </a:r>
          </a:p>
        </p:txBody>
      </p:sp>
      <p:sp>
        <p:nvSpPr>
          <p:cNvPr id="18" name="Shape 16">
            <a:extLst>
              <a:ext uri="{FF2B5EF4-FFF2-40B4-BE49-F238E27FC236}">
                <a16:creationId xmlns:a16="http://schemas.microsoft.com/office/drawing/2014/main" id="{2F063973-CA98-3791-04FD-D91B4BFEBE96}"/>
              </a:ext>
            </a:extLst>
          </p:cNvPr>
          <p:cNvSpPr/>
          <p:nvPr/>
        </p:nvSpPr>
        <p:spPr>
          <a:xfrm>
            <a:off x="384048"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9" name="Text 17">
            <a:extLst>
              <a:ext uri="{FF2B5EF4-FFF2-40B4-BE49-F238E27FC236}">
                <a16:creationId xmlns:a16="http://schemas.microsoft.com/office/drawing/2014/main" id="{4A354414-8980-435D-357F-D4B467A84BCA}"/>
              </a:ext>
            </a:extLst>
          </p:cNvPr>
          <p:cNvSpPr/>
          <p:nvPr/>
        </p:nvSpPr>
        <p:spPr>
          <a:xfrm>
            <a:off x="457200" y="3749040"/>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Identified by</a:t>
            </a:r>
            <a:endParaRPr lang="en-US" sz="800" dirty="0"/>
          </a:p>
        </p:txBody>
      </p:sp>
      <p:sp>
        <p:nvSpPr>
          <p:cNvPr id="20" name="Text 18">
            <a:extLst>
              <a:ext uri="{FF2B5EF4-FFF2-40B4-BE49-F238E27FC236}">
                <a16:creationId xmlns:a16="http://schemas.microsoft.com/office/drawing/2014/main" id="{10988D5E-7783-F62D-3D58-985154F9F681}"/>
              </a:ext>
            </a:extLst>
          </p:cNvPr>
          <p:cNvSpPr/>
          <p:nvPr/>
        </p:nvSpPr>
        <p:spPr>
          <a:xfrm>
            <a:off x="457200"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head pointer (first node)</a:t>
            </a:r>
            <a:endParaRPr lang="en-US" sz="1000" dirty="0"/>
          </a:p>
        </p:txBody>
      </p:sp>
      <p:sp>
        <p:nvSpPr>
          <p:cNvPr id="21" name="Shape 19">
            <a:extLst>
              <a:ext uri="{FF2B5EF4-FFF2-40B4-BE49-F238E27FC236}">
                <a16:creationId xmlns:a16="http://schemas.microsoft.com/office/drawing/2014/main" id="{6B229D71-6A56-AE58-3983-D7ECD4AE715E}"/>
              </a:ext>
            </a:extLst>
          </p:cNvPr>
          <p:cNvSpPr/>
          <p:nvPr/>
        </p:nvSpPr>
        <p:spPr>
          <a:xfrm>
            <a:off x="384048"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2" name="Text 20">
            <a:extLst>
              <a:ext uri="{FF2B5EF4-FFF2-40B4-BE49-F238E27FC236}">
                <a16:creationId xmlns:a16="http://schemas.microsoft.com/office/drawing/2014/main" id="{45F3FB27-EDB2-C24A-106E-053C8980AE8E}"/>
              </a:ext>
            </a:extLst>
          </p:cNvPr>
          <p:cNvSpPr/>
          <p:nvPr/>
        </p:nvSpPr>
        <p:spPr>
          <a:xfrm>
            <a:off x="457200" y="4352544"/>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Also called</a:t>
            </a:r>
            <a:endParaRPr lang="en-US" sz="800" dirty="0"/>
          </a:p>
        </p:txBody>
      </p:sp>
      <p:sp>
        <p:nvSpPr>
          <p:cNvPr id="23" name="Text 21">
            <a:extLst>
              <a:ext uri="{FF2B5EF4-FFF2-40B4-BE49-F238E27FC236}">
                <a16:creationId xmlns:a16="http://schemas.microsoft.com/office/drawing/2014/main" id="{5CA971F4-B0DF-8B96-0DC6-6F777F3A889A}"/>
              </a:ext>
            </a:extLst>
          </p:cNvPr>
          <p:cNvSpPr/>
          <p:nvPr/>
        </p:nvSpPr>
        <p:spPr>
          <a:xfrm>
            <a:off x="457200"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Singly Linked List · Chain</a:t>
            </a:r>
            <a:endParaRPr lang="en-US" sz="1000" dirty="0"/>
          </a:p>
        </p:txBody>
      </p:sp>
      <p:sp>
        <p:nvSpPr>
          <p:cNvPr id="24" name="Shape 22">
            <a:extLst>
              <a:ext uri="{FF2B5EF4-FFF2-40B4-BE49-F238E27FC236}">
                <a16:creationId xmlns:a16="http://schemas.microsoft.com/office/drawing/2014/main" id="{BD48AD9D-5621-E7F3-EC42-8BA9A0AFAFB7}"/>
              </a:ext>
            </a:extLst>
          </p:cNvPr>
          <p:cNvSpPr/>
          <p:nvPr/>
        </p:nvSpPr>
        <p:spPr>
          <a:xfrm>
            <a:off x="3163824" y="987552"/>
            <a:ext cx="2779776" cy="404164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25" name="Text 23">
            <a:extLst>
              <a:ext uri="{FF2B5EF4-FFF2-40B4-BE49-F238E27FC236}">
                <a16:creationId xmlns:a16="http://schemas.microsoft.com/office/drawing/2014/main" id="{2A2AE263-E84F-29F5-59D7-0A4B5C3EDF8B}"/>
              </a:ext>
            </a:extLst>
          </p:cNvPr>
          <p:cNvSpPr/>
          <p:nvPr/>
        </p:nvSpPr>
        <p:spPr>
          <a:xfrm>
            <a:off x="3163824" y="1033272"/>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Components</a:t>
            </a:r>
            <a:endParaRPr lang="en-US" sz="2000" dirty="0"/>
          </a:p>
        </p:txBody>
      </p:sp>
      <p:sp>
        <p:nvSpPr>
          <p:cNvPr id="26" name="Text 24">
            <a:extLst>
              <a:ext uri="{FF2B5EF4-FFF2-40B4-BE49-F238E27FC236}">
                <a16:creationId xmlns:a16="http://schemas.microsoft.com/office/drawing/2014/main" id="{F014DDB2-FE98-268C-10BC-7AFC14ECC9A2}"/>
              </a:ext>
            </a:extLst>
          </p:cNvPr>
          <p:cNvSpPr/>
          <p:nvPr/>
        </p:nvSpPr>
        <p:spPr>
          <a:xfrm>
            <a:off x="3163824"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Three things to track</a:t>
            </a:r>
            <a:endParaRPr lang="en-US" sz="1000" dirty="0"/>
          </a:p>
        </p:txBody>
      </p:sp>
      <p:sp>
        <p:nvSpPr>
          <p:cNvPr id="27" name="Shape 25">
            <a:extLst>
              <a:ext uri="{FF2B5EF4-FFF2-40B4-BE49-F238E27FC236}">
                <a16:creationId xmlns:a16="http://schemas.microsoft.com/office/drawing/2014/main" id="{A05F0EF5-72AD-AB9A-BBF5-81CE3F4341A6}"/>
              </a:ext>
            </a:extLst>
          </p:cNvPr>
          <p:cNvSpPr/>
          <p:nvPr/>
        </p:nvSpPr>
        <p:spPr>
          <a:xfrm>
            <a:off x="3291840"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8" name="Text 26">
            <a:extLst>
              <a:ext uri="{FF2B5EF4-FFF2-40B4-BE49-F238E27FC236}">
                <a16:creationId xmlns:a16="http://schemas.microsoft.com/office/drawing/2014/main" id="{083A298E-36BD-B8BD-C903-2E6D89F08F9D}"/>
              </a:ext>
            </a:extLst>
          </p:cNvPr>
          <p:cNvSpPr/>
          <p:nvPr/>
        </p:nvSpPr>
        <p:spPr>
          <a:xfrm>
            <a:off x="3364992" y="1938528"/>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Node</a:t>
            </a:r>
            <a:endParaRPr lang="en-US" sz="800" dirty="0"/>
          </a:p>
        </p:txBody>
      </p:sp>
      <p:sp>
        <p:nvSpPr>
          <p:cNvPr id="29" name="Text 27">
            <a:extLst>
              <a:ext uri="{FF2B5EF4-FFF2-40B4-BE49-F238E27FC236}">
                <a16:creationId xmlns:a16="http://schemas.microsoft.com/office/drawing/2014/main" id="{B10E638F-8073-CA1D-CF8D-6A0034C827F0}"/>
              </a:ext>
            </a:extLst>
          </p:cNvPr>
          <p:cNvSpPr/>
          <p:nvPr/>
        </p:nvSpPr>
        <p:spPr>
          <a:xfrm>
            <a:off x="3364992"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One value + a pointer to next</a:t>
            </a:r>
            <a:endParaRPr lang="en-US" sz="1000" dirty="0"/>
          </a:p>
        </p:txBody>
      </p:sp>
      <p:sp>
        <p:nvSpPr>
          <p:cNvPr id="30" name="Shape 28">
            <a:extLst>
              <a:ext uri="{FF2B5EF4-FFF2-40B4-BE49-F238E27FC236}">
                <a16:creationId xmlns:a16="http://schemas.microsoft.com/office/drawing/2014/main" id="{1115F7D5-AB59-4793-3017-56977D651FA9}"/>
              </a:ext>
            </a:extLst>
          </p:cNvPr>
          <p:cNvSpPr/>
          <p:nvPr/>
        </p:nvSpPr>
        <p:spPr>
          <a:xfrm>
            <a:off x="3291840"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1" name="Text 29">
            <a:extLst>
              <a:ext uri="{FF2B5EF4-FFF2-40B4-BE49-F238E27FC236}">
                <a16:creationId xmlns:a16="http://schemas.microsoft.com/office/drawing/2014/main" id="{6073D696-90F9-5831-A9FA-CEB3FFD55143}"/>
              </a:ext>
            </a:extLst>
          </p:cNvPr>
          <p:cNvSpPr/>
          <p:nvPr/>
        </p:nvSpPr>
        <p:spPr>
          <a:xfrm>
            <a:off x="3364992" y="2542032"/>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Head</a:t>
            </a:r>
            <a:endParaRPr lang="en-US" sz="800" dirty="0"/>
          </a:p>
        </p:txBody>
      </p:sp>
      <p:sp>
        <p:nvSpPr>
          <p:cNvPr id="32" name="Text 30">
            <a:extLst>
              <a:ext uri="{FF2B5EF4-FFF2-40B4-BE49-F238E27FC236}">
                <a16:creationId xmlns:a16="http://schemas.microsoft.com/office/drawing/2014/main" id="{338F6E8F-D4EE-58E6-AB3E-E676EB6B9BC9}"/>
              </a:ext>
            </a:extLst>
          </p:cNvPr>
          <p:cNvSpPr/>
          <p:nvPr/>
        </p:nvSpPr>
        <p:spPr>
          <a:xfrm>
            <a:off x="3364992"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Pointer to the first node</a:t>
            </a:r>
            <a:endParaRPr lang="en-US" sz="1000" dirty="0"/>
          </a:p>
        </p:txBody>
      </p:sp>
      <p:sp>
        <p:nvSpPr>
          <p:cNvPr id="33" name="Shape 31">
            <a:extLst>
              <a:ext uri="{FF2B5EF4-FFF2-40B4-BE49-F238E27FC236}">
                <a16:creationId xmlns:a16="http://schemas.microsoft.com/office/drawing/2014/main" id="{90BAC11F-E1A8-35E9-18F1-62E05E2CCAC8}"/>
              </a:ext>
            </a:extLst>
          </p:cNvPr>
          <p:cNvSpPr/>
          <p:nvPr/>
        </p:nvSpPr>
        <p:spPr>
          <a:xfrm>
            <a:off x="3291840"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dirty="0"/>
          </a:p>
        </p:txBody>
      </p:sp>
      <p:sp>
        <p:nvSpPr>
          <p:cNvPr id="34" name="Text 32">
            <a:extLst>
              <a:ext uri="{FF2B5EF4-FFF2-40B4-BE49-F238E27FC236}">
                <a16:creationId xmlns:a16="http://schemas.microsoft.com/office/drawing/2014/main" id="{C0F462FF-7F1E-5DB8-413D-E855FFD315EE}"/>
              </a:ext>
            </a:extLst>
          </p:cNvPr>
          <p:cNvSpPr/>
          <p:nvPr/>
        </p:nvSpPr>
        <p:spPr>
          <a:xfrm>
            <a:off x="3364992" y="3145536"/>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Tail</a:t>
            </a:r>
            <a:endParaRPr lang="en-US" sz="800" dirty="0"/>
          </a:p>
        </p:txBody>
      </p:sp>
      <p:sp>
        <p:nvSpPr>
          <p:cNvPr id="35" name="Text 33">
            <a:extLst>
              <a:ext uri="{FF2B5EF4-FFF2-40B4-BE49-F238E27FC236}">
                <a16:creationId xmlns:a16="http://schemas.microsoft.com/office/drawing/2014/main" id="{431CD1D4-728D-D439-8C9C-8F258123E6FF}"/>
              </a:ext>
            </a:extLst>
          </p:cNvPr>
          <p:cNvSpPr/>
          <p:nvPr/>
        </p:nvSpPr>
        <p:spPr>
          <a:xfrm>
            <a:off x="3364992"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The last node — its next is null</a:t>
            </a:r>
          </a:p>
        </p:txBody>
      </p:sp>
      <p:sp>
        <p:nvSpPr>
          <p:cNvPr id="36" name="Shape 34">
            <a:extLst>
              <a:ext uri="{FF2B5EF4-FFF2-40B4-BE49-F238E27FC236}">
                <a16:creationId xmlns:a16="http://schemas.microsoft.com/office/drawing/2014/main" id="{1CB16C89-C1B7-CE23-A8E7-A5BD72507E34}"/>
              </a:ext>
            </a:extLst>
          </p:cNvPr>
          <p:cNvSpPr/>
          <p:nvPr/>
        </p:nvSpPr>
        <p:spPr>
          <a:xfrm>
            <a:off x="3291840"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7" name="Text 35">
            <a:extLst>
              <a:ext uri="{FF2B5EF4-FFF2-40B4-BE49-F238E27FC236}">
                <a16:creationId xmlns:a16="http://schemas.microsoft.com/office/drawing/2014/main" id="{CAAECD9B-B974-69AF-96E1-1ED6A15A2AC6}"/>
              </a:ext>
            </a:extLst>
          </p:cNvPr>
          <p:cNvSpPr/>
          <p:nvPr/>
        </p:nvSpPr>
        <p:spPr>
          <a:xfrm>
            <a:off x="3364992" y="3749040"/>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null</a:t>
            </a:r>
            <a:endParaRPr lang="en-US" sz="800" dirty="0"/>
          </a:p>
        </p:txBody>
      </p:sp>
      <p:sp>
        <p:nvSpPr>
          <p:cNvPr id="38" name="Text 36">
            <a:extLst>
              <a:ext uri="{FF2B5EF4-FFF2-40B4-BE49-F238E27FC236}">
                <a16:creationId xmlns:a16="http://schemas.microsoft.com/office/drawing/2014/main" id="{C69C938C-3E85-8060-A306-4D527DF6A6C0}"/>
              </a:ext>
            </a:extLst>
          </p:cNvPr>
          <p:cNvSpPr/>
          <p:nvPr/>
        </p:nvSpPr>
        <p:spPr>
          <a:xfrm>
            <a:off x="3364992"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marker for "end of list"</a:t>
            </a:r>
            <a:endParaRPr lang="en-US" sz="1000" dirty="0"/>
          </a:p>
        </p:txBody>
      </p:sp>
      <p:sp>
        <p:nvSpPr>
          <p:cNvPr id="39" name="Shape 37">
            <a:extLst>
              <a:ext uri="{FF2B5EF4-FFF2-40B4-BE49-F238E27FC236}">
                <a16:creationId xmlns:a16="http://schemas.microsoft.com/office/drawing/2014/main" id="{3DF86B9F-C390-852B-54F8-32B4EAAF6A7E}"/>
              </a:ext>
            </a:extLst>
          </p:cNvPr>
          <p:cNvSpPr/>
          <p:nvPr/>
        </p:nvSpPr>
        <p:spPr>
          <a:xfrm>
            <a:off x="3291840"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0" name="Text 38">
            <a:extLst>
              <a:ext uri="{FF2B5EF4-FFF2-40B4-BE49-F238E27FC236}">
                <a16:creationId xmlns:a16="http://schemas.microsoft.com/office/drawing/2014/main" id="{A66CDEBF-5B8A-A325-4EDA-D77297C625E7}"/>
              </a:ext>
            </a:extLst>
          </p:cNvPr>
          <p:cNvSpPr/>
          <p:nvPr/>
        </p:nvSpPr>
        <p:spPr>
          <a:xfrm>
            <a:off x="3364992" y="4352544"/>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Length</a:t>
            </a:r>
            <a:endParaRPr lang="en-US" sz="800" dirty="0"/>
          </a:p>
        </p:txBody>
      </p:sp>
      <p:sp>
        <p:nvSpPr>
          <p:cNvPr id="41" name="Text 39">
            <a:extLst>
              <a:ext uri="{FF2B5EF4-FFF2-40B4-BE49-F238E27FC236}">
                <a16:creationId xmlns:a16="http://schemas.microsoft.com/office/drawing/2014/main" id="{70C90110-7151-0F5E-7B75-4281C7115836}"/>
              </a:ext>
            </a:extLst>
          </p:cNvPr>
          <p:cNvSpPr/>
          <p:nvPr/>
        </p:nvSpPr>
        <p:spPr>
          <a:xfrm>
            <a:off x="3364992"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Often tracked as a counter</a:t>
            </a:r>
            <a:endParaRPr lang="en-US" sz="1000" dirty="0"/>
          </a:p>
        </p:txBody>
      </p:sp>
      <p:sp>
        <p:nvSpPr>
          <p:cNvPr id="42" name="Shape 40">
            <a:extLst>
              <a:ext uri="{FF2B5EF4-FFF2-40B4-BE49-F238E27FC236}">
                <a16:creationId xmlns:a16="http://schemas.microsoft.com/office/drawing/2014/main" id="{23D47241-34CE-835E-D9B3-5DF3E9C86A4D}"/>
              </a:ext>
            </a:extLst>
          </p:cNvPr>
          <p:cNvSpPr/>
          <p:nvPr/>
        </p:nvSpPr>
        <p:spPr>
          <a:xfrm>
            <a:off x="6071616" y="987552"/>
            <a:ext cx="2779776" cy="404164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43" name="Text 41">
            <a:extLst>
              <a:ext uri="{FF2B5EF4-FFF2-40B4-BE49-F238E27FC236}">
                <a16:creationId xmlns:a16="http://schemas.microsoft.com/office/drawing/2014/main" id="{160F8E2C-8366-D789-0BA3-8DA4032B4304}"/>
              </a:ext>
            </a:extLst>
          </p:cNvPr>
          <p:cNvSpPr/>
          <p:nvPr/>
        </p:nvSpPr>
        <p:spPr>
          <a:xfrm>
            <a:off x="6071616" y="1033272"/>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Anatomy</a:t>
            </a:r>
            <a:endParaRPr lang="en-US" sz="2000" dirty="0"/>
          </a:p>
        </p:txBody>
      </p:sp>
      <p:sp>
        <p:nvSpPr>
          <p:cNvPr id="44" name="Text 42">
            <a:extLst>
              <a:ext uri="{FF2B5EF4-FFF2-40B4-BE49-F238E27FC236}">
                <a16:creationId xmlns:a16="http://schemas.microsoft.com/office/drawing/2014/main" id="{400A9794-536B-5ED1-EAE6-B302049B104A}"/>
              </a:ext>
            </a:extLst>
          </p:cNvPr>
          <p:cNvSpPr/>
          <p:nvPr/>
        </p:nvSpPr>
        <p:spPr>
          <a:xfrm>
            <a:off x="6071616"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How a node looks</a:t>
            </a:r>
            <a:endParaRPr lang="en-US" sz="1000" dirty="0"/>
          </a:p>
        </p:txBody>
      </p:sp>
      <p:sp>
        <p:nvSpPr>
          <p:cNvPr id="45" name="Shape 43">
            <a:extLst>
              <a:ext uri="{FF2B5EF4-FFF2-40B4-BE49-F238E27FC236}">
                <a16:creationId xmlns:a16="http://schemas.microsoft.com/office/drawing/2014/main" id="{17BB9C3C-FBE9-5806-C1E4-F9F0239F94FD}"/>
              </a:ext>
            </a:extLst>
          </p:cNvPr>
          <p:cNvSpPr/>
          <p:nvPr/>
        </p:nvSpPr>
        <p:spPr>
          <a:xfrm>
            <a:off x="6199632"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6" name="Text 44">
            <a:extLst>
              <a:ext uri="{FF2B5EF4-FFF2-40B4-BE49-F238E27FC236}">
                <a16:creationId xmlns:a16="http://schemas.microsoft.com/office/drawing/2014/main" id="{1934E9C9-C2E5-4054-607E-4F78E6D73CD6}"/>
              </a:ext>
            </a:extLst>
          </p:cNvPr>
          <p:cNvSpPr/>
          <p:nvPr/>
        </p:nvSpPr>
        <p:spPr>
          <a:xfrm>
            <a:off x="6272784" y="1938528"/>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data</a:t>
            </a:r>
            <a:endParaRPr lang="en-US" sz="800" dirty="0"/>
          </a:p>
        </p:txBody>
      </p:sp>
      <p:sp>
        <p:nvSpPr>
          <p:cNvPr id="47" name="Text 45">
            <a:extLst>
              <a:ext uri="{FF2B5EF4-FFF2-40B4-BE49-F238E27FC236}">
                <a16:creationId xmlns:a16="http://schemas.microsoft.com/office/drawing/2014/main" id="{BC2E8DD9-F45B-A649-12EE-B4F1127DA68F}"/>
              </a:ext>
            </a:extLst>
          </p:cNvPr>
          <p:cNvSpPr/>
          <p:nvPr/>
        </p:nvSpPr>
        <p:spPr>
          <a:xfrm>
            <a:off x="6272784"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value the node carries</a:t>
            </a:r>
            <a:endParaRPr lang="en-US" sz="1000" dirty="0"/>
          </a:p>
        </p:txBody>
      </p:sp>
      <p:sp>
        <p:nvSpPr>
          <p:cNvPr id="48" name="Shape 46">
            <a:extLst>
              <a:ext uri="{FF2B5EF4-FFF2-40B4-BE49-F238E27FC236}">
                <a16:creationId xmlns:a16="http://schemas.microsoft.com/office/drawing/2014/main" id="{CD98D845-A5B7-CD8A-6A17-A786BC952BFB}"/>
              </a:ext>
            </a:extLst>
          </p:cNvPr>
          <p:cNvSpPr/>
          <p:nvPr/>
        </p:nvSpPr>
        <p:spPr>
          <a:xfrm>
            <a:off x="6199632"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49" name="Text 47">
            <a:extLst>
              <a:ext uri="{FF2B5EF4-FFF2-40B4-BE49-F238E27FC236}">
                <a16:creationId xmlns:a16="http://schemas.microsoft.com/office/drawing/2014/main" id="{E4E004CF-D99A-D43E-DEBD-62A9A585E8BC}"/>
              </a:ext>
            </a:extLst>
          </p:cNvPr>
          <p:cNvSpPr/>
          <p:nvPr/>
        </p:nvSpPr>
        <p:spPr>
          <a:xfrm>
            <a:off x="6272784" y="2542032"/>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next</a:t>
            </a:r>
            <a:endParaRPr lang="en-US" sz="800" dirty="0"/>
          </a:p>
        </p:txBody>
      </p:sp>
      <p:sp>
        <p:nvSpPr>
          <p:cNvPr id="50" name="Text 48">
            <a:extLst>
              <a:ext uri="{FF2B5EF4-FFF2-40B4-BE49-F238E27FC236}">
                <a16:creationId xmlns:a16="http://schemas.microsoft.com/office/drawing/2014/main" id="{E1C58A4B-FE46-1795-D7D0-944949F52C8B}"/>
              </a:ext>
            </a:extLst>
          </p:cNvPr>
          <p:cNvSpPr/>
          <p:nvPr/>
        </p:nvSpPr>
        <p:spPr>
          <a:xfrm>
            <a:off x="6272784"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pointer to the next node</a:t>
            </a:r>
            <a:endParaRPr lang="en-US" sz="1000" dirty="0"/>
          </a:p>
        </p:txBody>
      </p:sp>
      <p:sp>
        <p:nvSpPr>
          <p:cNvPr id="51" name="Shape 49">
            <a:extLst>
              <a:ext uri="{FF2B5EF4-FFF2-40B4-BE49-F238E27FC236}">
                <a16:creationId xmlns:a16="http://schemas.microsoft.com/office/drawing/2014/main" id="{A4F5B864-A547-85E2-687E-468DA9810227}"/>
              </a:ext>
            </a:extLst>
          </p:cNvPr>
          <p:cNvSpPr/>
          <p:nvPr/>
        </p:nvSpPr>
        <p:spPr>
          <a:xfrm>
            <a:off x="6199632"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2" name="Text 50">
            <a:extLst>
              <a:ext uri="{FF2B5EF4-FFF2-40B4-BE49-F238E27FC236}">
                <a16:creationId xmlns:a16="http://schemas.microsoft.com/office/drawing/2014/main" id="{47875D30-CA79-24B3-8B55-3CA6B7546DD1}"/>
              </a:ext>
            </a:extLst>
          </p:cNvPr>
          <p:cNvSpPr/>
          <p:nvPr/>
        </p:nvSpPr>
        <p:spPr>
          <a:xfrm>
            <a:off x="6272784" y="3145536"/>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head → A → B → C → null</a:t>
            </a:r>
            <a:endParaRPr lang="en-US" sz="800" dirty="0"/>
          </a:p>
        </p:txBody>
      </p:sp>
      <p:sp>
        <p:nvSpPr>
          <p:cNvPr id="53" name="Text 51">
            <a:extLst>
              <a:ext uri="{FF2B5EF4-FFF2-40B4-BE49-F238E27FC236}">
                <a16:creationId xmlns:a16="http://schemas.microsoft.com/office/drawing/2014/main" id="{15E016C0-85D1-360B-6E43-07A7D50C7823}"/>
              </a:ext>
            </a:extLst>
          </p:cNvPr>
          <p:cNvSpPr/>
          <p:nvPr/>
        </p:nvSpPr>
        <p:spPr>
          <a:xfrm>
            <a:off x="6272784" y="3364992"/>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 3-node list, in shorthand</a:t>
            </a:r>
            <a:endParaRPr lang="en-US" sz="1000" dirty="0"/>
          </a:p>
        </p:txBody>
      </p:sp>
      <p:sp>
        <p:nvSpPr>
          <p:cNvPr id="54" name="Shape 52">
            <a:extLst>
              <a:ext uri="{FF2B5EF4-FFF2-40B4-BE49-F238E27FC236}">
                <a16:creationId xmlns:a16="http://schemas.microsoft.com/office/drawing/2014/main" id="{4180C4C0-6012-AC85-4B17-3AFA774A2271}"/>
              </a:ext>
            </a:extLst>
          </p:cNvPr>
          <p:cNvSpPr/>
          <p:nvPr/>
        </p:nvSpPr>
        <p:spPr>
          <a:xfrm>
            <a:off x="6199632"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55" name="Text 53">
            <a:extLst>
              <a:ext uri="{FF2B5EF4-FFF2-40B4-BE49-F238E27FC236}">
                <a16:creationId xmlns:a16="http://schemas.microsoft.com/office/drawing/2014/main" id="{6F0CCA05-6F6B-73EB-BB3E-40FF49D41D8D}"/>
              </a:ext>
            </a:extLst>
          </p:cNvPr>
          <p:cNvSpPr/>
          <p:nvPr/>
        </p:nvSpPr>
        <p:spPr>
          <a:xfrm>
            <a:off x="6272784" y="3749040"/>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Empty list</a:t>
            </a:r>
            <a:endParaRPr lang="en-US" sz="800" dirty="0"/>
          </a:p>
        </p:txBody>
      </p:sp>
      <p:sp>
        <p:nvSpPr>
          <p:cNvPr id="56" name="Text 54">
            <a:extLst>
              <a:ext uri="{FF2B5EF4-FFF2-40B4-BE49-F238E27FC236}">
                <a16:creationId xmlns:a16="http://schemas.microsoft.com/office/drawing/2014/main" id="{1B5A695C-4E1C-1D37-4C84-4CC97C0EF229}"/>
              </a:ext>
            </a:extLst>
          </p:cNvPr>
          <p:cNvSpPr/>
          <p:nvPr/>
        </p:nvSpPr>
        <p:spPr>
          <a:xfrm>
            <a:off x="6272784"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head = null, length = 0</a:t>
            </a:r>
            <a:endParaRPr lang="en-US" sz="1000" dirty="0"/>
          </a:p>
        </p:txBody>
      </p:sp>
      <p:sp>
        <p:nvSpPr>
          <p:cNvPr id="57" name="Shape 55">
            <a:extLst>
              <a:ext uri="{FF2B5EF4-FFF2-40B4-BE49-F238E27FC236}">
                <a16:creationId xmlns:a16="http://schemas.microsoft.com/office/drawing/2014/main" id="{9479889D-FE47-827C-03B8-A090B2C69810}"/>
              </a:ext>
            </a:extLst>
          </p:cNvPr>
          <p:cNvSpPr/>
          <p:nvPr/>
        </p:nvSpPr>
        <p:spPr>
          <a:xfrm>
            <a:off x="6199632"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8" name="Text 56">
            <a:extLst>
              <a:ext uri="{FF2B5EF4-FFF2-40B4-BE49-F238E27FC236}">
                <a16:creationId xmlns:a16="http://schemas.microsoft.com/office/drawing/2014/main" id="{30B55CAD-3273-8860-07F1-9A86A45AE431}"/>
              </a:ext>
            </a:extLst>
          </p:cNvPr>
          <p:cNvSpPr/>
          <p:nvPr/>
        </p:nvSpPr>
        <p:spPr>
          <a:xfrm>
            <a:off x="6272784" y="4352544"/>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Single value</a:t>
            </a:r>
            <a:endParaRPr lang="en-US" sz="800" dirty="0"/>
          </a:p>
        </p:txBody>
      </p:sp>
      <p:sp>
        <p:nvSpPr>
          <p:cNvPr id="59" name="Text 57">
            <a:extLst>
              <a:ext uri="{FF2B5EF4-FFF2-40B4-BE49-F238E27FC236}">
                <a16:creationId xmlns:a16="http://schemas.microsoft.com/office/drawing/2014/main" id="{0270D8ED-165B-1400-E041-17FA430DE5B7}"/>
              </a:ext>
            </a:extLst>
          </p:cNvPr>
          <p:cNvSpPr/>
          <p:nvPr/>
        </p:nvSpPr>
        <p:spPr>
          <a:xfrm>
            <a:off x="6272784"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head → A → null</a:t>
            </a:r>
            <a:endParaRPr lang="en-US" sz="1000" dirty="0"/>
          </a:p>
        </p:txBody>
      </p:sp>
    </p:spTree>
    <p:extLst>
      <p:ext uri="{BB962C8B-B14F-4D97-AF65-F5344CB8AC3E}">
        <p14:creationId xmlns:p14="http://schemas.microsoft.com/office/powerpoint/2010/main" val="834555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F938DC5C-7D51-33EF-EC2F-903B4691A7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737442-8D81-2853-880E-B42C3E57B12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0C7F8120-DDCD-B00F-157A-EA938D251AAE}"/>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16098926-9EDA-9F30-BFD8-DFDDAF496B5B}"/>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Array vs. Linked List</a:t>
            </a:r>
            <a:endParaRPr lang="en-US" sz="2200" dirty="0"/>
          </a:p>
        </p:txBody>
      </p:sp>
      <p:sp>
        <p:nvSpPr>
          <p:cNvPr id="5" name="Text 3">
            <a:extLst>
              <a:ext uri="{FF2B5EF4-FFF2-40B4-BE49-F238E27FC236}">
                <a16:creationId xmlns:a16="http://schemas.microsoft.com/office/drawing/2014/main" id="{E716D937-3C6D-88A6-7F45-F226E11D57EC}"/>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Two ways to store a sequence — opposite trade-offs, different jobs</a:t>
            </a:r>
            <a:endParaRPr lang="en-US" sz="1100" dirty="0"/>
          </a:p>
        </p:txBody>
      </p:sp>
      <p:sp>
        <p:nvSpPr>
          <p:cNvPr id="6" name="Shape 4">
            <a:extLst>
              <a:ext uri="{FF2B5EF4-FFF2-40B4-BE49-F238E27FC236}">
                <a16:creationId xmlns:a16="http://schemas.microsoft.com/office/drawing/2014/main" id="{575D64EF-ED1C-72CD-B931-D7593460A20B}"/>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7C653463-1142-179E-88BD-AFAF6F8C8637}"/>
              </a:ext>
            </a:extLst>
          </p:cNvPr>
          <p:cNvSpPr/>
          <p:nvPr/>
        </p:nvSpPr>
        <p:spPr>
          <a:xfrm>
            <a:off x="274320" y="822960"/>
            <a:ext cx="3886200" cy="4114800"/>
          </a:xfrm>
          <a:prstGeom prst="roundRect">
            <a:avLst>
              <a:gd name="adj" fmla="val 2824"/>
            </a:avLst>
          </a:prstGeom>
          <a:solidFill>
            <a:srgbClr val="1E0F40"/>
          </a:solidFill>
          <a:ln w="12700">
            <a:solidFill>
              <a:srgbClr val="4F29B7"/>
            </a:solidFill>
            <a:prstDash val="solid"/>
          </a:ln>
        </p:spPr>
        <p:txBody>
          <a:bodyPr/>
          <a:lstStyle/>
          <a:p>
            <a:endParaRPr lang="en-US"/>
          </a:p>
        </p:txBody>
      </p:sp>
      <p:sp>
        <p:nvSpPr>
          <p:cNvPr id="8" name="Text 6">
            <a:extLst>
              <a:ext uri="{FF2B5EF4-FFF2-40B4-BE49-F238E27FC236}">
                <a16:creationId xmlns:a16="http://schemas.microsoft.com/office/drawing/2014/main" id="{87C3DF9D-CF81-CFC2-24DE-26789DF7C566}"/>
              </a:ext>
            </a:extLst>
          </p:cNvPr>
          <p:cNvSpPr/>
          <p:nvPr/>
        </p:nvSpPr>
        <p:spPr>
          <a:xfrm>
            <a:off x="27432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Array</a:t>
            </a:r>
            <a:endParaRPr lang="en-US" sz="2000" dirty="0"/>
          </a:p>
        </p:txBody>
      </p:sp>
      <p:sp>
        <p:nvSpPr>
          <p:cNvPr id="9" name="Text 7">
            <a:extLst>
              <a:ext uri="{FF2B5EF4-FFF2-40B4-BE49-F238E27FC236}">
                <a16:creationId xmlns:a16="http://schemas.microsoft.com/office/drawing/2014/main" id="{8F6E38CC-3D4A-3E0B-2BE5-A1AFFE25B54B}"/>
              </a:ext>
            </a:extLst>
          </p:cNvPr>
          <p:cNvSpPr/>
          <p:nvPr/>
        </p:nvSpPr>
        <p:spPr>
          <a:xfrm>
            <a:off x="274320" y="1188720"/>
            <a:ext cx="3886200" cy="256032"/>
          </a:xfrm>
          <a:prstGeom prst="rect">
            <a:avLst/>
          </a:prstGeom>
          <a:noFill/>
          <a:ln/>
        </p:spPr>
        <p:txBody>
          <a:bodyPr wrap="square" rtlCol="0" anchor="ctr"/>
          <a:lstStyle/>
          <a:p>
            <a:pPr marL="0" indent="0" algn="ctr">
              <a:buNone/>
            </a:pPr>
            <a:r>
              <a:rPr lang="en-US" sz="1000" i="1" dirty="0">
                <a:solidFill>
                  <a:srgbClr val="A380FF"/>
                </a:solidFill>
                <a:latin typeface="Calibri" pitchFamily="34" charset="0"/>
                <a:ea typeface="Calibri" pitchFamily="34" charset="-122"/>
                <a:cs typeface="Calibri" pitchFamily="34" charset="-120"/>
              </a:rPr>
              <a:t>Day 1 &amp; 2's structure</a:t>
            </a:r>
            <a:endParaRPr lang="en-US" sz="1000" dirty="0"/>
          </a:p>
        </p:txBody>
      </p:sp>
      <p:sp>
        <p:nvSpPr>
          <p:cNvPr id="10" name="Shape 8">
            <a:extLst>
              <a:ext uri="{FF2B5EF4-FFF2-40B4-BE49-F238E27FC236}">
                <a16:creationId xmlns:a16="http://schemas.microsoft.com/office/drawing/2014/main" id="{F539B252-D602-88A8-A23E-D20791397C62}"/>
              </a:ext>
            </a:extLst>
          </p:cNvPr>
          <p:cNvSpPr/>
          <p:nvPr/>
        </p:nvSpPr>
        <p:spPr>
          <a:xfrm>
            <a:off x="457200" y="153619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1" name="Text 9">
            <a:extLst>
              <a:ext uri="{FF2B5EF4-FFF2-40B4-BE49-F238E27FC236}">
                <a16:creationId xmlns:a16="http://schemas.microsoft.com/office/drawing/2014/main" id="{6F22105E-A2B1-5DB5-D76C-63941344DE60}"/>
              </a:ext>
            </a:extLst>
          </p:cNvPr>
          <p:cNvSpPr/>
          <p:nvPr/>
        </p:nvSpPr>
        <p:spPr>
          <a:xfrm>
            <a:off x="50292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Storage:</a:t>
            </a:r>
            <a:endParaRPr lang="en-US" sz="800" dirty="0"/>
          </a:p>
        </p:txBody>
      </p:sp>
      <p:sp>
        <p:nvSpPr>
          <p:cNvPr id="12" name="Text 10">
            <a:extLst>
              <a:ext uri="{FF2B5EF4-FFF2-40B4-BE49-F238E27FC236}">
                <a16:creationId xmlns:a16="http://schemas.microsoft.com/office/drawing/2014/main" id="{DFF3E5FA-C8C4-1DB7-9D76-AF20B79D4766}"/>
              </a:ext>
            </a:extLst>
          </p:cNvPr>
          <p:cNvSpPr/>
          <p:nvPr/>
        </p:nvSpPr>
        <p:spPr>
          <a:xfrm>
            <a:off x="132588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One block of memory</a:t>
            </a:r>
            <a:endParaRPr lang="en-US" sz="900" dirty="0"/>
          </a:p>
        </p:txBody>
      </p:sp>
      <p:sp>
        <p:nvSpPr>
          <p:cNvPr id="13" name="Shape 11">
            <a:extLst>
              <a:ext uri="{FF2B5EF4-FFF2-40B4-BE49-F238E27FC236}">
                <a16:creationId xmlns:a16="http://schemas.microsoft.com/office/drawing/2014/main" id="{251E9839-9550-A02D-B6AA-E0AF4A750EA8}"/>
              </a:ext>
            </a:extLst>
          </p:cNvPr>
          <p:cNvSpPr/>
          <p:nvPr/>
        </p:nvSpPr>
        <p:spPr>
          <a:xfrm>
            <a:off x="457200" y="2011680"/>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4" name="Text 12">
            <a:extLst>
              <a:ext uri="{FF2B5EF4-FFF2-40B4-BE49-F238E27FC236}">
                <a16:creationId xmlns:a16="http://schemas.microsoft.com/office/drawing/2014/main" id="{87599456-8900-62A4-86BE-14B5BFD4D0C7}"/>
              </a:ext>
            </a:extLst>
          </p:cNvPr>
          <p:cNvSpPr/>
          <p:nvPr/>
        </p:nvSpPr>
        <p:spPr>
          <a:xfrm>
            <a:off x="50292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Size:</a:t>
            </a:r>
            <a:endParaRPr lang="en-US" sz="800" dirty="0"/>
          </a:p>
        </p:txBody>
      </p:sp>
      <p:sp>
        <p:nvSpPr>
          <p:cNvPr id="15" name="Text 13">
            <a:extLst>
              <a:ext uri="{FF2B5EF4-FFF2-40B4-BE49-F238E27FC236}">
                <a16:creationId xmlns:a16="http://schemas.microsoft.com/office/drawing/2014/main" id="{0F359D1C-3746-BFAC-361A-B9CAFC55E886}"/>
              </a:ext>
            </a:extLst>
          </p:cNvPr>
          <p:cNvSpPr/>
          <p:nvPr/>
        </p:nvSpPr>
        <p:spPr>
          <a:xfrm>
            <a:off x="132588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Fixed at creation</a:t>
            </a:r>
            <a:endParaRPr lang="en-US" sz="900" dirty="0"/>
          </a:p>
        </p:txBody>
      </p:sp>
      <p:sp>
        <p:nvSpPr>
          <p:cNvPr id="16" name="Shape 14">
            <a:extLst>
              <a:ext uri="{FF2B5EF4-FFF2-40B4-BE49-F238E27FC236}">
                <a16:creationId xmlns:a16="http://schemas.microsoft.com/office/drawing/2014/main" id="{F71D1348-3AA5-3882-54A1-57A76FAC380D}"/>
              </a:ext>
            </a:extLst>
          </p:cNvPr>
          <p:cNvSpPr/>
          <p:nvPr/>
        </p:nvSpPr>
        <p:spPr>
          <a:xfrm>
            <a:off x="457200" y="2487168"/>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7" name="Text 15">
            <a:extLst>
              <a:ext uri="{FF2B5EF4-FFF2-40B4-BE49-F238E27FC236}">
                <a16:creationId xmlns:a16="http://schemas.microsoft.com/office/drawing/2014/main" id="{CF8A9D77-12E4-A989-944B-42A32BEC703B}"/>
              </a:ext>
            </a:extLst>
          </p:cNvPr>
          <p:cNvSpPr/>
          <p:nvPr/>
        </p:nvSpPr>
        <p:spPr>
          <a:xfrm>
            <a:off x="50292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Access:</a:t>
            </a:r>
            <a:endParaRPr lang="en-US" sz="800" dirty="0"/>
          </a:p>
        </p:txBody>
      </p:sp>
      <p:sp>
        <p:nvSpPr>
          <p:cNvPr id="18" name="Text 16">
            <a:extLst>
              <a:ext uri="{FF2B5EF4-FFF2-40B4-BE49-F238E27FC236}">
                <a16:creationId xmlns:a16="http://schemas.microsoft.com/office/drawing/2014/main" id="{6AF3EE4B-F711-A440-7FC2-F5F1CC31B724}"/>
              </a:ext>
            </a:extLst>
          </p:cNvPr>
          <p:cNvSpPr/>
          <p:nvPr/>
        </p:nvSpPr>
        <p:spPr>
          <a:xfrm>
            <a:off x="132588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O(1) — instant by index</a:t>
            </a:r>
            <a:endParaRPr lang="en-US" sz="900" dirty="0"/>
          </a:p>
        </p:txBody>
      </p:sp>
      <p:sp>
        <p:nvSpPr>
          <p:cNvPr id="19" name="Shape 17">
            <a:extLst>
              <a:ext uri="{FF2B5EF4-FFF2-40B4-BE49-F238E27FC236}">
                <a16:creationId xmlns:a16="http://schemas.microsoft.com/office/drawing/2014/main" id="{596A5860-F2B4-C8FE-B166-FD5219F46DE7}"/>
              </a:ext>
            </a:extLst>
          </p:cNvPr>
          <p:cNvSpPr/>
          <p:nvPr/>
        </p:nvSpPr>
        <p:spPr>
          <a:xfrm>
            <a:off x="457200" y="2962656"/>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0" name="Text 18">
            <a:extLst>
              <a:ext uri="{FF2B5EF4-FFF2-40B4-BE49-F238E27FC236}">
                <a16:creationId xmlns:a16="http://schemas.microsoft.com/office/drawing/2014/main" id="{A81CB853-7AB7-49EC-8C36-43EFC3EE9829}"/>
              </a:ext>
            </a:extLst>
          </p:cNvPr>
          <p:cNvSpPr/>
          <p:nvPr/>
        </p:nvSpPr>
        <p:spPr>
          <a:xfrm>
            <a:off x="50292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Insert at start:</a:t>
            </a:r>
            <a:endParaRPr lang="en-US" sz="800" dirty="0"/>
          </a:p>
        </p:txBody>
      </p:sp>
      <p:sp>
        <p:nvSpPr>
          <p:cNvPr id="21" name="Text 19">
            <a:extLst>
              <a:ext uri="{FF2B5EF4-FFF2-40B4-BE49-F238E27FC236}">
                <a16:creationId xmlns:a16="http://schemas.microsoft.com/office/drawing/2014/main" id="{01F475CF-1041-BAFD-6AA4-A1D372E0B2C7}"/>
              </a:ext>
            </a:extLst>
          </p:cNvPr>
          <p:cNvSpPr/>
          <p:nvPr/>
        </p:nvSpPr>
        <p:spPr>
          <a:xfrm>
            <a:off x="132588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O(N) — shift everything</a:t>
            </a:r>
            <a:endParaRPr lang="en-US" sz="900" dirty="0"/>
          </a:p>
        </p:txBody>
      </p:sp>
      <p:sp>
        <p:nvSpPr>
          <p:cNvPr id="22" name="Shape 20">
            <a:extLst>
              <a:ext uri="{FF2B5EF4-FFF2-40B4-BE49-F238E27FC236}">
                <a16:creationId xmlns:a16="http://schemas.microsoft.com/office/drawing/2014/main" id="{03F49C8D-AD9E-60C1-F1AA-48F0627BF1EF}"/>
              </a:ext>
            </a:extLst>
          </p:cNvPr>
          <p:cNvSpPr/>
          <p:nvPr/>
        </p:nvSpPr>
        <p:spPr>
          <a:xfrm>
            <a:off x="457200" y="3438144"/>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3" name="Text 21">
            <a:extLst>
              <a:ext uri="{FF2B5EF4-FFF2-40B4-BE49-F238E27FC236}">
                <a16:creationId xmlns:a16="http://schemas.microsoft.com/office/drawing/2014/main" id="{82834748-8E04-C1D1-F4AC-BB51AD8FF547}"/>
              </a:ext>
            </a:extLst>
          </p:cNvPr>
          <p:cNvSpPr/>
          <p:nvPr/>
        </p:nvSpPr>
        <p:spPr>
          <a:xfrm>
            <a:off x="50292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Memory:</a:t>
            </a:r>
            <a:endParaRPr lang="en-US" sz="800" dirty="0"/>
          </a:p>
        </p:txBody>
      </p:sp>
      <p:sp>
        <p:nvSpPr>
          <p:cNvPr id="24" name="Text 22">
            <a:extLst>
              <a:ext uri="{FF2B5EF4-FFF2-40B4-BE49-F238E27FC236}">
                <a16:creationId xmlns:a16="http://schemas.microsoft.com/office/drawing/2014/main" id="{2595A1BA-789B-D1C6-BA77-FFA46E209E26}"/>
              </a:ext>
            </a:extLst>
          </p:cNvPr>
          <p:cNvSpPr/>
          <p:nvPr/>
        </p:nvSpPr>
        <p:spPr>
          <a:xfrm>
            <a:off x="132588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Compact — just the values</a:t>
            </a:r>
            <a:endParaRPr lang="en-US" sz="900" dirty="0"/>
          </a:p>
        </p:txBody>
      </p:sp>
      <p:sp>
        <p:nvSpPr>
          <p:cNvPr id="25" name="Shape 23">
            <a:extLst>
              <a:ext uri="{FF2B5EF4-FFF2-40B4-BE49-F238E27FC236}">
                <a16:creationId xmlns:a16="http://schemas.microsoft.com/office/drawing/2014/main" id="{0CA1FABC-481F-2EA3-FA26-2D0379687B51}"/>
              </a:ext>
            </a:extLst>
          </p:cNvPr>
          <p:cNvSpPr/>
          <p:nvPr/>
        </p:nvSpPr>
        <p:spPr>
          <a:xfrm>
            <a:off x="457200" y="391363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6" name="Text 24">
            <a:extLst>
              <a:ext uri="{FF2B5EF4-FFF2-40B4-BE49-F238E27FC236}">
                <a16:creationId xmlns:a16="http://schemas.microsoft.com/office/drawing/2014/main" id="{513F6708-4696-FCC6-0F1F-74D3C8F7F1BF}"/>
              </a:ext>
            </a:extLst>
          </p:cNvPr>
          <p:cNvSpPr/>
          <p:nvPr/>
        </p:nvSpPr>
        <p:spPr>
          <a:xfrm>
            <a:off x="50292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Best for:</a:t>
            </a:r>
            <a:endParaRPr lang="en-US" sz="800" dirty="0"/>
          </a:p>
        </p:txBody>
      </p:sp>
      <p:sp>
        <p:nvSpPr>
          <p:cNvPr id="27" name="Text 25">
            <a:extLst>
              <a:ext uri="{FF2B5EF4-FFF2-40B4-BE49-F238E27FC236}">
                <a16:creationId xmlns:a16="http://schemas.microsoft.com/office/drawing/2014/main" id="{CB8CF467-F7B2-6C94-9752-D91C4E5AD506}"/>
              </a:ext>
            </a:extLst>
          </p:cNvPr>
          <p:cNvSpPr/>
          <p:nvPr/>
        </p:nvSpPr>
        <p:spPr>
          <a:xfrm>
            <a:off x="132588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Read-heavy, fixed-size data</a:t>
            </a:r>
            <a:endParaRPr lang="en-US" sz="900" dirty="0"/>
          </a:p>
        </p:txBody>
      </p:sp>
      <p:sp>
        <p:nvSpPr>
          <p:cNvPr id="28" name="Shape 26">
            <a:extLst>
              <a:ext uri="{FF2B5EF4-FFF2-40B4-BE49-F238E27FC236}">
                <a16:creationId xmlns:a16="http://schemas.microsoft.com/office/drawing/2014/main" id="{28D0995B-6653-F79C-9F46-E12B88A13D38}"/>
              </a:ext>
            </a:extLst>
          </p:cNvPr>
          <p:cNvSpPr/>
          <p:nvPr/>
        </p:nvSpPr>
        <p:spPr>
          <a:xfrm>
            <a:off x="4416552" y="843534"/>
            <a:ext cx="310896" cy="4114800"/>
          </a:xfrm>
          <a:prstGeom prst="rect">
            <a:avLst/>
          </a:prstGeom>
          <a:solidFill>
            <a:srgbClr val="4F29B7"/>
          </a:solidFill>
          <a:ln w="12700">
            <a:solidFill>
              <a:srgbClr val="4F29B7"/>
            </a:solidFill>
            <a:prstDash val="solid"/>
          </a:ln>
        </p:spPr>
        <p:txBody>
          <a:bodyPr/>
          <a:lstStyle/>
          <a:p>
            <a:endParaRPr lang="en-US"/>
          </a:p>
        </p:txBody>
      </p:sp>
      <p:sp>
        <p:nvSpPr>
          <p:cNvPr id="29" name="Text 27">
            <a:extLst>
              <a:ext uri="{FF2B5EF4-FFF2-40B4-BE49-F238E27FC236}">
                <a16:creationId xmlns:a16="http://schemas.microsoft.com/office/drawing/2014/main" id="{8FEE9ABE-4588-73AD-31E1-FC833708A9CC}"/>
              </a:ext>
            </a:extLst>
          </p:cNvPr>
          <p:cNvSpPr/>
          <p:nvPr/>
        </p:nvSpPr>
        <p:spPr>
          <a:xfrm>
            <a:off x="4306824" y="2718054"/>
            <a:ext cx="530352" cy="365760"/>
          </a:xfrm>
          <a:prstGeom prst="rect">
            <a:avLst/>
          </a:prstGeom>
          <a:noFill/>
          <a:ln/>
        </p:spPr>
        <p:txBody>
          <a:bodyPr wrap="square" rtlCol="0" anchor="ctr"/>
          <a:lstStyle/>
          <a:p>
            <a:pPr marL="0" indent="0" algn="ctr">
              <a:buNone/>
            </a:pPr>
            <a:r>
              <a:rPr lang="en-US" sz="1300" b="1" dirty="0">
                <a:solidFill>
                  <a:srgbClr val="EDEDED"/>
                </a:solidFill>
                <a:latin typeface="Calibri" pitchFamily="34" charset="0"/>
                <a:ea typeface="Calibri" pitchFamily="34" charset="-122"/>
                <a:cs typeface="Calibri" pitchFamily="34" charset="-120"/>
              </a:rPr>
              <a:t>vs</a:t>
            </a:r>
            <a:endParaRPr lang="en-US" sz="1300" dirty="0"/>
          </a:p>
        </p:txBody>
      </p:sp>
      <p:sp>
        <p:nvSpPr>
          <p:cNvPr id="30" name="Shape 28">
            <a:extLst>
              <a:ext uri="{FF2B5EF4-FFF2-40B4-BE49-F238E27FC236}">
                <a16:creationId xmlns:a16="http://schemas.microsoft.com/office/drawing/2014/main" id="{AEE34ACF-5233-297C-7290-F82D7391F43A}"/>
              </a:ext>
            </a:extLst>
          </p:cNvPr>
          <p:cNvSpPr/>
          <p:nvPr/>
        </p:nvSpPr>
        <p:spPr>
          <a:xfrm>
            <a:off x="4983480" y="822960"/>
            <a:ext cx="3886200" cy="4114800"/>
          </a:xfrm>
          <a:prstGeom prst="roundRect">
            <a:avLst>
              <a:gd name="adj" fmla="val 2824"/>
            </a:avLst>
          </a:prstGeom>
          <a:solidFill>
            <a:srgbClr val="0D2020"/>
          </a:solidFill>
          <a:ln w="12700">
            <a:solidFill>
              <a:srgbClr val="57E3D8"/>
            </a:solidFill>
            <a:prstDash val="solid"/>
          </a:ln>
        </p:spPr>
        <p:txBody>
          <a:bodyPr/>
          <a:lstStyle/>
          <a:p>
            <a:endParaRPr lang="en-US"/>
          </a:p>
        </p:txBody>
      </p:sp>
      <p:sp>
        <p:nvSpPr>
          <p:cNvPr id="31" name="Text 29">
            <a:extLst>
              <a:ext uri="{FF2B5EF4-FFF2-40B4-BE49-F238E27FC236}">
                <a16:creationId xmlns:a16="http://schemas.microsoft.com/office/drawing/2014/main" id="{F2EF1F1A-21A0-05F7-0DAD-248D9EFC403C}"/>
              </a:ext>
            </a:extLst>
          </p:cNvPr>
          <p:cNvSpPr/>
          <p:nvPr/>
        </p:nvSpPr>
        <p:spPr>
          <a:xfrm>
            <a:off x="498348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Linked List</a:t>
            </a:r>
            <a:endParaRPr lang="en-US" sz="2000" dirty="0"/>
          </a:p>
        </p:txBody>
      </p:sp>
      <p:sp>
        <p:nvSpPr>
          <p:cNvPr id="32" name="Text 30">
            <a:extLst>
              <a:ext uri="{FF2B5EF4-FFF2-40B4-BE49-F238E27FC236}">
                <a16:creationId xmlns:a16="http://schemas.microsoft.com/office/drawing/2014/main" id="{46E4A81B-148B-8CD9-9160-86527E3CF4B9}"/>
              </a:ext>
            </a:extLst>
          </p:cNvPr>
          <p:cNvSpPr/>
          <p:nvPr/>
        </p:nvSpPr>
        <p:spPr>
          <a:xfrm>
            <a:off x="4983480" y="1188720"/>
            <a:ext cx="3886200" cy="256032"/>
          </a:xfrm>
          <a:prstGeom prst="rect">
            <a:avLst/>
          </a:prstGeom>
          <a:noFill/>
          <a:ln/>
        </p:spPr>
        <p:txBody>
          <a:bodyPr wrap="square" rtlCol="0" anchor="ctr"/>
          <a:lstStyle/>
          <a:p>
            <a:pPr marL="0" indent="0" algn="ctr">
              <a:buNone/>
            </a:pPr>
            <a:r>
              <a:rPr lang="en-US" sz="1000" i="1" dirty="0">
                <a:solidFill>
                  <a:srgbClr val="57E3D8"/>
                </a:solidFill>
                <a:latin typeface="Calibri" pitchFamily="34" charset="0"/>
                <a:ea typeface="Calibri" pitchFamily="34" charset="-122"/>
                <a:cs typeface="Calibri" pitchFamily="34" charset="-120"/>
              </a:rPr>
              <a:t>Today's structure</a:t>
            </a:r>
            <a:endParaRPr lang="en-US" sz="1000" dirty="0"/>
          </a:p>
        </p:txBody>
      </p:sp>
      <p:sp>
        <p:nvSpPr>
          <p:cNvPr id="33" name="Shape 31">
            <a:extLst>
              <a:ext uri="{FF2B5EF4-FFF2-40B4-BE49-F238E27FC236}">
                <a16:creationId xmlns:a16="http://schemas.microsoft.com/office/drawing/2014/main" id="{2AA6F638-5CE6-FF35-A36A-357ACBC7A5EE}"/>
              </a:ext>
            </a:extLst>
          </p:cNvPr>
          <p:cNvSpPr/>
          <p:nvPr/>
        </p:nvSpPr>
        <p:spPr>
          <a:xfrm>
            <a:off x="5166360" y="153619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4" name="Text 32">
            <a:extLst>
              <a:ext uri="{FF2B5EF4-FFF2-40B4-BE49-F238E27FC236}">
                <a16:creationId xmlns:a16="http://schemas.microsoft.com/office/drawing/2014/main" id="{40D20E3D-237B-9D65-0005-F1470DFDA85F}"/>
              </a:ext>
            </a:extLst>
          </p:cNvPr>
          <p:cNvSpPr/>
          <p:nvPr/>
        </p:nvSpPr>
        <p:spPr>
          <a:xfrm>
            <a:off x="521208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Storage:</a:t>
            </a:r>
            <a:endParaRPr lang="en-US" sz="800" dirty="0"/>
          </a:p>
        </p:txBody>
      </p:sp>
      <p:sp>
        <p:nvSpPr>
          <p:cNvPr id="35" name="Text 33">
            <a:extLst>
              <a:ext uri="{FF2B5EF4-FFF2-40B4-BE49-F238E27FC236}">
                <a16:creationId xmlns:a16="http://schemas.microsoft.com/office/drawing/2014/main" id="{254710F6-A3D0-2BDA-1EDF-0B27D0168981}"/>
              </a:ext>
            </a:extLst>
          </p:cNvPr>
          <p:cNvSpPr/>
          <p:nvPr/>
        </p:nvSpPr>
        <p:spPr>
          <a:xfrm>
            <a:off x="603504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Nodes scattered around RAM</a:t>
            </a:r>
            <a:endParaRPr lang="en-US" sz="900" dirty="0"/>
          </a:p>
        </p:txBody>
      </p:sp>
      <p:sp>
        <p:nvSpPr>
          <p:cNvPr id="36" name="Shape 34">
            <a:extLst>
              <a:ext uri="{FF2B5EF4-FFF2-40B4-BE49-F238E27FC236}">
                <a16:creationId xmlns:a16="http://schemas.microsoft.com/office/drawing/2014/main" id="{276EF63A-0F9F-9871-090D-42662C083648}"/>
              </a:ext>
            </a:extLst>
          </p:cNvPr>
          <p:cNvSpPr/>
          <p:nvPr/>
        </p:nvSpPr>
        <p:spPr>
          <a:xfrm>
            <a:off x="5166360" y="2011680"/>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7" name="Text 35">
            <a:extLst>
              <a:ext uri="{FF2B5EF4-FFF2-40B4-BE49-F238E27FC236}">
                <a16:creationId xmlns:a16="http://schemas.microsoft.com/office/drawing/2014/main" id="{50710570-BD97-07DD-973A-6E0879828529}"/>
              </a:ext>
            </a:extLst>
          </p:cNvPr>
          <p:cNvSpPr/>
          <p:nvPr/>
        </p:nvSpPr>
        <p:spPr>
          <a:xfrm>
            <a:off x="521208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Size:</a:t>
            </a:r>
            <a:endParaRPr lang="en-US" sz="800" dirty="0"/>
          </a:p>
        </p:txBody>
      </p:sp>
      <p:sp>
        <p:nvSpPr>
          <p:cNvPr id="38" name="Text 36">
            <a:extLst>
              <a:ext uri="{FF2B5EF4-FFF2-40B4-BE49-F238E27FC236}">
                <a16:creationId xmlns:a16="http://schemas.microsoft.com/office/drawing/2014/main" id="{325466D3-0145-6B0D-2552-02E73F82500A}"/>
              </a:ext>
            </a:extLst>
          </p:cNvPr>
          <p:cNvSpPr/>
          <p:nvPr/>
        </p:nvSpPr>
        <p:spPr>
          <a:xfrm>
            <a:off x="603504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Grows and shrinks freely</a:t>
            </a:r>
            <a:endParaRPr lang="en-US" sz="900" dirty="0"/>
          </a:p>
        </p:txBody>
      </p:sp>
      <p:sp>
        <p:nvSpPr>
          <p:cNvPr id="39" name="Shape 37">
            <a:extLst>
              <a:ext uri="{FF2B5EF4-FFF2-40B4-BE49-F238E27FC236}">
                <a16:creationId xmlns:a16="http://schemas.microsoft.com/office/drawing/2014/main" id="{6942382F-E7A3-C1F2-B83D-D6FA86B546E1}"/>
              </a:ext>
            </a:extLst>
          </p:cNvPr>
          <p:cNvSpPr/>
          <p:nvPr/>
        </p:nvSpPr>
        <p:spPr>
          <a:xfrm>
            <a:off x="5166360" y="2487168"/>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0" name="Text 38">
            <a:extLst>
              <a:ext uri="{FF2B5EF4-FFF2-40B4-BE49-F238E27FC236}">
                <a16:creationId xmlns:a16="http://schemas.microsoft.com/office/drawing/2014/main" id="{E5CD63DE-A2FD-FE4E-8F62-CFED0F0E9EA7}"/>
              </a:ext>
            </a:extLst>
          </p:cNvPr>
          <p:cNvSpPr/>
          <p:nvPr/>
        </p:nvSpPr>
        <p:spPr>
          <a:xfrm>
            <a:off x="521208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Access:</a:t>
            </a:r>
            <a:endParaRPr lang="en-US" sz="800" dirty="0"/>
          </a:p>
        </p:txBody>
      </p:sp>
      <p:sp>
        <p:nvSpPr>
          <p:cNvPr id="41" name="Text 39">
            <a:extLst>
              <a:ext uri="{FF2B5EF4-FFF2-40B4-BE49-F238E27FC236}">
                <a16:creationId xmlns:a16="http://schemas.microsoft.com/office/drawing/2014/main" id="{3B5504F8-686E-BA78-2DB4-23833D5191B0}"/>
              </a:ext>
            </a:extLst>
          </p:cNvPr>
          <p:cNvSpPr/>
          <p:nvPr/>
        </p:nvSpPr>
        <p:spPr>
          <a:xfrm>
            <a:off x="603504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O(N) — must walk from head</a:t>
            </a:r>
            <a:endParaRPr lang="en-US" sz="900" dirty="0"/>
          </a:p>
        </p:txBody>
      </p:sp>
      <p:sp>
        <p:nvSpPr>
          <p:cNvPr id="42" name="Shape 40">
            <a:extLst>
              <a:ext uri="{FF2B5EF4-FFF2-40B4-BE49-F238E27FC236}">
                <a16:creationId xmlns:a16="http://schemas.microsoft.com/office/drawing/2014/main" id="{B4BD8040-DFF5-8EB7-EFFC-2EDD0AA4C308}"/>
              </a:ext>
            </a:extLst>
          </p:cNvPr>
          <p:cNvSpPr/>
          <p:nvPr/>
        </p:nvSpPr>
        <p:spPr>
          <a:xfrm>
            <a:off x="5166360" y="2962656"/>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3" name="Text 41">
            <a:extLst>
              <a:ext uri="{FF2B5EF4-FFF2-40B4-BE49-F238E27FC236}">
                <a16:creationId xmlns:a16="http://schemas.microsoft.com/office/drawing/2014/main" id="{3C3B4DAE-E3CC-8255-554E-4C338D6C2133}"/>
              </a:ext>
            </a:extLst>
          </p:cNvPr>
          <p:cNvSpPr/>
          <p:nvPr/>
        </p:nvSpPr>
        <p:spPr>
          <a:xfrm>
            <a:off x="521208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Insert at start:</a:t>
            </a:r>
            <a:endParaRPr lang="en-US" sz="800" dirty="0"/>
          </a:p>
        </p:txBody>
      </p:sp>
      <p:sp>
        <p:nvSpPr>
          <p:cNvPr id="44" name="Text 42">
            <a:extLst>
              <a:ext uri="{FF2B5EF4-FFF2-40B4-BE49-F238E27FC236}">
                <a16:creationId xmlns:a16="http://schemas.microsoft.com/office/drawing/2014/main" id="{0EA8348F-EAC9-B6A1-A0A9-981B05749E1E}"/>
              </a:ext>
            </a:extLst>
          </p:cNvPr>
          <p:cNvSpPr/>
          <p:nvPr/>
        </p:nvSpPr>
        <p:spPr>
          <a:xfrm>
            <a:off x="603504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O(1) — just relink one pointer</a:t>
            </a:r>
            <a:endParaRPr lang="en-US" sz="900" dirty="0"/>
          </a:p>
        </p:txBody>
      </p:sp>
      <p:sp>
        <p:nvSpPr>
          <p:cNvPr id="45" name="Shape 43">
            <a:extLst>
              <a:ext uri="{FF2B5EF4-FFF2-40B4-BE49-F238E27FC236}">
                <a16:creationId xmlns:a16="http://schemas.microsoft.com/office/drawing/2014/main" id="{AF19D472-79B4-7EAD-A3A0-DB3C2232CDB5}"/>
              </a:ext>
            </a:extLst>
          </p:cNvPr>
          <p:cNvSpPr/>
          <p:nvPr/>
        </p:nvSpPr>
        <p:spPr>
          <a:xfrm>
            <a:off x="5166360" y="3438144"/>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6" name="Text 44">
            <a:extLst>
              <a:ext uri="{FF2B5EF4-FFF2-40B4-BE49-F238E27FC236}">
                <a16:creationId xmlns:a16="http://schemas.microsoft.com/office/drawing/2014/main" id="{AE5764AD-FEB5-7C1D-EED5-D76C266FC016}"/>
              </a:ext>
            </a:extLst>
          </p:cNvPr>
          <p:cNvSpPr/>
          <p:nvPr/>
        </p:nvSpPr>
        <p:spPr>
          <a:xfrm>
            <a:off x="521208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Memory:</a:t>
            </a:r>
            <a:endParaRPr lang="en-US" sz="800" dirty="0"/>
          </a:p>
        </p:txBody>
      </p:sp>
      <p:sp>
        <p:nvSpPr>
          <p:cNvPr id="47" name="Text 45">
            <a:extLst>
              <a:ext uri="{FF2B5EF4-FFF2-40B4-BE49-F238E27FC236}">
                <a16:creationId xmlns:a16="http://schemas.microsoft.com/office/drawing/2014/main" id="{C71AEF8E-A22F-ADC6-B183-DCD242EA877B}"/>
              </a:ext>
            </a:extLst>
          </p:cNvPr>
          <p:cNvSpPr/>
          <p:nvPr/>
        </p:nvSpPr>
        <p:spPr>
          <a:xfrm>
            <a:off x="603504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Extra — every node has "next"</a:t>
            </a:r>
            <a:endParaRPr lang="en-US" sz="900" dirty="0"/>
          </a:p>
        </p:txBody>
      </p:sp>
      <p:sp>
        <p:nvSpPr>
          <p:cNvPr id="48" name="Shape 46">
            <a:extLst>
              <a:ext uri="{FF2B5EF4-FFF2-40B4-BE49-F238E27FC236}">
                <a16:creationId xmlns:a16="http://schemas.microsoft.com/office/drawing/2014/main" id="{42600777-6D46-7631-F808-A9562ACAB92E}"/>
              </a:ext>
            </a:extLst>
          </p:cNvPr>
          <p:cNvSpPr/>
          <p:nvPr/>
        </p:nvSpPr>
        <p:spPr>
          <a:xfrm>
            <a:off x="5166360" y="391363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9" name="Text 47">
            <a:extLst>
              <a:ext uri="{FF2B5EF4-FFF2-40B4-BE49-F238E27FC236}">
                <a16:creationId xmlns:a16="http://schemas.microsoft.com/office/drawing/2014/main" id="{519DB8C3-055F-459B-82F6-A024731C65B5}"/>
              </a:ext>
            </a:extLst>
          </p:cNvPr>
          <p:cNvSpPr/>
          <p:nvPr/>
        </p:nvSpPr>
        <p:spPr>
          <a:xfrm>
            <a:off x="521208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Best for:</a:t>
            </a:r>
            <a:endParaRPr lang="en-US" sz="800" dirty="0"/>
          </a:p>
        </p:txBody>
      </p:sp>
      <p:sp>
        <p:nvSpPr>
          <p:cNvPr id="50" name="Text 48">
            <a:extLst>
              <a:ext uri="{FF2B5EF4-FFF2-40B4-BE49-F238E27FC236}">
                <a16:creationId xmlns:a16="http://schemas.microsoft.com/office/drawing/2014/main" id="{3D362DF0-8C20-2710-479A-BDFA915F4002}"/>
              </a:ext>
            </a:extLst>
          </p:cNvPr>
          <p:cNvSpPr/>
          <p:nvPr/>
        </p:nvSpPr>
        <p:spPr>
          <a:xfrm>
            <a:off x="603504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Heavy insert/delete at the ends</a:t>
            </a:r>
            <a:endParaRPr lang="en-US" sz="900" dirty="0"/>
          </a:p>
        </p:txBody>
      </p:sp>
    </p:spTree>
    <p:extLst>
      <p:ext uri="{BB962C8B-B14F-4D97-AF65-F5344CB8AC3E}">
        <p14:creationId xmlns:p14="http://schemas.microsoft.com/office/powerpoint/2010/main" val="882858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COMMON OPERATIONS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Six Things You Do With Linked Lists</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full vocabulary — most are O(1) at the head, O(N) elsewhere</a:t>
            </a:r>
            <a:endParaRPr lang="en-US" sz="1300" dirty="0"/>
          </a:p>
        </p:txBody>
      </p:sp>
      <p:sp>
        <p:nvSpPr>
          <p:cNvPr id="7" name="Shape 5"/>
          <p:cNvSpPr/>
          <p:nvPr/>
        </p:nvSpPr>
        <p:spPr>
          <a:xfrm>
            <a:off x="411480" y="1170432"/>
            <a:ext cx="4206240" cy="10972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Shape 7"/>
          <p:cNvSpPr/>
          <p:nvPr/>
        </p:nvSpPr>
        <p:spPr>
          <a:xfrm>
            <a:off x="521208" y="1207008"/>
            <a:ext cx="347472" cy="347472"/>
          </a:xfrm>
          <a:prstGeom prst="ellipse">
            <a:avLst/>
          </a:prstGeom>
          <a:solidFill>
            <a:srgbClr val="3FD9C4">
              <a:alpha val="80000"/>
            </a:srgbClr>
          </a:solidFill>
          <a:ln w="19050">
            <a:solidFill>
              <a:srgbClr val="3FD9C4"/>
            </a:solidFill>
            <a:prstDash val="solid"/>
          </a:ln>
        </p:spPr>
        <p:txBody>
          <a:bodyPr/>
          <a:lstStyle/>
          <a:p>
            <a:endParaRPr lang="en-US"/>
          </a:p>
        </p:txBody>
      </p:sp>
      <p:sp>
        <p:nvSpPr>
          <p:cNvPr id="10" name="Text 8"/>
          <p:cNvSpPr/>
          <p:nvPr/>
        </p:nvSpPr>
        <p:spPr>
          <a:xfrm>
            <a:off x="52120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solidFill>
                <a:schemeClr val="bg1"/>
              </a:solidFill>
            </a:endParaRPr>
          </a:p>
        </p:txBody>
      </p:sp>
      <p:sp>
        <p:nvSpPr>
          <p:cNvPr id="11" name="Text 9"/>
          <p:cNvSpPr/>
          <p:nvPr/>
        </p:nvSpPr>
        <p:spPr>
          <a:xfrm>
            <a:off x="96012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Create</a:t>
            </a:r>
            <a:endParaRPr lang="en-US" sz="1200" dirty="0"/>
          </a:p>
        </p:txBody>
      </p:sp>
      <p:sp>
        <p:nvSpPr>
          <p:cNvPr id="12" name="Shape 10"/>
          <p:cNvSpPr/>
          <p:nvPr/>
        </p:nvSpPr>
        <p:spPr>
          <a:xfrm>
            <a:off x="548640" y="1517904"/>
            <a:ext cx="3931920" cy="0"/>
          </a:xfrm>
          <a:prstGeom prst="line">
            <a:avLst/>
          </a:prstGeom>
          <a:noFill/>
          <a:ln w="7620">
            <a:solidFill>
              <a:srgbClr val="3D444D"/>
            </a:solidFill>
            <a:prstDash val="solid"/>
          </a:ln>
        </p:spPr>
        <p:txBody>
          <a:bodyPr/>
          <a:lstStyle/>
          <a:p>
            <a:endParaRPr lang="en-US"/>
          </a:p>
        </p:txBody>
      </p:sp>
      <p:sp>
        <p:nvSpPr>
          <p:cNvPr id="13" name="Text 11"/>
          <p:cNvSpPr/>
          <p:nvPr/>
        </p:nvSpPr>
        <p:spPr>
          <a:xfrm>
            <a:off x="54864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Start with an empty list.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SET head ← null. No nodes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exist yet. The list has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length 0. Cost: O(1).</a:t>
            </a:r>
            <a:endParaRPr lang="en-US" sz="1050" dirty="0"/>
          </a:p>
        </p:txBody>
      </p:sp>
      <p:sp>
        <p:nvSpPr>
          <p:cNvPr id="14" name="Shape 12"/>
          <p:cNvSpPr/>
          <p:nvPr/>
        </p:nvSpPr>
        <p:spPr>
          <a:xfrm>
            <a:off x="411480" y="2386584"/>
            <a:ext cx="4206240" cy="10972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5" name="Shape 13"/>
          <p:cNvSpPr/>
          <p:nvPr/>
        </p:nvSpPr>
        <p:spPr>
          <a:xfrm>
            <a:off x="411480" y="2386584"/>
            <a:ext cx="420624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6" name="Shape 14"/>
          <p:cNvSpPr/>
          <p:nvPr/>
        </p:nvSpPr>
        <p:spPr>
          <a:xfrm>
            <a:off x="521208" y="2423160"/>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7" name="Text 15"/>
          <p:cNvSpPr/>
          <p:nvPr/>
        </p:nvSpPr>
        <p:spPr>
          <a:xfrm>
            <a:off x="52120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2</a:t>
            </a:r>
            <a:endParaRPr lang="en-US" sz="1400" dirty="0">
              <a:solidFill>
                <a:schemeClr val="bg1"/>
              </a:solidFill>
            </a:endParaRPr>
          </a:p>
        </p:txBody>
      </p:sp>
      <p:sp>
        <p:nvSpPr>
          <p:cNvPr id="18" name="Text 16"/>
          <p:cNvSpPr/>
          <p:nvPr/>
        </p:nvSpPr>
        <p:spPr>
          <a:xfrm>
            <a:off x="96012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Insert at Head</a:t>
            </a:r>
            <a:endParaRPr lang="en-US" sz="1200" dirty="0"/>
          </a:p>
        </p:txBody>
      </p:sp>
      <p:sp>
        <p:nvSpPr>
          <p:cNvPr id="19" name="Shape 17"/>
          <p:cNvSpPr/>
          <p:nvPr/>
        </p:nvSpPr>
        <p:spPr>
          <a:xfrm>
            <a:off x="548640" y="2734056"/>
            <a:ext cx="3931920" cy="0"/>
          </a:xfrm>
          <a:prstGeom prst="line">
            <a:avLst/>
          </a:prstGeom>
          <a:noFill/>
          <a:ln w="7620">
            <a:solidFill>
              <a:srgbClr val="3D444D"/>
            </a:solidFill>
            <a:prstDash val="solid"/>
          </a:ln>
        </p:spPr>
        <p:txBody>
          <a:bodyPr/>
          <a:lstStyle/>
          <a:p>
            <a:endParaRPr lang="en-US"/>
          </a:p>
        </p:txBody>
      </p:sp>
      <p:sp>
        <p:nvSpPr>
          <p:cNvPr id="20" name="Text 18"/>
          <p:cNvSpPr/>
          <p:nvPr/>
        </p:nvSpPr>
        <p:spPr>
          <a:xfrm>
            <a:off x="54864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Make a new node, point its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"next" at the current head,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then move head to the new</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node. Always O(1) — fast.</a:t>
            </a:r>
            <a:endParaRPr lang="en-US" sz="1050" dirty="0"/>
          </a:p>
        </p:txBody>
      </p:sp>
      <p:sp>
        <p:nvSpPr>
          <p:cNvPr id="21" name="Shape 19"/>
          <p:cNvSpPr/>
          <p:nvPr/>
        </p:nvSpPr>
        <p:spPr>
          <a:xfrm>
            <a:off x="411480" y="3602736"/>
            <a:ext cx="4206240" cy="10972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411480" y="3602736"/>
            <a:ext cx="42062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23" name="Shape 21"/>
          <p:cNvSpPr/>
          <p:nvPr/>
        </p:nvSpPr>
        <p:spPr>
          <a:xfrm>
            <a:off x="521208" y="3639312"/>
            <a:ext cx="347472" cy="347472"/>
          </a:xfrm>
          <a:prstGeom prst="ellipse">
            <a:avLst/>
          </a:prstGeom>
          <a:solidFill>
            <a:srgbClr val="BC8CFF">
              <a:alpha val="80000"/>
            </a:srgbClr>
          </a:solidFill>
          <a:ln w="19050">
            <a:solidFill>
              <a:srgbClr val="BC8CFF"/>
            </a:solidFill>
            <a:prstDash val="solid"/>
          </a:ln>
        </p:spPr>
        <p:txBody>
          <a:bodyPr/>
          <a:lstStyle/>
          <a:p>
            <a:endParaRPr lang="en-US"/>
          </a:p>
        </p:txBody>
      </p:sp>
      <p:sp>
        <p:nvSpPr>
          <p:cNvPr id="24" name="Text 22"/>
          <p:cNvSpPr/>
          <p:nvPr/>
        </p:nvSpPr>
        <p:spPr>
          <a:xfrm>
            <a:off x="52120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a:t>
            </a:r>
            <a:endParaRPr lang="en-US" sz="1400" dirty="0">
              <a:solidFill>
                <a:schemeClr val="bg1"/>
              </a:solidFill>
            </a:endParaRPr>
          </a:p>
        </p:txBody>
      </p:sp>
      <p:sp>
        <p:nvSpPr>
          <p:cNvPr id="25" name="Text 23"/>
          <p:cNvSpPr/>
          <p:nvPr/>
        </p:nvSpPr>
        <p:spPr>
          <a:xfrm>
            <a:off x="96012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Insert at End</a:t>
            </a:r>
            <a:endParaRPr lang="en-US" sz="1200" dirty="0"/>
          </a:p>
        </p:txBody>
      </p:sp>
      <p:sp>
        <p:nvSpPr>
          <p:cNvPr id="26" name="Shape 24"/>
          <p:cNvSpPr/>
          <p:nvPr/>
        </p:nvSpPr>
        <p:spPr>
          <a:xfrm>
            <a:off x="548640" y="3950208"/>
            <a:ext cx="3931920" cy="0"/>
          </a:xfrm>
          <a:prstGeom prst="line">
            <a:avLst/>
          </a:prstGeom>
          <a:noFill/>
          <a:ln w="7620">
            <a:solidFill>
              <a:srgbClr val="3D444D"/>
            </a:solidFill>
            <a:prstDash val="solid"/>
          </a:ln>
        </p:spPr>
        <p:txBody>
          <a:bodyPr/>
          <a:lstStyle/>
          <a:p>
            <a:endParaRPr lang="en-US"/>
          </a:p>
        </p:txBody>
      </p:sp>
      <p:sp>
        <p:nvSpPr>
          <p:cNvPr id="27" name="Text 25"/>
          <p:cNvSpPr/>
          <p:nvPr/>
        </p:nvSpPr>
        <p:spPr>
          <a:xfrm>
            <a:off x="54864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Walk all the way to the last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node, then attach a new node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after it. Cost: O(N) unless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you keep a tail pointer.</a:t>
            </a:r>
            <a:endParaRPr lang="en-US" sz="1050" dirty="0"/>
          </a:p>
        </p:txBody>
      </p:sp>
      <p:sp>
        <p:nvSpPr>
          <p:cNvPr id="28" name="Shape 26"/>
          <p:cNvSpPr/>
          <p:nvPr/>
        </p:nvSpPr>
        <p:spPr>
          <a:xfrm>
            <a:off x="4800600" y="1170432"/>
            <a:ext cx="4206240" cy="10972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9" name="Shape 27"/>
          <p:cNvSpPr/>
          <p:nvPr/>
        </p:nvSpPr>
        <p:spPr>
          <a:xfrm>
            <a:off x="4800600" y="1170432"/>
            <a:ext cx="420624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0" name="Shape 28"/>
          <p:cNvSpPr/>
          <p:nvPr/>
        </p:nvSpPr>
        <p:spPr>
          <a:xfrm>
            <a:off x="4910328" y="1207008"/>
            <a:ext cx="347472" cy="347472"/>
          </a:xfrm>
          <a:prstGeom prst="ellipse">
            <a:avLst/>
          </a:prstGeom>
          <a:solidFill>
            <a:srgbClr val="FFA657">
              <a:alpha val="80000"/>
            </a:srgbClr>
          </a:solidFill>
          <a:ln w="19050">
            <a:solidFill>
              <a:srgbClr val="FFA657"/>
            </a:solidFill>
            <a:prstDash val="solid"/>
          </a:ln>
        </p:spPr>
        <p:txBody>
          <a:bodyPr/>
          <a:lstStyle/>
          <a:p>
            <a:endParaRPr lang="en-US"/>
          </a:p>
        </p:txBody>
      </p:sp>
      <p:sp>
        <p:nvSpPr>
          <p:cNvPr id="31" name="Text 29"/>
          <p:cNvSpPr/>
          <p:nvPr/>
        </p:nvSpPr>
        <p:spPr>
          <a:xfrm>
            <a:off x="491032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a:t>
            </a:r>
            <a:endParaRPr lang="en-US" sz="1400" dirty="0">
              <a:solidFill>
                <a:schemeClr val="bg1"/>
              </a:solidFill>
            </a:endParaRPr>
          </a:p>
        </p:txBody>
      </p:sp>
      <p:sp>
        <p:nvSpPr>
          <p:cNvPr id="32" name="Text 30"/>
          <p:cNvSpPr/>
          <p:nvPr/>
        </p:nvSpPr>
        <p:spPr>
          <a:xfrm>
            <a:off x="534924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Delete</a:t>
            </a:r>
            <a:endParaRPr lang="en-US" sz="1200" dirty="0"/>
          </a:p>
        </p:txBody>
      </p:sp>
      <p:sp>
        <p:nvSpPr>
          <p:cNvPr id="33" name="Shape 31"/>
          <p:cNvSpPr/>
          <p:nvPr/>
        </p:nvSpPr>
        <p:spPr>
          <a:xfrm>
            <a:off x="4937760" y="1517904"/>
            <a:ext cx="3931920" cy="0"/>
          </a:xfrm>
          <a:prstGeom prst="line">
            <a:avLst/>
          </a:prstGeom>
          <a:noFill/>
          <a:ln w="7620">
            <a:solidFill>
              <a:srgbClr val="3D444D"/>
            </a:solidFill>
            <a:prstDash val="solid"/>
          </a:ln>
        </p:spPr>
        <p:txBody>
          <a:bodyPr/>
          <a:lstStyle/>
          <a:p>
            <a:endParaRPr lang="en-US"/>
          </a:p>
        </p:txBody>
      </p:sp>
      <p:sp>
        <p:nvSpPr>
          <p:cNvPr id="34" name="Text 32"/>
          <p:cNvSpPr/>
          <p:nvPr/>
        </p:nvSpPr>
        <p:spPr>
          <a:xfrm>
            <a:off x="493776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Find the node before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target. Update its "next"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to skip over the deleted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node. Cost: O(N) to find it.</a:t>
            </a:r>
            <a:endParaRPr lang="en-US" sz="1050" dirty="0"/>
          </a:p>
        </p:txBody>
      </p:sp>
      <p:sp>
        <p:nvSpPr>
          <p:cNvPr id="35" name="Shape 33"/>
          <p:cNvSpPr/>
          <p:nvPr/>
        </p:nvSpPr>
        <p:spPr>
          <a:xfrm>
            <a:off x="4800600" y="2386584"/>
            <a:ext cx="4206240" cy="10972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4800600" y="2386584"/>
            <a:ext cx="4206240"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37" name="Shape 35"/>
          <p:cNvSpPr/>
          <p:nvPr/>
        </p:nvSpPr>
        <p:spPr>
          <a:xfrm>
            <a:off x="4910328" y="2423160"/>
            <a:ext cx="347472" cy="347472"/>
          </a:xfrm>
          <a:prstGeom prst="ellipse">
            <a:avLst/>
          </a:prstGeom>
          <a:solidFill>
            <a:srgbClr val="E3B341">
              <a:alpha val="80000"/>
            </a:srgbClr>
          </a:solidFill>
          <a:ln w="19050">
            <a:solidFill>
              <a:srgbClr val="E3B341"/>
            </a:solidFill>
            <a:prstDash val="solid"/>
          </a:ln>
        </p:spPr>
        <p:txBody>
          <a:bodyPr/>
          <a:lstStyle/>
          <a:p>
            <a:endParaRPr lang="en-US"/>
          </a:p>
        </p:txBody>
      </p:sp>
      <p:sp>
        <p:nvSpPr>
          <p:cNvPr id="38" name="Text 36"/>
          <p:cNvSpPr/>
          <p:nvPr/>
        </p:nvSpPr>
        <p:spPr>
          <a:xfrm>
            <a:off x="491032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5</a:t>
            </a:r>
            <a:endParaRPr lang="en-US" sz="1400" dirty="0">
              <a:solidFill>
                <a:schemeClr val="bg1"/>
              </a:solidFill>
            </a:endParaRPr>
          </a:p>
        </p:txBody>
      </p:sp>
      <p:sp>
        <p:nvSpPr>
          <p:cNvPr id="39" name="Text 37"/>
          <p:cNvSpPr/>
          <p:nvPr/>
        </p:nvSpPr>
        <p:spPr>
          <a:xfrm>
            <a:off x="534924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Traverse</a:t>
            </a:r>
            <a:endParaRPr lang="en-US" sz="1200" dirty="0"/>
          </a:p>
        </p:txBody>
      </p:sp>
      <p:sp>
        <p:nvSpPr>
          <p:cNvPr id="40" name="Shape 38"/>
          <p:cNvSpPr/>
          <p:nvPr/>
        </p:nvSpPr>
        <p:spPr>
          <a:xfrm>
            <a:off x="4937760" y="2734056"/>
            <a:ext cx="3931920" cy="0"/>
          </a:xfrm>
          <a:prstGeom prst="line">
            <a:avLst/>
          </a:prstGeom>
          <a:noFill/>
          <a:ln w="7620">
            <a:solidFill>
              <a:srgbClr val="3D444D"/>
            </a:solidFill>
            <a:prstDash val="solid"/>
          </a:ln>
        </p:spPr>
        <p:txBody>
          <a:bodyPr/>
          <a:lstStyle/>
          <a:p>
            <a:endParaRPr lang="en-US"/>
          </a:p>
        </p:txBody>
      </p:sp>
      <p:sp>
        <p:nvSpPr>
          <p:cNvPr id="41" name="Text 39"/>
          <p:cNvSpPr/>
          <p:nvPr/>
        </p:nvSpPr>
        <p:spPr>
          <a:xfrm>
            <a:off x="493776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Walk from head, following</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each "next" pointer until</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you hit null. Visits every</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node exactly once. O(N).</a:t>
            </a:r>
            <a:endParaRPr lang="en-US" sz="1050" dirty="0"/>
          </a:p>
        </p:txBody>
      </p:sp>
      <p:sp>
        <p:nvSpPr>
          <p:cNvPr id="42" name="Shape 40"/>
          <p:cNvSpPr/>
          <p:nvPr/>
        </p:nvSpPr>
        <p:spPr>
          <a:xfrm>
            <a:off x="4800600" y="3602736"/>
            <a:ext cx="4206240" cy="10972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43" name="Shape 41"/>
          <p:cNvSpPr/>
          <p:nvPr/>
        </p:nvSpPr>
        <p:spPr>
          <a:xfrm>
            <a:off x="4800600" y="3602736"/>
            <a:ext cx="420624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44" name="Shape 42"/>
          <p:cNvSpPr/>
          <p:nvPr/>
        </p:nvSpPr>
        <p:spPr>
          <a:xfrm>
            <a:off x="4910328" y="3639312"/>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45" name="Text 43"/>
          <p:cNvSpPr/>
          <p:nvPr/>
        </p:nvSpPr>
        <p:spPr>
          <a:xfrm>
            <a:off x="491032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6</a:t>
            </a:r>
            <a:endParaRPr lang="en-US" sz="1400" dirty="0">
              <a:solidFill>
                <a:schemeClr val="bg1"/>
              </a:solidFill>
            </a:endParaRPr>
          </a:p>
        </p:txBody>
      </p:sp>
      <p:sp>
        <p:nvSpPr>
          <p:cNvPr id="46" name="Text 44"/>
          <p:cNvSpPr/>
          <p:nvPr/>
        </p:nvSpPr>
        <p:spPr>
          <a:xfrm>
            <a:off x="534924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Search</a:t>
            </a:r>
            <a:endParaRPr lang="en-US" sz="1200" dirty="0"/>
          </a:p>
        </p:txBody>
      </p:sp>
      <p:sp>
        <p:nvSpPr>
          <p:cNvPr id="47" name="Shape 45"/>
          <p:cNvSpPr/>
          <p:nvPr/>
        </p:nvSpPr>
        <p:spPr>
          <a:xfrm>
            <a:off x="4937760" y="3950208"/>
            <a:ext cx="3931920" cy="0"/>
          </a:xfrm>
          <a:prstGeom prst="line">
            <a:avLst/>
          </a:prstGeom>
          <a:noFill/>
          <a:ln w="7620">
            <a:solidFill>
              <a:srgbClr val="3D444D"/>
            </a:solidFill>
            <a:prstDash val="solid"/>
          </a:ln>
        </p:spPr>
        <p:txBody>
          <a:bodyPr/>
          <a:lstStyle/>
          <a:p>
            <a:endParaRPr lang="en-US"/>
          </a:p>
        </p:txBody>
      </p:sp>
      <p:sp>
        <p:nvSpPr>
          <p:cNvPr id="48" name="Text 46"/>
          <p:cNvSpPr/>
          <p:nvPr/>
        </p:nvSpPr>
        <p:spPr>
          <a:xfrm>
            <a:off x="493776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Traverse, comparing each</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node's data with the target.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Stop on match or null. No</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binary search possible. 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8E519A1-F28A-CD0E-64F7-A7210D78C55F}"/>
            </a:ext>
          </a:extLst>
        </p:cNvPr>
        <p:cNvGrpSpPr/>
        <p:nvPr/>
      </p:nvGrpSpPr>
      <p:grpSpPr>
        <a:xfrm>
          <a:off x="0" y="0"/>
          <a:ext cx="0" cy="0"/>
          <a:chOff x="0" y="0"/>
          <a:chExt cx="0" cy="0"/>
        </a:xfrm>
      </p:grpSpPr>
      <p:sp>
        <p:nvSpPr>
          <p:cNvPr id="20" name="Shape 1">
            <a:extLst>
              <a:ext uri="{FF2B5EF4-FFF2-40B4-BE49-F238E27FC236}">
                <a16:creationId xmlns:a16="http://schemas.microsoft.com/office/drawing/2014/main" id="{0099FBD7-A32B-D033-BD5D-D091E47C00D1}"/>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BF6F45A1-7818-3F7E-F60C-7F708FD03E4C}"/>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1EB54078-98E6-CAE0-0567-E08FA45D2C91}"/>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F8593CDB-74C1-3A80-4B08-6F33A7ADDE9F}"/>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Three ways to describe a linked list</a:t>
            </a:r>
            <a:endParaRPr lang="en-US" sz="2800" dirty="0"/>
          </a:p>
        </p:txBody>
      </p:sp>
      <p:sp>
        <p:nvSpPr>
          <p:cNvPr id="5" name="Text 3">
            <a:extLst>
              <a:ext uri="{FF2B5EF4-FFF2-40B4-BE49-F238E27FC236}">
                <a16:creationId xmlns:a16="http://schemas.microsoft.com/office/drawing/2014/main" id="{13CD6B20-AAA5-2647-47EF-A45F5864FAB1}"/>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The same 3-node list — described in plain English, in pseudocode, and as a node diagram</a:t>
            </a:r>
            <a:endParaRPr lang="en-US" sz="1300" dirty="0"/>
          </a:p>
        </p:txBody>
      </p:sp>
      <p:sp>
        <p:nvSpPr>
          <p:cNvPr id="6" name="Shape 4">
            <a:extLst>
              <a:ext uri="{FF2B5EF4-FFF2-40B4-BE49-F238E27FC236}">
                <a16:creationId xmlns:a16="http://schemas.microsoft.com/office/drawing/2014/main" id="{8517B760-DBCE-52BB-9F4D-84305AC19443}"/>
              </a:ext>
            </a:extLst>
          </p:cNvPr>
          <p:cNvSpPr/>
          <p:nvPr/>
        </p:nvSpPr>
        <p:spPr>
          <a:xfrm>
            <a:off x="274320" y="987552"/>
            <a:ext cx="8595360" cy="420624"/>
          </a:xfrm>
          <a:prstGeom prst="roundRect">
            <a:avLst>
              <a:gd name="adj" fmla="val 26087"/>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C66EFC53-6AE3-524A-AEAD-3F7782680B35}"/>
              </a:ext>
            </a:extLst>
          </p:cNvPr>
          <p:cNvSpPr/>
          <p:nvPr/>
        </p:nvSpPr>
        <p:spPr>
          <a:xfrm>
            <a:off x="502920" y="1024128"/>
            <a:ext cx="8138160" cy="329184"/>
          </a:xfrm>
          <a:prstGeom prst="rect">
            <a:avLst/>
          </a:prstGeom>
          <a:noFill/>
          <a:ln/>
        </p:spPr>
        <p:txBody>
          <a:bodyPr wrap="square" lIns="0" tIns="0" rIns="0" bIns="0" rtlCol="0" anchor="ctr"/>
          <a:lstStyle/>
          <a:p>
            <a:pPr marL="0" indent="0">
              <a:buNone/>
            </a:pPr>
            <a:r>
              <a:rPr lang="en-US" sz="1200" dirty="0">
                <a:solidFill>
                  <a:srgbClr val="EDEDED"/>
                </a:solidFill>
                <a:latin typeface="Calibri" pitchFamily="34" charset="0"/>
                <a:ea typeface="Calibri" pitchFamily="34" charset="-122"/>
                <a:cs typeface="Calibri" pitchFamily="34" charset="-120"/>
              </a:rPr>
              <a:t>Read all three side by side. </a:t>
            </a:r>
            <a:r>
              <a:rPr lang="en-US" sz="1200" b="1" dirty="0">
                <a:solidFill>
                  <a:srgbClr val="57E3D8"/>
                </a:solidFill>
                <a:latin typeface="Calibri" pitchFamily="34" charset="0"/>
                <a:ea typeface="Calibri" pitchFamily="34" charset="-122"/>
                <a:cs typeface="Calibri" pitchFamily="34" charset="-120"/>
              </a:rPr>
              <a:t>The example: a list of three song titles</a:t>
            </a:r>
            <a:r>
              <a:rPr lang="en-US" sz="1200" dirty="0">
                <a:solidFill>
                  <a:srgbClr val="EDEDED"/>
                </a:solidFill>
                <a:latin typeface="Calibri" pitchFamily="34" charset="0"/>
                <a:ea typeface="Calibri" pitchFamily="34" charset="-122"/>
                <a:cs typeface="Calibri" pitchFamily="34" charset="-120"/>
              </a:rPr>
              <a:t> — chained from head to null.</a:t>
            </a:r>
            <a:endParaRPr lang="en-US" sz="1200" dirty="0"/>
          </a:p>
        </p:txBody>
      </p:sp>
      <p:sp>
        <p:nvSpPr>
          <p:cNvPr id="8" name="Shape 6">
            <a:extLst>
              <a:ext uri="{FF2B5EF4-FFF2-40B4-BE49-F238E27FC236}">
                <a16:creationId xmlns:a16="http://schemas.microsoft.com/office/drawing/2014/main" id="{B10692DA-084B-2BAE-A611-4B7E95E96F9A}"/>
              </a:ext>
            </a:extLst>
          </p:cNvPr>
          <p:cNvSpPr/>
          <p:nvPr/>
        </p:nvSpPr>
        <p:spPr>
          <a:xfrm>
            <a:off x="292608" y="1499616"/>
            <a:ext cx="2779776" cy="340156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9" name="Text 7">
            <a:extLst>
              <a:ext uri="{FF2B5EF4-FFF2-40B4-BE49-F238E27FC236}">
                <a16:creationId xmlns:a16="http://schemas.microsoft.com/office/drawing/2014/main" id="{06B2DC9B-FB98-86D6-CF21-280BB1E66B52}"/>
              </a:ext>
            </a:extLst>
          </p:cNvPr>
          <p:cNvSpPr/>
          <p:nvPr/>
        </p:nvSpPr>
        <p:spPr>
          <a:xfrm>
            <a:off x="292608" y="1545336"/>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Plain English</a:t>
            </a:r>
            <a:endParaRPr lang="en-US" sz="2000" dirty="0"/>
          </a:p>
        </p:txBody>
      </p:sp>
      <p:sp>
        <p:nvSpPr>
          <p:cNvPr id="10" name="Text 8">
            <a:extLst>
              <a:ext uri="{FF2B5EF4-FFF2-40B4-BE49-F238E27FC236}">
                <a16:creationId xmlns:a16="http://schemas.microsoft.com/office/drawing/2014/main" id="{80F72355-3A6B-4A6C-5A0C-BF6E7C6EF484}"/>
              </a:ext>
            </a:extLst>
          </p:cNvPr>
          <p:cNvSpPr/>
          <p:nvPr/>
        </p:nvSpPr>
        <p:spPr>
          <a:xfrm>
            <a:off x="292608"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For humans · No symbols</a:t>
            </a:r>
            <a:endParaRPr lang="en-US" sz="1000" dirty="0"/>
          </a:p>
        </p:txBody>
      </p:sp>
      <p:sp>
        <p:nvSpPr>
          <p:cNvPr id="11" name="Text 9">
            <a:extLst>
              <a:ext uri="{FF2B5EF4-FFF2-40B4-BE49-F238E27FC236}">
                <a16:creationId xmlns:a16="http://schemas.microsoft.com/office/drawing/2014/main" id="{A6F7F312-11C7-6E2E-23D2-71C708D73857}"/>
              </a:ext>
            </a:extLst>
          </p:cNvPr>
          <p:cNvSpPr/>
          <p:nvPr/>
        </p:nvSpPr>
        <p:spPr>
          <a:xfrm>
            <a:off x="457200"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I have a list with a head pointer. The head points to a node holding "Song A". That node points to a second node holding "Song B". The second node points to a third holding "Song C". The third node points to null, marking the end. To find Song C I walk: head → A → B → C.</a:t>
            </a:r>
            <a:endParaRPr lang="en-US" sz="1100" dirty="0"/>
          </a:p>
        </p:txBody>
      </p:sp>
      <p:sp>
        <p:nvSpPr>
          <p:cNvPr id="12" name="Shape 10">
            <a:extLst>
              <a:ext uri="{FF2B5EF4-FFF2-40B4-BE49-F238E27FC236}">
                <a16:creationId xmlns:a16="http://schemas.microsoft.com/office/drawing/2014/main" id="{B319AB59-A1E4-7495-8B8A-D8FB6939DB40}"/>
              </a:ext>
            </a:extLst>
          </p:cNvPr>
          <p:cNvSpPr/>
          <p:nvPr/>
        </p:nvSpPr>
        <p:spPr>
          <a:xfrm>
            <a:off x="3200400" y="1499616"/>
            <a:ext cx="2779776" cy="340156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13" name="Text 11">
            <a:extLst>
              <a:ext uri="{FF2B5EF4-FFF2-40B4-BE49-F238E27FC236}">
                <a16:creationId xmlns:a16="http://schemas.microsoft.com/office/drawing/2014/main" id="{7B9E2542-0415-D53F-89A6-B2737BF2D2E8}"/>
              </a:ext>
            </a:extLst>
          </p:cNvPr>
          <p:cNvSpPr/>
          <p:nvPr/>
        </p:nvSpPr>
        <p:spPr>
          <a:xfrm>
            <a:off x="3200400" y="1545336"/>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Pseudocode</a:t>
            </a:r>
            <a:endParaRPr lang="en-US" sz="2000" dirty="0"/>
          </a:p>
        </p:txBody>
      </p:sp>
      <p:sp>
        <p:nvSpPr>
          <p:cNvPr id="14" name="Text 12">
            <a:extLst>
              <a:ext uri="{FF2B5EF4-FFF2-40B4-BE49-F238E27FC236}">
                <a16:creationId xmlns:a16="http://schemas.microsoft.com/office/drawing/2014/main" id="{D520DB52-41BD-3A9E-774F-0E90DB7F8CDE}"/>
              </a:ext>
            </a:extLst>
          </p:cNvPr>
          <p:cNvSpPr/>
          <p:nvPr/>
        </p:nvSpPr>
        <p:spPr>
          <a:xfrm>
            <a:off x="3200400"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Code-like · Language-free</a:t>
            </a:r>
            <a:endParaRPr lang="en-US" sz="1000" dirty="0"/>
          </a:p>
        </p:txBody>
      </p:sp>
      <p:sp>
        <p:nvSpPr>
          <p:cNvPr id="15" name="Text 13">
            <a:extLst>
              <a:ext uri="{FF2B5EF4-FFF2-40B4-BE49-F238E27FC236}">
                <a16:creationId xmlns:a16="http://schemas.microsoft.com/office/drawing/2014/main" id="{966A8129-1A41-594C-31D7-611070D24803}"/>
              </a:ext>
            </a:extLst>
          </p:cNvPr>
          <p:cNvSpPr/>
          <p:nvPr/>
        </p:nvSpPr>
        <p:spPr>
          <a:xfrm>
            <a:off x="3364992"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CLASS Node:   data, next   SET head ← new Node("Song A")   head.next ← new Node("Song B")   head.next.next ← new Node("Song C")   head.next.next.next ← null   // walk the list:   SET cur ← head   WHILE cur ≠ null:     PRINT cur.data     cur ← cur.next</a:t>
            </a:r>
            <a:endParaRPr lang="en-US" sz="1100" dirty="0"/>
          </a:p>
        </p:txBody>
      </p:sp>
      <p:sp>
        <p:nvSpPr>
          <p:cNvPr id="16" name="Shape 14">
            <a:extLst>
              <a:ext uri="{FF2B5EF4-FFF2-40B4-BE49-F238E27FC236}">
                <a16:creationId xmlns:a16="http://schemas.microsoft.com/office/drawing/2014/main" id="{7C1B5EBA-52EB-ABC9-D3EB-5CFA15DCA663}"/>
              </a:ext>
            </a:extLst>
          </p:cNvPr>
          <p:cNvSpPr/>
          <p:nvPr/>
        </p:nvSpPr>
        <p:spPr>
          <a:xfrm>
            <a:off x="6108192" y="1499616"/>
            <a:ext cx="2779776" cy="340156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17" name="Text 15">
            <a:extLst>
              <a:ext uri="{FF2B5EF4-FFF2-40B4-BE49-F238E27FC236}">
                <a16:creationId xmlns:a16="http://schemas.microsoft.com/office/drawing/2014/main" id="{BD01AF8F-536E-C495-E8A0-F7655F895F22}"/>
              </a:ext>
            </a:extLst>
          </p:cNvPr>
          <p:cNvSpPr/>
          <p:nvPr/>
        </p:nvSpPr>
        <p:spPr>
          <a:xfrm>
            <a:off x="6108192" y="1545336"/>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Node Diagram</a:t>
            </a:r>
            <a:endParaRPr lang="en-US" sz="2000" dirty="0"/>
          </a:p>
        </p:txBody>
      </p:sp>
      <p:sp>
        <p:nvSpPr>
          <p:cNvPr id="18" name="Text 16">
            <a:extLst>
              <a:ext uri="{FF2B5EF4-FFF2-40B4-BE49-F238E27FC236}">
                <a16:creationId xmlns:a16="http://schemas.microsoft.com/office/drawing/2014/main" id="{C4029E02-E763-B814-4C30-6D610F53CED9}"/>
              </a:ext>
            </a:extLst>
          </p:cNvPr>
          <p:cNvSpPr/>
          <p:nvPr/>
        </p:nvSpPr>
        <p:spPr>
          <a:xfrm>
            <a:off x="6108192"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Visual · Boxes and arrows</a:t>
            </a:r>
            <a:endParaRPr lang="en-US" sz="1000" dirty="0"/>
          </a:p>
        </p:txBody>
      </p:sp>
      <p:sp>
        <p:nvSpPr>
          <p:cNvPr id="19" name="Text 17">
            <a:extLst>
              <a:ext uri="{FF2B5EF4-FFF2-40B4-BE49-F238E27FC236}">
                <a16:creationId xmlns:a16="http://schemas.microsoft.com/office/drawing/2014/main" id="{68B76B5C-86FB-DDD2-2643-011F7DA0DB57}"/>
              </a:ext>
            </a:extLst>
          </p:cNvPr>
          <p:cNvSpPr/>
          <p:nvPr/>
        </p:nvSpPr>
        <p:spPr>
          <a:xfrm>
            <a:off x="6272784"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head → [ Song A | • ] → [ Song B | • ] → [ Song C | / ]   Each box is a node with two compartments: the data on the left and the "next" pointer on the right. The slash in the last node means null — the end of the chain.</a:t>
            </a:r>
            <a:endParaRPr lang="en-US" sz="1100" dirty="0"/>
          </a:p>
        </p:txBody>
      </p:sp>
    </p:spTree>
    <p:extLst>
      <p:ext uri="{BB962C8B-B14F-4D97-AF65-F5344CB8AC3E}">
        <p14:creationId xmlns:p14="http://schemas.microsoft.com/office/powerpoint/2010/main" val="3691256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THE BUILDING BLOCK</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The Node in Detail</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One small struct does all the work — a value, a pointer, and the rules for connecting them</a:t>
            </a:r>
            <a:endParaRPr lang="en-US" sz="1300" dirty="0"/>
          </a:p>
        </p:txBody>
      </p:sp>
      <p:sp>
        <p:nvSpPr>
          <p:cNvPr id="7" name="Shape 5"/>
          <p:cNvSpPr/>
          <p:nvPr/>
        </p:nvSpPr>
        <p:spPr>
          <a:xfrm>
            <a:off x="411480" y="1170432"/>
            <a:ext cx="3931920" cy="324612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39319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48640" y="1216152"/>
            <a:ext cx="36576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Pieces We Track</a:t>
            </a:r>
            <a:endParaRPr lang="en-US" sz="1100" dirty="0"/>
          </a:p>
        </p:txBody>
      </p:sp>
      <p:sp>
        <p:nvSpPr>
          <p:cNvPr id="10" name="Shape 8"/>
          <p:cNvSpPr/>
          <p:nvPr/>
        </p:nvSpPr>
        <p:spPr>
          <a:xfrm>
            <a:off x="548640" y="1600200"/>
            <a:ext cx="777240" cy="329184"/>
          </a:xfrm>
          <a:prstGeom prst="rect">
            <a:avLst/>
          </a:prstGeom>
          <a:solidFill>
            <a:srgbClr val="3FD9C4">
              <a:alpha val="30000"/>
            </a:srgbClr>
          </a:solidFill>
          <a:ln w="12700">
            <a:solidFill>
              <a:srgbClr val="3FD9C4"/>
            </a:solidFill>
            <a:prstDash val="solid"/>
          </a:ln>
        </p:spPr>
        <p:txBody>
          <a:bodyPr/>
          <a:lstStyle/>
          <a:p>
            <a:endParaRPr lang="en-US"/>
          </a:p>
        </p:txBody>
      </p:sp>
      <p:sp>
        <p:nvSpPr>
          <p:cNvPr id="11" name="Text 9"/>
          <p:cNvSpPr/>
          <p:nvPr/>
        </p:nvSpPr>
        <p:spPr>
          <a:xfrm>
            <a:off x="548640" y="1600200"/>
            <a:ext cx="777240" cy="329184"/>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Node</a:t>
            </a:r>
            <a:endParaRPr lang="en-US" sz="950" dirty="0"/>
          </a:p>
        </p:txBody>
      </p:sp>
      <p:sp>
        <p:nvSpPr>
          <p:cNvPr id="12" name="Text 10"/>
          <p:cNvSpPr/>
          <p:nvPr/>
        </p:nvSpPr>
        <p:spPr>
          <a:xfrm>
            <a:off x="1389888" y="1618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STRUCT</a:t>
            </a:r>
            <a:endParaRPr lang="en-US" sz="1100" dirty="0"/>
          </a:p>
        </p:txBody>
      </p:sp>
      <p:sp>
        <p:nvSpPr>
          <p:cNvPr id="13" name="Text 11"/>
          <p:cNvSpPr/>
          <p:nvPr/>
        </p:nvSpPr>
        <p:spPr>
          <a:xfrm>
            <a:off x="1389888" y="1801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One value plus one pointer</a:t>
            </a:r>
            <a:endParaRPr lang="en-US" sz="900" dirty="0"/>
          </a:p>
        </p:txBody>
      </p:sp>
      <p:sp>
        <p:nvSpPr>
          <p:cNvPr id="14" name="Shape 12"/>
          <p:cNvSpPr/>
          <p:nvPr/>
        </p:nvSpPr>
        <p:spPr>
          <a:xfrm>
            <a:off x="548640" y="2057400"/>
            <a:ext cx="777240" cy="329184"/>
          </a:xfrm>
          <a:prstGeom prst="rect">
            <a:avLst/>
          </a:prstGeom>
          <a:solidFill>
            <a:srgbClr val="58A6FF">
              <a:alpha val="30000"/>
            </a:srgbClr>
          </a:solidFill>
          <a:ln w="12700">
            <a:solidFill>
              <a:srgbClr val="58A6FF"/>
            </a:solidFill>
            <a:prstDash val="solid"/>
          </a:ln>
        </p:spPr>
        <p:txBody>
          <a:bodyPr/>
          <a:lstStyle/>
          <a:p>
            <a:endParaRPr lang="en-US"/>
          </a:p>
        </p:txBody>
      </p:sp>
      <p:sp>
        <p:nvSpPr>
          <p:cNvPr id="15" name="Text 13"/>
          <p:cNvSpPr/>
          <p:nvPr/>
        </p:nvSpPr>
        <p:spPr>
          <a:xfrm>
            <a:off x="548640" y="2057400"/>
            <a:ext cx="777240" cy="329184"/>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data</a:t>
            </a:r>
            <a:endParaRPr lang="en-US" sz="950" dirty="0"/>
          </a:p>
        </p:txBody>
      </p:sp>
      <p:sp>
        <p:nvSpPr>
          <p:cNvPr id="16" name="Text 14"/>
          <p:cNvSpPr/>
          <p:nvPr/>
        </p:nvSpPr>
        <p:spPr>
          <a:xfrm>
            <a:off x="1389888" y="20756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VALUE</a:t>
            </a:r>
            <a:endParaRPr lang="en-US" sz="1100" dirty="0"/>
          </a:p>
        </p:txBody>
      </p:sp>
      <p:sp>
        <p:nvSpPr>
          <p:cNvPr id="17" name="Text 15"/>
          <p:cNvSpPr/>
          <p:nvPr/>
        </p:nvSpPr>
        <p:spPr>
          <a:xfrm>
            <a:off x="1389888" y="22585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payload the node carries</a:t>
            </a:r>
            <a:endParaRPr lang="en-US" sz="900" dirty="0"/>
          </a:p>
        </p:txBody>
      </p:sp>
      <p:sp>
        <p:nvSpPr>
          <p:cNvPr id="18" name="Shape 16"/>
          <p:cNvSpPr/>
          <p:nvPr/>
        </p:nvSpPr>
        <p:spPr>
          <a:xfrm>
            <a:off x="548640" y="2514600"/>
            <a:ext cx="777240" cy="329184"/>
          </a:xfrm>
          <a:prstGeom prst="rect">
            <a:avLst/>
          </a:prstGeom>
          <a:solidFill>
            <a:srgbClr val="BC8CFF">
              <a:alpha val="30000"/>
            </a:srgbClr>
          </a:solidFill>
          <a:ln w="12700">
            <a:solidFill>
              <a:srgbClr val="BC8CFF"/>
            </a:solidFill>
            <a:prstDash val="solid"/>
          </a:ln>
        </p:spPr>
        <p:txBody>
          <a:bodyPr/>
          <a:lstStyle/>
          <a:p>
            <a:endParaRPr lang="en-US"/>
          </a:p>
        </p:txBody>
      </p:sp>
      <p:sp>
        <p:nvSpPr>
          <p:cNvPr id="19" name="Text 17"/>
          <p:cNvSpPr/>
          <p:nvPr/>
        </p:nvSpPr>
        <p:spPr>
          <a:xfrm>
            <a:off x="548640" y="2514600"/>
            <a:ext cx="777240" cy="329184"/>
          </a:xfrm>
          <a:prstGeom prst="rect">
            <a:avLst/>
          </a:prstGeom>
          <a:noFill/>
          <a:ln/>
        </p:spPr>
        <p:txBody>
          <a:bodyPr wrap="square" lIns="0" tIns="0" rIns="0" bIns="0" rtlCol="0" anchor="ctr"/>
          <a:lstStyle/>
          <a:p>
            <a:pPr marL="0" indent="0" algn="ctr">
              <a:buNone/>
            </a:pPr>
            <a:r>
              <a:rPr lang="en-US" sz="950" b="1" dirty="0">
                <a:solidFill>
                  <a:srgbClr val="BC8CFF"/>
                </a:solidFill>
                <a:latin typeface="Consolas" pitchFamily="34" charset="0"/>
                <a:ea typeface="Consolas" pitchFamily="34" charset="-122"/>
                <a:cs typeface="Consolas" pitchFamily="34" charset="-120"/>
              </a:rPr>
              <a:t>next</a:t>
            </a:r>
            <a:endParaRPr lang="en-US" sz="950" dirty="0"/>
          </a:p>
        </p:txBody>
      </p:sp>
      <p:sp>
        <p:nvSpPr>
          <p:cNvPr id="20" name="Text 18"/>
          <p:cNvSpPr/>
          <p:nvPr/>
        </p:nvSpPr>
        <p:spPr>
          <a:xfrm>
            <a:off x="1389888" y="25328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POINTER</a:t>
            </a:r>
            <a:endParaRPr lang="en-US" sz="1100" dirty="0"/>
          </a:p>
        </p:txBody>
      </p:sp>
      <p:sp>
        <p:nvSpPr>
          <p:cNvPr id="21" name="Text 19"/>
          <p:cNvSpPr/>
          <p:nvPr/>
        </p:nvSpPr>
        <p:spPr>
          <a:xfrm>
            <a:off x="1389888" y="27157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Reference to the next node</a:t>
            </a:r>
            <a:endParaRPr lang="en-US" sz="900" dirty="0"/>
          </a:p>
        </p:txBody>
      </p:sp>
      <p:sp>
        <p:nvSpPr>
          <p:cNvPr id="22" name="Shape 20"/>
          <p:cNvSpPr/>
          <p:nvPr/>
        </p:nvSpPr>
        <p:spPr>
          <a:xfrm>
            <a:off x="548640" y="2971800"/>
            <a:ext cx="777240" cy="329184"/>
          </a:xfrm>
          <a:prstGeom prst="rect">
            <a:avLst/>
          </a:prstGeom>
          <a:solidFill>
            <a:srgbClr val="FFA657">
              <a:alpha val="30000"/>
            </a:srgbClr>
          </a:solidFill>
          <a:ln w="12700">
            <a:solidFill>
              <a:srgbClr val="FFA657"/>
            </a:solidFill>
            <a:prstDash val="solid"/>
          </a:ln>
        </p:spPr>
        <p:txBody>
          <a:bodyPr/>
          <a:lstStyle/>
          <a:p>
            <a:endParaRPr lang="en-US"/>
          </a:p>
        </p:txBody>
      </p:sp>
      <p:sp>
        <p:nvSpPr>
          <p:cNvPr id="23" name="Text 21"/>
          <p:cNvSpPr/>
          <p:nvPr/>
        </p:nvSpPr>
        <p:spPr>
          <a:xfrm>
            <a:off x="548640" y="2971800"/>
            <a:ext cx="777240" cy="329184"/>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head</a:t>
            </a:r>
            <a:endParaRPr lang="en-US" sz="950" dirty="0"/>
          </a:p>
        </p:txBody>
      </p:sp>
      <p:sp>
        <p:nvSpPr>
          <p:cNvPr id="24" name="Text 22"/>
          <p:cNvSpPr/>
          <p:nvPr/>
        </p:nvSpPr>
        <p:spPr>
          <a:xfrm>
            <a:off x="1389888" y="29900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ENTRY POINT</a:t>
            </a:r>
            <a:endParaRPr lang="en-US" sz="1100" dirty="0"/>
          </a:p>
        </p:txBody>
      </p:sp>
      <p:sp>
        <p:nvSpPr>
          <p:cNvPr id="25" name="Text 23"/>
          <p:cNvSpPr/>
          <p:nvPr/>
        </p:nvSpPr>
        <p:spPr>
          <a:xfrm>
            <a:off x="1389888" y="31729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Pointer to the first node</a:t>
            </a:r>
            <a:endParaRPr lang="en-US" sz="900" dirty="0"/>
          </a:p>
        </p:txBody>
      </p:sp>
      <p:sp>
        <p:nvSpPr>
          <p:cNvPr id="26" name="Shape 24"/>
          <p:cNvSpPr/>
          <p:nvPr/>
        </p:nvSpPr>
        <p:spPr>
          <a:xfrm>
            <a:off x="548640" y="3429000"/>
            <a:ext cx="777240" cy="329184"/>
          </a:xfrm>
          <a:prstGeom prst="rect">
            <a:avLst/>
          </a:prstGeom>
          <a:solidFill>
            <a:srgbClr val="E3B341">
              <a:alpha val="30000"/>
            </a:srgbClr>
          </a:solidFill>
          <a:ln w="12700">
            <a:solidFill>
              <a:srgbClr val="E3B341"/>
            </a:solidFill>
            <a:prstDash val="solid"/>
          </a:ln>
        </p:spPr>
        <p:txBody>
          <a:bodyPr/>
          <a:lstStyle/>
          <a:p>
            <a:endParaRPr lang="en-US"/>
          </a:p>
        </p:txBody>
      </p:sp>
      <p:sp>
        <p:nvSpPr>
          <p:cNvPr id="27" name="Text 25"/>
          <p:cNvSpPr/>
          <p:nvPr/>
        </p:nvSpPr>
        <p:spPr>
          <a:xfrm>
            <a:off x="548640" y="3429000"/>
            <a:ext cx="777240" cy="329184"/>
          </a:xfrm>
          <a:prstGeom prst="rect">
            <a:avLst/>
          </a:prstGeom>
          <a:noFill/>
          <a:ln/>
        </p:spPr>
        <p:txBody>
          <a:bodyPr wrap="square" lIns="0" tIns="0" rIns="0" bIns="0" rtlCol="0" anchor="ctr"/>
          <a:lstStyle/>
          <a:p>
            <a:pPr marL="0" indent="0" algn="ctr">
              <a:buNone/>
            </a:pPr>
            <a:r>
              <a:rPr lang="en-US" sz="950" b="1" dirty="0">
                <a:solidFill>
                  <a:srgbClr val="E3B341"/>
                </a:solidFill>
                <a:latin typeface="Consolas" pitchFamily="34" charset="0"/>
                <a:ea typeface="Consolas" pitchFamily="34" charset="-122"/>
                <a:cs typeface="Consolas" pitchFamily="34" charset="-120"/>
              </a:rPr>
              <a:t>tail</a:t>
            </a:r>
            <a:endParaRPr lang="en-US" sz="950" dirty="0"/>
          </a:p>
        </p:txBody>
      </p:sp>
      <p:sp>
        <p:nvSpPr>
          <p:cNvPr id="28" name="Text 26"/>
          <p:cNvSpPr/>
          <p:nvPr/>
        </p:nvSpPr>
        <p:spPr>
          <a:xfrm>
            <a:off x="1389888" y="34472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END POINTER</a:t>
            </a:r>
            <a:endParaRPr lang="en-US" sz="1100" dirty="0"/>
          </a:p>
        </p:txBody>
      </p:sp>
      <p:sp>
        <p:nvSpPr>
          <p:cNvPr id="29" name="Text 27"/>
          <p:cNvSpPr/>
          <p:nvPr/>
        </p:nvSpPr>
        <p:spPr>
          <a:xfrm>
            <a:off x="1389888" y="36301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Pointer to the last node</a:t>
            </a:r>
            <a:endParaRPr lang="en-US" sz="900" dirty="0"/>
          </a:p>
        </p:txBody>
      </p:sp>
      <p:sp>
        <p:nvSpPr>
          <p:cNvPr id="30" name="Shape 28"/>
          <p:cNvSpPr/>
          <p:nvPr/>
        </p:nvSpPr>
        <p:spPr>
          <a:xfrm>
            <a:off x="548640" y="3886200"/>
            <a:ext cx="777240" cy="329184"/>
          </a:xfrm>
          <a:prstGeom prst="rect">
            <a:avLst/>
          </a:prstGeom>
          <a:solidFill>
            <a:srgbClr val="3FB950">
              <a:alpha val="30000"/>
            </a:srgbClr>
          </a:solidFill>
          <a:ln w="12700">
            <a:solidFill>
              <a:srgbClr val="3FB950"/>
            </a:solidFill>
            <a:prstDash val="solid"/>
          </a:ln>
        </p:spPr>
        <p:txBody>
          <a:bodyPr/>
          <a:lstStyle/>
          <a:p>
            <a:endParaRPr lang="en-US"/>
          </a:p>
        </p:txBody>
      </p:sp>
      <p:sp>
        <p:nvSpPr>
          <p:cNvPr id="31" name="Text 29"/>
          <p:cNvSpPr/>
          <p:nvPr/>
        </p:nvSpPr>
        <p:spPr>
          <a:xfrm>
            <a:off x="548640" y="3886200"/>
            <a:ext cx="777240" cy="329184"/>
          </a:xfrm>
          <a:prstGeom prst="rect">
            <a:avLst/>
          </a:prstGeom>
          <a:noFill/>
          <a:ln/>
        </p:spPr>
        <p:txBody>
          <a:bodyPr wrap="square" lIns="0" tIns="0" rIns="0" bIns="0" rtlCol="0" anchor="ctr"/>
          <a:lstStyle/>
          <a:p>
            <a:pPr marL="0" indent="0" algn="ctr">
              <a:buNone/>
            </a:pPr>
            <a:r>
              <a:rPr lang="en-US" sz="950" b="1" dirty="0">
                <a:solidFill>
                  <a:srgbClr val="3FB950"/>
                </a:solidFill>
                <a:latin typeface="Consolas" pitchFamily="34" charset="0"/>
                <a:ea typeface="Consolas" pitchFamily="34" charset="-122"/>
                <a:cs typeface="Consolas" pitchFamily="34" charset="-120"/>
              </a:rPr>
              <a:t>null</a:t>
            </a:r>
            <a:endParaRPr lang="en-US" sz="950" dirty="0"/>
          </a:p>
        </p:txBody>
      </p:sp>
      <p:sp>
        <p:nvSpPr>
          <p:cNvPr id="32" name="Text 30"/>
          <p:cNvSpPr/>
          <p:nvPr/>
        </p:nvSpPr>
        <p:spPr>
          <a:xfrm>
            <a:off x="1389888" y="3904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SENTINEL</a:t>
            </a:r>
            <a:endParaRPr lang="en-US" sz="1100" dirty="0"/>
          </a:p>
        </p:txBody>
      </p:sp>
      <p:sp>
        <p:nvSpPr>
          <p:cNvPr id="33" name="Text 31"/>
          <p:cNvSpPr/>
          <p:nvPr/>
        </p:nvSpPr>
        <p:spPr>
          <a:xfrm>
            <a:off x="1389888" y="4087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Marker for "end of list"</a:t>
            </a:r>
            <a:endParaRPr lang="en-US" sz="900" dirty="0"/>
          </a:p>
        </p:txBody>
      </p:sp>
      <p:sp>
        <p:nvSpPr>
          <p:cNvPr id="34" name="Shape 32"/>
          <p:cNvSpPr/>
          <p:nvPr/>
        </p:nvSpPr>
        <p:spPr>
          <a:xfrm>
            <a:off x="4480560" y="1170432"/>
            <a:ext cx="4251960" cy="1536192"/>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4480560" y="1170432"/>
            <a:ext cx="425196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36" name="Text 34"/>
          <p:cNvSpPr/>
          <p:nvPr/>
        </p:nvSpPr>
        <p:spPr>
          <a:xfrm>
            <a:off x="4617720" y="1216152"/>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Pseudocode for Insert at Head</a:t>
            </a:r>
            <a:endParaRPr lang="en-US" sz="1100" dirty="0"/>
          </a:p>
        </p:txBody>
      </p:sp>
      <p:sp>
        <p:nvSpPr>
          <p:cNvPr id="37" name="Text 35"/>
          <p:cNvSpPr/>
          <p:nvPr/>
        </p:nvSpPr>
        <p:spPr>
          <a:xfrm>
            <a:off x="4617720" y="1572768"/>
            <a:ext cx="3977640" cy="237744"/>
          </a:xfrm>
          <a:prstGeom prst="rect">
            <a:avLst/>
          </a:prstGeom>
          <a:noFill/>
          <a:ln/>
        </p:spPr>
        <p:txBody>
          <a:bodyPr wrap="square" lIns="0" tIns="0" rIns="0" bIns="0" rtlCol="0" anchor="ctr"/>
          <a:lstStyle/>
          <a:p>
            <a:pPr marL="0" indent="0">
              <a:buNone/>
            </a:pPr>
            <a:r>
              <a:rPr lang="en-US" sz="1050" dirty="0">
                <a:solidFill>
                  <a:srgbClr val="F0F6FC"/>
                </a:solidFill>
                <a:latin typeface="Consolas" pitchFamily="34" charset="0"/>
                <a:ea typeface="Consolas" pitchFamily="34" charset="-122"/>
                <a:cs typeface="Consolas" pitchFamily="34" charset="-120"/>
              </a:rPr>
              <a:t>insertHead: newNode.next ← head; head ← newNode</a:t>
            </a:r>
            <a:endParaRPr lang="en-US" sz="1050" dirty="0"/>
          </a:p>
        </p:txBody>
      </p:sp>
      <p:sp>
        <p:nvSpPr>
          <p:cNvPr id="38" name="Text 36"/>
          <p:cNvSpPr/>
          <p:nvPr/>
        </p:nvSpPr>
        <p:spPr>
          <a:xfrm>
            <a:off x="4617720" y="1819656"/>
            <a:ext cx="3977640" cy="219456"/>
          </a:xfrm>
          <a:prstGeom prst="rect">
            <a:avLst/>
          </a:prstGeom>
          <a:noFill/>
          <a:ln/>
        </p:spPr>
        <p:txBody>
          <a:bodyPr wrap="square" lIns="0" tIns="0" rIns="0" bIns="0" rtlCol="0" anchor="ctr"/>
          <a:lstStyle/>
          <a:p>
            <a:pPr marL="0" indent="0">
              <a:buNone/>
            </a:pPr>
            <a:r>
              <a:rPr lang="en-US" sz="1050" dirty="0">
                <a:solidFill>
                  <a:srgbClr val="8B949E"/>
                </a:solidFill>
                <a:latin typeface="Consolas" pitchFamily="34" charset="0"/>
                <a:ea typeface="Consolas" pitchFamily="34" charset="-122"/>
                <a:cs typeface="Consolas" pitchFamily="34" charset="-120"/>
              </a:rPr>
              <a:t>Three lines, three steps. No matter how long the list is, this always runs in O(1).</a:t>
            </a:r>
            <a:endParaRPr lang="en-US" sz="1050" dirty="0"/>
          </a:p>
        </p:txBody>
      </p:sp>
      <p:sp>
        <p:nvSpPr>
          <p:cNvPr id="39" name="Shape 37"/>
          <p:cNvSpPr/>
          <p:nvPr/>
        </p:nvSpPr>
        <p:spPr>
          <a:xfrm>
            <a:off x="4617720"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0" name="Text 38"/>
          <p:cNvSpPr/>
          <p:nvPr/>
        </p:nvSpPr>
        <p:spPr>
          <a:xfrm>
            <a:off x="4617720"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head</a:t>
            </a:r>
            <a:endParaRPr lang="en-US" sz="950" dirty="0"/>
          </a:p>
        </p:txBody>
      </p:sp>
      <p:sp>
        <p:nvSpPr>
          <p:cNvPr id="41" name="Shape 39"/>
          <p:cNvSpPr/>
          <p:nvPr/>
        </p:nvSpPr>
        <p:spPr>
          <a:xfrm>
            <a:off x="5148072"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2" name="Text 40"/>
          <p:cNvSpPr/>
          <p:nvPr/>
        </p:nvSpPr>
        <p:spPr>
          <a:xfrm>
            <a:off x="5148072"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a:t>
            </a:r>
            <a:endParaRPr lang="en-US" sz="950" dirty="0"/>
          </a:p>
        </p:txBody>
      </p:sp>
      <p:sp>
        <p:nvSpPr>
          <p:cNvPr id="43" name="Shape 41"/>
          <p:cNvSpPr/>
          <p:nvPr/>
        </p:nvSpPr>
        <p:spPr>
          <a:xfrm>
            <a:off x="567842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4" name="Text 42"/>
          <p:cNvSpPr/>
          <p:nvPr/>
        </p:nvSpPr>
        <p:spPr>
          <a:xfrm>
            <a:off x="567842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A</a:t>
            </a:r>
            <a:endParaRPr lang="en-US" sz="950" dirty="0"/>
          </a:p>
        </p:txBody>
      </p:sp>
      <p:sp>
        <p:nvSpPr>
          <p:cNvPr id="45" name="Shape 43"/>
          <p:cNvSpPr/>
          <p:nvPr/>
        </p:nvSpPr>
        <p:spPr>
          <a:xfrm>
            <a:off x="6208776"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6" name="Text 44"/>
          <p:cNvSpPr/>
          <p:nvPr/>
        </p:nvSpPr>
        <p:spPr>
          <a:xfrm>
            <a:off x="6208776"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a:t>
            </a:r>
            <a:endParaRPr lang="en-US" sz="950" dirty="0"/>
          </a:p>
        </p:txBody>
      </p:sp>
      <p:sp>
        <p:nvSpPr>
          <p:cNvPr id="47" name="Shape 45"/>
          <p:cNvSpPr/>
          <p:nvPr/>
        </p:nvSpPr>
        <p:spPr>
          <a:xfrm>
            <a:off x="6739128"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8" name="Text 46"/>
          <p:cNvSpPr/>
          <p:nvPr/>
        </p:nvSpPr>
        <p:spPr>
          <a:xfrm>
            <a:off x="6739128"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B</a:t>
            </a:r>
            <a:endParaRPr lang="en-US" sz="950" dirty="0"/>
          </a:p>
        </p:txBody>
      </p:sp>
      <p:sp>
        <p:nvSpPr>
          <p:cNvPr id="49" name="Shape 47"/>
          <p:cNvSpPr/>
          <p:nvPr/>
        </p:nvSpPr>
        <p:spPr>
          <a:xfrm>
            <a:off x="7269480"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0" name="Text 48"/>
          <p:cNvSpPr/>
          <p:nvPr/>
        </p:nvSpPr>
        <p:spPr>
          <a:xfrm>
            <a:off x="7269480"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a:t>
            </a:r>
            <a:endParaRPr lang="en-US" sz="950" dirty="0"/>
          </a:p>
        </p:txBody>
      </p:sp>
      <p:sp>
        <p:nvSpPr>
          <p:cNvPr id="51" name="Shape 49"/>
          <p:cNvSpPr/>
          <p:nvPr/>
        </p:nvSpPr>
        <p:spPr>
          <a:xfrm>
            <a:off x="7799832"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2" name="Text 50"/>
          <p:cNvSpPr/>
          <p:nvPr/>
        </p:nvSpPr>
        <p:spPr>
          <a:xfrm>
            <a:off x="7799832"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C</a:t>
            </a:r>
            <a:endParaRPr lang="en-US" sz="950" dirty="0"/>
          </a:p>
        </p:txBody>
      </p:sp>
      <p:sp>
        <p:nvSpPr>
          <p:cNvPr id="53" name="Shape 51"/>
          <p:cNvSpPr/>
          <p:nvPr/>
        </p:nvSpPr>
        <p:spPr>
          <a:xfrm>
            <a:off x="833018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4" name="Text 52"/>
          <p:cNvSpPr/>
          <p:nvPr/>
        </p:nvSpPr>
        <p:spPr>
          <a:xfrm>
            <a:off x="833018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null</a:t>
            </a:r>
            <a:endParaRPr lang="en-US" sz="950" dirty="0"/>
          </a:p>
        </p:txBody>
      </p:sp>
      <p:sp>
        <p:nvSpPr>
          <p:cNvPr id="55" name="Text 53"/>
          <p:cNvSpPr/>
          <p:nvPr/>
        </p:nvSpPr>
        <p:spPr>
          <a:xfrm>
            <a:off x="4617720" y="2450592"/>
            <a:ext cx="3977640"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start    arrow    node 1    arrow    node 2    arrow    node 3    end</a:t>
            </a:r>
            <a:endParaRPr lang="en-US" sz="850" dirty="0"/>
          </a:p>
        </p:txBody>
      </p:sp>
      <p:sp>
        <p:nvSpPr>
          <p:cNvPr id="56" name="Shape 54"/>
          <p:cNvSpPr/>
          <p:nvPr/>
        </p:nvSpPr>
        <p:spPr>
          <a:xfrm>
            <a:off x="4480560" y="2834640"/>
            <a:ext cx="4251960" cy="1581912"/>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57" name="Shape 55"/>
          <p:cNvSpPr/>
          <p:nvPr/>
        </p:nvSpPr>
        <p:spPr>
          <a:xfrm>
            <a:off x="4480560" y="2834640"/>
            <a:ext cx="425196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58" name="Text 56"/>
          <p:cNvSpPr/>
          <p:nvPr/>
        </p:nvSpPr>
        <p:spPr>
          <a:xfrm>
            <a:off x="4617720" y="2880360"/>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Why this matters</a:t>
            </a:r>
            <a:endParaRPr lang="en-US" sz="1100" dirty="0"/>
          </a:p>
        </p:txBody>
      </p:sp>
      <p:sp>
        <p:nvSpPr>
          <p:cNvPr id="75" name="Text 73"/>
          <p:cNvSpPr/>
          <p:nvPr/>
        </p:nvSpPr>
        <p:spPr>
          <a:xfrm>
            <a:off x="4617720" y="3977640"/>
            <a:ext cx="3977640" cy="32918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Insert at head is the headline operation of a linked list. Where an array would shift every element down by one position to make room, the linked list just rewires two pointers — and is done.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VISUAL TRACE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Building a Linked List Step by Step</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Watching a list grow as we insert at the head — and shrink when we delete a middle node</a:t>
            </a:r>
            <a:endParaRPr lang="en-US" sz="1300" dirty="0"/>
          </a:p>
        </p:txBody>
      </p:sp>
      <p:sp>
        <p:nvSpPr>
          <p:cNvPr id="7" name="Shape 5"/>
          <p:cNvSpPr/>
          <p:nvPr/>
        </p:nvSpPr>
        <p:spPr>
          <a:xfrm>
            <a:off x="411480" y="1170432"/>
            <a:ext cx="2048256" cy="37490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02920"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Start — empty list, head points to null</a:t>
            </a:r>
            <a:endParaRPr lang="en-US" sz="1000" dirty="0"/>
          </a:p>
        </p:txBody>
      </p:sp>
      <p:sp>
        <p:nvSpPr>
          <p:cNvPr id="10" name="Shape 8"/>
          <p:cNvSpPr/>
          <p:nvPr/>
        </p:nvSpPr>
        <p:spPr>
          <a:xfrm>
            <a:off x="502920" y="157276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1" name="Text 9"/>
          <p:cNvSpPr/>
          <p:nvPr/>
        </p:nvSpPr>
        <p:spPr>
          <a:xfrm>
            <a:off x="502920" y="157276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head</a:t>
            </a:r>
            <a:endParaRPr lang="en-US" sz="900" dirty="0"/>
          </a:p>
        </p:txBody>
      </p:sp>
      <p:sp>
        <p:nvSpPr>
          <p:cNvPr id="12" name="Text 10"/>
          <p:cNvSpPr/>
          <p:nvPr/>
        </p:nvSpPr>
        <p:spPr>
          <a:xfrm>
            <a:off x="1014984"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entry point</a:t>
            </a:r>
            <a:endParaRPr lang="en-US" sz="950" dirty="0"/>
          </a:p>
        </p:txBody>
      </p:sp>
      <p:sp>
        <p:nvSpPr>
          <p:cNvPr id="13" name="Shape 11"/>
          <p:cNvSpPr/>
          <p:nvPr/>
        </p:nvSpPr>
        <p:spPr>
          <a:xfrm>
            <a:off x="502920" y="196596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4" name="Text 12"/>
          <p:cNvSpPr/>
          <p:nvPr/>
        </p:nvSpPr>
        <p:spPr>
          <a:xfrm>
            <a:off x="502920" y="196596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a:t>
            </a:r>
            <a:endParaRPr lang="en-US" sz="900" dirty="0"/>
          </a:p>
        </p:txBody>
      </p:sp>
      <p:sp>
        <p:nvSpPr>
          <p:cNvPr id="15" name="Text 13"/>
          <p:cNvSpPr/>
          <p:nvPr/>
        </p:nvSpPr>
        <p:spPr>
          <a:xfrm>
            <a:off x="1014984"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points to</a:t>
            </a:r>
            <a:endParaRPr lang="en-US" sz="950" dirty="0"/>
          </a:p>
        </p:txBody>
      </p:sp>
      <p:sp>
        <p:nvSpPr>
          <p:cNvPr id="16" name="Shape 14"/>
          <p:cNvSpPr/>
          <p:nvPr/>
        </p:nvSpPr>
        <p:spPr>
          <a:xfrm>
            <a:off x="502920" y="235915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7" name="Text 15"/>
          <p:cNvSpPr/>
          <p:nvPr/>
        </p:nvSpPr>
        <p:spPr>
          <a:xfrm>
            <a:off x="502920" y="235915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null</a:t>
            </a:r>
            <a:endParaRPr lang="en-US" sz="900" dirty="0"/>
          </a:p>
        </p:txBody>
      </p:sp>
      <p:sp>
        <p:nvSpPr>
          <p:cNvPr id="18" name="Text 16"/>
          <p:cNvSpPr/>
          <p:nvPr/>
        </p:nvSpPr>
        <p:spPr>
          <a:xfrm>
            <a:off x="1014984"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nothing yet</a:t>
            </a:r>
            <a:endParaRPr lang="en-US" sz="950" dirty="0"/>
          </a:p>
        </p:txBody>
      </p:sp>
      <p:sp>
        <p:nvSpPr>
          <p:cNvPr id="19" name="Shape 17"/>
          <p:cNvSpPr/>
          <p:nvPr/>
        </p:nvSpPr>
        <p:spPr>
          <a:xfrm>
            <a:off x="502920" y="2752344"/>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0" name="Text 18"/>
          <p:cNvSpPr/>
          <p:nvPr/>
        </p:nvSpPr>
        <p:spPr>
          <a:xfrm>
            <a:off x="502920" y="2752344"/>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a:t>
            </a:r>
            <a:endParaRPr lang="en-US" sz="900" dirty="0"/>
          </a:p>
        </p:txBody>
      </p:sp>
      <p:sp>
        <p:nvSpPr>
          <p:cNvPr id="21" name="Text 19"/>
          <p:cNvSpPr/>
          <p:nvPr/>
        </p:nvSpPr>
        <p:spPr>
          <a:xfrm>
            <a:off x="1014984"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t>
            </a:r>
            <a:endParaRPr lang="en-US" sz="950" dirty="0"/>
          </a:p>
        </p:txBody>
      </p:sp>
      <p:sp>
        <p:nvSpPr>
          <p:cNvPr id="22" name="Shape 20"/>
          <p:cNvSpPr/>
          <p:nvPr/>
        </p:nvSpPr>
        <p:spPr>
          <a:xfrm>
            <a:off x="502920" y="3145536"/>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3" name="Text 21"/>
          <p:cNvSpPr/>
          <p:nvPr/>
        </p:nvSpPr>
        <p:spPr>
          <a:xfrm>
            <a:off x="502920" y="3145536"/>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a:t>
            </a:r>
            <a:endParaRPr lang="en-US" sz="900" dirty="0"/>
          </a:p>
        </p:txBody>
      </p:sp>
      <p:sp>
        <p:nvSpPr>
          <p:cNvPr id="24" name="Text 22"/>
          <p:cNvSpPr/>
          <p:nvPr/>
        </p:nvSpPr>
        <p:spPr>
          <a:xfrm>
            <a:off x="1014984"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t>
            </a:r>
            <a:endParaRPr lang="en-US" sz="950" dirty="0"/>
          </a:p>
        </p:txBody>
      </p:sp>
      <p:sp>
        <p:nvSpPr>
          <p:cNvPr id="25" name="Shape 23"/>
          <p:cNvSpPr/>
          <p:nvPr/>
        </p:nvSpPr>
        <p:spPr>
          <a:xfrm>
            <a:off x="502920" y="353872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6" name="Text 24"/>
          <p:cNvSpPr/>
          <p:nvPr/>
        </p:nvSpPr>
        <p:spPr>
          <a:xfrm>
            <a:off x="502920" y="353872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a:t>
            </a:r>
            <a:endParaRPr lang="en-US" sz="900" dirty="0"/>
          </a:p>
        </p:txBody>
      </p:sp>
      <p:sp>
        <p:nvSpPr>
          <p:cNvPr id="27" name="Text 25"/>
          <p:cNvSpPr/>
          <p:nvPr/>
        </p:nvSpPr>
        <p:spPr>
          <a:xfrm>
            <a:off x="1014984"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t>
            </a:r>
            <a:endParaRPr lang="en-US" sz="950" dirty="0"/>
          </a:p>
        </p:txBody>
      </p:sp>
      <p:sp>
        <p:nvSpPr>
          <p:cNvPr id="28" name="Shape 26"/>
          <p:cNvSpPr/>
          <p:nvPr/>
        </p:nvSpPr>
        <p:spPr>
          <a:xfrm>
            <a:off x="502920" y="393192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9" name="Text 27"/>
          <p:cNvSpPr/>
          <p:nvPr/>
        </p:nvSpPr>
        <p:spPr>
          <a:xfrm>
            <a:off x="502920" y="393192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length</a:t>
            </a:r>
            <a:endParaRPr lang="en-US" sz="900" dirty="0"/>
          </a:p>
        </p:txBody>
      </p:sp>
      <p:sp>
        <p:nvSpPr>
          <p:cNvPr id="30" name="Text 28"/>
          <p:cNvSpPr/>
          <p:nvPr/>
        </p:nvSpPr>
        <p:spPr>
          <a:xfrm>
            <a:off x="1014984"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0</a:t>
            </a:r>
            <a:endParaRPr lang="en-US" sz="950" dirty="0"/>
          </a:p>
        </p:txBody>
      </p:sp>
      <p:sp>
        <p:nvSpPr>
          <p:cNvPr id="31" name="Shape 29"/>
          <p:cNvSpPr/>
          <p:nvPr/>
        </p:nvSpPr>
        <p:spPr>
          <a:xfrm>
            <a:off x="502920" y="432511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2" name="Text 30"/>
          <p:cNvSpPr/>
          <p:nvPr/>
        </p:nvSpPr>
        <p:spPr>
          <a:xfrm>
            <a:off x="502920" y="432511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 </a:t>
            </a:r>
            <a:endParaRPr lang="en-US" sz="900" dirty="0"/>
          </a:p>
        </p:txBody>
      </p:sp>
      <p:sp>
        <p:nvSpPr>
          <p:cNvPr id="33" name="Text 31"/>
          <p:cNvSpPr/>
          <p:nvPr/>
        </p:nvSpPr>
        <p:spPr>
          <a:xfrm>
            <a:off x="1014984"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 </a:t>
            </a:r>
            <a:endParaRPr lang="en-US" sz="950" dirty="0"/>
          </a:p>
        </p:txBody>
      </p:sp>
      <p:sp>
        <p:nvSpPr>
          <p:cNvPr id="34" name="Shape 32"/>
          <p:cNvSpPr/>
          <p:nvPr/>
        </p:nvSpPr>
        <p:spPr>
          <a:xfrm>
            <a:off x="2587752" y="1170432"/>
            <a:ext cx="2048256" cy="37490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2587752"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36" name="Text 34"/>
          <p:cNvSpPr/>
          <p:nvPr/>
        </p:nvSpPr>
        <p:spPr>
          <a:xfrm>
            <a:off x="2679192"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  After insertHead("A") — one node, head → A → null</a:t>
            </a:r>
            <a:endParaRPr lang="en-US" sz="1000" dirty="0"/>
          </a:p>
        </p:txBody>
      </p:sp>
      <p:sp>
        <p:nvSpPr>
          <p:cNvPr id="37" name="Shape 35"/>
          <p:cNvSpPr/>
          <p:nvPr/>
        </p:nvSpPr>
        <p:spPr>
          <a:xfrm>
            <a:off x="2679192" y="157276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38" name="Text 36"/>
          <p:cNvSpPr/>
          <p:nvPr/>
        </p:nvSpPr>
        <p:spPr>
          <a:xfrm>
            <a:off x="2679192" y="157276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head</a:t>
            </a:r>
            <a:endParaRPr lang="en-US" sz="900" dirty="0"/>
          </a:p>
        </p:txBody>
      </p:sp>
      <p:sp>
        <p:nvSpPr>
          <p:cNvPr id="39" name="Text 37"/>
          <p:cNvSpPr/>
          <p:nvPr/>
        </p:nvSpPr>
        <p:spPr>
          <a:xfrm>
            <a:off x="3191256"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entry point</a:t>
            </a:r>
            <a:endParaRPr lang="en-US" sz="950" dirty="0"/>
          </a:p>
        </p:txBody>
      </p:sp>
      <p:sp>
        <p:nvSpPr>
          <p:cNvPr id="40" name="Shape 38"/>
          <p:cNvSpPr/>
          <p:nvPr/>
        </p:nvSpPr>
        <p:spPr>
          <a:xfrm>
            <a:off x="2679192" y="196596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1" name="Text 39"/>
          <p:cNvSpPr/>
          <p:nvPr/>
        </p:nvSpPr>
        <p:spPr>
          <a:xfrm>
            <a:off x="2679192" y="196596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a:t>
            </a:r>
            <a:endParaRPr lang="en-US" sz="900" dirty="0"/>
          </a:p>
        </p:txBody>
      </p:sp>
      <p:sp>
        <p:nvSpPr>
          <p:cNvPr id="42" name="Text 40"/>
          <p:cNvSpPr/>
          <p:nvPr/>
        </p:nvSpPr>
        <p:spPr>
          <a:xfrm>
            <a:off x="3191256"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points to</a:t>
            </a:r>
            <a:endParaRPr lang="en-US" sz="950" dirty="0"/>
          </a:p>
        </p:txBody>
      </p:sp>
      <p:sp>
        <p:nvSpPr>
          <p:cNvPr id="43" name="Shape 41"/>
          <p:cNvSpPr/>
          <p:nvPr/>
        </p:nvSpPr>
        <p:spPr>
          <a:xfrm>
            <a:off x="2679192" y="235915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4" name="Text 42"/>
          <p:cNvSpPr/>
          <p:nvPr/>
        </p:nvSpPr>
        <p:spPr>
          <a:xfrm>
            <a:off x="2679192" y="235915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A</a:t>
            </a:r>
            <a:endParaRPr lang="en-US" sz="900" dirty="0"/>
          </a:p>
        </p:txBody>
      </p:sp>
      <p:sp>
        <p:nvSpPr>
          <p:cNvPr id="45" name="Text 43"/>
          <p:cNvSpPr/>
          <p:nvPr/>
        </p:nvSpPr>
        <p:spPr>
          <a:xfrm>
            <a:off x="3191256"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node 1</a:t>
            </a:r>
            <a:endParaRPr lang="en-US" sz="950" dirty="0"/>
          </a:p>
        </p:txBody>
      </p:sp>
      <p:sp>
        <p:nvSpPr>
          <p:cNvPr id="46" name="Shape 44"/>
          <p:cNvSpPr/>
          <p:nvPr/>
        </p:nvSpPr>
        <p:spPr>
          <a:xfrm>
            <a:off x="2679192" y="2752344"/>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7" name="Text 45"/>
          <p:cNvSpPr/>
          <p:nvPr/>
        </p:nvSpPr>
        <p:spPr>
          <a:xfrm>
            <a:off x="2679192" y="2752344"/>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a:t>
            </a:r>
            <a:endParaRPr lang="en-US" sz="900" dirty="0"/>
          </a:p>
        </p:txBody>
      </p:sp>
      <p:sp>
        <p:nvSpPr>
          <p:cNvPr id="48" name="Text 46"/>
          <p:cNvSpPr/>
          <p:nvPr/>
        </p:nvSpPr>
        <p:spPr>
          <a:xfrm>
            <a:off x="3191256"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a:t>
            </a:r>
            <a:endParaRPr lang="en-US" sz="950" dirty="0"/>
          </a:p>
        </p:txBody>
      </p:sp>
      <p:sp>
        <p:nvSpPr>
          <p:cNvPr id="49" name="Shape 47"/>
          <p:cNvSpPr/>
          <p:nvPr/>
        </p:nvSpPr>
        <p:spPr>
          <a:xfrm>
            <a:off x="2679192" y="3145536"/>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0" name="Text 48"/>
          <p:cNvSpPr/>
          <p:nvPr/>
        </p:nvSpPr>
        <p:spPr>
          <a:xfrm>
            <a:off x="2679192" y="3145536"/>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null</a:t>
            </a:r>
            <a:endParaRPr lang="en-US" sz="900" dirty="0"/>
          </a:p>
        </p:txBody>
      </p:sp>
      <p:sp>
        <p:nvSpPr>
          <p:cNvPr id="51" name="Text 49"/>
          <p:cNvSpPr/>
          <p:nvPr/>
        </p:nvSpPr>
        <p:spPr>
          <a:xfrm>
            <a:off x="3191256"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end</a:t>
            </a:r>
            <a:endParaRPr lang="en-US" sz="950" dirty="0"/>
          </a:p>
        </p:txBody>
      </p:sp>
      <p:sp>
        <p:nvSpPr>
          <p:cNvPr id="52" name="Shape 50"/>
          <p:cNvSpPr/>
          <p:nvPr/>
        </p:nvSpPr>
        <p:spPr>
          <a:xfrm>
            <a:off x="2679192" y="353872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3" name="Text 51"/>
          <p:cNvSpPr/>
          <p:nvPr/>
        </p:nvSpPr>
        <p:spPr>
          <a:xfrm>
            <a:off x="2679192" y="353872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a:t>
            </a:r>
            <a:endParaRPr lang="en-US" sz="900" dirty="0"/>
          </a:p>
        </p:txBody>
      </p:sp>
      <p:sp>
        <p:nvSpPr>
          <p:cNvPr id="54" name="Text 52"/>
          <p:cNvSpPr/>
          <p:nvPr/>
        </p:nvSpPr>
        <p:spPr>
          <a:xfrm>
            <a:off x="3191256"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t>
            </a:r>
            <a:endParaRPr lang="en-US" sz="950" dirty="0"/>
          </a:p>
        </p:txBody>
      </p:sp>
      <p:sp>
        <p:nvSpPr>
          <p:cNvPr id="55" name="Shape 53"/>
          <p:cNvSpPr/>
          <p:nvPr/>
        </p:nvSpPr>
        <p:spPr>
          <a:xfrm>
            <a:off x="2679192" y="393192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6" name="Text 54"/>
          <p:cNvSpPr/>
          <p:nvPr/>
        </p:nvSpPr>
        <p:spPr>
          <a:xfrm>
            <a:off x="2679192" y="393192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length</a:t>
            </a:r>
            <a:endParaRPr lang="en-US" sz="900" dirty="0"/>
          </a:p>
        </p:txBody>
      </p:sp>
      <p:sp>
        <p:nvSpPr>
          <p:cNvPr id="57" name="Text 55"/>
          <p:cNvSpPr/>
          <p:nvPr/>
        </p:nvSpPr>
        <p:spPr>
          <a:xfrm>
            <a:off x="3191256"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1</a:t>
            </a:r>
            <a:endParaRPr lang="en-US" sz="950" dirty="0"/>
          </a:p>
        </p:txBody>
      </p:sp>
      <p:sp>
        <p:nvSpPr>
          <p:cNvPr id="58" name="Shape 56"/>
          <p:cNvSpPr/>
          <p:nvPr/>
        </p:nvSpPr>
        <p:spPr>
          <a:xfrm>
            <a:off x="2679192" y="432511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9" name="Text 57"/>
          <p:cNvSpPr/>
          <p:nvPr/>
        </p:nvSpPr>
        <p:spPr>
          <a:xfrm>
            <a:off x="2679192" y="432511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 </a:t>
            </a:r>
            <a:endParaRPr lang="en-US" sz="900" dirty="0"/>
          </a:p>
        </p:txBody>
      </p:sp>
      <p:sp>
        <p:nvSpPr>
          <p:cNvPr id="60" name="Text 58"/>
          <p:cNvSpPr/>
          <p:nvPr/>
        </p:nvSpPr>
        <p:spPr>
          <a:xfrm>
            <a:off x="3191256"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 </a:t>
            </a:r>
            <a:endParaRPr lang="en-US" sz="950" dirty="0"/>
          </a:p>
        </p:txBody>
      </p:sp>
      <p:sp>
        <p:nvSpPr>
          <p:cNvPr id="61" name="Shape 59"/>
          <p:cNvSpPr/>
          <p:nvPr/>
        </p:nvSpPr>
        <p:spPr>
          <a:xfrm>
            <a:off x="4764024" y="1170432"/>
            <a:ext cx="2048256" cy="37490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62" name="Shape 60"/>
          <p:cNvSpPr/>
          <p:nvPr/>
        </p:nvSpPr>
        <p:spPr>
          <a:xfrm>
            <a:off x="4764024"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63" name="Text 61"/>
          <p:cNvSpPr/>
          <p:nvPr/>
        </p:nvSpPr>
        <p:spPr>
          <a:xfrm>
            <a:off x="4855464"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  After insertHead("B"), then insertHead("C") — three nodes</a:t>
            </a:r>
            <a:endParaRPr lang="en-US" sz="1000" dirty="0"/>
          </a:p>
        </p:txBody>
      </p:sp>
      <p:sp>
        <p:nvSpPr>
          <p:cNvPr id="64" name="Shape 62"/>
          <p:cNvSpPr/>
          <p:nvPr/>
        </p:nvSpPr>
        <p:spPr>
          <a:xfrm>
            <a:off x="4855464" y="157276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5" name="Text 63"/>
          <p:cNvSpPr/>
          <p:nvPr/>
        </p:nvSpPr>
        <p:spPr>
          <a:xfrm>
            <a:off x="4855464" y="157276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head</a:t>
            </a:r>
            <a:endParaRPr lang="en-US" sz="900" dirty="0"/>
          </a:p>
        </p:txBody>
      </p:sp>
      <p:sp>
        <p:nvSpPr>
          <p:cNvPr id="66" name="Text 64"/>
          <p:cNvSpPr/>
          <p:nvPr/>
        </p:nvSpPr>
        <p:spPr>
          <a:xfrm>
            <a:off x="5367528"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entry point</a:t>
            </a:r>
            <a:endParaRPr lang="en-US" sz="950" dirty="0"/>
          </a:p>
        </p:txBody>
      </p:sp>
      <p:sp>
        <p:nvSpPr>
          <p:cNvPr id="67" name="Shape 65"/>
          <p:cNvSpPr/>
          <p:nvPr/>
        </p:nvSpPr>
        <p:spPr>
          <a:xfrm>
            <a:off x="4855464" y="196596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8" name="Text 66"/>
          <p:cNvSpPr/>
          <p:nvPr/>
        </p:nvSpPr>
        <p:spPr>
          <a:xfrm>
            <a:off x="4855464" y="196596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a:t>
            </a:r>
            <a:endParaRPr lang="en-US" sz="900" dirty="0"/>
          </a:p>
        </p:txBody>
      </p:sp>
      <p:sp>
        <p:nvSpPr>
          <p:cNvPr id="69" name="Text 67"/>
          <p:cNvSpPr/>
          <p:nvPr/>
        </p:nvSpPr>
        <p:spPr>
          <a:xfrm>
            <a:off x="5367528"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points to</a:t>
            </a:r>
            <a:endParaRPr lang="en-US" sz="950" dirty="0"/>
          </a:p>
        </p:txBody>
      </p:sp>
      <p:sp>
        <p:nvSpPr>
          <p:cNvPr id="70" name="Shape 68"/>
          <p:cNvSpPr/>
          <p:nvPr/>
        </p:nvSpPr>
        <p:spPr>
          <a:xfrm>
            <a:off x="4855464" y="235915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1" name="Text 69"/>
          <p:cNvSpPr/>
          <p:nvPr/>
        </p:nvSpPr>
        <p:spPr>
          <a:xfrm>
            <a:off x="4855464" y="235915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C</a:t>
            </a:r>
            <a:endParaRPr lang="en-US" sz="900" dirty="0"/>
          </a:p>
        </p:txBody>
      </p:sp>
      <p:sp>
        <p:nvSpPr>
          <p:cNvPr id="72" name="Text 70"/>
          <p:cNvSpPr/>
          <p:nvPr/>
        </p:nvSpPr>
        <p:spPr>
          <a:xfrm>
            <a:off x="5367528"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node 1</a:t>
            </a:r>
            <a:endParaRPr lang="en-US" sz="950" dirty="0"/>
          </a:p>
        </p:txBody>
      </p:sp>
      <p:sp>
        <p:nvSpPr>
          <p:cNvPr id="73" name="Shape 71"/>
          <p:cNvSpPr/>
          <p:nvPr/>
        </p:nvSpPr>
        <p:spPr>
          <a:xfrm>
            <a:off x="4855464" y="2752344"/>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4" name="Text 72"/>
          <p:cNvSpPr/>
          <p:nvPr/>
        </p:nvSpPr>
        <p:spPr>
          <a:xfrm>
            <a:off x="4855464" y="2752344"/>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a:t>
            </a:r>
            <a:endParaRPr lang="en-US" sz="900" dirty="0"/>
          </a:p>
        </p:txBody>
      </p:sp>
      <p:sp>
        <p:nvSpPr>
          <p:cNvPr id="75" name="Text 73"/>
          <p:cNvSpPr/>
          <p:nvPr/>
        </p:nvSpPr>
        <p:spPr>
          <a:xfrm>
            <a:off x="5367528"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a:t>
            </a:r>
            <a:endParaRPr lang="en-US" sz="950" dirty="0"/>
          </a:p>
        </p:txBody>
      </p:sp>
      <p:sp>
        <p:nvSpPr>
          <p:cNvPr id="76" name="Shape 74"/>
          <p:cNvSpPr/>
          <p:nvPr/>
        </p:nvSpPr>
        <p:spPr>
          <a:xfrm>
            <a:off x="4855464" y="3145536"/>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7" name="Text 75"/>
          <p:cNvSpPr/>
          <p:nvPr/>
        </p:nvSpPr>
        <p:spPr>
          <a:xfrm>
            <a:off x="4855464" y="3145536"/>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B</a:t>
            </a:r>
            <a:endParaRPr lang="en-US" sz="900" dirty="0"/>
          </a:p>
        </p:txBody>
      </p:sp>
      <p:sp>
        <p:nvSpPr>
          <p:cNvPr id="78" name="Text 76"/>
          <p:cNvSpPr/>
          <p:nvPr/>
        </p:nvSpPr>
        <p:spPr>
          <a:xfrm>
            <a:off x="5367528"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node 2</a:t>
            </a:r>
            <a:endParaRPr lang="en-US" sz="950" dirty="0"/>
          </a:p>
        </p:txBody>
      </p:sp>
      <p:sp>
        <p:nvSpPr>
          <p:cNvPr id="79" name="Shape 77"/>
          <p:cNvSpPr/>
          <p:nvPr/>
        </p:nvSpPr>
        <p:spPr>
          <a:xfrm>
            <a:off x="4855464" y="353872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0" name="Text 78"/>
          <p:cNvSpPr/>
          <p:nvPr/>
        </p:nvSpPr>
        <p:spPr>
          <a:xfrm>
            <a:off x="4855464" y="353872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a:t>
            </a:r>
            <a:endParaRPr lang="en-US" sz="900" dirty="0"/>
          </a:p>
        </p:txBody>
      </p:sp>
      <p:sp>
        <p:nvSpPr>
          <p:cNvPr id="81" name="Text 79"/>
          <p:cNvSpPr/>
          <p:nvPr/>
        </p:nvSpPr>
        <p:spPr>
          <a:xfrm>
            <a:off x="5367528"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a:t>
            </a:r>
            <a:endParaRPr lang="en-US" sz="950" dirty="0"/>
          </a:p>
        </p:txBody>
      </p:sp>
      <p:sp>
        <p:nvSpPr>
          <p:cNvPr id="82" name="Shape 80"/>
          <p:cNvSpPr/>
          <p:nvPr/>
        </p:nvSpPr>
        <p:spPr>
          <a:xfrm>
            <a:off x="4855464" y="393192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3" name="Text 81"/>
          <p:cNvSpPr/>
          <p:nvPr/>
        </p:nvSpPr>
        <p:spPr>
          <a:xfrm>
            <a:off x="4855464" y="393192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A</a:t>
            </a:r>
            <a:endParaRPr lang="en-US" sz="900" dirty="0"/>
          </a:p>
        </p:txBody>
      </p:sp>
      <p:sp>
        <p:nvSpPr>
          <p:cNvPr id="84" name="Text 82"/>
          <p:cNvSpPr/>
          <p:nvPr/>
        </p:nvSpPr>
        <p:spPr>
          <a:xfrm>
            <a:off x="5367528"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node 3</a:t>
            </a:r>
            <a:endParaRPr lang="en-US" sz="950" dirty="0"/>
          </a:p>
        </p:txBody>
      </p:sp>
      <p:sp>
        <p:nvSpPr>
          <p:cNvPr id="85" name="Shape 83"/>
          <p:cNvSpPr/>
          <p:nvPr/>
        </p:nvSpPr>
        <p:spPr>
          <a:xfrm>
            <a:off x="4855464" y="432511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6" name="Text 84"/>
          <p:cNvSpPr/>
          <p:nvPr/>
        </p:nvSpPr>
        <p:spPr>
          <a:xfrm>
            <a:off x="4855464" y="432511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null</a:t>
            </a:r>
            <a:endParaRPr lang="en-US" sz="900" dirty="0"/>
          </a:p>
        </p:txBody>
      </p:sp>
      <p:sp>
        <p:nvSpPr>
          <p:cNvPr id="87" name="Text 85"/>
          <p:cNvSpPr/>
          <p:nvPr/>
        </p:nvSpPr>
        <p:spPr>
          <a:xfrm>
            <a:off x="5367528"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end</a:t>
            </a:r>
            <a:endParaRPr lang="en-US" sz="950" dirty="0"/>
          </a:p>
        </p:txBody>
      </p:sp>
      <p:sp>
        <p:nvSpPr>
          <p:cNvPr id="88" name="Shape 86"/>
          <p:cNvSpPr/>
          <p:nvPr/>
        </p:nvSpPr>
        <p:spPr>
          <a:xfrm>
            <a:off x="6940296" y="1170432"/>
            <a:ext cx="2048256" cy="374904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89" name="Shape 87"/>
          <p:cNvSpPr/>
          <p:nvPr/>
        </p:nvSpPr>
        <p:spPr>
          <a:xfrm>
            <a:off x="6940296" y="1170432"/>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90" name="Text 88"/>
          <p:cNvSpPr/>
          <p:nvPr/>
        </p:nvSpPr>
        <p:spPr>
          <a:xfrm>
            <a:off x="7031736"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  After delete("B") — C's next now skips B and points at A</a:t>
            </a:r>
            <a:endParaRPr lang="en-US" sz="1000" dirty="0"/>
          </a:p>
        </p:txBody>
      </p:sp>
      <p:sp>
        <p:nvSpPr>
          <p:cNvPr id="91" name="Shape 89"/>
          <p:cNvSpPr/>
          <p:nvPr/>
        </p:nvSpPr>
        <p:spPr>
          <a:xfrm>
            <a:off x="7031736" y="157276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2" name="Text 90"/>
          <p:cNvSpPr/>
          <p:nvPr/>
        </p:nvSpPr>
        <p:spPr>
          <a:xfrm>
            <a:off x="7031736" y="157276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head</a:t>
            </a:r>
            <a:endParaRPr lang="en-US" sz="900" dirty="0"/>
          </a:p>
        </p:txBody>
      </p:sp>
      <p:sp>
        <p:nvSpPr>
          <p:cNvPr id="93" name="Text 91"/>
          <p:cNvSpPr/>
          <p:nvPr/>
        </p:nvSpPr>
        <p:spPr>
          <a:xfrm>
            <a:off x="7543800"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entry point</a:t>
            </a:r>
            <a:endParaRPr lang="en-US" sz="950" dirty="0"/>
          </a:p>
        </p:txBody>
      </p:sp>
      <p:sp>
        <p:nvSpPr>
          <p:cNvPr id="94" name="Shape 92"/>
          <p:cNvSpPr/>
          <p:nvPr/>
        </p:nvSpPr>
        <p:spPr>
          <a:xfrm>
            <a:off x="7031736" y="196596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5" name="Text 93"/>
          <p:cNvSpPr/>
          <p:nvPr/>
        </p:nvSpPr>
        <p:spPr>
          <a:xfrm>
            <a:off x="7031736" y="196596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a:t>
            </a:r>
            <a:endParaRPr lang="en-US" sz="900" dirty="0"/>
          </a:p>
        </p:txBody>
      </p:sp>
      <p:sp>
        <p:nvSpPr>
          <p:cNvPr id="96" name="Text 94"/>
          <p:cNvSpPr/>
          <p:nvPr/>
        </p:nvSpPr>
        <p:spPr>
          <a:xfrm>
            <a:off x="7543800"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points to</a:t>
            </a:r>
            <a:endParaRPr lang="en-US" sz="950" dirty="0"/>
          </a:p>
        </p:txBody>
      </p:sp>
      <p:sp>
        <p:nvSpPr>
          <p:cNvPr id="97" name="Shape 95"/>
          <p:cNvSpPr/>
          <p:nvPr/>
        </p:nvSpPr>
        <p:spPr>
          <a:xfrm>
            <a:off x="7031736" y="235915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8" name="Text 96"/>
          <p:cNvSpPr/>
          <p:nvPr/>
        </p:nvSpPr>
        <p:spPr>
          <a:xfrm>
            <a:off x="7031736" y="235915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C</a:t>
            </a:r>
            <a:endParaRPr lang="en-US" sz="900" dirty="0"/>
          </a:p>
        </p:txBody>
      </p:sp>
      <p:sp>
        <p:nvSpPr>
          <p:cNvPr id="99" name="Text 97"/>
          <p:cNvSpPr/>
          <p:nvPr/>
        </p:nvSpPr>
        <p:spPr>
          <a:xfrm>
            <a:off x="7543800"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node 1</a:t>
            </a:r>
            <a:endParaRPr lang="en-US" sz="950" dirty="0"/>
          </a:p>
        </p:txBody>
      </p:sp>
      <p:sp>
        <p:nvSpPr>
          <p:cNvPr id="100" name="Shape 98"/>
          <p:cNvSpPr/>
          <p:nvPr/>
        </p:nvSpPr>
        <p:spPr>
          <a:xfrm>
            <a:off x="7031736" y="2752344"/>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1" name="Text 99"/>
          <p:cNvSpPr/>
          <p:nvPr/>
        </p:nvSpPr>
        <p:spPr>
          <a:xfrm>
            <a:off x="7031736" y="2752344"/>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a:t>
            </a:r>
            <a:endParaRPr lang="en-US" sz="900" dirty="0"/>
          </a:p>
        </p:txBody>
      </p:sp>
      <p:sp>
        <p:nvSpPr>
          <p:cNvPr id="102" name="Text 100"/>
          <p:cNvSpPr/>
          <p:nvPr/>
        </p:nvSpPr>
        <p:spPr>
          <a:xfrm>
            <a:off x="7543800"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a:t>
            </a:r>
            <a:endParaRPr lang="en-US" sz="950" dirty="0"/>
          </a:p>
        </p:txBody>
      </p:sp>
      <p:sp>
        <p:nvSpPr>
          <p:cNvPr id="103" name="Shape 101"/>
          <p:cNvSpPr/>
          <p:nvPr/>
        </p:nvSpPr>
        <p:spPr>
          <a:xfrm>
            <a:off x="7031736" y="3145536"/>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4" name="Text 102"/>
          <p:cNvSpPr/>
          <p:nvPr/>
        </p:nvSpPr>
        <p:spPr>
          <a:xfrm>
            <a:off x="7031736" y="3145536"/>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A</a:t>
            </a:r>
            <a:endParaRPr lang="en-US" sz="900" dirty="0"/>
          </a:p>
        </p:txBody>
      </p:sp>
      <p:sp>
        <p:nvSpPr>
          <p:cNvPr id="105" name="Text 103"/>
          <p:cNvSpPr/>
          <p:nvPr/>
        </p:nvSpPr>
        <p:spPr>
          <a:xfrm>
            <a:off x="7543800"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node 2</a:t>
            </a:r>
            <a:endParaRPr lang="en-US" sz="950" dirty="0"/>
          </a:p>
        </p:txBody>
      </p:sp>
      <p:sp>
        <p:nvSpPr>
          <p:cNvPr id="106" name="Shape 104"/>
          <p:cNvSpPr/>
          <p:nvPr/>
        </p:nvSpPr>
        <p:spPr>
          <a:xfrm>
            <a:off x="7031736" y="353872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7" name="Text 105"/>
          <p:cNvSpPr/>
          <p:nvPr/>
        </p:nvSpPr>
        <p:spPr>
          <a:xfrm>
            <a:off x="7031736" y="353872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a:t>
            </a:r>
            <a:endParaRPr lang="en-US" sz="900" dirty="0"/>
          </a:p>
        </p:txBody>
      </p:sp>
      <p:sp>
        <p:nvSpPr>
          <p:cNvPr id="108" name="Text 106"/>
          <p:cNvSpPr/>
          <p:nvPr/>
        </p:nvSpPr>
        <p:spPr>
          <a:xfrm>
            <a:off x="7543800"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a:t>
            </a:r>
            <a:endParaRPr lang="en-US" sz="950" dirty="0"/>
          </a:p>
        </p:txBody>
      </p:sp>
      <p:sp>
        <p:nvSpPr>
          <p:cNvPr id="109" name="Shape 107"/>
          <p:cNvSpPr/>
          <p:nvPr/>
        </p:nvSpPr>
        <p:spPr>
          <a:xfrm>
            <a:off x="7031736" y="393192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0" name="Text 108"/>
          <p:cNvSpPr/>
          <p:nvPr/>
        </p:nvSpPr>
        <p:spPr>
          <a:xfrm>
            <a:off x="7031736" y="393192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null</a:t>
            </a:r>
            <a:endParaRPr lang="en-US" sz="900" dirty="0"/>
          </a:p>
        </p:txBody>
      </p:sp>
      <p:sp>
        <p:nvSpPr>
          <p:cNvPr id="111" name="Text 109"/>
          <p:cNvSpPr/>
          <p:nvPr/>
        </p:nvSpPr>
        <p:spPr>
          <a:xfrm>
            <a:off x="7543800"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end</a:t>
            </a:r>
            <a:endParaRPr lang="en-US" sz="950" dirty="0"/>
          </a:p>
        </p:txBody>
      </p:sp>
      <p:sp>
        <p:nvSpPr>
          <p:cNvPr id="112" name="Shape 110"/>
          <p:cNvSpPr/>
          <p:nvPr/>
        </p:nvSpPr>
        <p:spPr>
          <a:xfrm>
            <a:off x="7031736" y="432511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3" name="Text 111"/>
          <p:cNvSpPr/>
          <p:nvPr/>
        </p:nvSpPr>
        <p:spPr>
          <a:xfrm>
            <a:off x="7031736" y="432511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length</a:t>
            </a:r>
            <a:endParaRPr lang="en-US" sz="900" dirty="0"/>
          </a:p>
        </p:txBody>
      </p:sp>
      <p:sp>
        <p:nvSpPr>
          <p:cNvPr id="114" name="Text 112"/>
          <p:cNvSpPr/>
          <p:nvPr/>
        </p:nvSpPr>
        <p:spPr>
          <a:xfrm>
            <a:off x="7543800"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2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WORKED EXAMPLE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Worked Example — A Music Playlist</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Building a playlist as a linked list — adding songs, walking the list, removing one</a:t>
            </a:r>
            <a:endParaRPr lang="en-US" sz="1300" dirty="0"/>
          </a:p>
        </p:txBody>
      </p:sp>
      <p:sp>
        <p:nvSpPr>
          <p:cNvPr id="7" name="Shape 5"/>
          <p:cNvSpPr/>
          <p:nvPr/>
        </p:nvSpPr>
        <p:spPr>
          <a:xfrm>
            <a:off x="411480" y="1170432"/>
            <a:ext cx="8321040" cy="13716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Operations Pipeline</a:t>
            </a:r>
            <a:endParaRPr lang="en-US" sz="1100" dirty="0"/>
          </a:p>
        </p:txBody>
      </p:sp>
      <p:sp>
        <p:nvSpPr>
          <p:cNvPr id="10" name="Shape 8"/>
          <p:cNvSpPr/>
          <p:nvPr/>
        </p:nvSpPr>
        <p:spPr>
          <a:xfrm>
            <a:off x="548640" y="1591056"/>
            <a:ext cx="1261872" cy="658368"/>
          </a:xfrm>
          <a:prstGeom prst="rect">
            <a:avLst/>
          </a:prstGeom>
          <a:solidFill>
            <a:srgbClr val="3FD9C4">
              <a:alpha val="28000"/>
            </a:srgbClr>
          </a:solidFill>
          <a:ln w="15240">
            <a:solidFill>
              <a:srgbClr val="3FD9C4"/>
            </a:solidFill>
            <a:prstDash val="solid"/>
          </a:ln>
        </p:spPr>
        <p:txBody>
          <a:bodyPr/>
          <a:lstStyle/>
          <a:p>
            <a:endParaRPr lang="en-US"/>
          </a:p>
        </p:txBody>
      </p:sp>
      <p:sp>
        <p:nvSpPr>
          <p:cNvPr id="11" name="Text 9"/>
          <p:cNvSpPr/>
          <p:nvPr/>
        </p:nvSpPr>
        <p:spPr>
          <a:xfrm>
            <a:off x="548640" y="1591056"/>
            <a:ext cx="1261872" cy="658368"/>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Empty list</a:t>
            </a:r>
            <a:endParaRPr lang="en-US" sz="950" dirty="0"/>
          </a:p>
        </p:txBody>
      </p:sp>
      <p:sp>
        <p:nvSpPr>
          <p:cNvPr id="12" name="Shape 10"/>
          <p:cNvSpPr/>
          <p:nvPr/>
        </p:nvSpPr>
        <p:spPr>
          <a:xfrm>
            <a:off x="1810512"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3" name="Shape 11"/>
          <p:cNvSpPr/>
          <p:nvPr/>
        </p:nvSpPr>
        <p:spPr>
          <a:xfrm>
            <a:off x="1938528" y="1591056"/>
            <a:ext cx="1261872" cy="658368"/>
          </a:xfrm>
          <a:prstGeom prst="rect">
            <a:avLst/>
          </a:prstGeom>
          <a:solidFill>
            <a:srgbClr val="58A6FF">
              <a:alpha val="28000"/>
            </a:srgbClr>
          </a:solidFill>
          <a:ln w="15240">
            <a:solidFill>
              <a:srgbClr val="58A6FF"/>
            </a:solidFill>
            <a:prstDash val="solid"/>
          </a:ln>
        </p:spPr>
        <p:txBody>
          <a:bodyPr/>
          <a:lstStyle/>
          <a:p>
            <a:endParaRPr lang="en-US"/>
          </a:p>
        </p:txBody>
      </p:sp>
      <p:sp>
        <p:nvSpPr>
          <p:cNvPr id="14" name="Text 12"/>
          <p:cNvSpPr/>
          <p:nvPr/>
        </p:nvSpPr>
        <p:spPr>
          <a:xfrm>
            <a:off x="1938528" y="1591056"/>
            <a:ext cx="1261872" cy="658368"/>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Insert "Echo"</a:t>
            </a:r>
            <a:endParaRPr lang="en-US" sz="950" dirty="0"/>
          </a:p>
        </p:txBody>
      </p:sp>
      <p:sp>
        <p:nvSpPr>
          <p:cNvPr id="15" name="Shape 13"/>
          <p:cNvSpPr/>
          <p:nvPr/>
        </p:nvSpPr>
        <p:spPr>
          <a:xfrm>
            <a:off x="3200400"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6" name="Shape 14"/>
          <p:cNvSpPr/>
          <p:nvPr/>
        </p:nvSpPr>
        <p:spPr>
          <a:xfrm>
            <a:off x="3328416" y="1591056"/>
            <a:ext cx="1261872" cy="658368"/>
          </a:xfrm>
          <a:prstGeom prst="rect">
            <a:avLst/>
          </a:prstGeom>
          <a:solidFill>
            <a:srgbClr val="BC8CFF">
              <a:alpha val="28000"/>
            </a:srgbClr>
          </a:solidFill>
          <a:ln w="15240">
            <a:solidFill>
              <a:srgbClr val="BC8CFF"/>
            </a:solidFill>
            <a:prstDash val="solid"/>
          </a:ln>
        </p:spPr>
        <p:txBody>
          <a:bodyPr/>
          <a:lstStyle/>
          <a:p>
            <a:endParaRPr lang="en-US"/>
          </a:p>
        </p:txBody>
      </p:sp>
      <p:sp>
        <p:nvSpPr>
          <p:cNvPr id="17" name="Text 15"/>
          <p:cNvSpPr/>
          <p:nvPr/>
        </p:nvSpPr>
        <p:spPr>
          <a:xfrm>
            <a:off x="3328416" y="1591056"/>
            <a:ext cx="1261872" cy="658368"/>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Insert "Drift"</a:t>
            </a:r>
            <a:endParaRPr lang="en-US" sz="950" dirty="0"/>
          </a:p>
        </p:txBody>
      </p:sp>
      <p:sp>
        <p:nvSpPr>
          <p:cNvPr id="18" name="Shape 16"/>
          <p:cNvSpPr/>
          <p:nvPr/>
        </p:nvSpPr>
        <p:spPr>
          <a:xfrm>
            <a:off x="4590288"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9" name="Shape 17"/>
          <p:cNvSpPr/>
          <p:nvPr/>
        </p:nvSpPr>
        <p:spPr>
          <a:xfrm>
            <a:off x="4718304" y="1591056"/>
            <a:ext cx="1261872" cy="658368"/>
          </a:xfrm>
          <a:prstGeom prst="rect">
            <a:avLst/>
          </a:prstGeom>
          <a:solidFill>
            <a:srgbClr val="FFA657">
              <a:alpha val="28000"/>
            </a:srgbClr>
          </a:solidFill>
          <a:ln w="15240">
            <a:solidFill>
              <a:srgbClr val="FFA657"/>
            </a:solidFill>
            <a:prstDash val="solid"/>
          </a:ln>
        </p:spPr>
        <p:txBody>
          <a:bodyPr/>
          <a:lstStyle/>
          <a:p>
            <a:endParaRPr lang="en-US"/>
          </a:p>
        </p:txBody>
      </p:sp>
      <p:sp>
        <p:nvSpPr>
          <p:cNvPr id="20" name="Text 18"/>
          <p:cNvSpPr/>
          <p:nvPr/>
        </p:nvSpPr>
        <p:spPr>
          <a:xfrm>
            <a:off x="4718304" y="1591056"/>
            <a:ext cx="1261872" cy="658368"/>
          </a:xfrm>
          <a:prstGeom prst="rect">
            <a:avLst/>
          </a:prstGeom>
          <a:noFill/>
          <a:ln/>
        </p:spPr>
        <p:txBody>
          <a:bodyPr wrap="square" lIns="0" tIns="0" rIns="0" bIns="0" rtlCol="0" anchor="ctr"/>
          <a:lstStyle/>
          <a:p>
            <a:pPr marL="0" indent="0" algn="ctr">
              <a:buNone/>
            </a:pPr>
            <a:r>
              <a:rPr lang="en-US" sz="950" b="1" dirty="0">
                <a:solidFill>
                  <a:srgbClr val="FFA657"/>
                </a:solidFill>
                <a:latin typeface="Calibri" pitchFamily="34" charset="0"/>
                <a:ea typeface="Calibri" pitchFamily="34" charset="-122"/>
                <a:cs typeface="Calibri" pitchFamily="34" charset="-120"/>
              </a:rPr>
              <a:t>Insert "Calm"</a:t>
            </a:r>
            <a:endParaRPr lang="en-US" sz="950" dirty="0"/>
          </a:p>
        </p:txBody>
      </p:sp>
      <p:sp>
        <p:nvSpPr>
          <p:cNvPr id="21" name="Shape 19"/>
          <p:cNvSpPr/>
          <p:nvPr/>
        </p:nvSpPr>
        <p:spPr>
          <a:xfrm>
            <a:off x="5980176"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2" name="Shape 20"/>
          <p:cNvSpPr/>
          <p:nvPr/>
        </p:nvSpPr>
        <p:spPr>
          <a:xfrm>
            <a:off x="6108192" y="1591056"/>
            <a:ext cx="1261872" cy="658368"/>
          </a:xfrm>
          <a:prstGeom prst="rect">
            <a:avLst/>
          </a:prstGeom>
          <a:solidFill>
            <a:srgbClr val="E3B341">
              <a:alpha val="28000"/>
            </a:srgbClr>
          </a:solidFill>
          <a:ln w="15240">
            <a:solidFill>
              <a:srgbClr val="E3B341"/>
            </a:solidFill>
            <a:prstDash val="solid"/>
          </a:ln>
        </p:spPr>
        <p:txBody>
          <a:bodyPr/>
          <a:lstStyle/>
          <a:p>
            <a:endParaRPr lang="en-US"/>
          </a:p>
        </p:txBody>
      </p:sp>
      <p:sp>
        <p:nvSpPr>
          <p:cNvPr id="23" name="Text 21"/>
          <p:cNvSpPr/>
          <p:nvPr/>
        </p:nvSpPr>
        <p:spPr>
          <a:xfrm>
            <a:off x="6108192" y="1591056"/>
            <a:ext cx="1261872" cy="658368"/>
          </a:xfrm>
          <a:prstGeom prst="rect">
            <a:avLst/>
          </a:prstGeom>
          <a:noFill/>
          <a:ln/>
        </p:spPr>
        <p:txBody>
          <a:bodyPr wrap="square" lIns="0" tIns="0" rIns="0" bIns="0" rtlCol="0" anchor="ctr"/>
          <a:lstStyle/>
          <a:p>
            <a:pPr marL="0" indent="0" algn="ctr">
              <a:buNone/>
            </a:pPr>
            <a:r>
              <a:rPr lang="en-US" sz="950" b="1" dirty="0">
                <a:solidFill>
                  <a:srgbClr val="E3B341"/>
                </a:solidFill>
                <a:latin typeface="Calibri" pitchFamily="34" charset="0"/>
                <a:ea typeface="Calibri" pitchFamily="34" charset="-122"/>
                <a:cs typeface="Calibri" pitchFamily="34" charset="-120"/>
              </a:rPr>
              <a:t>Print all</a:t>
            </a:r>
            <a:endParaRPr lang="en-US" sz="950" dirty="0"/>
          </a:p>
        </p:txBody>
      </p:sp>
      <p:sp>
        <p:nvSpPr>
          <p:cNvPr id="24" name="Shape 22"/>
          <p:cNvSpPr/>
          <p:nvPr/>
        </p:nvSpPr>
        <p:spPr>
          <a:xfrm>
            <a:off x="7370064"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5" name="Shape 23"/>
          <p:cNvSpPr/>
          <p:nvPr/>
        </p:nvSpPr>
        <p:spPr>
          <a:xfrm>
            <a:off x="7498080" y="1591056"/>
            <a:ext cx="1261872" cy="658368"/>
          </a:xfrm>
          <a:prstGeom prst="rect">
            <a:avLst/>
          </a:prstGeom>
          <a:solidFill>
            <a:srgbClr val="3FB950">
              <a:alpha val="28000"/>
            </a:srgbClr>
          </a:solidFill>
          <a:ln w="15240">
            <a:solidFill>
              <a:srgbClr val="3FB950"/>
            </a:solidFill>
            <a:prstDash val="solid"/>
          </a:ln>
        </p:spPr>
        <p:txBody>
          <a:bodyPr/>
          <a:lstStyle/>
          <a:p>
            <a:endParaRPr lang="en-US"/>
          </a:p>
        </p:txBody>
      </p:sp>
      <p:sp>
        <p:nvSpPr>
          <p:cNvPr id="26" name="Text 24"/>
          <p:cNvSpPr/>
          <p:nvPr/>
        </p:nvSpPr>
        <p:spPr>
          <a:xfrm>
            <a:off x="7498080" y="1591056"/>
            <a:ext cx="1261872" cy="658368"/>
          </a:xfrm>
          <a:prstGeom prst="rect">
            <a:avLst/>
          </a:prstGeom>
          <a:noFill/>
          <a:ln/>
        </p:spPr>
        <p:txBody>
          <a:bodyPr wrap="square" lIns="0" tIns="0" rIns="0" bIns="0" rtlCol="0" anchor="ctr"/>
          <a:lstStyle/>
          <a:p>
            <a:pPr marL="0" indent="0" algn="ctr">
              <a:buNone/>
            </a:pPr>
            <a:r>
              <a:rPr lang="en-US" sz="950" b="1" dirty="0">
                <a:solidFill>
                  <a:srgbClr val="3FB950"/>
                </a:solidFill>
                <a:latin typeface="Calibri" pitchFamily="34" charset="0"/>
                <a:ea typeface="Calibri" pitchFamily="34" charset="-122"/>
                <a:cs typeface="Calibri" pitchFamily="34" charset="-120"/>
              </a:rPr>
              <a:t>Delete "Drift"</a:t>
            </a:r>
            <a:endParaRPr lang="en-US" sz="950" dirty="0"/>
          </a:p>
        </p:txBody>
      </p:sp>
      <p:sp>
        <p:nvSpPr>
          <p:cNvPr id="27" name="Shape 25"/>
          <p:cNvSpPr/>
          <p:nvPr/>
        </p:nvSpPr>
        <p:spPr>
          <a:xfrm>
            <a:off x="411480" y="2670048"/>
            <a:ext cx="4160520" cy="175564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411480" y="2670048"/>
            <a:ext cx="41605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9" name="Text 27"/>
          <p:cNvSpPr/>
          <p:nvPr/>
        </p:nvSpPr>
        <p:spPr>
          <a:xfrm>
            <a:off x="548640" y="2715768"/>
            <a:ext cx="389534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Step-by-Step Trace</a:t>
            </a:r>
            <a:endParaRPr lang="en-US" sz="1100" dirty="0"/>
          </a:p>
        </p:txBody>
      </p:sp>
      <p:sp>
        <p:nvSpPr>
          <p:cNvPr id="30" name="Text 28"/>
          <p:cNvSpPr/>
          <p:nvPr/>
        </p:nvSpPr>
        <p:spPr>
          <a:xfrm>
            <a:off x="548640" y="3017520"/>
            <a:ext cx="3895344" cy="201168"/>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1. SET head ← null   // empty playlist</a:t>
            </a:r>
            <a:endParaRPr lang="en-US" sz="950" dirty="0"/>
          </a:p>
        </p:txBody>
      </p:sp>
      <p:sp>
        <p:nvSpPr>
          <p:cNvPr id="31" name="Text 29"/>
          <p:cNvSpPr/>
          <p:nvPr/>
        </p:nvSpPr>
        <p:spPr>
          <a:xfrm>
            <a:off x="548640" y="322326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2. insertHead("Echo")   → head → Echo → null</a:t>
            </a:r>
            <a:endParaRPr lang="en-US" sz="950" dirty="0"/>
          </a:p>
        </p:txBody>
      </p:sp>
      <p:sp>
        <p:nvSpPr>
          <p:cNvPr id="32" name="Text 30"/>
          <p:cNvSpPr/>
          <p:nvPr/>
        </p:nvSpPr>
        <p:spPr>
          <a:xfrm>
            <a:off x="548640" y="342900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3. insertHead("Drift") → Drift → Echo → null</a:t>
            </a:r>
            <a:endParaRPr lang="en-US" sz="950" dirty="0"/>
          </a:p>
        </p:txBody>
      </p:sp>
      <p:sp>
        <p:nvSpPr>
          <p:cNvPr id="33" name="Text 31"/>
          <p:cNvSpPr/>
          <p:nvPr/>
        </p:nvSpPr>
        <p:spPr>
          <a:xfrm>
            <a:off x="548640" y="363474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4. insertHead("Calm") → Calm → Drift → Echo</a:t>
            </a:r>
            <a:endParaRPr lang="en-US" sz="950" dirty="0"/>
          </a:p>
        </p:txBody>
      </p:sp>
      <p:sp>
        <p:nvSpPr>
          <p:cNvPr id="34" name="Text 32"/>
          <p:cNvSpPr/>
          <p:nvPr/>
        </p:nvSpPr>
        <p:spPr>
          <a:xfrm>
            <a:off x="548640" y="384048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5. Walk the list: print Calm, Drift, Echo</a:t>
            </a:r>
            <a:endParaRPr lang="en-US" sz="950" dirty="0"/>
          </a:p>
        </p:txBody>
      </p:sp>
      <p:sp>
        <p:nvSpPr>
          <p:cNvPr id="35" name="Text 33"/>
          <p:cNvSpPr/>
          <p:nvPr/>
        </p:nvSpPr>
        <p:spPr>
          <a:xfrm>
            <a:off x="548640" y="404622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6. delete("Drift"): re-link Calm.next to Echo</a:t>
            </a:r>
            <a:endParaRPr lang="en-US" sz="950" dirty="0"/>
          </a:p>
        </p:txBody>
      </p:sp>
      <p:sp>
        <p:nvSpPr>
          <p:cNvPr id="36" name="Text 34"/>
          <p:cNvSpPr/>
          <p:nvPr/>
        </p:nvSpPr>
        <p:spPr>
          <a:xfrm>
            <a:off x="548640" y="4251960"/>
            <a:ext cx="3895344"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7. Final: head → Calm → Echo → null   // length 2</a:t>
            </a:r>
            <a:endParaRPr lang="en-US" sz="950" dirty="0"/>
          </a:p>
        </p:txBody>
      </p:sp>
      <p:sp>
        <p:nvSpPr>
          <p:cNvPr id="37" name="Shape 35"/>
          <p:cNvSpPr/>
          <p:nvPr/>
        </p:nvSpPr>
        <p:spPr>
          <a:xfrm>
            <a:off x="4663440" y="2670048"/>
            <a:ext cx="4069080" cy="175564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38" name="Shape 36"/>
          <p:cNvSpPr/>
          <p:nvPr/>
        </p:nvSpPr>
        <p:spPr>
          <a:xfrm>
            <a:off x="4663440" y="2670048"/>
            <a:ext cx="40690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9" name="Text 37"/>
          <p:cNvSpPr/>
          <p:nvPr/>
        </p:nvSpPr>
        <p:spPr>
          <a:xfrm>
            <a:off x="4800600" y="2715768"/>
            <a:ext cx="380390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Counting the Work</a:t>
            </a:r>
            <a:endParaRPr lang="en-US" sz="1100" dirty="0"/>
          </a:p>
        </p:txBody>
      </p:sp>
      <p:sp>
        <p:nvSpPr>
          <p:cNvPr id="40" name="Text 38"/>
          <p:cNvSpPr/>
          <p:nvPr/>
        </p:nvSpPr>
        <p:spPr>
          <a:xfrm>
            <a:off x="4800600" y="3017520"/>
            <a:ext cx="3803904" cy="502920"/>
          </a:xfrm>
          <a:prstGeom prst="rect">
            <a:avLst/>
          </a:prstGeom>
          <a:noFill/>
          <a:ln/>
        </p:spPr>
        <p:txBody>
          <a:bodyPr wrap="square" lIns="0" tIns="0" rIns="0" bIns="0" rtlCol="0" anchor="ctr"/>
          <a:lstStyle/>
          <a:p>
            <a:pPr marL="0" indent="0">
              <a:buNone/>
            </a:pPr>
            <a:r>
              <a:rPr lang="en-US" sz="1050" b="1" dirty="0">
                <a:solidFill>
                  <a:srgbClr val="3FB950"/>
                </a:solidFill>
                <a:latin typeface="Calibri" pitchFamily="34" charset="0"/>
                <a:ea typeface="Calibri" pitchFamily="34" charset="-122"/>
                <a:cs typeface="Calibri" pitchFamily="34" charset="-120"/>
              </a:rPr>
              <a:t>Insert at head:  </a:t>
            </a:r>
            <a:r>
              <a:rPr lang="en-US" sz="1050" dirty="0">
                <a:solidFill>
                  <a:srgbClr val="F0F6FC"/>
                </a:solidFill>
                <a:latin typeface="Calibri" pitchFamily="34" charset="0"/>
                <a:ea typeface="Calibri" pitchFamily="34" charset="-122"/>
                <a:cs typeface="Calibri" pitchFamily="34" charset="-120"/>
              </a:rPr>
              <a:t>Steps 2, 3, and 4 each ran in O(1). The list could have a million songs and these inserts would still take the same constant time.</a:t>
            </a:r>
            <a:endParaRPr lang="en-US" sz="1050" dirty="0"/>
          </a:p>
        </p:txBody>
      </p:sp>
      <p:sp>
        <p:nvSpPr>
          <p:cNvPr id="41" name="Text 39"/>
          <p:cNvSpPr/>
          <p:nvPr/>
        </p:nvSpPr>
        <p:spPr>
          <a:xfrm>
            <a:off x="4800600" y="3566160"/>
            <a:ext cx="3803904" cy="594360"/>
          </a:xfrm>
          <a:prstGeom prst="rect">
            <a:avLst/>
          </a:prstGeom>
          <a:noFill/>
          <a:ln/>
        </p:spPr>
        <p:txBody>
          <a:bodyPr wrap="square" lIns="0" tIns="0" rIns="0" bIns="0" rtlCol="0" anchor="ctr"/>
          <a:lstStyle/>
          <a:p>
            <a:pPr marL="0" indent="0">
              <a:buNone/>
            </a:pPr>
            <a:r>
              <a:rPr lang="en-US" sz="1050" b="1" dirty="0">
                <a:solidFill>
                  <a:srgbClr val="F85149"/>
                </a:solidFill>
                <a:latin typeface="Calibri" pitchFamily="34" charset="0"/>
                <a:ea typeface="Calibri" pitchFamily="34" charset="-122"/>
                <a:cs typeface="Calibri" pitchFamily="34" charset="-120"/>
              </a:rPr>
              <a:t>Traversal &amp; delete:  </a:t>
            </a:r>
            <a:r>
              <a:rPr lang="en-US" sz="1050" dirty="0">
                <a:solidFill>
                  <a:srgbClr val="F0F6FC"/>
                </a:solidFill>
                <a:latin typeface="Calibri" pitchFamily="34" charset="0"/>
                <a:ea typeface="Calibri" pitchFamily="34" charset="-122"/>
                <a:cs typeface="Calibri" pitchFamily="34" charset="-120"/>
              </a:rPr>
              <a:t>Steps 5 (print all) and 6 (delete by value) both walk the list. Cost is O(N) — the price we pay for flexible size.</a:t>
            </a:r>
            <a:endParaRPr lang="en-US" sz="1050" dirty="0"/>
          </a:p>
        </p:txBody>
      </p:sp>
      <p:sp>
        <p:nvSpPr>
          <p:cNvPr id="42" name="Text 40"/>
          <p:cNvSpPr/>
          <p:nvPr/>
        </p:nvSpPr>
        <p:spPr>
          <a:xfrm>
            <a:off x="4800600" y="4206240"/>
            <a:ext cx="3803904" cy="18288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3 nodes inserted  ·  </a:t>
            </a:r>
            <a:r>
              <a:rPr lang="en-US" sz="1000" dirty="0">
                <a:solidFill>
                  <a:srgbClr val="3FD9C4"/>
                </a:solidFill>
                <a:latin typeface="Calibri" pitchFamily="34" charset="0"/>
                <a:ea typeface="Calibri" pitchFamily="34" charset="-122"/>
                <a:cs typeface="Calibri" pitchFamily="34" charset="-120"/>
              </a:rPr>
              <a:t>1 deleted  ·  </a:t>
            </a:r>
            <a:r>
              <a:rPr lang="en-US" sz="1000" dirty="0">
                <a:solidFill>
                  <a:srgbClr val="3FB950"/>
                </a:solidFill>
                <a:latin typeface="Calibri" pitchFamily="34" charset="0"/>
                <a:ea typeface="Calibri" pitchFamily="34" charset="-122"/>
                <a:cs typeface="Calibri" pitchFamily="34" charset="-120"/>
              </a:rPr>
              <a:t>Final length: 2</a:t>
            </a:r>
            <a:endParaRPr lang="en-US" sz="1000" dirty="0"/>
          </a:p>
        </p:txBody>
      </p:sp>
      <p:sp>
        <p:nvSpPr>
          <p:cNvPr id="43" name="Shape 41"/>
          <p:cNvSpPr/>
          <p:nvPr/>
        </p:nvSpPr>
        <p:spPr>
          <a:xfrm>
            <a:off x="365760" y="4572000"/>
            <a:ext cx="8412480" cy="384048"/>
          </a:xfrm>
          <a:prstGeom prst="rect">
            <a:avLst/>
          </a:prstGeom>
          <a:solidFill>
            <a:srgbClr val="0A1020"/>
          </a:solidFill>
          <a:ln w="12700">
            <a:solidFill>
              <a:srgbClr val="3FD9C4"/>
            </a:solidFill>
            <a:prstDash val="solid"/>
          </a:ln>
        </p:spPr>
        <p:txBody>
          <a:bodyPr/>
          <a:lstStyle/>
          <a:p>
            <a:endParaRPr lang="en-US"/>
          </a:p>
        </p:txBody>
      </p:sp>
      <p:sp>
        <p:nvSpPr>
          <p:cNvPr id="44" name="Text 42"/>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The pattern:  </a:t>
            </a:r>
            <a:r>
              <a:rPr lang="en-US" sz="1100" dirty="0">
                <a:solidFill>
                  <a:srgbClr val="F0F6FC"/>
                </a:solidFill>
                <a:latin typeface="Calibri" pitchFamily="34" charset="0"/>
                <a:ea typeface="Calibri" pitchFamily="34" charset="-122"/>
                <a:cs typeface="Calibri" pitchFamily="34" charset="-120"/>
              </a:rPr>
              <a:t>Whenever a sequence grows and shrinks at one end and you do not need fast indexed access, a linked list is the right shape. Stacks and queues — coming up next — are linked lists with extra rules to enforce a specific style of access.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PROS &amp; CONS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Strengths &amp; Limits of Linked Lists</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What linked lists are great at, where they fall short, and when to choose them</a:t>
            </a:r>
            <a:endParaRPr lang="en-US" sz="1300" dirty="0"/>
          </a:p>
        </p:txBody>
      </p:sp>
      <p:sp>
        <p:nvSpPr>
          <p:cNvPr id="7" name="Shape 5"/>
          <p:cNvSpPr/>
          <p:nvPr/>
        </p:nvSpPr>
        <p:spPr>
          <a:xfrm>
            <a:off x="411480" y="1170432"/>
            <a:ext cx="2048256" cy="17830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21208"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Flexible Size</a:t>
            </a:r>
            <a:endParaRPr lang="en-US" sz="1100" dirty="0"/>
          </a:p>
        </p:txBody>
      </p:sp>
      <p:sp>
        <p:nvSpPr>
          <p:cNvPr id="10" name="Text 8"/>
          <p:cNvSpPr/>
          <p:nvPr/>
        </p:nvSpPr>
        <p:spPr>
          <a:xfrm>
            <a:off x="521208"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headline strength.</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Grows and shrinks freely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at runtime. No need to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guess capacity in advance.</a:t>
            </a:r>
            <a:endParaRPr lang="en-US" sz="1000" dirty="0"/>
          </a:p>
        </p:txBody>
      </p:sp>
      <p:sp>
        <p:nvSpPr>
          <p:cNvPr id="11" name="Shape 9"/>
          <p:cNvSpPr/>
          <p:nvPr/>
        </p:nvSpPr>
        <p:spPr>
          <a:xfrm>
            <a:off x="2587752" y="1170432"/>
            <a:ext cx="2048256" cy="17830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2" name="Shape 10"/>
          <p:cNvSpPr/>
          <p:nvPr/>
        </p:nvSpPr>
        <p:spPr>
          <a:xfrm>
            <a:off x="2587752"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3" name="Text 11"/>
          <p:cNvSpPr/>
          <p:nvPr/>
        </p:nvSpPr>
        <p:spPr>
          <a:xfrm>
            <a:off x="2697480"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Fast Insert at Head</a:t>
            </a:r>
            <a:endParaRPr lang="en-US" sz="1100" dirty="0"/>
          </a:p>
        </p:txBody>
      </p:sp>
      <p:sp>
        <p:nvSpPr>
          <p:cNvPr id="14" name="Text 12"/>
          <p:cNvSpPr/>
          <p:nvPr/>
        </p:nvSpPr>
        <p:spPr>
          <a:xfrm>
            <a:off x="2697480"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Always O(1).</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Three pointer assignments,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regardless of list size.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Arrays cannot match this.</a:t>
            </a:r>
            <a:endParaRPr lang="en-US" sz="1000" dirty="0"/>
          </a:p>
        </p:txBody>
      </p:sp>
      <p:sp>
        <p:nvSpPr>
          <p:cNvPr id="15" name="Shape 13"/>
          <p:cNvSpPr/>
          <p:nvPr/>
        </p:nvSpPr>
        <p:spPr>
          <a:xfrm>
            <a:off x="4764024" y="1170432"/>
            <a:ext cx="2048256" cy="17830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6" name="Shape 14"/>
          <p:cNvSpPr/>
          <p:nvPr/>
        </p:nvSpPr>
        <p:spPr>
          <a:xfrm>
            <a:off x="4764024"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7" name="Text 15"/>
          <p:cNvSpPr/>
          <p:nvPr/>
        </p:nvSpPr>
        <p:spPr>
          <a:xfrm>
            <a:off x="4873752"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Easy Delete</a:t>
            </a:r>
            <a:endParaRPr lang="en-US" sz="1100" dirty="0"/>
          </a:p>
        </p:txBody>
      </p:sp>
      <p:sp>
        <p:nvSpPr>
          <p:cNvPr id="18" name="Text 16"/>
          <p:cNvSpPr/>
          <p:nvPr/>
        </p:nvSpPr>
        <p:spPr>
          <a:xfrm>
            <a:off x="4873752"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Once located, O(1).</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Just rewire one pointer</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to skip the deleted node.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 shifting required.</a:t>
            </a:r>
            <a:endParaRPr lang="en-US" sz="1000" dirty="0"/>
          </a:p>
        </p:txBody>
      </p:sp>
      <p:sp>
        <p:nvSpPr>
          <p:cNvPr id="19" name="Shape 17"/>
          <p:cNvSpPr/>
          <p:nvPr/>
        </p:nvSpPr>
        <p:spPr>
          <a:xfrm>
            <a:off x="6940296" y="1170432"/>
            <a:ext cx="2048256" cy="17830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0" name="Shape 18"/>
          <p:cNvSpPr/>
          <p:nvPr/>
        </p:nvSpPr>
        <p:spPr>
          <a:xfrm>
            <a:off x="6940296"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1" name="Text 19"/>
          <p:cNvSpPr/>
          <p:nvPr/>
        </p:nvSpPr>
        <p:spPr>
          <a:xfrm>
            <a:off x="7050024"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Pay-As-You-Go</a:t>
            </a:r>
            <a:endParaRPr lang="en-US" sz="1100" dirty="0"/>
          </a:p>
        </p:txBody>
      </p:sp>
      <p:sp>
        <p:nvSpPr>
          <p:cNvPr id="22" name="Text 20"/>
          <p:cNvSpPr/>
          <p:nvPr/>
        </p:nvSpPr>
        <p:spPr>
          <a:xfrm>
            <a:off x="7050024"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Memory matches data.</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Each node allocated only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when needed. No empty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slots reserved up front.</a:t>
            </a:r>
            <a:endParaRPr lang="en-US" sz="1000" dirty="0"/>
          </a:p>
        </p:txBody>
      </p:sp>
      <p:sp>
        <p:nvSpPr>
          <p:cNvPr id="23" name="Shape 21"/>
          <p:cNvSpPr/>
          <p:nvPr/>
        </p:nvSpPr>
        <p:spPr>
          <a:xfrm>
            <a:off x="411480" y="3072384"/>
            <a:ext cx="2048256" cy="17830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24" name="Shape 22"/>
          <p:cNvSpPr/>
          <p:nvPr/>
        </p:nvSpPr>
        <p:spPr>
          <a:xfrm>
            <a:off x="411480" y="3072384"/>
            <a:ext cx="2048256"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25" name="Text 23"/>
          <p:cNvSpPr/>
          <p:nvPr/>
        </p:nvSpPr>
        <p:spPr>
          <a:xfrm>
            <a:off x="521208"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Slow Random Access</a:t>
            </a:r>
            <a:endParaRPr lang="en-US" sz="1100" dirty="0"/>
          </a:p>
        </p:txBody>
      </p:sp>
      <p:sp>
        <p:nvSpPr>
          <p:cNvPr id="26" name="Text 24"/>
          <p:cNvSpPr/>
          <p:nvPr/>
        </p:nvSpPr>
        <p:spPr>
          <a:xfrm>
            <a:off x="521208"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biggest cost.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Reading item N requires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walking N steps. Always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O(N), never O(1).</a:t>
            </a:r>
            <a:endParaRPr lang="en-US" sz="1000" dirty="0"/>
          </a:p>
        </p:txBody>
      </p:sp>
      <p:sp>
        <p:nvSpPr>
          <p:cNvPr id="27" name="Shape 25"/>
          <p:cNvSpPr/>
          <p:nvPr/>
        </p:nvSpPr>
        <p:spPr>
          <a:xfrm>
            <a:off x="2587752" y="3072384"/>
            <a:ext cx="2048256" cy="1783080"/>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2587752" y="3072384"/>
            <a:ext cx="2048256"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29" name="Text 27"/>
          <p:cNvSpPr/>
          <p:nvPr/>
        </p:nvSpPr>
        <p:spPr>
          <a:xfrm>
            <a:off x="2697480"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No Binary Search</a:t>
            </a:r>
            <a:endParaRPr lang="en-US" sz="1100" dirty="0"/>
          </a:p>
        </p:txBody>
      </p:sp>
      <p:sp>
        <p:nvSpPr>
          <p:cNvPr id="30" name="Text 28"/>
          <p:cNvSpPr/>
          <p:nvPr/>
        </p:nvSpPr>
        <p:spPr>
          <a:xfrm>
            <a:off x="2697480"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Cannot jump to middle.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 O(log N) lookup, even</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if sorted. You always walk</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from the head — O(N).</a:t>
            </a:r>
            <a:endParaRPr lang="en-US" sz="1000" dirty="0"/>
          </a:p>
        </p:txBody>
      </p:sp>
      <p:sp>
        <p:nvSpPr>
          <p:cNvPr id="31" name="Shape 29"/>
          <p:cNvSpPr/>
          <p:nvPr/>
        </p:nvSpPr>
        <p:spPr>
          <a:xfrm>
            <a:off x="4764024" y="3072384"/>
            <a:ext cx="2048256" cy="17830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32" name="Shape 30"/>
          <p:cNvSpPr/>
          <p:nvPr/>
        </p:nvSpPr>
        <p:spPr>
          <a:xfrm>
            <a:off x="4764024" y="3072384"/>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33" name="Text 31"/>
          <p:cNvSpPr/>
          <p:nvPr/>
        </p:nvSpPr>
        <p:spPr>
          <a:xfrm>
            <a:off x="4873752"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Pointer Overhead</a:t>
            </a:r>
            <a:endParaRPr lang="en-US" sz="1100" dirty="0"/>
          </a:p>
        </p:txBody>
      </p:sp>
      <p:sp>
        <p:nvSpPr>
          <p:cNvPr id="34" name="Text 32"/>
          <p:cNvSpPr/>
          <p:nvPr/>
        </p:nvSpPr>
        <p:spPr>
          <a:xfrm>
            <a:off x="4873752"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Every node carries baggage.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Each node stores a pointer</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(8 bytes) on top of its data.</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Adds up over many nodes.</a:t>
            </a:r>
            <a:endParaRPr lang="en-US" sz="1000" dirty="0"/>
          </a:p>
        </p:txBody>
      </p:sp>
      <p:sp>
        <p:nvSpPr>
          <p:cNvPr id="35" name="Shape 33"/>
          <p:cNvSpPr/>
          <p:nvPr/>
        </p:nvSpPr>
        <p:spPr>
          <a:xfrm>
            <a:off x="6940296" y="3072384"/>
            <a:ext cx="2048256" cy="1783080"/>
          </a:xfrm>
          <a:prstGeom prst="rect">
            <a:avLst/>
          </a:prstGeom>
          <a:solidFill>
            <a:srgbClr val="161B26"/>
          </a:solidFill>
          <a:ln w="15240">
            <a:solidFill>
              <a:srgbClr val="F778BA"/>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6940296" y="3072384"/>
            <a:ext cx="2048256" cy="329184"/>
          </a:xfrm>
          <a:prstGeom prst="rect">
            <a:avLst/>
          </a:prstGeom>
          <a:solidFill>
            <a:srgbClr val="F778BA">
              <a:alpha val="78000"/>
            </a:srgbClr>
          </a:solidFill>
          <a:ln w="12700">
            <a:solidFill>
              <a:srgbClr val="F778BA"/>
            </a:solidFill>
            <a:prstDash val="solid"/>
          </a:ln>
        </p:spPr>
        <p:txBody>
          <a:bodyPr/>
          <a:lstStyle/>
          <a:p>
            <a:endParaRPr lang="en-US"/>
          </a:p>
        </p:txBody>
      </p:sp>
      <p:sp>
        <p:nvSpPr>
          <p:cNvPr id="37" name="Text 35"/>
          <p:cNvSpPr/>
          <p:nvPr/>
        </p:nvSpPr>
        <p:spPr>
          <a:xfrm>
            <a:off x="7050024"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Use Linked Lists When</a:t>
            </a:r>
            <a:endParaRPr lang="en-US" sz="1100" dirty="0"/>
          </a:p>
        </p:txBody>
      </p:sp>
      <p:sp>
        <p:nvSpPr>
          <p:cNvPr id="38" name="Text 36"/>
          <p:cNvSpPr/>
          <p:nvPr/>
        </p:nvSpPr>
        <p:spPr>
          <a:xfrm>
            <a:off x="7050024"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right tool when:</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Size is unknown or changes,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insert/delete dominate,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and indexed reads are rare.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8"/>
          <p:cNvSpPr txBox="1">
            <a:spLocks noGrp="1"/>
          </p:cNvSpPr>
          <p:nvPr>
            <p:ph type="title"/>
          </p:nvPr>
        </p:nvSpPr>
        <p:spPr>
          <a:xfrm>
            <a:off x="5548225" y="2230950"/>
            <a:ext cx="3062100" cy="681600"/>
          </a:xfrm>
          <a:prstGeom prst="rect">
            <a:avLst/>
          </a:prstGeom>
        </p:spPr>
        <p:txBody>
          <a:bodyPr spcFirstLastPara="1" wrap="square" lIns="91425" tIns="91425" rIns="91425" bIns="91425" anchor="b" anchorCtr="0">
            <a:normAutofit fontScale="90000"/>
          </a:bodyPr>
          <a:lstStyle/>
          <a:p>
            <a:pPr marL="0" lvl="0" indent="0" algn="r" rtl="0">
              <a:spcBef>
                <a:spcPts val="0"/>
              </a:spcBef>
              <a:spcAft>
                <a:spcPts val="0"/>
              </a:spcAft>
              <a:buNone/>
            </a:pPr>
            <a:r>
              <a:rPr lang="en"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580" name="Google Shape;580;p38"/>
          <p:cNvSpPr txBox="1">
            <a:spLocks noGrp="1"/>
          </p:cNvSpPr>
          <p:nvPr>
            <p:ph type="ctrTitle" idx="4294967295"/>
          </p:nvPr>
        </p:nvSpPr>
        <p:spPr>
          <a:xfrm>
            <a:off x="4166050" y="2870075"/>
            <a:ext cx="4444200" cy="57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SzPts val="990"/>
              <a:buNone/>
            </a:pPr>
            <a:r>
              <a:rPr lang="en" sz="2900" b="1">
                <a:solidFill>
                  <a:schemeClr val="lt1"/>
                </a:solidFill>
                <a:latin typeface="IBM Plex Sans Arabic"/>
                <a:ea typeface="IBM Plex Sans Arabic"/>
                <a:cs typeface="IBM Plex Sans Arabic"/>
                <a:sym typeface="IBM Plex Sans Arabic"/>
              </a:rPr>
              <a:t>THANK YOU</a:t>
            </a:r>
            <a:endParaRPr sz="2900" b="1">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31304</TotalTime>
  <Words>2249</Words>
  <Application>Microsoft Office PowerPoint</Application>
  <PresentationFormat>On-screen Show (16:9)</PresentationFormat>
  <Paragraphs>385</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IBM Plex Sans Arabic</vt:lpstr>
      <vt:lpstr>Arial</vt:lpstr>
      <vt:lpstr>Consolas</vt:lpstr>
      <vt:lpstr>IBM Plex Sans Arabic SemiBold</vt:lpstr>
      <vt:lpstr>Calibri</vt:lpstr>
      <vt:lpstr>IBM Plex Sans Arabic Medium</vt:lpstr>
      <vt:lpstr>Tajawal</vt:lpstr>
      <vt:lpstr>Simple Light</vt:lpstr>
      <vt:lpstr>أكـــــاديميــــة طــــويـــق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Ahmed Al-Hadari</dc:creator>
  <cp:lastModifiedBy>Ahmed Alhussein</cp:lastModifiedBy>
  <cp:revision>258</cp:revision>
  <dcterms:modified xsi:type="dcterms:W3CDTF">2026-05-12T17:38:53Z</dcterms:modified>
</cp:coreProperties>
</file>